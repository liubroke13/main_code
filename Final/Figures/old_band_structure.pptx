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E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324"/>
      </p:cViewPr>
      <p:guideLst>
        <p:guide orient="horz" pos="2160"/>
        <p:guide pos="32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B19638-4FD6-498B-8363-1DCE01E85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78E4823-E4FB-4E19-BA09-B82421861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CD5636-5221-407D-AE57-00FA965E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0EA394-4358-409A-A35A-66150A13F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20C24E-D79E-4614-9988-DD265227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489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AD6BDB-9F36-463C-8C41-9A1A32E67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83864B-C018-4956-92BB-E2E6ADD50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4BF376-B4A9-4D33-B3BA-81536A63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AEE1B7-BB1B-4E2E-84B1-D1A4D3CF6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1043C0-A78E-4A08-93C5-4F0DE9C0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9336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FB8EFD-20E8-4804-90D9-AA2C2787A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4EF4D08-DDEC-4A6A-818A-25764F05D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0CA156-CD94-4A9C-8C67-6F421940D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D1A019-BC3E-4A82-870D-BDECFE3F8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3CF224-9D3C-468A-B5A5-502D8518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6778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294811-11AE-4B69-AA1A-5BC59DACE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04B231-0EAE-407E-AE46-8D6D07973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D41FEB-401F-4852-9BEE-4AD2B8324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916FAC-84EA-403E-92B9-8F1AC151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0539AB-69CC-4F3E-9B12-AAFADC585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1C8204-53CD-4715-B47B-8ED0A8C3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219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5683AF-0F18-4AB4-9B94-ACAAB70E6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026326-2BA2-4176-A1C9-C0D307D45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8EF143B-8CD9-4292-921D-95CAFEE18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211D1E7-4946-43FE-80A3-1F21A7689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C58BA20-2611-42A8-8EAB-60AF86FA4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35CE0BF-5344-4800-A9D1-E47AD0E2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7462D4D-4897-4CAE-8E86-9EF52EE16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4C5ED56-3359-4C86-B7AA-7E48C2A6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240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2DE0D-AFE2-44B4-8268-9975D256B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B082D73-4BA7-4989-B3C5-95F4F388E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0F6882D-1B64-42F1-A238-A0807BB56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773FB85-FA3C-45FC-BFBE-0163DC19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15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C90E47F-A795-4E07-B8C8-2E8D17D59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8D7FC1-7D1A-4280-A12B-86344AD2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328B38-6E68-4131-89A7-70786F71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7483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A8A7C9-2FDE-4DAA-A9D0-069F550CF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2A969A-0393-4AFC-A3EA-BC9CD6F6E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F355944-AC3D-4732-8D99-9E321B484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4BCB507-7070-41D6-B647-1D19E8BF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942DD8-BB3E-4600-8F8D-631A3174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9FF45C-ECA8-4691-8AFC-3F1D9B970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466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E07D1F-86D7-418B-A4FF-962C5083E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2298D8F-482A-4AA9-9A14-9A414595C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BDC1AA4-65DD-4DA9-AEB4-BCFAFCA6A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242C10-CE17-4104-B52A-7FC4FE4D6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2C5FD6-5B17-4DBF-9C57-BC7214D59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6963C6E-54A2-4940-9CA4-1BF15089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280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326978-7F1A-4331-B9EB-3DD36BA3B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E54B25A-506C-44CE-952D-F42868B7F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68CE23-DE48-4FD5-AC71-36B9D3145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560AA8-AE0C-40CC-8202-890C9F48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D4FB3E-79E3-4F3B-BF48-F0B95D3A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09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4EC93AA-CD8F-4682-B228-0A61C28EC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D90C765-060F-4806-808D-16090928C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9C0DA8-B653-4B64-B8EC-CF04239CE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023A99-D983-4782-A3CE-D91941EA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34011-94AA-4A0F-B643-8C543717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1102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1B633D0-3108-448F-84F5-C1D397E91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B646AA-0B2D-4411-A2D9-CEFD40C10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1F9908-B099-4D13-8612-A5BCB2167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C1937-7717-4D31-9B2B-5A0EE407F3D0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832D79-BA43-4DB6-9FDD-53CBF2E41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8DF2D4-F869-4F8B-8EA3-5C85E3CFE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068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nature.com/articles/s41524-024-01425-0/figures/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nphys477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D41504C-88F7-4FC6-B85D-9893A33716F1}"/>
              </a:ext>
            </a:extLst>
          </p:cNvPr>
          <p:cNvSpPr/>
          <p:nvPr/>
        </p:nvSpPr>
        <p:spPr>
          <a:xfrm>
            <a:off x="8660235" y="5362473"/>
            <a:ext cx="31598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2"/>
              </a:rPr>
              <a:t>Fig. 1: Strain impact on the band structure. | </a:t>
            </a:r>
            <a:r>
              <a:rPr lang="en-US" altLang="zh-TW" dirty="0" err="1">
                <a:hlinkClick r:id="rId2"/>
              </a:rPr>
              <a:t>npj</a:t>
            </a:r>
            <a:r>
              <a:rPr lang="en-US" altLang="zh-TW" dirty="0">
                <a:hlinkClick r:id="rId2"/>
              </a:rPr>
              <a:t> Computational Materials</a:t>
            </a:r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568058CD-0D70-452B-BF1E-A42032BD50AC}"/>
              </a:ext>
            </a:extLst>
          </p:cNvPr>
          <p:cNvGrpSpPr/>
          <p:nvPr/>
        </p:nvGrpSpPr>
        <p:grpSpPr>
          <a:xfrm>
            <a:off x="1886138" y="1848597"/>
            <a:ext cx="7944132" cy="2436189"/>
            <a:chOff x="2741103" y="1233827"/>
            <a:chExt cx="7944132" cy="2436189"/>
          </a:xfrm>
        </p:grpSpPr>
        <p:pic>
          <p:nvPicPr>
            <p:cNvPr id="1026" name="Picture 2" descr="Fig. 1: Strain impact on the band structure.">
              <a:extLst>
                <a:ext uri="{FF2B5EF4-FFF2-40B4-BE49-F238E27FC236}">
                  <a16:creationId xmlns:a16="http://schemas.microsoft.com/office/drawing/2014/main" id="{3BE14351-A16C-4668-8F5C-E08A663EFE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68" t="1626" b="76758"/>
            <a:stretch/>
          </p:blipFill>
          <p:spPr bwMode="auto">
            <a:xfrm>
              <a:off x="2961313" y="1585519"/>
              <a:ext cx="4633302" cy="20089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Fig. 1: Strain impact on the band structure.">
              <a:extLst>
                <a:ext uri="{FF2B5EF4-FFF2-40B4-BE49-F238E27FC236}">
                  <a16:creationId xmlns:a16="http://schemas.microsoft.com/office/drawing/2014/main" id="{2BFAAD2F-08EF-4DDE-A541-4365C1BFB32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421" t="25667" b="39450"/>
            <a:stretch/>
          </p:blipFill>
          <p:spPr bwMode="auto">
            <a:xfrm>
              <a:off x="7733252" y="1510016"/>
              <a:ext cx="2951983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EF3B583B-8186-49FE-8DD8-128EFFD993C7}"/>
                </a:ext>
              </a:extLst>
            </p:cNvPr>
            <p:cNvSpPr txBox="1"/>
            <p:nvPr/>
          </p:nvSpPr>
          <p:spPr>
            <a:xfrm>
              <a:off x="2741103" y="1233827"/>
              <a:ext cx="3775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(a)</a:t>
              </a:r>
              <a:endParaRPr lang="zh-TW" altLang="en-US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6BADE550-C379-44E5-820F-3E3BC86A6F13}"/>
                </a:ext>
              </a:extLst>
            </p:cNvPr>
            <p:cNvSpPr txBox="1"/>
            <p:nvPr/>
          </p:nvSpPr>
          <p:spPr>
            <a:xfrm>
              <a:off x="7396994" y="1233827"/>
              <a:ext cx="3775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(b)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35350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0878C3D-706A-44A9-890D-FA66C92F8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74" y="259859"/>
            <a:ext cx="5117324" cy="2277610"/>
          </a:xfrm>
          <a:prstGeom prst="rect">
            <a:avLst/>
          </a:prstGeom>
        </p:spPr>
      </p:pic>
      <p:grpSp>
        <p:nvGrpSpPr>
          <p:cNvPr id="77" name="群組 76">
            <a:extLst>
              <a:ext uri="{FF2B5EF4-FFF2-40B4-BE49-F238E27FC236}">
                <a16:creationId xmlns:a16="http://schemas.microsoft.com/office/drawing/2014/main" id="{E5E6452A-A40F-4D30-BE21-5746104D5BD5}"/>
              </a:ext>
            </a:extLst>
          </p:cNvPr>
          <p:cNvGrpSpPr/>
          <p:nvPr/>
        </p:nvGrpSpPr>
        <p:grpSpPr>
          <a:xfrm>
            <a:off x="1066375" y="3023768"/>
            <a:ext cx="5033396" cy="2556084"/>
            <a:chOff x="1066375" y="3023768"/>
            <a:chExt cx="5033396" cy="2556084"/>
          </a:xfrm>
        </p:grpSpPr>
        <p:grpSp>
          <p:nvGrpSpPr>
            <p:cNvPr id="74" name="群組 73">
              <a:extLst>
                <a:ext uri="{FF2B5EF4-FFF2-40B4-BE49-F238E27FC236}">
                  <a16:creationId xmlns:a16="http://schemas.microsoft.com/office/drawing/2014/main" id="{8BF5C152-059A-481C-AAF9-73AA337AA2E8}"/>
                </a:ext>
              </a:extLst>
            </p:cNvPr>
            <p:cNvGrpSpPr/>
            <p:nvPr/>
          </p:nvGrpSpPr>
          <p:grpSpPr>
            <a:xfrm>
              <a:off x="1255128" y="3421380"/>
              <a:ext cx="4247186" cy="2158472"/>
              <a:chOff x="1255128" y="3421380"/>
              <a:chExt cx="4247186" cy="2158472"/>
            </a:xfrm>
          </p:grpSpPr>
          <p:grpSp>
            <p:nvGrpSpPr>
              <p:cNvPr id="73" name="群組 72">
                <a:extLst>
                  <a:ext uri="{FF2B5EF4-FFF2-40B4-BE49-F238E27FC236}">
                    <a16:creationId xmlns:a16="http://schemas.microsoft.com/office/drawing/2014/main" id="{BFE0BC02-643F-416D-B8A4-680C48B05101}"/>
                  </a:ext>
                </a:extLst>
              </p:cNvPr>
              <p:cNvGrpSpPr/>
              <p:nvPr/>
            </p:nvGrpSpPr>
            <p:grpSpPr>
              <a:xfrm>
                <a:off x="1255128" y="3435140"/>
                <a:ext cx="2162313" cy="2144712"/>
                <a:chOff x="1427656" y="3435140"/>
                <a:chExt cx="2162313" cy="2144712"/>
              </a:xfrm>
            </p:grpSpPr>
            <p:grpSp>
              <p:nvGrpSpPr>
                <p:cNvPr id="58" name="群組 57">
                  <a:extLst>
                    <a:ext uri="{FF2B5EF4-FFF2-40B4-BE49-F238E27FC236}">
                      <a16:creationId xmlns:a16="http://schemas.microsoft.com/office/drawing/2014/main" id="{60847DDD-2769-4007-ACAC-E2701B1AD370}"/>
                    </a:ext>
                  </a:extLst>
                </p:cNvPr>
                <p:cNvGrpSpPr/>
                <p:nvPr/>
              </p:nvGrpSpPr>
              <p:grpSpPr>
                <a:xfrm>
                  <a:off x="1471267" y="3486150"/>
                  <a:ext cx="2073763" cy="2043883"/>
                  <a:chOff x="3601272" y="3280006"/>
                  <a:chExt cx="2073763" cy="2043883"/>
                </a:xfrm>
              </p:grpSpPr>
              <p:sp>
                <p:nvSpPr>
                  <p:cNvPr id="55" name="六邊形 54">
                    <a:extLst>
                      <a:ext uri="{FF2B5EF4-FFF2-40B4-BE49-F238E27FC236}">
                        <a16:creationId xmlns:a16="http://schemas.microsoft.com/office/drawing/2014/main" id="{63FAFBB4-E445-4F11-B2E0-E0CA6D7CAA76}"/>
                      </a:ext>
                    </a:extLst>
                  </p:cNvPr>
                  <p:cNvSpPr/>
                  <p:nvPr/>
                </p:nvSpPr>
                <p:spPr>
                  <a:xfrm>
                    <a:off x="3601272" y="3280006"/>
                    <a:ext cx="1185317" cy="1021743"/>
                  </a:xfrm>
                  <a:prstGeom prst="hexagon">
                    <a:avLst>
                      <a:gd name="adj" fmla="val 29067"/>
                      <a:gd name="vf" fmla="val 11547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56" name="六邊形 55">
                    <a:extLst>
                      <a:ext uri="{FF2B5EF4-FFF2-40B4-BE49-F238E27FC236}">
                        <a16:creationId xmlns:a16="http://schemas.microsoft.com/office/drawing/2014/main" id="{D1B36AA0-350A-473F-A160-772D540BEC42}"/>
                      </a:ext>
                    </a:extLst>
                  </p:cNvPr>
                  <p:cNvSpPr/>
                  <p:nvPr/>
                </p:nvSpPr>
                <p:spPr>
                  <a:xfrm>
                    <a:off x="4489718" y="3791076"/>
                    <a:ext cx="1185317" cy="1021743"/>
                  </a:xfrm>
                  <a:prstGeom prst="hexagon">
                    <a:avLst>
                      <a:gd name="adj" fmla="val 29067"/>
                      <a:gd name="vf" fmla="val 11547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57" name="六邊形 56">
                    <a:extLst>
                      <a:ext uri="{FF2B5EF4-FFF2-40B4-BE49-F238E27FC236}">
                        <a16:creationId xmlns:a16="http://schemas.microsoft.com/office/drawing/2014/main" id="{2F56D49E-B511-47BE-8594-D9BAC24DA09F}"/>
                      </a:ext>
                    </a:extLst>
                  </p:cNvPr>
                  <p:cNvSpPr/>
                  <p:nvPr/>
                </p:nvSpPr>
                <p:spPr>
                  <a:xfrm>
                    <a:off x="3601272" y="4302146"/>
                    <a:ext cx="1185317" cy="1021743"/>
                  </a:xfrm>
                  <a:prstGeom prst="hexagon">
                    <a:avLst>
                      <a:gd name="adj" fmla="val 29067"/>
                      <a:gd name="vf" fmla="val 11547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</p:grpSp>
            <p:sp>
              <p:nvSpPr>
                <p:cNvPr id="27" name="橢圓 26">
                  <a:extLst>
                    <a:ext uri="{FF2B5EF4-FFF2-40B4-BE49-F238E27FC236}">
                      <a16:creationId xmlns:a16="http://schemas.microsoft.com/office/drawing/2014/main" id="{C115545A-F9D3-4747-BA29-6463324574CA}"/>
                    </a:ext>
                  </a:extLst>
                </p:cNvPr>
                <p:cNvSpPr/>
                <p:nvPr/>
              </p:nvSpPr>
              <p:spPr>
                <a:xfrm>
                  <a:off x="1711957" y="445213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8" name="橢圓 27">
                  <a:extLst>
                    <a:ext uri="{FF2B5EF4-FFF2-40B4-BE49-F238E27FC236}">
                      <a16:creationId xmlns:a16="http://schemas.microsoft.com/office/drawing/2014/main" id="{4D8B5383-036B-4CFE-9D8F-55C4F5A1EA95}"/>
                    </a:ext>
                  </a:extLst>
                </p:cNvPr>
                <p:cNvSpPr/>
                <p:nvPr/>
              </p:nvSpPr>
              <p:spPr>
                <a:xfrm>
                  <a:off x="2310046" y="445213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9" name="橢圓 28">
                  <a:extLst>
                    <a:ext uri="{FF2B5EF4-FFF2-40B4-BE49-F238E27FC236}">
                      <a16:creationId xmlns:a16="http://schemas.microsoft.com/office/drawing/2014/main" id="{E715E3A6-9F76-4BB3-B10B-26A28A9CCD4E}"/>
                    </a:ext>
                  </a:extLst>
                </p:cNvPr>
                <p:cNvSpPr/>
                <p:nvPr/>
              </p:nvSpPr>
              <p:spPr>
                <a:xfrm>
                  <a:off x="2607306" y="495358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0" name="橢圓 29">
                  <a:extLst>
                    <a:ext uri="{FF2B5EF4-FFF2-40B4-BE49-F238E27FC236}">
                      <a16:creationId xmlns:a16="http://schemas.microsoft.com/office/drawing/2014/main" id="{CEF6BA0B-14AA-43D9-8CC4-E9CC7B4E969B}"/>
                    </a:ext>
                  </a:extLst>
                </p:cNvPr>
                <p:cNvSpPr/>
                <p:nvPr/>
              </p:nvSpPr>
              <p:spPr>
                <a:xfrm>
                  <a:off x="3183569" y="495358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" name="橢圓 30">
                  <a:extLst>
                    <a:ext uri="{FF2B5EF4-FFF2-40B4-BE49-F238E27FC236}">
                      <a16:creationId xmlns:a16="http://schemas.microsoft.com/office/drawing/2014/main" id="{CD99AFF6-BD4D-40C4-A616-EC80502A8AD2}"/>
                    </a:ext>
                  </a:extLst>
                </p:cNvPr>
                <p:cNvSpPr/>
                <p:nvPr/>
              </p:nvSpPr>
              <p:spPr>
                <a:xfrm>
                  <a:off x="1711957" y="5467933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" name="橢圓 31">
                  <a:extLst>
                    <a:ext uri="{FF2B5EF4-FFF2-40B4-BE49-F238E27FC236}">
                      <a16:creationId xmlns:a16="http://schemas.microsoft.com/office/drawing/2014/main" id="{5AB7177C-6D75-4E1A-B12D-7745D2626170}"/>
                    </a:ext>
                  </a:extLst>
                </p:cNvPr>
                <p:cNvSpPr/>
                <p:nvPr/>
              </p:nvSpPr>
              <p:spPr>
                <a:xfrm>
                  <a:off x="2310046" y="546793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" name="橢圓 32">
                  <a:extLst>
                    <a:ext uri="{FF2B5EF4-FFF2-40B4-BE49-F238E27FC236}">
                      <a16:creationId xmlns:a16="http://schemas.microsoft.com/office/drawing/2014/main" id="{6B41D1A1-D0AD-4B54-B152-981351CF73A6}"/>
                    </a:ext>
                  </a:extLst>
                </p:cNvPr>
                <p:cNvSpPr/>
                <p:nvPr/>
              </p:nvSpPr>
              <p:spPr>
                <a:xfrm>
                  <a:off x="2607306" y="393758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4" name="橢圓 33">
                  <a:extLst>
                    <a:ext uri="{FF2B5EF4-FFF2-40B4-BE49-F238E27FC236}">
                      <a16:creationId xmlns:a16="http://schemas.microsoft.com/office/drawing/2014/main" id="{E7013537-FCE5-401A-B52E-7B660398856C}"/>
                    </a:ext>
                  </a:extLst>
                </p:cNvPr>
                <p:cNvSpPr/>
                <p:nvPr/>
              </p:nvSpPr>
              <p:spPr>
                <a:xfrm>
                  <a:off x="3183569" y="393758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5" name="橢圓 34">
                  <a:extLst>
                    <a:ext uri="{FF2B5EF4-FFF2-40B4-BE49-F238E27FC236}">
                      <a16:creationId xmlns:a16="http://schemas.microsoft.com/office/drawing/2014/main" id="{EBC6182C-FC83-493E-81B6-2774E485FF99}"/>
                    </a:ext>
                  </a:extLst>
                </p:cNvPr>
                <p:cNvSpPr/>
                <p:nvPr/>
              </p:nvSpPr>
              <p:spPr>
                <a:xfrm>
                  <a:off x="3478050" y="445213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6" name="橢圓 35">
                  <a:extLst>
                    <a:ext uri="{FF2B5EF4-FFF2-40B4-BE49-F238E27FC236}">
                      <a16:creationId xmlns:a16="http://schemas.microsoft.com/office/drawing/2014/main" id="{2CC4F3E8-53C4-4230-B272-4DB7958F876C}"/>
                    </a:ext>
                  </a:extLst>
                </p:cNvPr>
                <p:cNvSpPr/>
                <p:nvPr/>
              </p:nvSpPr>
              <p:spPr>
                <a:xfrm>
                  <a:off x="1711957" y="3435140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7" name="橢圓 36">
                  <a:extLst>
                    <a:ext uri="{FF2B5EF4-FFF2-40B4-BE49-F238E27FC236}">
                      <a16:creationId xmlns:a16="http://schemas.microsoft.com/office/drawing/2014/main" id="{0B3C3CDB-5670-4A36-9891-FD214807962B}"/>
                    </a:ext>
                  </a:extLst>
                </p:cNvPr>
                <p:cNvSpPr/>
                <p:nvPr/>
              </p:nvSpPr>
              <p:spPr>
                <a:xfrm>
                  <a:off x="2310046" y="3435140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8" name="橢圓 37">
                  <a:extLst>
                    <a:ext uri="{FF2B5EF4-FFF2-40B4-BE49-F238E27FC236}">
                      <a16:creationId xmlns:a16="http://schemas.microsoft.com/office/drawing/2014/main" id="{B372456A-B971-410E-BC7E-C8F944C864B4}"/>
                    </a:ext>
                  </a:extLst>
                </p:cNvPr>
                <p:cNvSpPr/>
                <p:nvPr/>
              </p:nvSpPr>
              <p:spPr>
                <a:xfrm>
                  <a:off x="1427656" y="495358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" name="橢圓 38">
                  <a:extLst>
                    <a:ext uri="{FF2B5EF4-FFF2-40B4-BE49-F238E27FC236}">
                      <a16:creationId xmlns:a16="http://schemas.microsoft.com/office/drawing/2014/main" id="{14BDC1FE-33D1-409F-A7F7-53A15FF88408}"/>
                    </a:ext>
                  </a:extLst>
                </p:cNvPr>
                <p:cNvSpPr/>
                <p:nvPr/>
              </p:nvSpPr>
              <p:spPr>
                <a:xfrm>
                  <a:off x="1427656" y="393758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69" name="群組 68">
                <a:extLst>
                  <a:ext uri="{FF2B5EF4-FFF2-40B4-BE49-F238E27FC236}">
                    <a16:creationId xmlns:a16="http://schemas.microsoft.com/office/drawing/2014/main" id="{AFBA2F0F-10E0-4507-9BD8-988F9615A4C5}"/>
                  </a:ext>
                </a:extLst>
              </p:cNvPr>
              <p:cNvGrpSpPr/>
              <p:nvPr/>
            </p:nvGrpSpPr>
            <p:grpSpPr>
              <a:xfrm>
                <a:off x="3837461" y="3771900"/>
                <a:ext cx="1280160" cy="1501140"/>
                <a:chOff x="3642360" y="3665220"/>
                <a:chExt cx="1280160" cy="1501140"/>
              </a:xfrm>
            </p:grpSpPr>
            <p:sp>
              <p:nvSpPr>
                <p:cNvPr id="59" name="六邊形 58">
                  <a:extLst>
                    <a:ext uri="{FF2B5EF4-FFF2-40B4-BE49-F238E27FC236}">
                      <a16:creationId xmlns:a16="http://schemas.microsoft.com/office/drawing/2014/main" id="{806291C1-D940-402B-A9AD-604948C09184}"/>
                    </a:ext>
                  </a:extLst>
                </p:cNvPr>
                <p:cNvSpPr/>
                <p:nvPr/>
              </p:nvSpPr>
              <p:spPr>
                <a:xfrm rot="1800000">
                  <a:off x="3661308" y="3901632"/>
                  <a:ext cx="1185317" cy="1021743"/>
                </a:xfrm>
                <a:prstGeom prst="hexagon">
                  <a:avLst>
                    <a:gd name="adj" fmla="val 29067"/>
                    <a:gd name="vf" fmla="val 115470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cxnSp>
              <p:nvCxnSpPr>
                <p:cNvPr id="61" name="直線單箭頭接點 60">
                  <a:extLst>
                    <a:ext uri="{FF2B5EF4-FFF2-40B4-BE49-F238E27FC236}">
                      <a16:creationId xmlns:a16="http://schemas.microsoft.com/office/drawing/2014/main" id="{3FC5589A-7F58-4664-87C8-7DF085BD8A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2360" y="4412503"/>
                  <a:ext cx="128016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線單箭頭接點 61">
                  <a:extLst>
                    <a:ext uri="{FF2B5EF4-FFF2-40B4-BE49-F238E27FC236}">
                      <a16:creationId xmlns:a16="http://schemas.microsoft.com/office/drawing/2014/main" id="{677EA71E-ECA5-42BB-B925-08C44CDA8C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53966" y="3665220"/>
                  <a:ext cx="0" cy="150114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A4BF1712-B1EA-4FEA-8348-4D6964E5D2ED}"/>
                      </a:ext>
                    </a:extLst>
                  </p:cNvPr>
                  <p:cNvSpPr txBox="1"/>
                  <p:nvPr/>
                </p:nvSpPr>
                <p:spPr>
                  <a:xfrm>
                    <a:off x="5102381" y="4320540"/>
                    <a:ext cx="3999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A4BF1712-B1EA-4FEA-8348-4D6964E5D2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2381" y="4320540"/>
                    <a:ext cx="399933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文字方塊 70">
                    <a:extLst>
                      <a:ext uri="{FF2B5EF4-FFF2-40B4-BE49-F238E27FC236}">
                        <a16:creationId xmlns:a16="http://schemas.microsoft.com/office/drawing/2014/main" id="{A838130C-CD5F-4C32-A710-B09F3C1DA029}"/>
                      </a:ext>
                    </a:extLst>
                  </p:cNvPr>
                  <p:cNvSpPr txBox="1"/>
                  <p:nvPr/>
                </p:nvSpPr>
                <p:spPr>
                  <a:xfrm>
                    <a:off x="4271801" y="3421380"/>
                    <a:ext cx="399933" cy="3912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71" name="文字方塊 70">
                    <a:extLst>
                      <a:ext uri="{FF2B5EF4-FFF2-40B4-BE49-F238E27FC236}">
                        <a16:creationId xmlns:a16="http://schemas.microsoft.com/office/drawing/2014/main" id="{A838130C-CD5F-4C32-A710-B09F3C1DA0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71801" y="3421380"/>
                    <a:ext cx="399933" cy="39126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468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6157DD69-6D3D-485C-AFD0-B1D40966D4CA}"/>
                </a:ext>
              </a:extLst>
            </p:cNvPr>
            <p:cNvSpPr txBox="1"/>
            <p:nvPr/>
          </p:nvSpPr>
          <p:spPr>
            <a:xfrm>
              <a:off x="1066375" y="3023768"/>
              <a:ext cx="3775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(a)</a:t>
              </a:r>
              <a:endParaRPr lang="zh-TW" altLang="en-US" dirty="0"/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756495BA-8157-4EEB-AE92-23D40066A301}"/>
                </a:ext>
              </a:extLst>
            </p:cNvPr>
            <p:cNvSpPr txBox="1"/>
            <p:nvPr/>
          </p:nvSpPr>
          <p:spPr>
            <a:xfrm>
              <a:off x="5722266" y="3023768"/>
              <a:ext cx="3775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(b)</a:t>
              </a:r>
              <a:endParaRPr lang="zh-TW" altLang="en-US" dirty="0"/>
            </a:p>
          </p:txBody>
        </p:sp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8AE73618-69FA-417E-921A-B76058437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120" y="3314700"/>
            <a:ext cx="3343741" cy="308653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3CCD06A-1CA1-4692-BC51-A7D2236D11E9}"/>
              </a:ext>
            </a:extLst>
          </p:cNvPr>
          <p:cNvSpPr/>
          <p:nvPr/>
        </p:nvSpPr>
        <p:spPr>
          <a:xfrm>
            <a:off x="6284337" y="2352803"/>
            <a:ext cx="511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TW" dirty="0">
                <a:hlinkClick r:id="rId6"/>
              </a:rPr>
              <a:t>Quasiparticle dynamics in graphene | Nature Physics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1742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6978F47-CECB-480D-ACCF-0777461EFA87}"/>
              </a:ext>
            </a:extLst>
          </p:cNvPr>
          <p:cNvSpPr/>
          <p:nvPr/>
        </p:nvSpPr>
        <p:spPr>
          <a:xfrm>
            <a:off x="1115323" y="276045"/>
            <a:ext cx="10506973" cy="63921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165F014D-1454-44CE-8018-B21BFDA3DCDB}"/>
              </a:ext>
            </a:extLst>
          </p:cNvPr>
          <p:cNvGrpSpPr/>
          <p:nvPr/>
        </p:nvGrpSpPr>
        <p:grpSpPr>
          <a:xfrm>
            <a:off x="800914" y="202721"/>
            <a:ext cx="10069409" cy="6484259"/>
            <a:chOff x="800914" y="202721"/>
            <a:chExt cx="10069409" cy="6484259"/>
          </a:xfrm>
        </p:grpSpPr>
        <p:pic>
          <p:nvPicPr>
            <p:cNvPr id="3" name="Picture 2" descr="Fig. 1: Strain impact on the band structure.">
              <a:extLst>
                <a:ext uri="{FF2B5EF4-FFF2-40B4-BE49-F238E27FC236}">
                  <a16:creationId xmlns:a16="http://schemas.microsoft.com/office/drawing/2014/main" id="{89E8B629-EAB1-453A-B11A-7BF85637AF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68" t="1626" b="76758"/>
            <a:stretch/>
          </p:blipFill>
          <p:spPr bwMode="auto">
            <a:xfrm>
              <a:off x="1240896" y="641209"/>
              <a:ext cx="4952244" cy="2147288"/>
            </a:xfrm>
            <a:prstGeom prst="rect">
              <a:avLst/>
            </a:prstGeom>
            <a:solidFill>
              <a:schemeClr val="bg1"/>
            </a:solidFill>
            <a:extLst/>
          </p:spPr>
        </p:pic>
        <p:pic>
          <p:nvPicPr>
            <p:cNvPr id="4" name="Picture 2" descr="Fig. 1: Strain impact on the band structure.">
              <a:extLst>
                <a:ext uri="{FF2B5EF4-FFF2-40B4-BE49-F238E27FC236}">
                  <a16:creationId xmlns:a16="http://schemas.microsoft.com/office/drawing/2014/main" id="{44D139E6-728A-4D81-AFB5-EFD4AB0D01A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422" t="25667" r="25465" b="39450"/>
            <a:stretch/>
          </p:blipFill>
          <p:spPr bwMode="auto">
            <a:xfrm>
              <a:off x="2035101" y="3631693"/>
              <a:ext cx="2944237" cy="3023586"/>
            </a:xfrm>
            <a:prstGeom prst="rect">
              <a:avLst/>
            </a:prstGeom>
            <a:solidFill>
              <a:schemeClr val="bg1"/>
            </a:solidFill>
            <a:extLst/>
          </p:spPr>
        </p:pic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ACC082BF-5EB1-422D-ABE3-276283DC13C3}"/>
                </a:ext>
              </a:extLst>
            </p:cNvPr>
            <p:cNvSpPr txBox="1"/>
            <p:nvPr/>
          </p:nvSpPr>
          <p:spPr>
            <a:xfrm>
              <a:off x="850909" y="202721"/>
              <a:ext cx="472614" cy="4623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(a)</a:t>
              </a:r>
              <a:endParaRPr lang="zh-TW" altLang="en-US" dirty="0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72607E1D-58DF-47C2-928C-004560B835BC}"/>
                </a:ext>
              </a:extLst>
            </p:cNvPr>
            <p:cNvSpPr txBox="1"/>
            <p:nvPr/>
          </p:nvSpPr>
          <p:spPr>
            <a:xfrm>
              <a:off x="800914" y="3315080"/>
              <a:ext cx="472614" cy="4623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(b)</a:t>
              </a:r>
              <a:endParaRPr lang="zh-TW" altLang="en-US" dirty="0"/>
            </a:p>
          </p:txBody>
        </p: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8B6EF3B2-4585-4A48-B535-0A7275EB17E1}"/>
                </a:ext>
              </a:extLst>
            </p:cNvPr>
            <p:cNvGrpSpPr/>
            <p:nvPr/>
          </p:nvGrpSpPr>
          <p:grpSpPr>
            <a:xfrm>
              <a:off x="6612420" y="726962"/>
              <a:ext cx="2038229" cy="2008861"/>
              <a:chOff x="3601272" y="3280006"/>
              <a:chExt cx="2073763" cy="2043883"/>
            </a:xfrm>
            <a:solidFill>
              <a:schemeClr val="bg1"/>
            </a:solidFill>
          </p:grpSpPr>
          <p:sp>
            <p:nvSpPr>
              <p:cNvPr id="33" name="六邊形 32">
                <a:extLst>
                  <a:ext uri="{FF2B5EF4-FFF2-40B4-BE49-F238E27FC236}">
                    <a16:creationId xmlns:a16="http://schemas.microsoft.com/office/drawing/2014/main" id="{08A0A4BF-C844-44F2-8A8E-3119E5ABACFE}"/>
                  </a:ext>
                </a:extLst>
              </p:cNvPr>
              <p:cNvSpPr/>
              <p:nvPr/>
            </p:nvSpPr>
            <p:spPr>
              <a:xfrm>
                <a:off x="3601272" y="3280006"/>
                <a:ext cx="1185317" cy="1021743"/>
              </a:xfrm>
              <a:prstGeom prst="hexagon">
                <a:avLst>
                  <a:gd name="adj" fmla="val 29067"/>
                  <a:gd name="vf" fmla="val 115470"/>
                </a:avLst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4" name="六邊形 33">
                <a:extLst>
                  <a:ext uri="{FF2B5EF4-FFF2-40B4-BE49-F238E27FC236}">
                    <a16:creationId xmlns:a16="http://schemas.microsoft.com/office/drawing/2014/main" id="{C8BB11C7-0650-47C9-91BB-5D8347953840}"/>
                  </a:ext>
                </a:extLst>
              </p:cNvPr>
              <p:cNvSpPr/>
              <p:nvPr/>
            </p:nvSpPr>
            <p:spPr>
              <a:xfrm>
                <a:off x="4489718" y="3791076"/>
                <a:ext cx="1185317" cy="1021743"/>
              </a:xfrm>
              <a:prstGeom prst="hexagon">
                <a:avLst>
                  <a:gd name="adj" fmla="val 29067"/>
                  <a:gd name="vf" fmla="val 115470"/>
                </a:avLst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5" name="六邊形 34">
                <a:extLst>
                  <a:ext uri="{FF2B5EF4-FFF2-40B4-BE49-F238E27FC236}">
                    <a16:creationId xmlns:a16="http://schemas.microsoft.com/office/drawing/2014/main" id="{6E7512DF-B285-43AD-944F-FF01D93F114B}"/>
                  </a:ext>
                </a:extLst>
              </p:cNvPr>
              <p:cNvSpPr/>
              <p:nvPr/>
            </p:nvSpPr>
            <p:spPr>
              <a:xfrm>
                <a:off x="3601272" y="4302146"/>
                <a:ext cx="1185317" cy="1021743"/>
              </a:xfrm>
              <a:prstGeom prst="hexagon">
                <a:avLst>
                  <a:gd name="adj" fmla="val 29067"/>
                  <a:gd name="vf" fmla="val 115470"/>
                </a:avLst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E12CB9F5-BD5A-4E6D-A341-F21A6C1148B2}"/>
                </a:ext>
              </a:extLst>
            </p:cNvPr>
            <p:cNvSpPr/>
            <p:nvPr/>
          </p:nvSpPr>
          <p:spPr>
            <a:xfrm>
              <a:off x="6817153" y="1644560"/>
              <a:ext cx="173669" cy="173664"/>
            </a:xfrm>
            <a:prstGeom prst="ellipse">
              <a:avLst/>
            </a:prstGeom>
            <a:solidFill>
              <a:srgbClr val="AAEE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64519D7C-B262-47AF-AB3A-84DEE55D681F}"/>
                </a:ext>
              </a:extLst>
            </p:cNvPr>
            <p:cNvSpPr/>
            <p:nvPr/>
          </p:nvSpPr>
          <p:spPr>
            <a:xfrm>
              <a:off x="7404993" y="1644560"/>
              <a:ext cx="173669" cy="173664"/>
            </a:xfrm>
            <a:prstGeom prst="ellipse">
              <a:avLst/>
            </a:prstGeom>
            <a:solidFill>
              <a:srgbClr val="AAEE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12B6EB9D-844C-45FE-B4A4-CAB355838C20}"/>
                </a:ext>
              </a:extLst>
            </p:cNvPr>
            <p:cNvSpPr/>
            <p:nvPr/>
          </p:nvSpPr>
          <p:spPr>
            <a:xfrm>
              <a:off x="7697160" y="2137418"/>
              <a:ext cx="173669" cy="173664"/>
            </a:xfrm>
            <a:prstGeom prst="ellipse">
              <a:avLst/>
            </a:prstGeom>
            <a:solidFill>
              <a:srgbClr val="AAEE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EE106ADB-6579-498F-8EC8-A6BAC8638684}"/>
                </a:ext>
              </a:extLst>
            </p:cNvPr>
            <p:cNvSpPr/>
            <p:nvPr/>
          </p:nvSpPr>
          <p:spPr>
            <a:xfrm>
              <a:off x="8263549" y="2137418"/>
              <a:ext cx="173669" cy="173664"/>
            </a:xfrm>
            <a:prstGeom prst="ellipse">
              <a:avLst/>
            </a:prstGeom>
            <a:solidFill>
              <a:srgbClr val="AAEE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8171FD58-75EF-4568-9740-D2EA00541817}"/>
                </a:ext>
              </a:extLst>
            </p:cNvPr>
            <p:cNvSpPr/>
            <p:nvPr/>
          </p:nvSpPr>
          <p:spPr>
            <a:xfrm>
              <a:off x="6817153" y="2642955"/>
              <a:ext cx="173669" cy="173664"/>
            </a:xfrm>
            <a:prstGeom prst="ellipse">
              <a:avLst/>
            </a:prstGeom>
            <a:solidFill>
              <a:srgbClr val="AAEE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D619EBBE-5DE8-4D68-8DD2-B2B113818756}"/>
                </a:ext>
              </a:extLst>
            </p:cNvPr>
            <p:cNvSpPr/>
            <p:nvPr/>
          </p:nvSpPr>
          <p:spPr>
            <a:xfrm>
              <a:off x="7404993" y="2642955"/>
              <a:ext cx="173669" cy="173664"/>
            </a:xfrm>
            <a:prstGeom prst="ellipse">
              <a:avLst/>
            </a:prstGeom>
            <a:solidFill>
              <a:srgbClr val="AAEE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DFE5A13F-8DE8-4952-A495-5BE2D171C6EF}"/>
                </a:ext>
              </a:extLst>
            </p:cNvPr>
            <p:cNvSpPr/>
            <p:nvPr/>
          </p:nvSpPr>
          <p:spPr>
            <a:xfrm>
              <a:off x="7697160" y="1138827"/>
              <a:ext cx="173669" cy="173664"/>
            </a:xfrm>
            <a:prstGeom prst="ellipse">
              <a:avLst/>
            </a:prstGeom>
            <a:solidFill>
              <a:srgbClr val="AAEE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F247B4BA-93BB-4874-8D9C-078F61DCF66D}"/>
                </a:ext>
              </a:extLst>
            </p:cNvPr>
            <p:cNvSpPr/>
            <p:nvPr/>
          </p:nvSpPr>
          <p:spPr>
            <a:xfrm>
              <a:off x="8263549" y="1138827"/>
              <a:ext cx="173669" cy="173664"/>
            </a:xfrm>
            <a:prstGeom prst="ellipse">
              <a:avLst/>
            </a:prstGeom>
            <a:solidFill>
              <a:srgbClr val="AAEE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1B6190AB-051F-4F48-8761-E18EBC54ACB1}"/>
                </a:ext>
              </a:extLst>
            </p:cNvPr>
            <p:cNvSpPr/>
            <p:nvPr/>
          </p:nvSpPr>
          <p:spPr>
            <a:xfrm>
              <a:off x="8552983" y="1644560"/>
              <a:ext cx="173669" cy="173664"/>
            </a:xfrm>
            <a:prstGeom prst="ellipse">
              <a:avLst/>
            </a:prstGeom>
            <a:solidFill>
              <a:srgbClr val="AAEE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EA8A417B-375B-4A2F-A59B-2FBEE43962C1}"/>
                </a:ext>
              </a:extLst>
            </p:cNvPr>
            <p:cNvSpPr/>
            <p:nvPr/>
          </p:nvSpPr>
          <p:spPr>
            <a:xfrm>
              <a:off x="6817153" y="644994"/>
              <a:ext cx="173669" cy="173664"/>
            </a:xfrm>
            <a:prstGeom prst="ellipse">
              <a:avLst/>
            </a:prstGeom>
            <a:solidFill>
              <a:srgbClr val="AAEE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4ECA625E-33D8-4015-96EF-1CE4CDC096B3}"/>
                </a:ext>
              </a:extLst>
            </p:cNvPr>
            <p:cNvSpPr/>
            <p:nvPr/>
          </p:nvSpPr>
          <p:spPr>
            <a:xfrm>
              <a:off x="7404993" y="644994"/>
              <a:ext cx="173669" cy="173664"/>
            </a:xfrm>
            <a:prstGeom prst="ellipse">
              <a:avLst/>
            </a:prstGeom>
            <a:solidFill>
              <a:srgbClr val="AAEE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5BCA3EA5-51EA-41DA-92C9-8A0931B4D48D}"/>
                </a:ext>
              </a:extLst>
            </p:cNvPr>
            <p:cNvSpPr/>
            <p:nvPr/>
          </p:nvSpPr>
          <p:spPr>
            <a:xfrm>
              <a:off x="6537723" y="2137418"/>
              <a:ext cx="173669" cy="173664"/>
            </a:xfrm>
            <a:prstGeom prst="ellipse">
              <a:avLst/>
            </a:prstGeom>
            <a:solidFill>
              <a:srgbClr val="AAEE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CD120D3-65A9-46E9-AEB4-97286592E209}"/>
                </a:ext>
              </a:extLst>
            </p:cNvPr>
            <p:cNvSpPr/>
            <p:nvPr/>
          </p:nvSpPr>
          <p:spPr>
            <a:xfrm>
              <a:off x="6537723" y="1138827"/>
              <a:ext cx="173669" cy="173664"/>
            </a:xfrm>
            <a:prstGeom prst="ellipse">
              <a:avLst/>
            </a:prstGeom>
            <a:solidFill>
              <a:srgbClr val="AAEE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六邊形 15">
              <a:extLst>
                <a:ext uri="{FF2B5EF4-FFF2-40B4-BE49-F238E27FC236}">
                  <a16:creationId xmlns:a16="http://schemas.microsoft.com/office/drawing/2014/main" id="{0A40C1E8-DC9A-419F-AD3D-45C2294D9BB1}"/>
                </a:ext>
              </a:extLst>
            </p:cNvPr>
            <p:cNvSpPr/>
            <p:nvPr/>
          </p:nvSpPr>
          <p:spPr>
            <a:xfrm rot="1800000">
              <a:off x="9112672" y="1090531"/>
              <a:ext cx="1483948" cy="1279163"/>
            </a:xfrm>
            <a:prstGeom prst="hexagon">
              <a:avLst>
                <a:gd name="adj" fmla="val 29067"/>
                <a:gd name="vf" fmla="val 11547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E4CBEF06-A237-42F4-AD45-CDA3D24F914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568" y="1730112"/>
              <a:ext cx="468000" cy="0"/>
            </a:xfrm>
            <a:prstGeom prst="straightConnector1">
              <a:avLst/>
            </a:prstGeom>
            <a:solidFill>
              <a:schemeClr val="bg1"/>
            </a:solidFill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5F6D1846-0138-4BAD-930E-83CDBC515E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54646" y="1380856"/>
              <a:ext cx="0" cy="468000"/>
            </a:xfrm>
            <a:prstGeom prst="straightConnector1">
              <a:avLst/>
            </a:prstGeom>
            <a:solidFill>
              <a:schemeClr val="bg1"/>
            </a:solidFill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24881DEE-6CE7-4CE6-BD26-BA2D1F5F5087}"/>
                    </a:ext>
                  </a:extLst>
                </p:cNvPr>
                <p:cNvSpPr txBox="1"/>
                <p:nvPr/>
              </p:nvSpPr>
              <p:spPr>
                <a:xfrm>
                  <a:off x="10093919" y="1540411"/>
                  <a:ext cx="500693" cy="462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24881DEE-6CE7-4CE6-BD26-BA2D1F5F50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93919" y="1540411"/>
                  <a:ext cx="500693" cy="46238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1B07889F-0CF2-4623-B113-F4E0CA26EBA2}"/>
                    </a:ext>
                  </a:extLst>
                </p:cNvPr>
                <p:cNvSpPr txBox="1"/>
                <p:nvPr/>
              </p:nvSpPr>
              <p:spPr>
                <a:xfrm>
                  <a:off x="9653978" y="1034133"/>
                  <a:ext cx="500693" cy="4898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1B07889F-0CF2-4623-B113-F4E0CA26EB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3978" y="1034133"/>
                  <a:ext cx="500693" cy="48983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0F1BF08-50B6-456D-AD43-4D20172C09AB}"/>
                </a:ext>
              </a:extLst>
            </p:cNvPr>
            <p:cNvSpPr txBox="1"/>
            <p:nvPr/>
          </p:nvSpPr>
          <p:spPr>
            <a:xfrm>
              <a:off x="6131598" y="202721"/>
              <a:ext cx="472614" cy="4623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(c)</a:t>
              </a:r>
              <a:endParaRPr lang="zh-TW" altLang="en-US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537346B7-D3B8-4123-BE3E-B36E4536CF9F}"/>
                </a:ext>
              </a:extLst>
            </p:cNvPr>
            <p:cNvSpPr txBox="1"/>
            <p:nvPr/>
          </p:nvSpPr>
          <p:spPr>
            <a:xfrm>
              <a:off x="6131598" y="3315080"/>
              <a:ext cx="472614" cy="4623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(d)</a:t>
              </a:r>
              <a:endParaRPr lang="zh-TW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473B1D4D-197E-454B-873E-F620A370BF47}"/>
                    </a:ext>
                  </a:extLst>
                </p:cNvPr>
                <p:cNvSpPr txBox="1"/>
                <p:nvPr/>
              </p:nvSpPr>
              <p:spPr>
                <a:xfrm>
                  <a:off x="10369630" y="1096406"/>
                  <a:ext cx="5006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473B1D4D-197E-454B-873E-F620A370B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9630" y="1096406"/>
                  <a:ext cx="50069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E1EC01B3-2778-468E-99C2-C4F554E7F092}"/>
                    </a:ext>
                  </a:extLst>
                </p:cNvPr>
                <p:cNvSpPr txBox="1"/>
                <p:nvPr/>
              </p:nvSpPr>
              <p:spPr>
                <a:xfrm>
                  <a:off x="9600010" y="630505"/>
                  <a:ext cx="5006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’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E1EC01B3-2778-468E-99C2-C4F554E7F0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0010" y="630505"/>
                  <a:ext cx="50069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30658E3C-68AF-4AFA-9D8F-878046A3CB8D}"/>
                </a:ext>
              </a:extLst>
            </p:cNvPr>
            <p:cNvCxnSpPr>
              <a:cxnSpLocks/>
            </p:cNvCxnSpPr>
            <p:nvPr/>
          </p:nvCxnSpPr>
          <p:spPr>
            <a:xfrm>
              <a:off x="6796929" y="1730112"/>
              <a:ext cx="468000" cy="0"/>
            </a:xfrm>
            <a:prstGeom prst="straightConnector1">
              <a:avLst/>
            </a:prstGeom>
            <a:solidFill>
              <a:schemeClr val="bg1"/>
            </a:solidFill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F88649E5-D138-4A41-8B32-5CB2ABEC4B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006" y="1380856"/>
              <a:ext cx="0" cy="468000"/>
            </a:xfrm>
            <a:prstGeom prst="straightConnector1">
              <a:avLst/>
            </a:prstGeom>
            <a:solidFill>
              <a:schemeClr val="bg1"/>
            </a:solidFill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21849427-CF26-4D15-B1C2-84C965BF4CD0}"/>
                    </a:ext>
                  </a:extLst>
                </p:cNvPr>
                <p:cNvSpPr txBox="1"/>
                <p:nvPr/>
              </p:nvSpPr>
              <p:spPr>
                <a:xfrm>
                  <a:off x="7029599" y="1621373"/>
                  <a:ext cx="5006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21849427-CF26-4D15-B1C2-84C965BF4C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9599" y="1621373"/>
                  <a:ext cx="50069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57A3108B-ED1D-4240-86D1-F021FAA47CA8}"/>
                    </a:ext>
                  </a:extLst>
                </p:cNvPr>
                <p:cNvSpPr txBox="1"/>
                <p:nvPr/>
              </p:nvSpPr>
              <p:spPr>
                <a:xfrm>
                  <a:off x="6784920" y="1150814"/>
                  <a:ext cx="5006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57A3108B-ED1D-4240-86D1-F021FAA47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4920" y="1150814"/>
                  <a:ext cx="500693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2A110D24-D0A2-4A43-876E-C8B4C8362CF7}"/>
                    </a:ext>
                  </a:extLst>
                </p:cNvPr>
                <p:cNvSpPr txBox="1"/>
                <p:nvPr/>
              </p:nvSpPr>
              <p:spPr>
                <a:xfrm>
                  <a:off x="10003870" y="821005"/>
                  <a:ext cx="5006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2A110D24-D0A2-4A43-876E-C8B4C8362C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3870" y="821005"/>
                  <a:ext cx="50069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19C60B06-0306-4F94-BFF0-66DFCB42995C}"/>
                </a:ext>
              </a:extLst>
            </p:cNvPr>
            <p:cNvSpPr/>
            <p:nvPr/>
          </p:nvSpPr>
          <p:spPr>
            <a:xfrm>
              <a:off x="9808765" y="953698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4B560E75-401F-4BB6-BF64-7E4B3433D8CE}"/>
                </a:ext>
              </a:extLst>
            </p:cNvPr>
            <p:cNvSpPr/>
            <p:nvPr/>
          </p:nvSpPr>
          <p:spPr>
            <a:xfrm>
              <a:off x="10456465" y="1318029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0B148C38-F219-42E5-933C-185C3D6FA5AC}"/>
                    </a:ext>
                  </a:extLst>
                </p:cNvPr>
                <p:cNvSpPr txBox="1"/>
                <p:nvPr/>
              </p:nvSpPr>
              <p:spPr>
                <a:xfrm>
                  <a:off x="9484758" y="1697305"/>
                  <a:ext cx="5006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0B148C38-F219-42E5-933C-185C3D6FA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4758" y="1697305"/>
                  <a:ext cx="50069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10D67287-F92B-4F97-B84E-5D50B63BF77E}"/>
                </a:ext>
              </a:extLst>
            </p:cNvPr>
            <p:cNvSpPr/>
            <p:nvPr/>
          </p:nvSpPr>
          <p:spPr>
            <a:xfrm>
              <a:off x="10132615" y="113586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ABE37A37-748C-4DA8-BBEF-9530FFFE017B}"/>
                </a:ext>
              </a:extLst>
            </p:cNvPr>
            <p:cNvSpPr/>
            <p:nvPr/>
          </p:nvSpPr>
          <p:spPr>
            <a:xfrm>
              <a:off x="9818646" y="169411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pic>
          <p:nvPicPr>
            <p:cNvPr id="54" name="圖片 53">
              <a:extLst>
                <a:ext uri="{FF2B5EF4-FFF2-40B4-BE49-F238E27FC236}">
                  <a16:creationId xmlns:a16="http://schemas.microsoft.com/office/drawing/2014/main" id="{F0F74467-ECA4-4115-A98D-39278A7F3F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8603"/>
            <a:stretch/>
          </p:blipFill>
          <p:spPr>
            <a:xfrm>
              <a:off x="7148529" y="3600450"/>
              <a:ext cx="3056086" cy="308653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792D315E-1AB0-4FD5-AC71-56B13006FDF1}"/>
                    </a:ext>
                  </a:extLst>
                </p:cNvPr>
                <p:cNvSpPr txBox="1"/>
                <p:nvPr/>
              </p:nvSpPr>
              <p:spPr>
                <a:xfrm>
                  <a:off x="6744669" y="4907280"/>
                  <a:ext cx="5638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i="0" dirty="0" smtClean="0">
                            <a:latin typeface="Cambria Math" panose="02040503050406030204" pitchFamily="18" charset="0"/>
                          </a:rPr>
                          <m:t>eV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792D315E-1AB0-4FD5-AC71-56B13006F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4669" y="4907280"/>
                  <a:ext cx="56388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37584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58</Words>
  <Application>Microsoft Office PowerPoint</Application>
  <PresentationFormat>寬螢幕</PresentationFormat>
  <Paragraphs>21</Paragraphs>
  <Slides>3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24</cp:revision>
  <dcterms:created xsi:type="dcterms:W3CDTF">2026-03-17T04:50:34Z</dcterms:created>
  <dcterms:modified xsi:type="dcterms:W3CDTF">2026-03-17T09:33:18Z</dcterms:modified>
</cp:coreProperties>
</file>
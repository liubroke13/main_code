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  <p:sldId id="257" r:id="rId3"/>
    <p:sldId id="258" r:id="rId4"/>
    <p:sldId id="259" r:id="rId5"/>
  </p:sldIdLst>
  <p:sldSz cx="14400213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56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00027" y="589241"/>
            <a:ext cx="10800160" cy="1253490"/>
          </a:xfrm>
        </p:spPr>
        <p:txBody>
          <a:bodyPr anchor="b"/>
          <a:lstStyle>
            <a:lvl1pPr algn="ctr">
              <a:defRPr sz="315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1891070"/>
            <a:ext cx="10800160" cy="869275"/>
          </a:xfrm>
        </p:spPr>
        <p:txBody>
          <a:bodyPr/>
          <a:lstStyle>
            <a:lvl1pPr marL="0" indent="0" algn="ctr">
              <a:buNone/>
              <a:defRPr sz="1260"/>
            </a:lvl1pPr>
            <a:lvl2pPr marL="240030" indent="0" algn="ctr">
              <a:buNone/>
              <a:defRPr sz="1050"/>
            </a:lvl2pPr>
            <a:lvl3pPr marL="480060" indent="0" algn="ctr">
              <a:buNone/>
              <a:defRPr sz="945"/>
            </a:lvl3pPr>
            <a:lvl4pPr marL="720090" indent="0" algn="ctr">
              <a:buNone/>
              <a:defRPr sz="840"/>
            </a:lvl4pPr>
            <a:lvl5pPr marL="960120" indent="0" algn="ctr">
              <a:buNone/>
              <a:defRPr sz="840"/>
            </a:lvl5pPr>
            <a:lvl6pPr marL="1200150" indent="0" algn="ctr">
              <a:buNone/>
              <a:defRPr sz="840"/>
            </a:lvl6pPr>
            <a:lvl7pPr marL="1440180" indent="0" algn="ctr">
              <a:buNone/>
              <a:defRPr sz="840"/>
            </a:lvl7pPr>
            <a:lvl8pPr marL="1680210" indent="0" algn="ctr">
              <a:buNone/>
              <a:defRPr sz="840"/>
            </a:lvl8pPr>
            <a:lvl9pPr marL="1920240" indent="0" algn="ctr">
              <a:buNone/>
              <a:defRPr sz="84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2095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8970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4" y="897613"/>
            <a:ext cx="12420184" cy="1497687"/>
          </a:xfrm>
        </p:spPr>
        <p:txBody>
          <a:bodyPr anchor="b"/>
          <a:lstStyle>
            <a:lvl1pPr>
              <a:defRPr sz="315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4" y="2409468"/>
            <a:ext cx="12420184" cy="787598"/>
          </a:xfrm>
        </p:spPr>
        <p:txBody>
          <a:bodyPr/>
          <a:lstStyle>
            <a:lvl1pPr marL="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1pPr>
            <a:lvl2pPr marL="24003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4800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3pPr>
            <a:lvl4pPr marL="72009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4pPr>
            <a:lvl5pPr marL="96012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5pPr>
            <a:lvl6pPr marL="120015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6pPr>
            <a:lvl7pPr marL="144018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7pPr>
            <a:lvl8pPr marL="168021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8pPr>
            <a:lvl9pPr marL="192024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3751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958453"/>
            <a:ext cx="6120091" cy="228445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958453"/>
            <a:ext cx="6120091" cy="228445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4538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191691"/>
            <a:ext cx="12420184" cy="69592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1" y="882610"/>
            <a:ext cx="6091965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1" y="1315164"/>
            <a:ext cx="6091965" cy="193440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8" y="882610"/>
            <a:ext cx="6121966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8" y="1315164"/>
            <a:ext cx="6121966" cy="193440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590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2147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4240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240030"/>
            <a:ext cx="4644443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518398"/>
            <a:ext cx="7290108" cy="2558653"/>
          </a:xfrm>
        </p:spPr>
        <p:txBody>
          <a:bodyPr/>
          <a:lstStyle>
            <a:lvl1pPr>
              <a:defRPr sz="1680"/>
            </a:lvl1pPr>
            <a:lvl2pPr>
              <a:defRPr sz="1470"/>
            </a:lvl2pPr>
            <a:lvl3pPr>
              <a:defRPr sz="126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1080135"/>
            <a:ext cx="4644443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9990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240030"/>
            <a:ext cx="4644443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518398"/>
            <a:ext cx="7290108" cy="2558653"/>
          </a:xfrm>
        </p:spPr>
        <p:txBody>
          <a:bodyPr anchor="t"/>
          <a:lstStyle>
            <a:lvl1pPr marL="0" indent="0">
              <a:buNone/>
              <a:defRPr sz="1680"/>
            </a:lvl1pPr>
            <a:lvl2pPr marL="240030" indent="0">
              <a:buNone/>
              <a:defRPr sz="1470"/>
            </a:lvl2pPr>
            <a:lvl3pPr marL="480060" indent="0">
              <a:buNone/>
              <a:defRPr sz="1260"/>
            </a:lvl3pPr>
            <a:lvl4pPr marL="720090" indent="0">
              <a:buNone/>
              <a:defRPr sz="1050"/>
            </a:lvl4pPr>
            <a:lvl5pPr marL="960120" indent="0">
              <a:buNone/>
              <a:defRPr sz="1050"/>
            </a:lvl5pPr>
            <a:lvl6pPr marL="1200150" indent="0">
              <a:buNone/>
              <a:defRPr sz="1050"/>
            </a:lvl6pPr>
            <a:lvl7pPr marL="1440180" indent="0">
              <a:buNone/>
              <a:defRPr sz="1050"/>
            </a:lvl7pPr>
            <a:lvl8pPr marL="1680210" indent="0">
              <a:buNone/>
              <a:defRPr sz="1050"/>
            </a:lvl8pPr>
            <a:lvl9pPr marL="1920240" indent="0">
              <a:buNone/>
              <a:defRPr sz="105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1080135"/>
            <a:ext cx="4644443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383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985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2" y="191691"/>
            <a:ext cx="3105046" cy="305121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191691"/>
            <a:ext cx="9135135" cy="305121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3345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191691"/>
            <a:ext cx="12420184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958453"/>
            <a:ext cx="12420184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3337084"/>
            <a:ext cx="3240048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965009-D4C9-4BD1-8D98-F9C892462EAE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3337084"/>
            <a:ext cx="486007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3337084"/>
            <a:ext cx="3240048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E693B6-F17F-427B-ACAA-C2AFCFB454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0199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480060" rtl="0" eaLnBrk="1" latinLnBrk="0" hangingPunct="1">
        <a:lnSpc>
          <a:spcPct val="90000"/>
        </a:lnSpc>
        <a:spcBef>
          <a:spcPct val="0"/>
        </a:spcBef>
        <a:buNone/>
        <a:defRPr sz="2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015" indent="-120015" algn="l" defTabSz="48006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0007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4010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108013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56019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204025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20015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44018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68021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03EAA31-04D4-4599-BACD-F167D57EF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0232" y="-1860637"/>
            <a:ext cx="9250889" cy="731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567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群組 13">
            <a:extLst>
              <a:ext uri="{FF2B5EF4-FFF2-40B4-BE49-F238E27FC236}">
                <a16:creationId xmlns:a16="http://schemas.microsoft.com/office/drawing/2014/main" id="{9B5EFCD8-2D95-4060-99AD-BF560D78D368}"/>
              </a:ext>
            </a:extLst>
          </p:cNvPr>
          <p:cNvGrpSpPr/>
          <p:nvPr/>
        </p:nvGrpSpPr>
        <p:grpSpPr>
          <a:xfrm>
            <a:off x="184949" y="245405"/>
            <a:ext cx="13618316" cy="3417016"/>
            <a:chOff x="90306" y="1989107"/>
            <a:chExt cx="12145731" cy="3160863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161F6DE-36B6-43B8-9FC0-DD5348D0CDE3}"/>
                </a:ext>
              </a:extLst>
            </p:cNvPr>
            <p:cNvSpPr/>
            <p:nvPr/>
          </p:nvSpPr>
          <p:spPr>
            <a:xfrm>
              <a:off x="90306" y="1989107"/>
              <a:ext cx="12090192" cy="30659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8850" tIns="49425" rIns="98850" bIns="4942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45"/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8A4A554D-403F-4117-9BDA-9BA0A92B1124}"/>
                </a:ext>
              </a:extLst>
            </p:cNvPr>
            <p:cNvGrpSpPr/>
            <p:nvPr/>
          </p:nvGrpSpPr>
          <p:grpSpPr>
            <a:xfrm>
              <a:off x="125678" y="1999164"/>
              <a:ext cx="12110359" cy="3150806"/>
              <a:chOff x="560923" y="1534239"/>
              <a:chExt cx="10648403" cy="2770442"/>
            </a:xfrm>
          </p:grpSpPr>
          <p:pic>
            <p:nvPicPr>
              <p:cNvPr id="4" name="圖片 3">
                <a:extLst>
                  <a:ext uri="{FF2B5EF4-FFF2-40B4-BE49-F238E27FC236}">
                    <a16:creationId xmlns:a16="http://schemas.microsoft.com/office/drawing/2014/main" id="{E423793E-59E5-4F91-8AB5-07A569CB024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223" b="51017"/>
              <a:stretch/>
            </p:blipFill>
            <p:spPr>
              <a:xfrm>
                <a:off x="783574" y="1534239"/>
                <a:ext cx="5953656" cy="2511549"/>
              </a:xfrm>
              <a:prstGeom prst="rect">
                <a:avLst/>
              </a:prstGeom>
            </p:spPr>
          </p:pic>
          <p:pic>
            <p:nvPicPr>
              <p:cNvPr id="5" name="圖片 4">
                <a:extLst>
                  <a:ext uri="{FF2B5EF4-FFF2-40B4-BE49-F238E27FC236}">
                    <a16:creationId xmlns:a16="http://schemas.microsoft.com/office/drawing/2014/main" id="{D7713A53-1861-4AEE-8E91-B5BA2A1E8E3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655" t="54722" r="36996"/>
              <a:stretch/>
            </p:blipFill>
            <p:spPr>
              <a:xfrm>
                <a:off x="6981410" y="1619501"/>
                <a:ext cx="4227916" cy="2685180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字方塊 7">
                    <a:extLst>
                      <a:ext uri="{FF2B5EF4-FFF2-40B4-BE49-F238E27FC236}">
                        <a16:creationId xmlns:a16="http://schemas.microsoft.com/office/drawing/2014/main" id="{F4257DA9-91E3-43B3-933D-94DB952F9E47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-63328" y="2819159"/>
                    <a:ext cx="1555631" cy="30712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zh-TW" sz="1945" dirty="0"/>
                      <a:t>Energy (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945" dirty="0">
                            <a:latin typeface="Cambria Math" panose="02040503050406030204" pitchFamily="18" charset="0"/>
                          </a:rPr>
                          <m:t>eV</m:t>
                        </m:r>
                      </m:oMath>
                    </a14:m>
                    <a:r>
                      <a:rPr lang="en-US" altLang="zh-TW" sz="1945" dirty="0"/>
                      <a:t>) </a:t>
                    </a:r>
                    <a:endParaRPr lang="zh-TW" altLang="en-US" sz="1945" dirty="0"/>
                  </a:p>
                </p:txBody>
              </p:sp>
            </mc:Choice>
            <mc:Fallback>
              <p:sp>
                <p:nvSpPr>
                  <p:cNvPr id="8" name="文字方塊 7">
                    <a:extLst>
                      <a:ext uri="{FF2B5EF4-FFF2-40B4-BE49-F238E27FC236}">
                        <a16:creationId xmlns:a16="http://schemas.microsoft.com/office/drawing/2014/main" id="{F4257DA9-91E3-43B3-933D-94DB952F9E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-63328" y="2819159"/>
                    <a:ext cx="1555631" cy="30712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7813" t="-6369" r="-265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字方塊 8">
                    <a:extLst>
                      <a:ext uri="{FF2B5EF4-FFF2-40B4-BE49-F238E27FC236}">
                        <a16:creationId xmlns:a16="http://schemas.microsoft.com/office/drawing/2014/main" id="{20B1974F-A01B-4801-8A97-B63F4142AB17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6098812" y="2819159"/>
                    <a:ext cx="1555631" cy="30712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zh-TW" sz="1945" dirty="0"/>
                      <a:t>Energy (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945" dirty="0">
                            <a:latin typeface="Cambria Math" panose="02040503050406030204" pitchFamily="18" charset="0"/>
                          </a:rPr>
                          <m:t>eV</m:t>
                        </m:r>
                      </m:oMath>
                    </a14:m>
                    <a:r>
                      <a:rPr lang="en-US" altLang="zh-TW" sz="1945" dirty="0"/>
                      <a:t>) </a:t>
                    </a:r>
                    <a:endParaRPr lang="zh-TW" altLang="en-US" sz="1945" dirty="0"/>
                  </a:p>
                </p:txBody>
              </p:sp>
            </mc:Choice>
            <mc:Fallback>
              <p:sp>
                <p:nvSpPr>
                  <p:cNvPr id="9" name="文字方塊 8">
                    <a:extLst>
                      <a:ext uri="{FF2B5EF4-FFF2-40B4-BE49-F238E27FC236}">
                        <a16:creationId xmlns:a16="http://schemas.microsoft.com/office/drawing/2014/main" id="{20B1974F-A01B-4801-8A97-B63F4142AB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6098812" y="2819159"/>
                    <a:ext cx="1555631" cy="30712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813" t="-6369" r="-265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391114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77625C0E-3A03-4F5D-A082-ADA7B96B4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927" y="228514"/>
            <a:ext cx="10646361" cy="3143445"/>
          </a:xfrm>
          <a:prstGeom prst="rect">
            <a:avLst/>
          </a:prstGeom>
        </p:spPr>
      </p:pic>
      <p:sp>
        <p:nvSpPr>
          <p:cNvPr id="77" name="等腰三角形 76">
            <a:extLst>
              <a:ext uri="{FF2B5EF4-FFF2-40B4-BE49-F238E27FC236}">
                <a16:creationId xmlns:a16="http://schemas.microsoft.com/office/drawing/2014/main" id="{DC88E714-022C-42D8-86DC-2B6AA33982EB}"/>
              </a:ext>
            </a:extLst>
          </p:cNvPr>
          <p:cNvSpPr/>
          <p:nvPr/>
        </p:nvSpPr>
        <p:spPr>
          <a:xfrm rot="10800000">
            <a:off x="5288510" y="4692434"/>
            <a:ext cx="1953163" cy="2599285"/>
          </a:xfrm>
          <a:prstGeom prst="triangle">
            <a:avLst/>
          </a:prstGeom>
          <a:solidFill>
            <a:srgbClr val="FFC000">
              <a:alpha val="30196"/>
            </a:srgb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0198" tIns="60096" rIns="120198" bIns="6009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369" dirty="0"/>
          </a:p>
        </p:txBody>
      </p:sp>
      <p:sp>
        <p:nvSpPr>
          <p:cNvPr id="78" name="等腰三角形 77">
            <a:extLst>
              <a:ext uri="{FF2B5EF4-FFF2-40B4-BE49-F238E27FC236}">
                <a16:creationId xmlns:a16="http://schemas.microsoft.com/office/drawing/2014/main" id="{F4B32212-8015-45F2-AEB4-1453CDFD5A01}"/>
              </a:ext>
            </a:extLst>
          </p:cNvPr>
          <p:cNvSpPr/>
          <p:nvPr/>
        </p:nvSpPr>
        <p:spPr>
          <a:xfrm rot="10800000">
            <a:off x="8516919" y="4692434"/>
            <a:ext cx="1953163" cy="2599285"/>
          </a:xfrm>
          <a:prstGeom prst="triangle">
            <a:avLst/>
          </a:prstGeom>
          <a:solidFill>
            <a:srgbClr val="FFC000">
              <a:alpha val="30196"/>
            </a:srgb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0198" tIns="60096" rIns="120198" bIns="6009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369"/>
          </a:p>
        </p:txBody>
      </p:sp>
      <p:pic>
        <p:nvPicPr>
          <p:cNvPr id="79" name="圖片 78">
            <a:extLst>
              <a:ext uri="{FF2B5EF4-FFF2-40B4-BE49-F238E27FC236}">
                <a16:creationId xmlns:a16="http://schemas.microsoft.com/office/drawing/2014/main" id="{51C7B06C-8D78-403B-ADBD-C3AAA5603E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2" t="38920" r="6883"/>
          <a:stretch/>
        </p:blipFill>
        <p:spPr>
          <a:xfrm>
            <a:off x="8059889" y="4919626"/>
            <a:ext cx="2804949" cy="1222725"/>
          </a:xfrm>
          <a:prstGeom prst="rect">
            <a:avLst/>
          </a:prstGeom>
        </p:spPr>
      </p:pic>
      <p:sp>
        <p:nvSpPr>
          <p:cNvPr id="80" name="等腰三角形 79">
            <a:extLst>
              <a:ext uri="{FF2B5EF4-FFF2-40B4-BE49-F238E27FC236}">
                <a16:creationId xmlns:a16="http://schemas.microsoft.com/office/drawing/2014/main" id="{FF4DF668-9B3B-4170-AC92-4FBE19F4A1F5}"/>
              </a:ext>
            </a:extLst>
          </p:cNvPr>
          <p:cNvSpPr/>
          <p:nvPr/>
        </p:nvSpPr>
        <p:spPr>
          <a:xfrm rot="10800000">
            <a:off x="11791065" y="4692434"/>
            <a:ext cx="1953163" cy="2599285"/>
          </a:xfrm>
          <a:prstGeom prst="triangle">
            <a:avLst/>
          </a:prstGeom>
          <a:solidFill>
            <a:srgbClr val="FFC000">
              <a:alpha val="30196"/>
            </a:srgb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0198" tIns="60096" rIns="120198" bIns="6009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369"/>
          </a:p>
        </p:txBody>
      </p: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B81EA5F4-2DC0-4A7C-BFAE-C6F94065C8CC}"/>
              </a:ext>
            </a:extLst>
          </p:cNvPr>
          <p:cNvCxnSpPr>
            <a:cxnSpLocks/>
          </p:cNvCxnSpPr>
          <p:nvPr/>
        </p:nvCxnSpPr>
        <p:spPr>
          <a:xfrm flipV="1">
            <a:off x="9499172" y="4990437"/>
            <a:ext cx="1189278" cy="2329407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82" name="直線單箭頭接點 81">
            <a:extLst>
              <a:ext uri="{FF2B5EF4-FFF2-40B4-BE49-F238E27FC236}">
                <a16:creationId xmlns:a16="http://schemas.microsoft.com/office/drawing/2014/main" id="{29B8442D-53F4-4FC0-8204-2EE7C92579D0}"/>
              </a:ext>
            </a:extLst>
          </p:cNvPr>
          <p:cNvCxnSpPr>
            <a:cxnSpLocks/>
          </p:cNvCxnSpPr>
          <p:nvPr/>
        </p:nvCxnSpPr>
        <p:spPr>
          <a:xfrm flipV="1">
            <a:off x="12783195" y="6198607"/>
            <a:ext cx="74467" cy="1121235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83" name="圖片 82">
            <a:extLst>
              <a:ext uri="{FF2B5EF4-FFF2-40B4-BE49-F238E27FC236}">
                <a16:creationId xmlns:a16="http://schemas.microsoft.com/office/drawing/2014/main" id="{B4676756-0590-4365-8629-B046BF860D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872" t="40135" r="7992" b="-2"/>
          <a:stretch/>
        </p:blipFill>
        <p:spPr>
          <a:xfrm rot="10800000">
            <a:off x="11350361" y="7258683"/>
            <a:ext cx="2772340" cy="1198426"/>
          </a:xfrm>
          <a:prstGeom prst="rect">
            <a:avLst/>
          </a:prstGeom>
        </p:spPr>
      </p:pic>
      <p:pic>
        <p:nvPicPr>
          <p:cNvPr id="84" name="圖片 83">
            <a:extLst>
              <a:ext uri="{FF2B5EF4-FFF2-40B4-BE49-F238E27FC236}">
                <a16:creationId xmlns:a16="http://schemas.microsoft.com/office/drawing/2014/main" id="{0C4911DD-913E-480E-B726-44242311448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2" t="38920" r="6883"/>
          <a:stretch/>
        </p:blipFill>
        <p:spPr>
          <a:xfrm>
            <a:off x="11334035" y="4919626"/>
            <a:ext cx="2804949" cy="1222725"/>
          </a:xfrm>
          <a:prstGeom prst="rect">
            <a:avLst/>
          </a:prstGeom>
        </p:spPr>
      </p:pic>
      <p:pic>
        <p:nvPicPr>
          <p:cNvPr id="85" name="圖片 84">
            <a:extLst>
              <a:ext uri="{FF2B5EF4-FFF2-40B4-BE49-F238E27FC236}">
                <a16:creationId xmlns:a16="http://schemas.microsoft.com/office/drawing/2014/main" id="{1D933F25-1E42-4BEC-A005-D2A1ED9F2E6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663" t="40135" r="7542" b="-2"/>
          <a:stretch/>
        </p:blipFill>
        <p:spPr>
          <a:xfrm>
            <a:off x="11339476" y="4397455"/>
            <a:ext cx="2794085" cy="1198426"/>
          </a:xfrm>
          <a:prstGeom prst="rect">
            <a:avLst/>
          </a:prstGeom>
        </p:spPr>
      </p:pic>
      <p:sp>
        <p:nvSpPr>
          <p:cNvPr id="86" name="橢圓 85">
            <a:extLst>
              <a:ext uri="{FF2B5EF4-FFF2-40B4-BE49-F238E27FC236}">
                <a16:creationId xmlns:a16="http://schemas.microsoft.com/office/drawing/2014/main" id="{85965922-738E-43B3-829E-CC45941EB2B9}"/>
              </a:ext>
            </a:extLst>
          </p:cNvPr>
          <p:cNvSpPr/>
          <p:nvPr/>
        </p:nvSpPr>
        <p:spPr>
          <a:xfrm>
            <a:off x="12646947" y="7192271"/>
            <a:ext cx="236607" cy="23660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 dirty="0"/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F688DE77-3556-4DEE-AD99-CA67157E7516}"/>
              </a:ext>
            </a:extLst>
          </p:cNvPr>
          <p:cNvSpPr/>
          <p:nvPr/>
        </p:nvSpPr>
        <p:spPr>
          <a:xfrm>
            <a:off x="12750468" y="5944386"/>
            <a:ext cx="236607" cy="236607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 dirty="0"/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3FC269E-E30A-4BA8-AEC0-E4B85E510326}"/>
              </a:ext>
            </a:extLst>
          </p:cNvPr>
          <p:cNvSpPr txBox="1"/>
          <p:nvPr/>
        </p:nvSpPr>
        <p:spPr>
          <a:xfrm>
            <a:off x="4809917" y="3746964"/>
            <a:ext cx="2962561" cy="8215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369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Spin-allowed</a:t>
            </a:r>
          </a:p>
          <a:p>
            <a:pPr algn="ctr"/>
            <a:r>
              <a:rPr lang="en-US" altLang="zh-TW" sz="2369" dirty="0">
                <a:latin typeface="Times New Roman" panose="02020603050405020304" pitchFamily="18" charset="0"/>
                <a:cs typeface="Times New Roman" panose="02020603050405020304" pitchFamily="18" charset="0"/>
              </a:rPr>
              <a:t>BX</a:t>
            </a:r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3B2FF01B-811F-42F4-B8B1-38A50F230BC6}"/>
              </a:ext>
            </a:extLst>
          </p:cNvPr>
          <p:cNvSpPr txBox="1"/>
          <p:nvPr/>
        </p:nvSpPr>
        <p:spPr>
          <a:xfrm>
            <a:off x="11241711" y="3746964"/>
            <a:ext cx="2962561" cy="8215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369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Spin-forbidden</a:t>
            </a:r>
          </a:p>
          <a:p>
            <a:pPr algn="ctr"/>
            <a:r>
              <a:rPr lang="en-US" altLang="zh-TW" sz="2369" dirty="0">
                <a:latin typeface="Times New Roman" panose="02020603050405020304" pitchFamily="18" charset="0"/>
                <a:cs typeface="Times New Roman" panose="02020603050405020304" pitchFamily="18" charset="0"/>
              </a:rPr>
              <a:t>DX </a:t>
            </a:r>
            <a:endParaRPr lang="zh-TW" altLang="en-US" sz="236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0" name="圖片 89">
            <a:extLst>
              <a:ext uri="{FF2B5EF4-FFF2-40B4-BE49-F238E27FC236}">
                <a16:creationId xmlns:a16="http://schemas.microsoft.com/office/drawing/2014/main" id="{0421A701-2821-426E-BD71-03CA011A11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872" t="40135" r="7992" b="-2"/>
          <a:stretch/>
        </p:blipFill>
        <p:spPr>
          <a:xfrm rot="10800000">
            <a:off x="8076213" y="7258683"/>
            <a:ext cx="2772340" cy="1198426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EAD241BC-B561-4508-B0D4-C92C9CB6385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663" t="40135" r="7542" b="-2"/>
          <a:stretch/>
        </p:blipFill>
        <p:spPr>
          <a:xfrm>
            <a:off x="8065328" y="4397455"/>
            <a:ext cx="2794085" cy="1198426"/>
          </a:xfrm>
          <a:prstGeom prst="rect">
            <a:avLst/>
          </a:prstGeom>
        </p:spPr>
      </p:pic>
      <p:sp>
        <p:nvSpPr>
          <p:cNvPr id="92" name="橢圓 91">
            <a:extLst>
              <a:ext uri="{FF2B5EF4-FFF2-40B4-BE49-F238E27FC236}">
                <a16:creationId xmlns:a16="http://schemas.microsoft.com/office/drawing/2014/main" id="{6984B83C-8737-43CE-9630-1BCD961D6031}"/>
              </a:ext>
            </a:extLst>
          </p:cNvPr>
          <p:cNvSpPr/>
          <p:nvPr/>
        </p:nvSpPr>
        <p:spPr>
          <a:xfrm>
            <a:off x="9372798" y="7192271"/>
            <a:ext cx="236607" cy="23660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 dirty="0"/>
          </a:p>
        </p:txBody>
      </p:sp>
      <p:sp>
        <p:nvSpPr>
          <p:cNvPr id="93" name="橢圓 92">
            <a:extLst>
              <a:ext uri="{FF2B5EF4-FFF2-40B4-BE49-F238E27FC236}">
                <a16:creationId xmlns:a16="http://schemas.microsoft.com/office/drawing/2014/main" id="{CA9F5899-B8CD-4E2B-8B0B-9107C9666056}"/>
              </a:ext>
            </a:extLst>
          </p:cNvPr>
          <p:cNvSpPr/>
          <p:nvPr/>
        </p:nvSpPr>
        <p:spPr>
          <a:xfrm>
            <a:off x="10579309" y="4700278"/>
            <a:ext cx="236607" cy="236607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CA6F54B-885E-4F40-9868-18F482E0820B}"/>
              </a:ext>
            </a:extLst>
          </p:cNvPr>
          <p:cNvSpPr txBox="1"/>
          <p:nvPr/>
        </p:nvSpPr>
        <p:spPr>
          <a:xfrm>
            <a:off x="7661112" y="3746964"/>
            <a:ext cx="3575429" cy="8215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369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Momentum-forbidden</a:t>
            </a:r>
          </a:p>
          <a:p>
            <a:pPr algn="ctr"/>
            <a:r>
              <a:rPr lang="en-US" altLang="zh-TW" sz="2369" dirty="0">
                <a:latin typeface="Times New Roman" panose="02020603050405020304" pitchFamily="18" charset="0"/>
                <a:cs typeface="Times New Roman" panose="02020603050405020304" pitchFamily="18" charset="0"/>
              </a:rPr>
              <a:t>DX </a:t>
            </a:r>
            <a:endParaRPr lang="zh-TW" altLang="en-US" sz="236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ECE0A5B5-C789-432B-9DFD-6E54F54A1696}"/>
              </a:ext>
            </a:extLst>
          </p:cNvPr>
          <p:cNvCxnSpPr>
            <a:cxnSpLocks/>
          </p:cNvCxnSpPr>
          <p:nvPr/>
        </p:nvCxnSpPr>
        <p:spPr>
          <a:xfrm>
            <a:off x="11271847" y="8542426"/>
            <a:ext cx="3082661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C5D48ECA-13DA-44CD-9103-3B555236FA58}"/>
              </a:ext>
            </a:extLst>
          </p:cNvPr>
          <p:cNvCxnSpPr>
            <a:cxnSpLocks/>
          </p:cNvCxnSpPr>
          <p:nvPr/>
        </p:nvCxnSpPr>
        <p:spPr>
          <a:xfrm>
            <a:off x="7984984" y="8542426"/>
            <a:ext cx="3082661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C18A94DF-0C83-4079-9B4B-E77627083CF2}"/>
              </a:ext>
            </a:extLst>
          </p:cNvPr>
          <p:cNvCxnSpPr>
            <a:cxnSpLocks/>
          </p:cNvCxnSpPr>
          <p:nvPr/>
        </p:nvCxnSpPr>
        <p:spPr>
          <a:xfrm>
            <a:off x="4569199" y="8542426"/>
            <a:ext cx="3209467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8" name="箭號: 向上 97">
            <a:extLst>
              <a:ext uri="{FF2B5EF4-FFF2-40B4-BE49-F238E27FC236}">
                <a16:creationId xmlns:a16="http://schemas.microsoft.com/office/drawing/2014/main" id="{C3C73C6E-1335-4550-B604-0F0FE34CA0CA}"/>
              </a:ext>
            </a:extLst>
          </p:cNvPr>
          <p:cNvSpPr/>
          <p:nvPr/>
        </p:nvSpPr>
        <p:spPr>
          <a:xfrm>
            <a:off x="4584665" y="4141184"/>
            <a:ext cx="236362" cy="545307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 dirty="0"/>
          </a:p>
        </p:txBody>
      </p:sp>
      <p:sp>
        <p:nvSpPr>
          <p:cNvPr id="99" name="箭號: 向上 98">
            <a:extLst>
              <a:ext uri="{FF2B5EF4-FFF2-40B4-BE49-F238E27FC236}">
                <a16:creationId xmlns:a16="http://schemas.microsoft.com/office/drawing/2014/main" id="{8DDF1AEC-72A5-4C33-943D-D32288923972}"/>
              </a:ext>
            </a:extLst>
          </p:cNvPr>
          <p:cNvSpPr/>
          <p:nvPr/>
        </p:nvSpPr>
        <p:spPr>
          <a:xfrm rot="10800000">
            <a:off x="4584665" y="4865698"/>
            <a:ext cx="236362" cy="545307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/>
          </a:p>
        </p:txBody>
      </p:sp>
      <p:sp>
        <p:nvSpPr>
          <p:cNvPr id="100" name="箭號: 向上 99">
            <a:extLst>
              <a:ext uri="{FF2B5EF4-FFF2-40B4-BE49-F238E27FC236}">
                <a16:creationId xmlns:a16="http://schemas.microsoft.com/office/drawing/2014/main" id="{0A137049-3A75-4B5A-A49E-7C848B9FC137}"/>
              </a:ext>
            </a:extLst>
          </p:cNvPr>
          <p:cNvSpPr/>
          <p:nvPr/>
        </p:nvSpPr>
        <p:spPr>
          <a:xfrm>
            <a:off x="4584665" y="7877926"/>
            <a:ext cx="236362" cy="545307"/>
          </a:xfrm>
          <a:prstGeom prst="upArrow">
            <a:avLst>
              <a:gd name="adj1" fmla="val 30192"/>
              <a:gd name="adj2" fmla="val 76408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/>
          </a:p>
        </p:txBody>
      </p:sp>
      <p:pic>
        <p:nvPicPr>
          <p:cNvPr id="101" name="圖片 100">
            <a:extLst>
              <a:ext uri="{FF2B5EF4-FFF2-40B4-BE49-F238E27FC236}">
                <a16:creationId xmlns:a16="http://schemas.microsoft.com/office/drawing/2014/main" id="{7EDE3A9C-AB8E-4CF1-A24F-28F98A79303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92" t="38920" r="6883"/>
          <a:stretch/>
        </p:blipFill>
        <p:spPr>
          <a:xfrm>
            <a:off x="4830496" y="4919626"/>
            <a:ext cx="2804949" cy="1222725"/>
          </a:xfrm>
          <a:prstGeom prst="rect">
            <a:avLst/>
          </a:prstGeom>
        </p:spPr>
      </p:pic>
      <p:pic>
        <p:nvPicPr>
          <p:cNvPr id="102" name="圖片 101">
            <a:extLst>
              <a:ext uri="{FF2B5EF4-FFF2-40B4-BE49-F238E27FC236}">
                <a16:creationId xmlns:a16="http://schemas.microsoft.com/office/drawing/2014/main" id="{038D179F-5856-4168-A38A-ECABDABA6C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872" t="40135" r="7992" b="-2"/>
          <a:stretch/>
        </p:blipFill>
        <p:spPr>
          <a:xfrm rot="10800000">
            <a:off x="4846819" y="7258683"/>
            <a:ext cx="2772340" cy="1198426"/>
          </a:xfrm>
          <a:prstGeom prst="rect">
            <a:avLst/>
          </a:prstGeom>
        </p:spPr>
      </p:pic>
      <p:pic>
        <p:nvPicPr>
          <p:cNvPr id="103" name="圖片 102">
            <a:extLst>
              <a:ext uri="{FF2B5EF4-FFF2-40B4-BE49-F238E27FC236}">
                <a16:creationId xmlns:a16="http://schemas.microsoft.com/office/drawing/2014/main" id="{6A0AC974-F260-437F-B2A3-B63CA8FD49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663" t="40135" r="7542" b="-2"/>
          <a:stretch/>
        </p:blipFill>
        <p:spPr>
          <a:xfrm>
            <a:off x="4835936" y="4397455"/>
            <a:ext cx="2794085" cy="1198426"/>
          </a:xfrm>
          <a:prstGeom prst="rect">
            <a:avLst/>
          </a:prstGeom>
        </p:spPr>
      </p:pic>
      <p:sp>
        <p:nvSpPr>
          <p:cNvPr id="104" name="橢圓 103">
            <a:extLst>
              <a:ext uri="{FF2B5EF4-FFF2-40B4-BE49-F238E27FC236}">
                <a16:creationId xmlns:a16="http://schemas.microsoft.com/office/drawing/2014/main" id="{541F2F86-18E7-4937-81C1-E0B3422026F3}"/>
              </a:ext>
            </a:extLst>
          </p:cNvPr>
          <p:cNvSpPr/>
          <p:nvPr/>
        </p:nvSpPr>
        <p:spPr>
          <a:xfrm>
            <a:off x="6671434" y="5278014"/>
            <a:ext cx="236607" cy="236607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 dirty="0"/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10930744-E8C8-4835-B88D-2F91CDA557EE}"/>
              </a:ext>
            </a:extLst>
          </p:cNvPr>
          <p:cNvCxnSpPr>
            <a:cxnSpLocks/>
          </p:cNvCxnSpPr>
          <p:nvPr/>
        </p:nvCxnSpPr>
        <p:spPr>
          <a:xfrm flipV="1">
            <a:off x="6260775" y="5491553"/>
            <a:ext cx="507980" cy="1822552"/>
          </a:xfrm>
          <a:prstGeom prst="straightConnector1">
            <a:avLst/>
          </a:prstGeom>
          <a:ln w="57150">
            <a:solidFill>
              <a:srgbClr val="E1B037"/>
            </a:solidFill>
            <a:headEnd w="sm" len="sm"/>
            <a:tailEnd type="triangle" w="med" len="lg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06" name="橢圓 105">
            <a:extLst>
              <a:ext uri="{FF2B5EF4-FFF2-40B4-BE49-F238E27FC236}">
                <a16:creationId xmlns:a16="http://schemas.microsoft.com/office/drawing/2014/main" id="{0D9F8D50-074E-4251-97A7-6213E27A8450}"/>
              </a:ext>
            </a:extLst>
          </p:cNvPr>
          <p:cNvSpPr/>
          <p:nvPr/>
        </p:nvSpPr>
        <p:spPr>
          <a:xfrm>
            <a:off x="6143404" y="7192271"/>
            <a:ext cx="236607" cy="23660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369" dirty="0"/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41A50F2B-5F76-4D16-AB5E-5C2F244D428D}"/>
              </a:ext>
            </a:extLst>
          </p:cNvPr>
          <p:cNvSpPr txBox="1"/>
          <p:nvPr/>
        </p:nvSpPr>
        <p:spPr>
          <a:xfrm>
            <a:off x="4208181" y="6328492"/>
            <a:ext cx="1834236" cy="456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369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Light-cone</a:t>
            </a:r>
            <a:endParaRPr lang="zh-TW" altLang="en-US" sz="236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E3CD9686-0ABF-40C6-98AA-3E06A441FE22}"/>
                  </a:ext>
                </a:extLst>
              </p:cNvPr>
              <p:cNvSpPr txBox="1"/>
              <p:nvPr/>
            </p:nvSpPr>
            <p:spPr>
              <a:xfrm>
                <a:off x="4202943" y="8314071"/>
                <a:ext cx="482563" cy="4569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69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</m:oMath>
                  </m:oMathPara>
                </a14:m>
                <a:endParaRPr lang="zh-TW" altLang="en-US" sz="2369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E3CD9686-0ABF-40C6-98AA-3E06A441F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2943" y="8314071"/>
                <a:ext cx="482563" cy="4569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8092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6051CA0F-F3E3-4612-9D81-94BAE86CB835}"/>
              </a:ext>
            </a:extLst>
          </p:cNvPr>
          <p:cNvGrpSpPr/>
          <p:nvPr/>
        </p:nvGrpSpPr>
        <p:grpSpPr>
          <a:xfrm>
            <a:off x="-47949" y="-43981"/>
            <a:ext cx="14496110" cy="3755087"/>
            <a:chOff x="246707" y="57509"/>
            <a:chExt cx="13409421" cy="3473589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3AD9E2E4-BE1A-40F0-912D-43E87B0D9634}"/>
                </a:ext>
              </a:extLst>
            </p:cNvPr>
            <p:cNvSpPr/>
            <p:nvPr/>
          </p:nvSpPr>
          <p:spPr>
            <a:xfrm>
              <a:off x="291061" y="69351"/>
              <a:ext cx="13301113" cy="34617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8850" tIns="49425" rIns="98850" bIns="4942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45" dirty="0"/>
            </a:p>
          </p:txBody>
        </p:sp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21E48CAA-B7E4-48A7-893D-0B819B444661}"/>
                </a:ext>
              </a:extLst>
            </p:cNvPr>
            <p:cNvGrpSpPr/>
            <p:nvPr/>
          </p:nvGrpSpPr>
          <p:grpSpPr>
            <a:xfrm>
              <a:off x="419229" y="525279"/>
              <a:ext cx="6623348" cy="2588128"/>
              <a:chOff x="969907" y="1589412"/>
              <a:chExt cx="5802804" cy="2351821"/>
            </a:xfrm>
          </p:grpSpPr>
          <p:pic>
            <p:nvPicPr>
              <p:cNvPr id="8" name="圖片 7">
                <a:extLst>
                  <a:ext uri="{FF2B5EF4-FFF2-40B4-BE49-F238E27FC236}">
                    <a16:creationId xmlns:a16="http://schemas.microsoft.com/office/drawing/2014/main" id="{5BAB739D-EF50-4AFB-9988-CC198712CD3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223" b="51017"/>
              <a:stretch/>
            </p:blipFill>
            <p:spPr>
              <a:xfrm>
                <a:off x="1197695" y="1589412"/>
                <a:ext cx="5575016" cy="2351821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7D6B8A5F-28B9-4F81-AFEA-3C220B3BE1F6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350793" y="2606620"/>
                    <a:ext cx="1555631" cy="3174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TW" sz="1945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Energy (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945" dirty="0">
                            <a:latin typeface="Cambria Math" panose="02040503050406030204" pitchFamily="18" charset="0"/>
                          </a:rPr>
                          <m:t>eV</m:t>
                        </m:r>
                      </m:oMath>
                    </a14:m>
                    <a:r>
                      <a:rPr lang="en-US" altLang="zh-TW" sz="1945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) </a:t>
                    </a:r>
                    <a:endParaRPr lang="zh-TW" altLang="en-US" sz="1945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7D6B8A5F-28B9-4F81-AFEA-3C220B3BE1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350793" y="2606620"/>
                    <a:ext cx="1555631" cy="31740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9375" r="-265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3A7E42C7-BC70-4BD7-AAA4-563593CF6A64}"/>
                </a:ext>
              </a:extLst>
            </p:cNvPr>
            <p:cNvSpPr txBox="1"/>
            <p:nvPr/>
          </p:nvSpPr>
          <p:spPr>
            <a:xfrm>
              <a:off x="246707" y="57509"/>
              <a:ext cx="466725" cy="362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945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zh-TW" altLang="en-US" sz="1945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CA5F6C8-E1DF-47E3-8827-61588B9D1162}"/>
                </a:ext>
              </a:extLst>
            </p:cNvPr>
            <p:cNvSpPr txBox="1"/>
            <p:nvPr/>
          </p:nvSpPr>
          <p:spPr>
            <a:xfrm>
              <a:off x="6909647" y="57509"/>
              <a:ext cx="466725" cy="362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945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zh-TW" altLang="en-US" sz="1945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36FBA019-653B-49DF-B3D9-2522E9B1A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26299" y="235540"/>
              <a:ext cx="6429829" cy="31676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09805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</TotalTime>
  <Words>26</Words>
  <Application>Microsoft Office PowerPoint</Application>
  <PresentationFormat>自訂</PresentationFormat>
  <Paragraphs>13</Paragraphs>
  <Slides>4</Slides>
  <Notes>0</Notes>
  <HiddenSlides>3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1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21</cp:revision>
  <dcterms:created xsi:type="dcterms:W3CDTF">2026-03-17T10:22:17Z</dcterms:created>
  <dcterms:modified xsi:type="dcterms:W3CDTF">2026-04-01T10:12:58Z</dcterms:modified>
</cp:coreProperties>
</file>
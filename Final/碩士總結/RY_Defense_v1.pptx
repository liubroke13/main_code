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7" r:id="rId2"/>
    <p:sldId id="259" r:id="rId3"/>
    <p:sldId id="260" r:id="rId4"/>
    <p:sldId id="265" r:id="rId5"/>
    <p:sldId id="261" r:id="rId6"/>
    <p:sldId id="266" r:id="rId7"/>
    <p:sldId id="275" r:id="rId8"/>
    <p:sldId id="269" r:id="rId9"/>
    <p:sldId id="271" r:id="rId10"/>
    <p:sldId id="274" r:id="rId11"/>
    <p:sldId id="272" r:id="rId12"/>
    <p:sldId id="273" r:id="rId13"/>
    <p:sldId id="262" r:id="rId14"/>
    <p:sldId id="267" r:id="rId15"/>
    <p:sldId id="263" r:id="rId16"/>
    <p:sldId id="268" r:id="rId17"/>
    <p:sldId id="264" r:id="rId1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92" autoAdjust="0"/>
    <p:restoredTop sz="94660"/>
  </p:normalViewPr>
  <p:slideViewPr>
    <p:cSldViewPr snapToGrid="0">
      <p:cViewPr>
        <p:scale>
          <a:sx n="66" d="100"/>
          <a:sy n="66" d="100"/>
        </p:scale>
        <p:origin x="3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58890FC-0E3C-4C7F-A446-14BA862BBA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CCFFCC2-1A90-43CE-99E6-F48860C54E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4A7B6-1C40-4E50-A661-C1BB58DFEE8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FD85880-5A8C-4D97-864E-344E276004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F195ECA-E42C-42A9-929A-C5CC94E88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48F779-79CD-4108-A2AD-022A92E9A3D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2022619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FA95AB-11A6-4F50-981D-2F517B9BD07B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853A02-615E-438C-A6CE-7469719750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049256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B691C-CD4A-43A2-B520-CAE49D2F2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24B232C-0DBE-47DD-AFDD-9BD087A0F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164BEA-135B-469A-9E72-43F538581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7EAE-E217-4C13-B1D4-C1D2362BCCD6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737A42-901E-402E-9933-861BED20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D43637-3443-483A-A0E1-0C760F4EE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0174" y="6561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130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6AD3-D64F-4AD1-B068-749E1E87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435B4B-E4C6-473E-AA93-3A4E4089E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327BFFB-5C39-42A9-84B7-B72D595BF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2E92-078D-445D-A315-241AB512DF4E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80540A-C5F3-41CD-945D-0012EFC10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DA2F5F-79C4-47F0-9828-1B247829A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681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F93B3-9135-4423-B2A5-8F32A90F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B873E3-FAEF-4C2D-B950-2201DF7C4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B26B3-8E3A-4103-B01A-27A4CA01E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F5C96-160B-4F0F-BE3F-3AAE2032A14A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627D54-7B66-473E-802C-B753DE12A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EC52D2-8F6B-4B98-9A89-42B98717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4356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E3660B-86EB-4DA1-91A6-8DF03215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A4C3EA-B57A-489B-A453-F808DD2F7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304A1C1-5C8F-40F7-9AEC-9A6F78DBA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B8368F-BC9A-4C47-844C-0C0F2605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DE22B-68CD-40D7-BF74-022E0380697F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031D34A-65B4-40EC-A193-7D310D9F0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DCCEAA-8C5A-44AD-B5AD-B89BBCA5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940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1D70AB-5AEE-4987-B024-23B19E81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5911982-8F94-4665-92DB-BFB853679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8426EA-A887-4D92-BF80-BBE88AB88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8078B31-7706-40E0-AF4C-5BC6F29D88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5F79F22-D921-40E8-A67E-2D5CCB406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B3F61B2-E1EA-4161-A3F7-869A6E62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7BC32-EEEC-42AD-9FB7-1F67CBD9006C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5A15D31-E11F-4A77-9C5C-1BD1276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8BB29CF-0FEA-4BF1-96CF-1734DCF1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144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89D28-9A5E-4AD8-970C-FF8D860E6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BA51452-BE12-490A-AFB2-0C69ACAE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834FD-B989-4DC7-B0C3-3D9481DCB247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47599B2-4579-44EA-A2EB-970FEC3C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0D46C2-F5E5-48AF-8E51-35D0C962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525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E29EA59-25D4-490F-8850-031D90DF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B7E6-3D99-40BE-9488-75C5C51CD267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0F2C1BD-2ED5-4152-8BE0-FA6ACF44E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791D6-5330-4A64-9C4B-B83034A2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8094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B207F-FACC-47F5-9B64-79FD003C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E8F25-487C-4E15-8784-4F2CBE7F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1C1711B-CB6F-4A47-BC26-6D68D8E12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48414E3-3B14-4639-A0A0-5C094E5E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679B-3B15-42DA-A497-282AB7671468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E8A612-B553-421E-85F9-285C18DE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B8DB27-133D-42A8-AE3F-5F4EB775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9074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70C8E-1C12-441E-8FEA-5E759B2B6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E13A0B1-9018-43B1-A0A5-9CA75ACA99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EDD48C5-BA61-47FF-B4B0-1819525B5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83E122-E856-4E3E-9F77-1FB25FFA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00812-8F6A-47B7-8300-ABC68422A82D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CB8CB8-E381-4DB4-A08E-97D14C5B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1826EF-0C6C-4E70-B548-A6E61D8CF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412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D49CA0-B2C1-4E4E-808C-F00586C91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F36D40E-FB2B-44DD-BAE0-04F965B1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E8BB79-C5CB-4265-9B44-179DBE11E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6042C-E665-4C51-80B3-C45E4AEFB00B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900BEF-E29F-4120-985F-E4D4F5FF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12B234-2BB5-41C9-BE01-0BD41460C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0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9F654B1-7D62-4C86-91A5-BBD33D8B6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66CD05-1A94-4AD5-B835-FA3145CA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A61AF6-7FB4-41AB-9FBB-C674BC45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6AB9C-E9F3-448F-BAEF-2980284577BF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CAD09C-4F2A-4FE9-BCA8-2DDAEC5F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A454CE-36C5-4608-82AF-1042403E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881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A90D6F6-BD99-45D8-B451-8F07A775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764D2CF-3DF5-4498-8889-8484908F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A283-A1FA-4A52-962C-BC2FDC488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E079-4510-46F8-9023-A4DE6DD9B4B9}" type="datetime1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E60776-BDAB-4A55-B603-4CE711BAC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3EF202-F5F3-4F19-A55C-9132512DA8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076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5.png"/><Relationship Id="rId5" Type="http://schemas.openxmlformats.org/officeDocument/2006/relationships/image" Target="../media/image18.png"/><Relationship Id="rId10" Type="http://schemas.openxmlformats.org/officeDocument/2006/relationships/image" Target="../media/image24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svg"/><Relationship Id="rId18" Type="http://schemas.openxmlformats.org/officeDocument/2006/relationships/image" Target="../media/image1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6.png"/><Relationship Id="rId16" Type="http://schemas.openxmlformats.org/officeDocument/2006/relationships/image" Target="../media/image40.sv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svg"/><Relationship Id="rId19" Type="http://schemas.openxmlformats.org/officeDocument/2006/relationships/image" Target="../media/image42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13" Type="http://schemas.openxmlformats.org/officeDocument/2006/relationships/image" Target="../media/image18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17.png"/><Relationship Id="rId5" Type="http://schemas.openxmlformats.org/officeDocument/2006/relationships/image" Target="../media/image34.sv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8" Type="http://schemas.openxmlformats.org/officeDocument/2006/relationships/image" Target="../media/image49.png"/><Relationship Id="rId3" Type="http://schemas.openxmlformats.org/officeDocument/2006/relationships/image" Target="../media/image18.png"/><Relationship Id="rId7" Type="http://schemas.openxmlformats.org/officeDocument/2006/relationships/image" Target="../media/image45.png"/><Relationship Id="rId17" Type="http://schemas.openxmlformats.org/officeDocument/2006/relationships/image" Target="../media/image160.png"/><Relationship Id="rId2" Type="http://schemas.openxmlformats.org/officeDocument/2006/relationships/image" Target="../media/image48.png"/><Relationship Id="rId20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7.png"/><Relationship Id="rId19" Type="http://schemas.openxmlformats.org/officeDocument/2006/relationships/image" Target="../media/image50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337E483-2C4B-4C93-9722-AE3E3DE35E20}"/>
              </a:ext>
            </a:extLst>
          </p:cNvPr>
          <p:cNvSpPr txBox="1">
            <a:spLocks/>
          </p:cNvSpPr>
          <p:nvPr/>
        </p:nvSpPr>
        <p:spPr>
          <a:xfrm>
            <a:off x="1652339" y="2084388"/>
            <a:ext cx="8887324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Theoretical studies of excitonic transitions in two dimensional materials under photoexcitation of scalar and vector vortex beams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E6261B0-EBD3-4C22-9F81-7398932D8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4571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79DF72C3-F8A7-4781-A687-449ABFB48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Light-matter interaction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8679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5DF1F115-271F-4B66-844C-E81655B2E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altLang="zh-TW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9DCFE80-ACAC-4FCC-807E-86EC53B8F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362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A0B84D7-FBF0-48E8-A5CC-0E544A152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4408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A742B108-2FF9-4EC2-8628-7995F229C770}"/>
              </a:ext>
            </a:extLst>
          </p:cNvPr>
          <p:cNvSpPr txBox="1">
            <a:spLocks/>
          </p:cNvSpPr>
          <p:nvPr/>
        </p:nvSpPr>
        <p:spPr>
          <a:xfrm>
            <a:off x="838200" y="1341174"/>
            <a:ext cx="10515600" cy="52071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Spin-orbital angular momentum interaction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(SOI) in light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Laguerre-Gaussian beams : SOI in phase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beams : SOI in magnitude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4AA9810-D2AB-4EA5-AA16-19E6AFE40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174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群組 49">
            <a:extLst>
              <a:ext uri="{FF2B5EF4-FFF2-40B4-BE49-F238E27FC236}">
                <a16:creationId xmlns:a16="http://schemas.microsoft.com/office/drawing/2014/main" id="{AEAAB9B6-6F02-4F50-A3A1-47E74951E4A5}"/>
              </a:ext>
            </a:extLst>
          </p:cNvPr>
          <p:cNvGrpSpPr/>
          <p:nvPr/>
        </p:nvGrpSpPr>
        <p:grpSpPr>
          <a:xfrm>
            <a:off x="1110416" y="1390657"/>
            <a:ext cx="4640566" cy="2425969"/>
            <a:chOff x="1022158" y="2367936"/>
            <a:chExt cx="4640566" cy="2425969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DA885084-20BB-4DFF-8441-5530CE0470F3}"/>
                </a:ext>
              </a:extLst>
            </p:cNvPr>
            <p:cNvSpPr/>
            <p:nvPr/>
          </p:nvSpPr>
          <p:spPr>
            <a:xfrm>
              <a:off x="1022158" y="4165116"/>
              <a:ext cx="2836334" cy="62878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  <p:sp>
          <p:nvSpPr>
            <p:cNvPr id="52" name="梯形 28">
              <a:extLst>
                <a:ext uri="{FF2B5EF4-FFF2-40B4-BE49-F238E27FC236}">
                  <a16:creationId xmlns:a16="http://schemas.microsoft.com/office/drawing/2014/main" id="{A2744EC8-4986-44B7-8E5D-BA1119A23279}"/>
                </a:ext>
              </a:extLst>
            </p:cNvPr>
            <p:cNvSpPr/>
            <p:nvPr/>
          </p:nvSpPr>
          <p:spPr>
            <a:xfrm rot="16200000">
              <a:off x="3543599" y="2670129"/>
              <a:ext cx="2421317" cy="1816932"/>
            </a:xfrm>
            <a:custGeom>
              <a:avLst/>
              <a:gdLst>
                <a:gd name="connsiteX0" fmla="*/ 0 w 5380649"/>
                <a:gd name="connsiteY0" fmla="*/ 1587501 h 1587501"/>
                <a:gd name="connsiteX1" fmla="*/ 1001221 w 5380649"/>
                <a:gd name="connsiteY1" fmla="*/ 0 h 1587501"/>
                <a:gd name="connsiteX2" fmla="*/ 4379428 w 5380649"/>
                <a:gd name="connsiteY2" fmla="*/ 0 h 1587501"/>
                <a:gd name="connsiteX3" fmla="*/ 5380649 w 5380649"/>
                <a:gd name="connsiteY3" fmla="*/ 1587501 h 1587501"/>
                <a:gd name="connsiteX4" fmla="*/ 0 w 5380649"/>
                <a:gd name="connsiteY4" fmla="*/ 1587501 h 1587501"/>
                <a:gd name="connsiteX0" fmla="*/ 0 w 5380649"/>
                <a:gd name="connsiteY0" fmla="*/ 1597026 h 1597026"/>
                <a:gd name="connsiteX1" fmla="*/ 1001221 w 5380649"/>
                <a:gd name="connsiteY1" fmla="*/ 9525 h 1597026"/>
                <a:gd name="connsiteX2" fmla="*/ 2560153 w 5380649"/>
                <a:gd name="connsiteY2" fmla="*/ 0 h 1597026"/>
                <a:gd name="connsiteX3" fmla="*/ 5380649 w 5380649"/>
                <a:gd name="connsiteY3" fmla="*/ 1597026 h 1597026"/>
                <a:gd name="connsiteX4" fmla="*/ 0 w 5380649"/>
                <a:gd name="connsiteY4" fmla="*/ 1597026 h 1597026"/>
                <a:gd name="connsiteX0" fmla="*/ 0 w 5380649"/>
                <a:gd name="connsiteY0" fmla="*/ 1592264 h 1592264"/>
                <a:gd name="connsiteX1" fmla="*/ 1001221 w 5380649"/>
                <a:gd name="connsiteY1" fmla="*/ 4763 h 1592264"/>
                <a:gd name="connsiteX2" fmla="*/ 2579203 w 5380649"/>
                <a:gd name="connsiteY2" fmla="*/ 0 h 1592264"/>
                <a:gd name="connsiteX3" fmla="*/ 5380649 w 5380649"/>
                <a:gd name="connsiteY3" fmla="*/ 1592264 h 1592264"/>
                <a:gd name="connsiteX4" fmla="*/ 0 w 5380649"/>
                <a:gd name="connsiteY4" fmla="*/ 1592264 h 1592264"/>
                <a:gd name="connsiteX0" fmla="*/ 0 w 4204992"/>
                <a:gd name="connsiteY0" fmla="*/ 1592264 h 1592264"/>
                <a:gd name="connsiteX1" fmla="*/ 1001221 w 4204992"/>
                <a:gd name="connsiteY1" fmla="*/ 4763 h 1592264"/>
                <a:gd name="connsiteX2" fmla="*/ 2579203 w 4204992"/>
                <a:gd name="connsiteY2" fmla="*/ 0 h 1592264"/>
                <a:gd name="connsiteX3" fmla="*/ 4204992 w 4204992"/>
                <a:gd name="connsiteY3" fmla="*/ 1572535 h 1592264"/>
                <a:gd name="connsiteX4" fmla="*/ 0 w 4204992"/>
                <a:gd name="connsiteY4" fmla="*/ 1592264 h 1592264"/>
                <a:gd name="connsiteX0" fmla="*/ 0 w 3827621"/>
                <a:gd name="connsiteY0" fmla="*/ 1578852 h 1578852"/>
                <a:gd name="connsiteX1" fmla="*/ 623850 w 3827621"/>
                <a:gd name="connsiteY1" fmla="*/ 4763 h 1578852"/>
                <a:gd name="connsiteX2" fmla="*/ 2201832 w 3827621"/>
                <a:gd name="connsiteY2" fmla="*/ 0 h 1578852"/>
                <a:gd name="connsiteX3" fmla="*/ 3827621 w 3827621"/>
                <a:gd name="connsiteY3" fmla="*/ 1572535 h 1578852"/>
                <a:gd name="connsiteX4" fmla="*/ 0 w 3827621"/>
                <a:gd name="connsiteY4" fmla="*/ 1578852 h 1578852"/>
                <a:gd name="connsiteX0" fmla="*/ 0 w 2898710"/>
                <a:gd name="connsiteY0" fmla="*/ 1578852 h 1578852"/>
                <a:gd name="connsiteX1" fmla="*/ 623850 w 2898710"/>
                <a:gd name="connsiteY1" fmla="*/ 4763 h 1578852"/>
                <a:gd name="connsiteX2" fmla="*/ 2201832 w 2898710"/>
                <a:gd name="connsiteY2" fmla="*/ 0 h 1578852"/>
                <a:gd name="connsiteX3" fmla="*/ 2898710 w 2898710"/>
                <a:gd name="connsiteY3" fmla="*/ 1572537 h 1578852"/>
                <a:gd name="connsiteX4" fmla="*/ 0 w 289871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2018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0875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08753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18278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3343210"/>
                <a:gd name="connsiteY0" fmla="*/ 1740810 h 1740810"/>
                <a:gd name="connsiteX1" fmla="*/ 1042950 w 3343210"/>
                <a:gd name="connsiteY1" fmla="*/ 4763 h 1740810"/>
                <a:gd name="connsiteX2" fmla="*/ 2601882 w 3343210"/>
                <a:gd name="connsiteY2" fmla="*/ 0 h 1740810"/>
                <a:gd name="connsiteX3" fmla="*/ 3343210 w 3343210"/>
                <a:gd name="connsiteY3" fmla="*/ 1578405 h 1740810"/>
                <a:gd name="connsiteX4" fmla="*/ 0 w 3343210"/>
                <a:gd name="connsiteY4" fmla="*/ 1740810 h 1740810"/>
                <a:gd name="connsiteX0" fmla="*/ 0 w 3244150"/>
                <a:gd name="connsiteY0" fmla="*/ 1740810 h 1824864"/>
                <a:gd name="connsiteX1" fmla="*/ 1042950 w 3244150"/>
                <a:gd name="connsiteY1" fmla="*/ 4763 h 1824864"/>
                <a:gd name="connsiteX2" fmla="*/ 2601882 w 3244150"/>
                <a:gd name="connsiteY2" fmla="*/ 0 h 1824864"/>
                <a:gd name="connsiteX3" fmla="*/ 3244150 w 3244150"/>
                <a:gd name="connsiteY3" fmla="*/ 1824864 h 1824864"/>
                <a:gd name="connsiteX4" fmla="*/ 0 w 3244150"/>
                <a:gd name="connsiteY4" fmla="*/ 1740810 h 1824864"/>
                <a:gd name="connsiteX0" fmla="*/ 0 w 4415725"/>
                <a:gd name="connsiteY0" fmla="*/ 1740810 h 2062520"/>
                <a:gd name="connsiteX1" fmla="*/ 1042950 w 4415725"/>
                <a:gd name="connsiteY1" fmla="*/ 4763 h 2062520"/>
                <a:gd name="connsiteX2" fmla="*/ 2601882 w 4415725"/>
                <a:gd name="connsiteY2" fmla="*/ 0 h 2062520"/>
                <a:gd name="connsiteX3" fmla="*/ 4415725 w 4415725"/>
                <a:gd name="connsiteY3" fmla="*/ 2062520 h 2062520"/>
                <a:gd name="connsiteX4" fmla="*/ 0 w 4415725"/>
                <a:gd name="connsiteY4" fmla="*/ 1740810 h 2062520"/>
                <a:gd name="connsiteX0" fmla="*/ 1576427 w 3372775"/>
                <a:gd name="connsiteY0" fmla="*/ 2128104 h 2128104"/>
                <a:gd name="connsiteX1" fmla="*/ 0 w 3372775"/>
                <a:gd name="connsiteY1" fmla="*/ 4763 h 2128104"/>
                <a:gd name="connsiteX2" fmla="*/ 1558932 w 3372775"/>
                <a:gd name="connsiteY2" fmla="*/ 0 h 2128104"/>
                <a:gd name="connsiteX3" fmla="*/ 3372775 w 3372775"/>
                <a:gd name="connsiteY3" fmla="*/ 2062520 h 2128104"/>
                <a:gd name="connsiteX4" fmla="*/ 1576427 w 3372775"/>
                <a:gd name="connsiteY4" fmla="*/ 2128104 h 2128104"/>
                <a:gd name="connsiteX0" fmla="*/ 633452 w 2429800"/>
                <a:gd name="connsiteY0" fmla="*/ 2128104 h 2128104"/>
                <a:gd name="connsiteX1" fmla="*/ 0 w 2429800"/>
                <a:gd name="connsiteY1" fmla="*/ 4765 h 2128104"/>
                <a:gd name="connsiteX2" fmla="*/ 615957 w 2429800"/>
                <a:gd name="connsiteY2" fmla="*/ 0 h 2128104"/>
                <a:gd name="connsiteX3" fmla="*/ 2429800 w 2429800"/>
                <a:gd name="connsiteY3" fmla="*/ 2062520 h 2128104"/>
                <a:gd name="connsiteX4" fmla="*/ 633452 w 2429800"/>
                <a:gd name="connsiteY4" fmla="*/ 2128104 h 2128104"/>
                <a:gd name="connsiteX0" fmla="*/ 690602 w 2429800"/>
                <a:gd name="connsiteY0" fmla="*/ 2066489 h 2066489"/>
                <a:gd name="connsiteX1" fmla="*/ 0 w 2429800"/>
                <a:gd name="connsiteY1" fmla="*/ 4765 h 2066489"/>
                <a:gd name="connsiteX2" fmla="*/ 615957 w 2429800"/>
                <a:gd name="connsiteY2" fmla="*/ 0 h 2066489"/>
                <a:gd name="connsiteX3" fmla="*/ 2429800 w 2429800"/>
                <a:gd name="connsiteY3" fmla="*/ 2062520 h 2066489"/>
                <a:gd name="connsiteX4" fmla="*/ 690602 w 2429800"/>
                <a:gd name="connsiteY4" fmla="*/ 2066489 h 2066489"/>
                <a:gd name="connsiteX0" fmla="*/ 352468 w 2429800"/>
                <a:gd name="connsiteY0" fmla="*/ 1560372 h 2062520"/>
                <a:gd name="connsiteX1" fmla="*/ 0 w 2429800"/>
                <a:gd name="connsiteY1" fmla="*/ 4765 h 2062520"/>
                <a:gd name="connsiteX2" fmla="*/ 615957 w 2429800"/>
                <a:gd name="connsiteY2" fmla="*/ 0 h 2062520"/>
                <a:gd name="connsiteX3" fmla="*/ 2429800 w 2429800"/>
                <a:gd name="connsiteY3" fmla="*/ 2062520 h 2062520"/>
                <a:gd name="connsiteX4" fmla="*/ 352468 w 2429800"/>
                <a:gd name="connsiteY4" fmla="*/ 1560372 h 2062520"/>
                <a:gd name="connsiteX0" fmla="*/ 352468 w 2034512"/>
                <a:gd name="connsiteY0" fmla="*/ 1560372 h 1560372"/>
                <a:gd name="connsiteX1" fmla="*/ 0 w 2034512"/>
                <a:gd name="connsiteY1" fmla="*/ 4765 h 1560372"/>
                <a:gd name="connsiteX2" fmla="*/ 615957 w 2034512"/>
                <a:gd name="connsiteY2" fmla="*/ 0 h 1560372"/>
                <a:gd name="connsiteX3" fmla="*/ 2034512 w 2034512"/>
                <a:gd name="connsiteY3" fmla="*/ 1556400 h 1560372"/>
                <a:gd name="connsiteX4" fmla="*/ 352468 w 2034512"/>
                <a:gd name="connsiteY4" fmla="*/ 1560372 h 1560372"/>
                <a:gd name="connsiteX0" fmla="*/ 860468 w 2034512"/>
                <a:gd name="connsiteY0" fmla="*/ 2499261 h 2499261"/>
                <a:gd name="connsiteX1" fmla="*/ 0 w 2034512"/>
                <a:gd name="connsiteY1" fmla="*/ 4765 h 2499261"/>
                <a:gd name="connsiteX2" fmla="*/ 615957 w 2034512"/>
                <a:gd name="connsiteY2" fmla="*/ 0 h 2499261"/>
                <a:gd name="connsiteX3" fmla="*/ 2034512 w 2034512"/>
                <a:gd name="connsiteY3" fmla="*/ 1556400 h 2499261"/>
                <a:gd name="connsiteX4" fmla="*/ 860468 w 2034512"/>
                <a:gd name="connsiteY4" fmla="*/ 2499261 h 2499261"/>
                <a:gd name="connsiteX0" fmla="*/ 860468 w 2832797"/>
                <a:gd name="connsiteY0" fmla="*/ 2499261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60468 w 2832797"/>
                <a:gd name="connsiteY4" fmla="*/ 2499261 h 2642829"/>
                <a:gd name="connsiteX0" fmla="*/ 816926 w 2832797"/>
                <a:gd name="connsiteY0" fmla="*/ 2619976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16926 w 2832797"/>
                <a:gd name="connsiteY4" fmla="*/ 2619976 h 2642829"/>
                <a:gd name="connsiteX0" fmla="*/ 801686 w 2832797"/>
                <a:gd name="connsiteY0" fmla="*/ 2619976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01686 w 2832797"/>
                <a:gd name="connsiteY4" fmla="*/ 2619976 h 2642829"/>
                <a:gd name="connsiteX0" fmla="*/ 801686 w 2527997"/>
                <a:gd name="connsiteY0" fmla="*/ 2619976 h 2619976"/>
                <a:gd name="connsiteX1" fmla="*/ 0 w 2527997"/>
                <a:gd name="connsiteY1" fmla="*/ 4765 h 2619976"/>
                <a:gd name="connsiteX2" fmla="*/ 615957 w 2527997"/>
                <a:gd name="connsiteY2" fmla="*/ 0 h 2619976"/>
                <a:gd name="connsiteX3" fmla="*/ 2527997 w 2527997"/>
                <a:gd name="connsiteY3" fmla="*/ 2614662 h 2619976"/>
                <a:gd name="connsiteX4" fmla="*/ 801686 w 2527997"/>
                <a:gd name="connsiteY4" fmla="*/ 2619976 h 2619976"/>
                <a:gd name="connsiteX0" fmla="*/ 649286 w 2527997"/>
                <a:gd name="connsiteY0" fmla="*/ 2070726 h 2614662"/>
                <a:gd name="connsiteX1" fmla="*/ 0 w 2527997"/>
                <a:gd name="connsiteY1" fmla="*/ 4765 h 2614662"/>
                <a:gd name="connsiteX2" fmla="*/ 615957 w 2527997"/>
                <a:gd name="connsiteY2" fmla="*/ 0 h 2614662"/>
                <a:gd name="connsiteX3" fmla="*/ 2527997 w 2527997"/>
                <a:gd name="connsiteY3" fmla="*/ 2614662 h 2614662"/>
                <a:gd name="connsiteX4" fmla="*/ 649286 w 2527997"/>
                <a:gd name="connsiteY4" fmla="*/ 2070726 h 2614662"/>
                <a:gd name="connsiteX0" fmla="*/ 649286 w 2802317"/>
                <a:gd name="connsiteY0" fmla="*/ 2070726 h 2220329"/>
                <a:gd name="connsiteX1" fmla="*/ 0 w 2802317"/>
                <a:gd name="connsiteY1" fmla="*/ 4765 h 2220329"/>
                <a:gd name="connsiteX2" fmla="*/ 615957 w 2802317"/>
                <a:gd name="connsiteY2" fmla="*/ 0 h 2220329"/>
                <a:gd name="connsiteX3" fmla="*/ 2802317 w 2802317"/>
                <a:gd name="connsiteY3" fmla="*/ 2220329 h 2220329"/>
                <a:gd name="connsiteX4" fmla="*/ 649286 w 2802317"/>
                <a:gd name="connsiteY4" fmla="*/ 2070726 h 2220329"/>
                <a:gd name="connsiteX0" fmla="*/ 130173 w 2802317"/>
                <a:gd name="connsiteY0" fmla="*/ 1679033 h 2220329"/>
                <a:gd name="connsiteX1" fmla="*/ 0 w 2802317"/>
                <a:gd name="connsiteY1" fmla="*/ 4765 h 2220329"/>
                <a:gd name="connsiteX2" fmla="*/ 615957 w 2802317"/>
                <a:gd name="connsiteY2" fmla="*/ 0 h 2220329"/>
                <a:gd name="connsiteX3" fmla="*/ 2802317 w 2802317"/>
                <a:gd name="connsiteY3" fmla="*/ 2220329 h 2220329"/>
                <a:gd name="connsiteX4" fmla="*/ 130173 w 2802317"/>
                <a:gd name="connsiteY4" fmla="*/ 1679033 h 2220329"/>
                <a:gd name="connsiteX0" fmla="*/ 130173 w 2421317"/>
                <a:gd name="connsiteY0" fmla="*/ 1679033 h 1679033"/>
                <a:gd name="connsiteX1" fmla="*/ 0 w 2421317"/>
                <a:gd name="connsiteY1" fmla="*/ 4765 h 1679033"/>
                <a:gd name="connsiteX2" fmla="*/ 615957 w 2421317"/>
                <a:gd name="connsiteY2" fmla="*/ 0 h 1679033"/>
                <a:gd name="connsiteX3" fmla="*/ 2421317 w 2421317"/>
                <a:gd name="connsiteY3" fmla="*/ 1436944 h 1679033"/>
                <a:gd name="connsiteX4" fmla="*/ 130173 w 2421317"/>
                <a:gd name="connsiteY4" fmla="*/ 1679033 h 1679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21317" h="1679033">
                  <a:moveTo>
                    <a:pt x="130173" y="1679033"/>
                  </a:moveTo>
                  <a:lnTo>
                    <a:pt x="0" y="4765"/>
                  </a:lnTo>
                  <a:lnTo>
                    <a:pt x="615957" y="0"/>
                  </a:lnTo>
                  <a:lnTo>
                    <a:pt x="2421317" y="1436944"/>
                  </a:lnTo>
                  <a:lnTo>
                    <a:pt x="130173" y="1679033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27000">
                  <a:schemeClr val="bg1">
                    <a:lumMod val="95000"/>
                  </a:schemeClr>
                </a:gs>
                <a:gs pos="100000">
                  <a:schemeClr val="bg1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620C9717-50DD-409A-90BE-82D08BA5518C}"/>
              </a:ext>
            </a:extLst>
          </p:cNvPr>
          <p:cNvGrpSpPr/>
          <p:nvPr/>
        </p:nvGrpSpPr>
        <p:grpSpPr>
          <a:xfrm>
            <a:off x="1130051" y="3795281"/>
            <a:ext cx="4571604" cy="2812565"/>
            <a:chOff x="1022158" y="4092750"/>
            <a:chExt cx="4571604" cy="2812565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748DFC57-A9A0-4E76-9A1C-37A7891E3076}"/>
                </a:ext>
              </a:extLst>
            </p:cNvPr>
            <p:cNvSpPr/>
            <p:nvPr/>
          </p:nvSpPr>
          <p:spPr>
            <a:xfrm>
              <a:off x="1022158" y="4165116"/>
              <a:ext cx="2836334" cy="157734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  <p:sp>
          <p:nvSpPr>
            <p:cNvPr id="29" name="梯形 28">
              <a:extLst>
                <a:ext uri="{FF2B5EF4-FFF2-40B4-BE49-F238E27FC236}">
                  <a16:creationId xmlns:a16="http://schemas.microsoft.com/office/drawing/2014/main" id="{789E37BD-26F9-410D-90A9-245E94B638E1}"/>
                </a:ext>
              </a:extLst>
            </p:cNvPr>
            <p:cNvSpPr/>
            <p:nvPr/>
          </p:nvSpPr>
          <p:spPr>
            <a:xfrm rot="16200000">
              <a:off x="3313495" y="4625049"/>
              <a:ext cx="2812565" cy="1747968"/>
            </a:xfrm>
            <a:custGeom>
              <a:avLst/>
              <a:gdLst>
                <a:gd name="connsiteX0" fmla="*/ 0 w 5380649"/>
                <a:gd name="connsiteY0" fmla="*/ 1587501 h 1587501"/>
                <a:gd name="connsiteX1" fmla="*/ 1001221 w 5380649"/>
                <a:gd name="connsiteY1" fmla="*/ 0 h 1587501"/>
                <a:gd name="connsiteX2" fmla="*/ 4379428 w 5380649"/>
                <a:gd name="connsiteY2" fmla="*/ 0 h 1587501"/>
                <a:gd name="connsiteX3" fmla="*/ 5380649 w 5380649"/>
                <a:gd name="connsiteY3" fmla="*/ 1587501 h 1587501"/>
                <a:gd name="connsiteX4" fmla="*/ 0 w 5380649"/>
                <a:gd name="connsiteY4" fmla="*/ 1587501 h 1587501"/>
                <a:gd name="connsiteX0" fmla="*/ 0 w 5380649"/>
                <a:gd name="connsiteY0" fmla="*/ 1597026 h 1597026"/>
                <a:gd name="connsiteX1" fmla="*/ 1001221 w 5380649"/>
                <a:gd name="connsiteY1" fmla="*/ 9525 h 1597026"/>
                <a:gd name="connsiteX2" fmla="*/ 2560153 w 5380649"/>
                <a:gd name="connsiteY2" fmla="*/ 0 h 1597026"/>
                <a:gd name="connsiteX3" fmla="*/ 5380649 w 5380649"/>
                <a:gd name="connsiteY3" fmla="*/ 1597026 h 1597026"/>
                <a:gd name="connsiteX4" fmla="*/ 0 w 5380649"/>
                <a:gd name="connsiteY4" fmla="*/ 1597026 h 1597026"/>
                <a:gd name="connsiteX0" fmla="*/ 0 w 5380649"/>
                <a:gd name="connsiteY0" fmla="*/ 1592264 h 1592264"/>
                <a:gd name="connsiteX1" fmla="*/ 1001221 w 5380649"/>
                <a:gd name="connsiteY1" fmla="*/ 4763 h 1592264"/>
                <a:gd name="connsiteX2" fmla="*/ 2579203 w 5380649"/>
                <a:gd name="connsiteY2" fmla="*/ 0 h 1592264"/>
                <a:gd name="connsiteX3" fmla="*/ 5380649 w 5380649"/>
                <a:gd name="connsiteY3" fmla="*/ 1592264 h 1592264"/>
                <a:gd name="connsiteX4" fmla="*/ 0 w 5380649"/>
                <a:gd name="connsiteY4" fmla="*/ 1592264 h 1592264"/>
                <a:gd name="connsiteX0" fmla="*/ 0 w 4204992"/>
                <a:gd name="connsiteY0" fmla="*/ 1592264 h 1592264"/>
                <a:gd name="connsiteX1" fmla="*/ 1001221 w 4204992"/>
                <a:gd name="connsiteY1" fmla="*/ 4763 h 1592264"/>
                <a:gd name="connsiteX2" fmla="*/ 2579203 w 4204992"/>
                <a:gd name="connsiteY2" fmla="*/ 0 h 1592264"/>
                <a:gd name="connsiteX3" fmla="*/ 4204992 w 4204992"/>
                <a:gd name="connsiteY3" fmla="*/ 1572535 h 1592264"/>
                <a:gd name="connsiteX4" fmla="*/ 0 w 4204992"/>
                <a:gd name="connsiteY4" fmla="*/ 1592264 h 1592264"/>
                <a:gd name="connsiteX0" fmla="*/ 0 w 3827621"/>
                <a:gd name="connsiteY0" fmla="*/ 1578852 h 1578852"/>
                <a:gd name="connsiteX1" fmla="*/ 623850 w 3827621"/>
                <a:gd name="connsiteY1" fmla="*/ 4763 h 1578852"/>
                <a:gd name="connsiteX2" fmla="*/ 2201832 w 3827621"/>
                <a:gd name="connsiteY2" fmla="*/ 0 h 1578852"/>
                <a:gd name="connsiteX3" fmla="*/ 3827621 w 3827621"/>
                <a:gd name="connsiteY3" fmla="*/ 1572535 h 1578852"/>
                <a:gd name="connsiteX4" fmla="*/ 0 w 3827621"/>
                <a:gd name="connsiteY4" fmla="*/ 1578852 h 1578852"/>
                <a:gd name="connsiteX0" fmla="*/ 0 w 2898710"/>
                <a:gd name="connsiteY0" fmla="*/ 1578852 h 1578852"/>
                <a:gd name="connsiteX1" fmla="*/ 623850 w 2898710"/>
                <a:gd name="connsiteY1" fmla="*/ 4763 h 1578852"/>
                <a:gd name="connsiteX2" fmla="*/ 2201832 w 2898710"/>
                <a:gd name="connsiteY2" fmla="*/ 0 h 1578852"/>
                <a:gd name="connsiteX3" fmla="*/ 2898710 w 2898710"/>
                <a:gd name="connsiteY3" fmla="*/ 1572537 h 1578852"/>
                <a:gd name="connsiteX4" fmla="*/ 0 w 289871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2018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0875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08753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18278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3343210"/>
                <a:gd name="connsiteY0" fmla="*/ 1740810 h 1740810"/>
                <a:gd name="connsiteX1" fmla="*/ 1042950 w 3343210"/>
                <a:gd name="connsiteY1" fmla="*/ 4763 h 1740810"/>
                <a:gd name="connsiteX2" fmla="*/ 2601882 w 3343210"/>
                <a:gd name="connsiteY2" fmla="*/ 0 h 1740810"/>
                <a:gd name="connsiteX3" fmla="*/ 3343210 w 3343210"/>
                <a:gd name="connsiteY3" fmla="*/ 1578405 h 1740810"/>
                <a:gd name="connsiteX4" fmla="*/ 0 w 3343210"/>
                <a:gd name="connsiteY4" fmla="*/ 1740810 h 1740810"/>
                <a:gd name="connsiteX0" fmla="*/ 0 w 3244150"/>
                <a:gd name="connsiteY0" fmla="*/ 1740810 h 1824864"/>
                <a:gd name="connsiteX1" fmla="*/ 1042950 w 3244150"/>
                <a:gd name="connsiteY1" fmla="*/ 4763 h 1824864"/>
                <a:gd name="connsiteX2" fmla="*/ 2601882 w 3244150"/>
                <a:gd name="connsiteY2" fmla="*/ 0 h 1824864"/>
                <a:gd name="connsiteX3" fmla="*/ 3244150 w 3244150"/>
                <a:gd name="connsiteY3" fmla="*/ 1824864 h 1824864"/>
                <a:gd name="connsiteX4" fmla="*/ 0 w 3244150"/>
                <a:gd name="connsiteY4" fmla="*/ 1740810 h 1824864"/>
                <a:gd name="connsiteX0" fmla="*/ 0 w 3403177"/>
                <a:gd name="connsiteY0" fmla="*/ 1152987 h 1824864"/>
                <a:gd name="connsiteX1" fmla="*/ 1201977 w 3403177"/>
                <a:gd name="connsiteY1" fmla="*/ 4763 h 1824864"/>
                <a:gd name="connsiteX2" fmla="*/ 2760909 w 3403177"/>
                <a:gd name="connsiteY2" fmla="*/ 0 h 1824864"/>
                <a:gd name="connsiteX3" fmla="*/ 3403177 w 3403177"/>
                <a:gd name="connsiteY3" fmla="*/ 1824864 h 1824864"/>
                <a:gd name="connsiteX4" fmla="*/ 0 w 3403177"/>
                <a:gd name="connsiteY4" fmla="*/ 1152987 h 1824864"/>
                <a:gd name="connsiteX0" fmla="*/ 0 w 2760909"/>
                <a:gd name="connsiteY0" fmla="*/ 1152987 h 1273777"/>
                <a:gd name="connsiteX1" fmla="*/ 1201977 w 2760909"/>
                <a:gd name="connsiteY1" fmla="*/ 4763 h 1273777"/>
                <a:gd name="connsiteX2" fmla="*/ 2760909 w 2760909"/>
                <a:gd name="connsiteY2" fmla="*/ 0 h 1273777"/>
                <a:gd name="connsiteX3" fmla="*/ 2753820 w 2760909"/>
                <a:gd name="connsiteY3" fmla="*/ 1273777 h 1273777"/>
                <a:gd name="connsiteX4" fmla="*/ 0 w 2760909"/>
                <a:gd name="connsiteY4" fmla="*/ 1152987 h 1273777"/>
                <a:gd name="connsiteX0" fmla="*/ 0 w 2760909"/>
                <a:gd name="connsiteY0" fmla="*/ 1152987 h 1273777"/>
                <a:gd name="connsiteX1" fmla="*/ 1201977 w 2760909"/>
                <a:gd name="connsiteY1" fmla="*/ 4763 h 1273777"/>
                <a:gd name="connsiteX2" fmla="*/ 2760909 w 2760909"/>
                <a:gd name="connsiteY2" fmla="*/ 0 h 1273777"/>
                <a:gd name="connsiteX3" fmla="*/ 2753820 w 2760909"/>
                <a:gd name="connsiteY3" fmla="*/ 1273777 h 1273777"/>
                <a:gd name="connsiteX4" fmla="*/ 0 w 2760909"/>
                <a:gd name="connsiteY4" fmla="*/ 1152987 h 1273777"/>
                <a:gd name="connsiteX0" fmla="*/ 0 w 2776784"/>
                <a:gd name="connsiteY0" fmla="*/ 1152987 h 1273777"/>
                <a:gd name="connsiteX1" fmla="*/ 1201977 w 2776784"/>
                <a:gd name="connsiteY1" fmla="*/ 4763 h 1273777"/>
                <a:gd name="connsiteX2" fmla="*/ 2776784 w 2776784"/>
                <a:gd name="connsiteY2" fmla="*/ 0 h 1273777"/>
                <a:gd name="connsiteX3" fmla="*/ 2753820 w 2776784"/>
                <a:gd name="connsiteY3" fmla="*/ 1273777 h 1273777"/>
                <a:gd name="connsiteX4" fmla="*/ 0 w 2776784"/>
                <a:gd name="connsiteY4" fmla="*/ 1152987 h 1273777"/>
                <a:gd name="connsiteX0" fmla="*/ 0 w 2779959"/>
                <a:gd name="connsiteY0" fmla="*/ 1152987 h 1273777"/>
                <a:gd name="connsiteX1" fmla="*/ 1201977 w 2779959"/>
                <a:gd name="connsiteY1" fmla="*/ 4763 h 1273777"/>
                <a:gd name="connsiteX2" fmla="*/ 2779959 w 2779959"/>
                <a:gd name="connsiteY2" fmla="*/ 0 h 1273777"/>
                <a:gd name="connsiteX3" fmla="*/ 2753820 w 2779959"/>
                <a:gd name="connsiteY3" fmla="*/ 1273777 h 1273777"/>
                <a:gd name="connsiteX4" fmla="*/ 0 w 2779959"/>
                <a:gd name="connsiteY4" fmla="*/ 1152987 h 1273777"/>
                <a:gd name="connsiteX0" fmla="*/ 0 w 2882408"/>
                <a:gd name="connsiteY0" fmla="*/ 1152987 h 1185756"/>
                <a:gd name="connsiteX1" fmla="*/ 1201977 w 2882408"/>
                <a:gd name="connsiteY1" fmla="*/ 4763 h 1185756"/>
                <a:gd name="connsiteX2" fmla="*/ 2779959 w 2882408"/>
                <a:gd name="connsiteY2" fmla="*/ 0 h 1185756"/>
                <a:gd name="connsiteX3" fmla="*/ 2882408 w 2882408"/>
                <a:gd name="connsiteY3" fmla="*/ 1185756 h 1185756"/>
                <a:gd name="connsiteX4" fmla="*/ 0 w 2882408"/>
                <a:gd name="connsiteY4" fmla="*/ 1152987 h 1185756"/>
                <a:gd name="connsiteX0" fmla="*/ 0 w 2888759"/>
                <a:gd name="connsiteY0" fmla="*/ 1076705 h 1185756"/>
                <a:gd name="connsiteX1" fmla="*/ 1208328 w 2888759"/>
                <a:gd name="connsiteY1" fmla="*/ 4763 h 1185756"/>
                <a:gd name="connsiteX2" fmla="*/ 2786310 w 2888759"/>
                <a:gd name="connsiteY2" fmla="*/ 0 h 1185756"/>
                <a:gd name="connsiteX3" fmla="*/ 2888759 w 2888759"/>
                <a:gd name="connsiteY3" fmla="*/ 1185756 h 1185756"/>
                <a:gd name="connsiteX4" fmla="*/ 0 w 2888759"/>
                <a:gd name="connsiteY4" fmla="*/ 1076705 h 1185756"/>
                <a:gd name="connsiteX0" fmla="*/ 0 w 2812559"/>
                <a:gd name="connsiteY0" fmla="*/ 1076705 h 1303117"/>
                <a:gd name="connsiteX1" fmla="*/ 1208328 w 2812559"/>
                <a:gd name="connsiteY1" fmla="*/ 4763 h 1303117"/>
                <a:gd name="connsiteX2" fmla="*/ 2786310 w 2812559"/>
                <a:gd name="connsiteY2" fmla="*/ 0 h 1303117"/>
                <a:gd name="connsiteX3" fmla="*/ 2812559 w 2812559"/>
                <a:gd name="connsiteY3" fmla="*/ 1303117 h 1303117"/>
                <a:gd name="connsiteX4" fmla="*/ 0 w 2812559"/>
                <a:gd name="connsiteY4" fmla="*/ 1076705 h 1303117"/>
                <a:gd name="connsiteX0" fmla="*/ 0 w 2907809"/>
                <a:gd name="connsiteY0" fmla="*/ 1563754 h 1563754"/>
                <a:gd name="connsiteX1" fmla="*/ 1303578 w 2907809"/>
                <a:gd name="connsiteY1" fmla="*/ 4763 h 1563754"/>
                <a:gd name="connsiteX2" fmla="*/ 2881560 w 2907809"/>
                <a:gd name="connsiteY2" fmla="*/ 0 h 1563754"/>
                <a:gd name="connsiteX3" fmla="*/ 2907809 w 2907809"/>
                <a:gd name="connsiteY3" fmla="*/ 1303117 h 1563754"/>
                <a:gd name="connsiteX4" fmla="*/ 0 w 2907809"/>
                <a:gd name="connsiteY4" fmla="*/ 1563754 h 1563754"/>
                <a:gd name="connsiteX0" fmla="*/ 0 w 2888762"/>
                <a:gd name="connsiteY0" fmla="*/ 1563754 h 1608258"/>
                <a:gd name="connsiteX1" fmla="*/ 1303578 w 2888762"/>
                <a:gd name="connsiteY1" fmla="*/ 4763 h 1608258"/>
                <a:gd name="connsiteX2" fmla="*/ 2881560 w 2888762"/>
                <a:gd name="connsiteY2" fmla="*/ 0 h 1608258"/>
                <a:gd name="connsiteX3" fmla="*/ 2888762 w 2888762"/>
                <a:gd name="connsiteY3" fmla="*/ 1608258 h 1608258"/>
                <a:gd name="connsiteX4" fmla="*/ 0 w 2888762"/>
                <a:gd name="connsiteY4" fmla="*/ 1563754 h 1608258"/>
                <a:gd name="connsiteX0" fmla="*/ 0 w 2743982"/>
                <a:gd name="connsiteY0" fmla="*/ 1472215 h 1608258"/>
                <a:gd name="connsiteX1" fmla="*/ 1158798 w 2743982"/>
                <a:gd name="connsiteY1" fmla="*/ 4763 h 1608258"/>
                <a:gd name="connsiteX2" fmla="*/ 2736780 w 2743982"/>
                <a:gd name="connsiteY2" fmla="*/ 0 h 1608258"/>
                <a:gd name="connsiteX3" fmla="*/ 2743982 w 2743982"/>
                <a:gd name="connsiteY3" fmla="*/ 1608258 h 1608258"/>
                <a:gd name="connsiteX4" fmla="*/ 0 w 2743982"/>
                <a:gd name="connsiteY4" fmla="*/ 1472215 h 1608258"/>
                <a:gd name="connsiteX0" fmla="*/ 0 w 2812565"/>
                <a:gd name="connsiteY0" fmla="*/ 1472215 h 1615302"/>
                <a:gd name="connsiteX1" fmla="*/ 1158798 w 2812565"/>
                <a:gd name="connsiteY1" fmla="*/ 4763 h 1615302"/>
                <a:gd name="connsiteX2" fmla="*/ 2736780 w 2812565"/>
                <a:gd name="connsiteY2" fmla="*/ 0 h 1615302"/>
                <a:gd name="connsiteX3" fmla="*/ 2812565 w 2812565"/>
                <a:gd name="connsiteY3" fmla="*/ 1615302 h 1615302"/>
                <a:gd name="connsiteX4" fmla="*/ 0 w 2812565"/>
                <a:gd name="connsiteY4" fmla="*/ 1472215 h 1615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2565" h="1615302">
                  <a:moveTo>
                    <a:pt x="0" y="1472215"/>
                  </a:moveTo>
                  <a:lnTo>
                    <a:pt x="1158798" y="4763"/>
                  </a:lnTo>
                  <a:lnTo>
                    <a:pt x="2736780" y="0"/>
                  </a:lnTo>
                  <a:cubicBezTo>
                    <a:pt x="2739181" y="536086"/>
                    <a:pt x="2810164" y="1079216"/>
                    <a:pt x="2812565" y="1615302"/>
                  </a:cubicBezTo>
                  <a:lnTo>
                    <a:pt x="0" y="1472215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4">
                    <a:lumMod val="20000"/>
                    <a:lumOff val="80000"/>
                  </a:schemeClr>
                </a:gs>
                <a:gs pos="27000">
                  <a:srgbClr val="FFF3D0"/>
                </a:gs>
                <a:gs pos="100000">
                  <a:schemeClr val="bg1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F03C2514-8977-4A48-AEBB-49FA8EFDC57E}"/>
              </a:ext>
            </a:extLst>
          </p:cNvPr>
          <p:cNvSpPr/>
          <p:nvPr/>
        </p:nvSpPr>
        <p:spPr>
          <a:xfrm>
            <a:off x="5380383" y="3809051"/>
            <a:ext cx="6646280" cy="2844801"/>
          </a:xfrm>
          <a:prstGeom prst="roundRect">
            <a:avLst>
              <a:gd name="adj" fmla="val 13721"/>
            </a:avLst>
          </a:prstGeom>
          <a:ln w="57150">
            <a:solidFill>
              <a:srgbClr val="FFC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47E67B7-E039-45CC-886C-5BE4E72DC197}"/>
              </a:ext>
            </a:extLst>
          </p:cNvPr>
          <p:cNvSpPr/>
          <p:nvPr/>
        </p:nvSpPr>
        <p:spPr>
          <a:xfrm>
            <a:off x="5357032" y="1326478"/>
            <a:ext cx="4916557" cy="2351946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beam : derivation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58D9020-2C4A-4842-9EF2-46682DD67D3B}"/>
                  </a:ext>
                </a:extLst>
              </p:cNvPr>
              <p:cNvSpPr/>
              <p:nvPr/>
            </p:nvSpPr>
            <p:spPr>
              <a:xfrm>
                <a:off x="1074291" y="2343736"/>
                <a:ext cx="2399393" cy="4061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zh-TW" altLang="en-US" sz="20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 0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58D9020-2C4A-4842-9EF2-46682DD67D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2343736"/>
                <a:ext cx="2399393" cy="406137"/>
              </a:xfrm>
              <a:prstGeom prst="rect">
                <a:avLst/>
              </a:prstGeom>
              <a:blipFill>
                <a:blip r:embed="rId2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4F726B3D-C5EA-4F60-9C4D-212526F0C13E}"/>
                  </a:ext>
                </a:extLst>
              </p:cNvPr>
              <p:cNvSpPr/>
              <p:nvPr/>
            </p:nvSpPr>
            <p:spPr>
              <a:xfrm>
                <a:off x="209318" y="5831474"/>
                <a:ext cx="3163043" cy="55297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 0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4F726B3D-C5EA-4F60-9C4D-212526F0C1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18" y="5831474"/>
                <a:ext cx="3163043" cy="552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B486E36-28C5-4F23-AFE2-1F534A15C9DD}"/>
                  </a:ext>
                </a:extLst>
              </p:cNvPr>
              <p:cNvSpPr/>
              <p:nvPr/>
            </p:nvSpPr>
            <p:spPr>
              <a:xfrm>
                <a:off x="1074291" y="4698729"/>
                <a:ext cx="2946399" cy="5789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≪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B486E36-28C5-4F23-AFE2-1F534A15C9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4698729"/>
                <a:ext cx="2946399" cy="5789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 6">
            <a:extLst>
              <a:ext uri="{FF2B5EF4-FFF2-40B4-BE49-F238E27FC236}">
                <a16:creationId xmlns:a16="http://schemas.microsoft.com/office/drawing/2014/main" id="{11A73260-E74B-461A-9D7F-F42C525E9176}"/>
              </a:ext>
            </a:extLst>
          </p:cNvPr>
          <p:cNvSpPr/>
          <p:nvPr/>
        </p:nvSpPr>
        <p:spPr>
          <a:xfrm>
            <a:off x="209318" y="5458360"/>
            <a:ext cx="316304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paraxial Helmholtz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</a:t>
            </a:r>
            <a:endParaRPr lang="zh-TW" altLang="en-US" sz="2000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369130-8182-495D-A6DC-A29FAC282A54}"/>
              </a:ext>
            </a:extLst>
          </p:cNvPr>
          <p:cNvSpPr/>
          <p:nvPr/>
        </p:nvSpPr>
        <p:spPr>
          <a:xfrm>
            <a:off x="844482" y="1970621"/>
            <a:ext cx="2935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Helmholtz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</a:t>
            </a:r>
            <a:endParaRPr lang="zh-TW" alt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832905F5-D97F-423C-B774-9D41176262C3}"/>
                  </a:ext>
                </a:extLst>
              </p:cNvPr>
              <p:cNvSpPr/>
              <p:nvPr/>
            </p:nvSpPr>
            <p:spPr>
              <a:xfrm>
                <a:off x="1074291" y="3176069"/>
                <a:ext cx="4063767" cy="5800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 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832905F5-D97F-423C-B774-9D41176262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3176069"/>
                <a:ext cx="4063767" cy="5800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5659DFB7-24F7-49E7-9525-3402968A239B}"/>
              </a:ext>
            </a:extLst>
          </p:cNvPr>
          <p:cNvCxnSpPr>
            <a:cxnSpLocks/>
          </p:cNvCxnSpPr>
          <p:nvPr/>
        </p:nvCxnSpPr>
        <p:spPr>
          <a:xfrm>
            <a:off x="766853" y="2017486"/>
            <a:ext cx="0" cy="336731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0B13C1D9-CDE7-41BE-AD8C-6F4D0E41AEA4}"/>
              </a:ext>
            </a:extLst>
          </p:cNvPr>
          <p:cNvSpPr txBox="1">
            <a:spLocks/>
          </p:cNvSpPr>
          <p:nvPr/>
        </p:nvSpPr>
        <p:spPr>
          <a:xfrm>
            <a:off x="844481" y="2722878"/>
            <a:ext cx="2929233" cy="480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paraxial approximation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4697F6B-5EB0-403A-810C-422B401D8463}"/>
              </a:ext>
            </a:extLst>
          </p:cNvPr>
          <p:cNvSpPr/>
          <p:nvPr/>
        </p:nvSpPr>
        <p:spPr>
          <a:xfrm>
            <a:off x="209318" y="1597506"/>
            <a:ext cx="21403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Maxwell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F091636-A308-4B62-B200-4CD68CFF3B30}"/>
                  </a:ext>
                </a:extLst>
              </p:cNvPr>
              <p:cNvSpPr/>
              <p:nvPr/>
            </p:nvSpPr>
            <p:spPr>
              <a:xfrm>
                <a:off x="1074291" y="3939098"/>
                <a:ext cx="3809361" cy="5789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≪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F091636-A308-4B62-B200-4CD68CFF3B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3939098"/>
                <a:ext cx="3809361" cy="5789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矩形 25">
            <a:extLst>
              <a:ext uri="{FF2B5EF4-FFF2-40B4-BE49-F238E27FC236}">
                <a16:creationId xmlns:a16="http://schemas.microsoft.com/office/drawing/2014/main" id="{7D470F9A-C972-4278-AEDD-9C1C747619F5}"/>
              </a:ext>
            </a:extLst>
          </p:cNvPr>
          <p:cNvSpPr/>
          <p:nvPr/>
        </p:nvSpPr>
        <p:spPr>
          <a:xfrm>
            <a:off x="4323590" y="4752948"/>
            <a:ext cx="11363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Approx.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888D4A24-8A04-41DE-9C19-EE882D56FED9}"/>
                  </a:ext>
                </a:extLst>
              </p:cNvPr>
              <p:cNvSpPr/>
              <p:nvPr/>
            </p:nvSpPr>
            <p:spPr>
              <a:xfrm>
                <a:off x="5469812" y="4361217"/>
                <a:ext cx="2917402" cy="4147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𝛁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000" b="1" i="1" smtClean="0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0">
                              <a:latin typeface="Cambria Math" panose="02040503050406030204" pitchFamily="18" charset="0"/>
                            </a:rPr>
                            <m:t>𝛁</m:t>
                          </m:r>
                        </m:e>
                        <m:sub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888D4A24-8A04-41DE-9C19-EE882D56FE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812" y="4361217"/>
                <a:ext cx="2917402" cy="414729"/>
              </a:xfrm>
              <a:prstGeom prst="rect">
                <a:avLst/>
              </a:prstGeom>
              <a:blipFill>
                <a:blip r:embed="rId7"/>
                <a:stretch>
                  <a:fillRect t="-4412" b="-73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40134526-F49B-4A6D-803D-D92DF04DCF41}"/>
                  </a:ext>
                </a:extLst>
              </p:cNvPr>
              <p:cNvSpPr/>
              <p:nvPr/>
            </p:nvSpPr>
            <p:spPr>
              <a:xfrm>
                <a:off x="5469812" y="6022290"/>
                <a:ext cx="5267852" cy="5797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∥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/>
                  <a:t>.</a:t>
                </a:r>
                <a:r>
                  <a:rPr lang="zh-TW" altLang="en-US" sz="2000" dirty="0"/>
                  <a:t> </a:t>
                </a:r>
              </a:p>
            </p:txBody>
          </p:sp>
        </mc:Choice>
        <mc:Fallback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40134526-F49B-4A6D-803D-D92DF04DCF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812" y="6022290"/>
                <a:ext cx="5267852" cy="579710"/>
              </a:xfrm>
              <a:prstGeom prst="rect">
                <a:avLst/>
              </a:prstGeom>
              <a:blipFill>
                <a:blip r:embed="rId8"/>
                <a:stretch>
                  <a:fillRect b="-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060E675-1E0F-47F1-907F-126690C9EBA5}"/>
              </a:ext>
            </a:extLst>
          </p:cNvPr>
          <p:cNvSpPr/>
          <p:nvPr/>
        </p:nvSpPr>
        <p:spPr>
          <a:xfrm>
            <a:off x="5469812" y="5533338"/>
            <a:ext cx="50465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eventually constraint the transverse component</a:t>
            </a:r>
            <a:endParaRPr lang="zh-TW" altLang="en-US" sz="2000" dirty="0"/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01315F61-F096-4DAE-98AD-F17E18651ADB}"/>
              </a:ext>
            </a:extLst>
          </p:cNvPr>
          <p:cNvCxnSpPr>
            <a:cxnSpLocks/>
          </p:cNvCxnSpPr>
          <p:nvPr/>
        </p:nvCxnSpPr>
        <p:spPr>
          <a:xfrm>
            <a:off x="3791369" y="5056976"/>
            <a:ext cx="1695031" cy="1171546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06BF3344-9F11-4050-AAF7-3E94CD4BE8A3}"/>
              </a:ext>
            </a:extLst>
          </p:cNvPr>
          <p:cNvSpPr/>
          <p:nvPr/>
        </p:nvSpPr>
        <p:spPr>
          <a:xfrm>
            <a:off x="4406997" y="5437871"/>
            <a:ext cx="791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Fail</a:t>
            </a:r>
            <a:endParaRPr lang="zh-TW" altLang="en-US" sz="24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內容版面配置區 2">
                <a:extLst>
                  <a:ext uri="{FF2B5EF4-FFF2-40B4-BE49-F238E27FC236}">
                    <a16:creationId xmlns:a16="http://schemas.microsoft.com/office/drawing/2014/main" id="{B9190589-0DF9-45CF-BAF5-18E9ED5B20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0483" y="1935245"/>
                <a:ext cx="2728686" cy="48018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5" name="內容版面配置區 2">
                <a:extLst>
                  <a:ext uri="{FF2B5EF4-FFF2-40B4-BE49-F238E27FC236}">
                    <a16:creationId xmlns:a16="http://schemas.microsoft.com/office/drawing/2014/main" id="{B9190589-0DF9-45CF-BAF5-18E9ED5B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0483" y="1935245"/>
                <a:ext cx="2728686" cy="4801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內容版面配置區 2">
                <a:extLst>
                  <a:ext uri="{FF2B5EF4-FFF2-40B4-BE49-F238E27FC236}">
                    <a16:creationId xmlns:a16="http://schemas.microsoft.com/office/drawing/2014/main" id="{6F4B933F-8045-466B-920E-31A00E1CDB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65732" y="2469236"/>
                <a:ext cx="2727235" cy="48018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500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</a:t>
                </a:r>
                <a:r>
                  <a:rPr lang="en-US" altLang="zh-TW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ave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𝑧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≈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內容版面配置區 2">
                <a:extLst>
                  <a:ext uri="{FF2B5EF4-FFF2-40B4-BE49-F238E27FC236}">
                    <a16:creationId xmlns:a16="http://schemas.microsoft.com/office/drawing/2014/main" id="{6F4B933F-8045-466B-920E-31A00E1CD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732" y="2469236"/>
                <a:ext cx="2727235" cy="480186"/>
              </a:xfrm>
              <a:prstGeom prst="rect">
                <a:avLst/>
              </a:prstGeom>
              <a:blipFill>
                <a:blip r:embed="rId10"/>
                <a:stretch>
                  <a:fillRect l="-2461" b="-253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內容版面配置區 2">
            <a:extLst>
              <a:ext uri="{FF2B5EF4-FFF2-40B4-BE49-F238E27FC236}">
                <a16:creationId xmlns:a16="http://schemas.microsoft.com/office/drawing/2014/main" id="{B0BCB00E-25A9-4557-9C7E-A1DFC55F11FA}"/>
              </a:ext>
            </a:extLst>
          </p:cNvPr>
          <p:cNvSpPr txBox="1">
            <a:spLocks/>
          </p:cNvSpPr>
          <p:nvPr/>
        </p:nvSpPr>
        <p:spPr>
          <a:xfrm>
            <a:off x="4323590" y="2449308"/>
            <a:ext cx="1159026" cy="480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Ansatz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EC326F-B691-46D4-BFD3-8C9AFD46E892}"/>
              </a:ext>
            </a:extLst>
          </p:cNvPr>
          <p:cNvSpPr/>
          <p:nvPr/>
        </p:nvSpPr>
        <p:spPr>
          <a:xfrm>
            <a:off x="5474456" y="3872266"/>
            <a:ext cx="293221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Coulomb gauge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7" name="圖片 56">
            <a:extLst>
              <a:ext uri="{FF2B5EF4-FFF2-40B4-BE49-F238E27FC236}">
                <a16:creationId xmlns:a16="http://schemas.microsoft.com/office/drawing/2014/main" id="{FBC69A0F-61F9-4122-9FCD-F1694388D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65099" y="1472251"/>
            <a:ext cx="2612016" cy="2086427"/>
          </a:xfrm>
          <a:prstGeom prst="rect">
            <a:avLst/>
          </a:prstGeom>
        </p:spPr>
      </p:pic>
      <p:grpSp>
        <p:nvGrpSpPr>
          <p:cNvPr id="60" name="群組 59">
            <a:extLst>
              <a:ext uri="{FF2B5EF4-FFF2-40B4-BE49-F238E27FC236}">
                <a16:creationId xmlns:a16="http://schemas.microsoft.com/office/drawing/2014/main" id="{6D356F7B-9627-44E7-9D37-9B998D28AAD6}"/>
              </a:ext>
            </a:extLst>
          </p:cNvPr>
          <p:cNvGrpSpPr/>
          <p:nvPr/>
        </p:nvGrpSpPr>
        <p:grpSpPr>
          <a:xfrm>
            <a:off x="6539419" y="4864787"/>
            <a:ext cx="5602804" cy="860023"/>
            <a:chOff x="6327385" y="4814935"/>
            <a:chExt cx="5602804" cy="86002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DB73E709-6CD1-4CB0-8A66-80162ED8B780}"/>
                    </a:ext>
                  </a:extLst>
                </p:cNvPr>
                <p:cNvSpPr/>
                <p:nvPr/>
              </p:nvSpPr>
              <p:spPr>
                <a:xfrm>
                  <a:off x="6327385" y="4814935"/>
                  <a:ext cx="3577967" cy="5797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 xmlns:m="http://schemas.openxmlformats.org/officeDocument/2006/math"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r>
                    <a:rPr lang="en-US" altLang="zh-TW" sz="2000" dirty="0"/>
                    <a:t>,</a:t>
                  </a:r>
                  <a:r>
                    <a:rPr lang="zh-TW" altLang="en-US" sz="2000" dirty="0"/>
                    <a:t> </a:t>
                  </a:r>
                </a:p>
              </p:txBody>
            </p:sp>
          </mc:Choice>
          <mc:Fallback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DB73E709-6CD1-4CB0-8A66-80162ED8B7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7385" y="4814935"/>
                  <a:ext cx="3577967" cy="579710"/>
                </a:xfrm>
                <a:prstGeom prst="rect">
                  <a:avLst/>
                </a:prstGeom>
                <a:blipFill>
                  <a:blip r:embed="rId12"/>
                  <a:stretch>
                    <a:fillRect b="-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66C545FC-8818-435D-B8E4-EBA3B6F5DDE8}"/>
                    </a:ext>
                  </a:extLst>
                </p:cNvPr>
                <p:cNvSpPr/>
                <p:nvPr/>
              </p:nvSpPr>
              <p:spPr>
                <a:xfrm>
                  <a:off x="9757307" y="4890220"/>
                  <a:ext cx="2100863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for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0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a14:m>
                  <a:endPara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66C545FC-8818-435D-B8E4-EBA3B6F5DD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57307" y="4890220"/>
                  <a:ext cx="2100863" cy="400110"/>
                </a:xfrm>
                <a:prstGeom prst="rect">
                  <a:avLst/>
                </a:prstGeom>
                <a:blipFill>
                  <a:blip r:embed="rId13"/>
                  <a:stretch>
                    <a:fillRect l="-2899" t="-7576" r="-15362" b="-2575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7B3D6EA5-4F23-4B0A-975D-B0F3A6DAD16F}"/>
                    </a:ext>
                  </a:extLst>
                </p:cNvPr>
                <p:cNvSpPr/>
                <p:nvPr/>
              </p:nvSpPr>
              <p:spPr>
                <a:xfrm>
                  <a:off x="10744831" y="5274848"/>
                  <a:ext cx="1185358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200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=±1</m:t>
                        </m:r>
                      </m:oMath>
                    </m:oMathPara>
                  </a14:m>
                  <a:endPara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7B3D6EA5-4F23-4B0A-975D-B0F3A6DAD1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4831" y="5274848"/>
                  <a:ext cx="1185358" cy="400110"/>
                </a:xfrm>
                <a:prstGeom prst="rect">
                  <a:avLst/>
                </a:prstGeom>
                <a:blipFill>
                  <a:blip r:embed="rId14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內容版面配置區 2">
                <a:extLst>
                  <a:ext uri="{FF2B5EF4-FFF2-40B4-BE49-F238E27FC236}">
                    <a16:creationId xmlns:a16="http://schemas.microsoft.com/office/drawing/2014/main" id="{F6D5C497-46DC-4832-A767-99EBB13E39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Laguerre-Gaussian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Lorentz gauge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61" name="內容版面配置區 2">
                <a:extLst>
                  <a:ext uri="{FF2B5EF4-FFF2-40B4-BE49-F238E27FC236}">
                    <a16:creationId xmlns:a16="http://schemas.microsoft.com/office/drawing/2014/main" id="{F6D5C497-46DC-4832-A767-99EBB13E3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15"/>
                <a:stretch>
                  <a:fillRect l="-500" t="-145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橢圓 61">
            <a:extLst>
              <a:ext uri="{FF2B5EF4-FFF2-40B4-BE49-F238E27FC236}">
                <a16:creationId xmlns:a16="http://schemas.microsoft.com/office/drawing/2014/main" id="{D2CCB39D-2A60-4D3D-91D9-F020C59ED9EB}"/>
              </a:ext>
            </a:extLst>
          </p:cNvPr>
          <p:cNvSpPr/>
          <p:nvPr/>
        </p:nvSpPr>
        <p:spPr>
          <a:xfrm>
            <a:off x="10575234" y="1057359"/>
            <a:ext cx="1185358" cy="579352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Why? </a:t>
            </a:r>
          </a:p>
        </p:txBody>
      </p:sp>
    </p:spTree>
    <p:extLst>
      <p:ext uri="{BB962C8B-B14F-4D97-AF65-F5344CB8AC3E}">
        <p14:creationId xmlns:p14="http://schemas.microsoft.com/office/powerpoint/2010/main" val="1897876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beam : solution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823DCD-5681-4C39-923D-87B2C2C25C3B}"/>
              </a:ext>
            </a:extLst>
          </p:cNvPr>
          <p:cNvSpPr/>
          <p:nvPr/>
        </p:nvSpPr>
        <p:spPr>
          <a:xfrm>
            <a:off x="75704" y="1108452"/>
            <a:ext cx="47591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long Rayleigh range approximation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17">
                <a:extLst>
                  <a:ext uri="{FF2B5EF4-FFF2-40B4-BE49-F238E27FC236}">
                    <a16:creationId xmlns:a16="http://schemas.microsoft.com/office/drawing/2014/main" id="{14700C42-835A-4BA4-8216-0B69C6044B09}"/>
                  </a:ext>
                </a:extLst>
              </p:cNvPr>
              <p:cNvSpPr txBox="1"/>
              <p:nvPr/>
            </p:nvSpPr>
            <p:spPr>
              <a:xfrm>
                <a:off x="84644" y="5763491"/>
                <a:ext cx="5481270" cy="1178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Polarization unit vector (circular)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TW" sz="16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TW" altLang="en-US" sz="16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</m:acc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𝜎</m:t>
                        </m:r>
                      </m:sub>
                    </m:sSub>
                    <m:r>
                      <a:rPr lang="en-US" altLang="zh-TW" sz="1600" b="1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altLang="zh-TW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𝜎</m:t>
                    </m:r>
                    <m:acc>
                      <m:accPr>
                        <m:chr m:val="̂"/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altLang="zh-TW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Beam waist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Rayleigh range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1600" dirty="0"/>
              </a:p>
            </p:txBody>
          </p:sp>
        </mc:Choice>
        <mc:Fallback>
          <p:sp>
            <p:nvSpPr>
              <p:cNvPr id="49" name="TextBox 17">
                <a:extLst>
                  <a:ext uri="{FF2B5EF4-FFF2-40B4-BE49-F238E27FC236}">
                    <a16:creationId xmlns:a16="http://schemas.microsoft.com/office/drawing/2014/main" id="{14700C42-835A-4BA4-8216-0B69C6044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44" y="5763491"/>
                <a:ext cx="5481270" cy="1178656"/>
              </a:xfrm>
              <a:prstGeom prst="rect">
                <a:avLst/>
              </a:prstGeom>
              <a:blipFill>
                <a:blip r:embed="rId2"/>
                <a:stretch>
                  <a:fillRect l="-445" t="-15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Laguerre-Gaussian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</p:txBody>
          </p:sp>
        </mc:Choice>
        <mc:Fallback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3"/>
                <a:stretch>
                  <a:fillRect l="-500" t="-145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61DDD4A6-BD9C-4B47-937E-89DD5991519A}"/>
              </a:ext>
            </a:extLst>
          </p:cNvPr>
          <p:cNvSpPr/>
          <p:nvPr/>
        </p:nvSpPr>
        <p:spPr>
          <a:xfrm>
            <a:off x="145774" y="1553028"/>
            <a:ext cx="542014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F4B3C8CC-016D-4602-9160-F8E2E4CF202B}"/>
              </a:ext>
            </a:extLst>
          </p:cNvPr>
          <p:cNvSpPr/>
          <p:nvPr/>
        </p:nvSpPr>
        <p:spPr>
          <a:xfrm>
            <a:off x="1342861" y="2046646"/>
            <a:ext cx="295463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separated SAM &amp; OAM </a:t>
            </a:r>
            <a:endParaRPr lang="zh-TW" altLang="en-US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/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5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3C84503A-AFE1-4643-B6D8-FB9C3949C966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40050" y="2105089"/>
            <a:ext cx="5416526" cy="304748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17">
                <a:extLst>
                  <a:ext uri="{FF2B5EF4-FFF2-40B4-BE49-F238E27FC236}">
                    <a16:creationId xmlns:a16="http://schemas.microsoft.com/office/drawing/2014/main" id="{25477702-A239-40DD-B2CA-EB004E8CF110}"/>
                  </a:ext>
                </a:extLst>
              </p:cNvPr>
              <p:cNvSpPr txBox="1"/>
              <p:nvPr/>
            </p:nvSpPr>
            <p:spPr>
              <a:xfrm>
                <a:off x="0" y="7374575"/>
                <a:ext cx="7451531" cy="132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Polarization unit vector (circular)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TW" sz="16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TW" altLang="en-US" sz="16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</m:acc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𝜎</m:t>
                        </m:r>
                      </m:sub>
                    </m:sSub>
                    <m:r>
                      <a:rPr lang="en-US" altLang="zh-TW" sz="1600" b="1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altLang="zh-TW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𝜎</m:t>
                    </m:r>
                    <m:acc>
                      <m:accPr>
                        <m:chr m:val="̂"/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altLang="zh-TW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Beam waist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Rayleigh range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Generalized Laguerre polynomial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  <m:e>
                            <m:d>
                              <m:dPr>
                                <m:ctrlPr>
                                  <a:rPr lang="en-US" altLang="zh-TW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e>
                        </m:nary>
                      </m:e>
                      <m:sup>
                        <m: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f>
                      <m:fPr>
                        <m:ctrlP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</m:num>
                      <m:den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!</m:t>
                        </m:r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sSup>
                      <m:sSupPr>
                        <m:ctrlP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2" name="TextBox 17">
                <a:extLst>
                  <a:ext uri="{FF2B5EF4-FFF2-40B4-BE49-F238E27FC236}">
                    <a16:creationId xmlns:a16="http://schemas.microsoft.com/office/drawing/2014/main" id="{25477702-A239-40DD-B2CA-EB004E8CF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374575"/>
                <a:ext cx="7451531" cy="1326325"/>
              </a:xfrm>
              <a:prstGeom prst="rect">
                <a:avLst/>
              </a:prstGeom>
              <a:blipFill>
                <a:blip r:embed="rId7"/>
                <a:stretch>
                  <a:fillRect l="-327" t="-1382" b="-373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>
            <a:extLst>
              <a:ext uri="{FF2B5EF4-FFF2-40B4-BE49-F238E27FC236}">
                <a16:creationId xmlns:a16="http://schemas.microsoft.com/office/drawing/2014/main" id="{6E7CEACB-CEF0-4D20-916E-164EF9D51B07}"/>
              </a:ext>
            </a:extLst>
          </p:cNvPr>
          <p:cNvSpPr/>
          <p:nvPr/>
        </p:nvSpPr>
        <p:spPr>
          <a:xfrm>
            <a:off x="8915782" y="3955534"/>
            <a:ext cx="17363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Rayleigh range 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866135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beam : solution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823DCD-5681-4C39-923D-87B2C2C25C3B}"/>
              </a:ext>
            </a:extLst>
          </p:cNvPr>
          <p:cNvSpPr/>
          <p:nvPr/>
        </p:nvSpPr>
        <p:spPr>
          <a:xfrm>
            <a:off x="75704" y="1108452"/>
            <a:ext cx="47591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long Rayleigh range approximation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17">
                <a:extLst>
                  <a:ext uri="{FF2B5EF4-FFF2-40B4-BE49-F238E27FC236}">
                    <a16:creationId xmlns:a16="http://schemas.microsoft.com/office/drawing/2014/main" id="{14700C42-835A-4BA4-8216-0B69C6044B09}"/>
                  </a:ext>
                </a:extLst>
              </p:cNvPr>
              <p:cNvSpPr txBox="1"/>
              <p:nvPr/>
            </p:nvSpPr>
            <p:spPr>
              <a:xfrm>
                <a:off x="98527" y="6471521"/>
                <a:ext cx="548127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Polarization unit vector (circular)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TW" sz="16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TW" altLang="en-US" sz="16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</m:acc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𝜎</m:t>
                        </m:r>
                      </m:sub>
                    </m:sSub>
                    <m:r>
                      <a:rPr lang="en-US" altLang="zh-TW" sz="1600" b="1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altLang="zh-TW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𝜎</m:t>
                    </m:r>
                    <m:acc>
                      <m:accPr>
                        <m:chr m:val="̂"/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altLang="zh-TW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49" name="TextBox 17">
                <a:extLst>
                  <a:ext uri="{FF2B5EF4-FFF2-40B4-BE49-F238E27FC236}">
                    <a16:creationId xmlns:a16="http://schemas.microsoft.com/office/drawing/2014/main" id="{14700C42-835A-4BA4-8216-0B69C6044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27" y="6471521"/>
                <a:ext cx="5481270" cy="338554"/>
              </a:xfrm>
              <a:prstGeom prst="rect">
                <a:avLst/>
              </a:prstGeom>
              <a:blipFill>
                <a:blip r:embed="rId2"/>
                <a:stretch>
                  <a:fillRect l="-445" t="-5455" b="-2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Laguerre-Gaussian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</p:txBody>
          </p:sp>
        </mc:Choice>
        <mc:Fallback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3"/>
                <a:stretch>
                  <a:fillRect l="-500" t="-145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61DDD4A6-BD9C-4B47-937E-89DD5991519A}"/>
              </a:ext>
            </a:extLst>
          </p:cNvPr>
          <p:cNvSpPr/>
          <p:nvPr/>
        </p:nvSpPr>
        <p:spPr>
          <a:xfrm>
            <a:off x="145774" y="1553028"/>
            <a:ext cx="542014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F4B3C8CC-016D-4602-9160-F8E2E4CF202B}"/>
              </a:ext>
            </a:extLst>
          </p:cNvPr>
          <p:cNvSpPr/>
          <p:nvPr/>
        </p:nvSpPr>
        <p:spPr>
          <a:xfrm>
            <a:off x="1342861" y="2046646"/>
            <a:ext cx="295463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separated SAM &amp; OAM </a:t>
            </a:r>
            <a:endParaRPr lang="zh-TW" altLang="en-US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/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5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3C84503A-AFE1-4643-B6D8-FB9C3949C966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6619" y="3628571"/>
            <a:ext cx="5030488" cy="28302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17">
                <a:extLst>
                  <a:ext uri="{FF2B5EF4-FFF2-40B4-BE49-F238E27FC236}">
                    <a16:creationId xmlns:a16="http://schemas.microsoft.com/office/drawing/2014/main" id="{25477702-A239-40DD-B2CA-EB004E8CF110}"/>
                  </a:ext>
                </a:extLst>
              </p:cNvPr>
              <p:cNvSpPr txBox="1"/>
              <p:nvPr/>
            </p:nvSpPr>
            <p:spPr>
              <a:xfrm>
                <a:off x="0" y="7374575"/>
                <a:ext cx="7451531" cy="132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Polarization unit vector (circular)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TW" sz="16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TW" altLang="en-US" sz="16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</m:acc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𝜎</m:t>
                        </m:r>
                      </m:sub>
                    </m:sSub>
                    <m:r>
                      <a:rPr lang="en-US" altLang="zh-TW" sz="1600" b="1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altLang="zh-TW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𝜎</m:t>
                    </m:r>
                    <m:acc>
                      <m:accPr>
                        <m:chr m:val="̂"/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altLang="zh-TW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Beam waist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Rayleigh range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Generalized Laguerre polynomial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zh-TW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  <m:e>
                            <m:d>
                              <m:dPr>
                                <m:ctrlPr>
                                  <a:rPr lang="en-US" altLang="zh-TW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e>
                        </m:nary>
                      </m:e>
                      <m:sup>
                        <m: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f>
                      <m:fPr>
                        <m:ctrlP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</m:num>
                      <m:den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!</m:t>
                        </m:r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sSup>
                      <m:sSupPr>
                        <m:ctrlP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2" name="TextBox 17">
                <a:extLst>
                  <a:ext uri="{FF2B5EF4-FFF2-40B4-BE49-F238E27FC236}">
                    <a16:creationId xmlns:a16="http://schemas.microsoft.com/office/drawing/2014/main" id="{25477702-A239-40DD-B2CA-EB004E8CF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374575"/>
                <a:ext cx="7451531" cy="1326325"/>
              </a:xfrm>
              <a:prstGeom prst="rect">
                <a:avLst/>
              </a:prstGeom>
              <a:blipFill>
                <a:blip r:embed="rId7"/>
                <a:stretch>
                  <a:fillRect l="-327" t="-1382" b="-373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17">
                <a:extLst>
                  <a:ext uri="{FF2B5EF4-FFF2-40B4-BE49-F238E27FC236}">
                    <a16:creationId xmlns:a16="http://schemas.microsoft.com/office/drawing/2014/main" id="{B53F868B-D69C-4E36-BA80-E7B2C5DDBA32}"/>
                  </a:ext>
                </a:extLst>
              </p:cNvPr>
              <p:cNvSpPr txBox="1"/>
              <p:nvPr/>
            </p:nvSpPr>
            <p:spPr>
              <a:xfrm>
                <a:off x="5506476" y="6471521"/>
                <a:ext cx="189592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/>
                  <a:t>Beam waist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73" name="TextBox 17">
                <a:extLst>
                  <a:ext uri="{FF2B5EF4-FFF2-40B4-BE49-F238E27FC236}">
                    <a16:creationId xmlns:a16="http://schemas.microsoft.com/office/drawing/2014/main" id="{B53F868B-D69C-4E36-BA80-E7B2C5DDBA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476" y="6471521"/>
                <a:ext cx="1895929" cy="338554"/>
              </a:xfrm>
              <a:prstGeom prst="rect">
                <a:avLst/>
              </a:prstGeom>
              <a:blipFill>
                <a:blip r:embed="rId8"/>
                <a:stretch>
                  <a:fillRect l="-1286" t="-5455" b="-2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17">
                <a:extLst>
                  <a:ext uri="{FF2B5EF4-FFF2-40B4-BE49-F238E27FC236}">
                    <a16:creationId xmlns:a16="http://schemas.microsoft.com/office/drawing/2014/main" id="{AC5C0F38-85EF-4002-85D5-E8FBDDDBD888}"/>
                  </a:ext>
                </a:extLst>
              </p:cNvPr>
              <p:cNvSpPr txBox="1"/>
              <p:nvPr/>
            </p:nvSpPr>
            <p:spPr>
              <a:xfrm>
                <a:off x="7554371" y="6420802"/>
                <a:ext cx="2967855" cy="439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Rayleigh range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74" name="TextBox 17">
                <a:extLst>
                  <a:ext uri="{FF2B5EF4-FFF2-40B4-BE49-F238E27FC236}">
                    <a16:creationId xmlns:a16="http://schemas.microsoft.com/office/drawing/2014/main" id="{AC5C0F38-85EF-4002-85D5-E8FBDDDBD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4371" y="6420802"/>
                <a:ext cx="2967855" cy="439992"/>
              </a:xfrm>
              <a:prstGeom prst="rect">
                <a:avLst/>
              </a:prstGeom>
              <a:blipFill>
                <a:blip r:embed="rId9"/>
                <a:stretch>
                  <a:fillRect l="-821" b="-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5" name="圖片 74">
            <a:extLst>
              <a:ext uri="{FF2B5EF4-FFF2-40B4-BE49-F238E27FC236}">
                <a16:creationId xmlns:a16="http://schemas.microsoft.com/office/drawing/2014/main" id="{C7A9B0C1-E4F3-49D1-B0CF-E80234897D40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24096" y="1197315"/>
            <a:ext cx="6559671" cy="3244150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525F55CF-76AC-4E2A-B9A9-88CAA7D61F77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18922" y="4318609"/>
            <a:ext cx="6579136" cy="1998396"/>
          </a:xfrm>
          <a:prstGeom prst="rect">
            <a:avLst/>
          </a:prstGeom>
        </p:spPr>
      </p:pic>
      <p:sp>
        <p:nvSpPr>
          <p:cNvPr id="77" name="矩形 76">
            <a:extLst>
              <a:ext uri="{FF2B5EF4-FFF2-40B4-BE49-F238E27FC236}">
                <a16:creationId xmlns:a16="http://schemas.microsoft.com/office/drawing/2014/main" id="{387EE245-11B6-4D8F-804D-D05D4E28F033}"/>
              </a:ext>
            </a:extLst>
          </p:cNvPr>
          <p:cNvSpPr/>
          <p:nvPr/>
        </p:nvSpPr>
        <p:spPr>
          <a:xfrm>
            <a:off x="7271509" y="4334956"/>
            <a:ext cx="3631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OAM appear in phase structure </a:t>
            </a:r>
            <a:endParaRPr lang="zh-TW" altLang="en-US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896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E25A816-DAB1-4091-89F4-6912F7BC7FDB}"/>
              </a:ext>
            </a:extLst>
          </p:cNvPr>
          <p:cNvSpPr/>
          <p:nvPr/>
        </p:nvSpPr>
        <p:spPr>
          <a:xfrm>
            <a:off x="145774" y="1553028"/>
            <a:ext cx="542014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AB4A814D-471E-4A7B-9548-4B6E2275DE95}"/>
              </a:ext>
            </a:extLst>
          </p:cNvPr>
          <p:cNvSpPr/>
          <p:nvPr/>
        </p:nvSpPr>
        <p:spPr>
          <a:xfrm>
            <a:off x="6075102" y="1528419"/>
            <a:ext cx="5908598" cy="5017523"/>
          </a:xfrm>
          <a:prstGeom prst="roundRect">
            <a:avLst>
              <a:gd name="adj" fmla="val 7949"/>
            </a:avLst>
          </a:prstGeom>
          <a:ln w="57150">
            <a:solidFill>
              <a:srgbClr val="00B05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>
              <a:solidFill>
                <a:srgbClr val="00B050"/>
              </a:solidFill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beam : angular spectrum 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9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1">
                <a:extLst>
                  <a:ext uri="{FF2B5EF4-FFF2-40B4-BE49-F238E27FC236}">
                    <a16:creationId xmlns:a16="http://schemas.microsoft.com/office/drawing/2014/main" id="{E3483A45-FF76-4F16-A149-254172F9C3A1}"/>
                  </a:ext>
                </a:extLst>
              </p:cNvPr>
              <p:cNvSpPr txBox="1"/>
              <p:nvPr/>
            </p:nvSpPr>
            <p:spPr>
              <a:xfrm>
                <a:off x="7051620" y="4242995"/>
                <a:ext cx="3955563" cy="4373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𝐿𝐺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∫</m:t>
                      </m:r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·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p>
                      </m:sSup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14" name="TextBox 11">
                <a:extLst>
                  <a:ext uri="{FF2B5EF4-FFF2-40B4-BE49-F238E27FC236}">
                    <a16:creationId xmlns:a16="http://schemas.microsoft.com/office/drawing/2014/main" id="{E3483A45-FF76-4F16-A149-254172F9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620" y="4242995"/>
                <a:ext cx="3955563" cy="437364"/>
              </a:xfrm>
              <a:prstGeom prst="rect">
                <a:avLst/>
              </a:prstGeom>
              <a:blipFill>
                <a:blip r:embed="rId2"/>
                <a:stretch>
                  <a:fillRect b="-97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1">
                <a:extLst>
                  <a:ext uri="{FF2B5EF4-FFF2-40B4-BE49-F238E27FC236}">
                    <a16:creationId xmlns:a16="http://schemas.microsoft.com/office/drawing/2014/main" id="{0D1D4B2D-EE94-4B99-BC63-44441CDD091C}"/>
                  </a:ext>
                </a:extLst>
              </p:cNvPr>
              <p:cNvSpPr txBox="1"/>
              <p:nvPr/>
            </p:nvSpPr>
            <p:spPr>
              <a:xfrm>
                <a:off x="6098937" y="3566992"/>
                <a:ext cx="5860928" cy="6830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l-GR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l-GR" altLang="zh-TW" sz="19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  <m:sup>
                              <m:r>
                                <a:rPr lang="el-GR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l-GR" altLang="zh-TW" sz="1900" i="1" smtClean="0">
                          <a:latin typeface="Cambria Math" panose="02040503050406030204" pitchFamily="18" charset="0"/>
                        </a:rPr>
                        <m:t>∫</m:t>
                      </m:r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𝐿𝐺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·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16" name="TextBox 11">
                <a:extLst>
                  <a:ext uri="{FF2B5EF4-FFF2-40B4-BE49-F238E27FC236}">
                    <a16:creationId xmlns:a16="http://schemas.microsoft.com/office/drawing/2014/main" id="{0D1D4B2D-EE94-4B99-BC63-44441CDD09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8937" y="3566992"/>
                <a:ext cx="5860928" cy="68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矩形 16">
            <a:extLst>
              <a:ext uri="{FF2B5EF4-FFF2-40B4-BE49-F238E27FC236}">
                <a16:creationId xmlns:a16="http://schemas.microsoft.com/office/drawing/2014/main" id="{42DEB9A5-40E9-4013-A547-D2EF19201978}"/>
              </a:ext>
            </a:extLst>
          </p:cNvPr>
          <p:cNvSpPr/>
          <p:nvPr/>
        </p:nvSpPr>
        <p:spPr>
          <a:xfrm>
            <a:off x="6507398" y="1683055"/>
            <a:ext cx="50440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expanded in a plane-wave basis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FE3EEC8-DC7F-4CB0-BBE5-80094E5850B4}"/>
              </a:ext>
            </a:extLst>
          </p:cNvPr>
          <p:cNvSpPr/>
          <p:nvPr/>
        </p:nvSpPr>
        <p:spPr>
          <a:xfrm>
            <a:off x="6942653" y="3226895"/>
            <a:ext cx="41734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Fourier transformation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EFB4FD1-BA73-4CD2-B865-A69CC7009710}"/>
              </a:ext>
            </a:extLst>
          </p:cNvPr>
          <p:cNvGrpSpPr/>
          <p:nvPr/>
        </p:nvGrpSpPr>
        <p:grpSpPr>
          <a:xfrm>
            <a:off x="7604217" y="2008639"/>
            <a:ext cx="2850369" cy="837793"/>
            <a:chOff x="997731" y="5951181"/>
            <a:chExt cx="2850369" cy="83779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11">
                  <a:extLst>
                    <a:ext uri="{FF2B5EF4-FFF2-40B4-BE49-F238E27FC236}">
                      <a16:creationId xmlns:a16="http://schemas.microsoft.com/office/drawing/2014/main" id="{6AB999ED-75B1-419A-A9B0-54E8E7FF3E45}"/>
                    </a:ext>
                  </a:extLst>
                </p:cNvPr>
                <p:cNvSpPr txBox="1"/>
                <p:nvPr/>
              </p:nvSpPr>
              <p:spPr>
                <a:xfrm>
                  <a:off x="997731" y="5951181"/>
                  <a:ext cx="2850369" cy="8377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  <m:d>
                          <m:dPr>
                            <m:ctrlPr>
                              <a:rPr lang="en-US" sz="19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9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pt-BR" sz="19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pt-BR" sz="19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  <m:sup/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            </m:t>
                            </m:r>
                            <m:sSup>
                              <m:sSupPr>
                                <m:ctrlP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𝒆</m:t>
                                </m:r>
                              </m:e>
                              <m:sup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·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5" name="TextBox 11">
                  <a:extLst>
                    <a:ext uri="{FF2B5EF4-FFF2-40B4-BE49-F238E27FC236}">
                      <a16:creationId xmlns:a16="http://schemas.microsoft.com/office/drawing/2014/main" id="{6AB999ED-75B1-419A-A9B0-54E8E7FF3E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31" y="5951181"/>
                  <a:ext cx="2850369" cy="83779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1" name="圖形 30">
              <a:extLst>
                <a:ext uri="{FF2B5EF4-FFF2-40B4-BE49-F238E27FC236}">
                  <a16:creationId xmlns:a16="http://schemas.microsoft.com/office/drawing/2014/main" id="{3741F30B-D548-4007-8B92-02CA2FBD4B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265547" y="6191646"/>
              <a:ext cx="563078" cy="266721"/>
            </a:xfrm>
            <a:prstGeom prst="rect">
              <a:avLst/>
            </a:prstGeom>
          </p:spPr>
        </p:pic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0906CB81-CD75-4963-B802-33DFE206E3E3}"/>
              </a:ext>
            </a:extLst>
          </p:cNvPr>
          <p:cNvSpPr/>
          <p:nvPr/>
        </p:nvSpPr>
        <p:spPr>
          <a:xfrm>
            <a:off x="6942653" y="5358580"/>
            <a:ext cx="41734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03AAA45-95F8-478D-9C2C-8B47CD2AF706}"/>
              </a:ext>
            </a:extLst>
          </p:cNvPr>
          <p:cNvGrpSpPr/>
          <p:nvPr/>
        </p:nvGrpSpPr>
        <p:grpSpPr>
          <a:xfrm>
            <a:off x="640181" y="4516192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5B0A5375-7C63-4259-8624-534E7230FB0C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5B0A5375-7C63-4259-8624-534E7230F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8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7" name="圖形 66">
              <a:extLst>
                <a:ext uri="{FF2B5EF4-FFF2-40B4-BE49-F238E27FC236}">
                  <a16:creationId xmlns:a16="http://schemas.microsoft.com/office/drawing/2014/main" id="{1470E430-B9EA-4C79-9507-19E3F821AA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68" name="圖形 67">
              <a:extLst>
                <a:ext uri="{FF2B5EF4-FFF2-40B4-BE49-F238E27FC236}">
                  <a16:creationId xmlns:a16="http://schemas.microsoft.com/office/drawing/2014/main" id="{83C2D271-51E2-4B79-97EC-BFCB41731E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15081D78-2098-4400-AC0A-5188F402BC28}"/>
              </a:ext>
            </a:extLst>
          </p:cNvPr>
          <p:cNvGrpSpPr/>
          <p:nvPr/>
        </p:nvGrpSpPr>
        <p:grpSpPr>
          <a:xfrm>
            <a:off x="527954" y="5226872"/>
            <a:ext cx="3790993" cy="696216"/>
            <a:chOff x="118398" y="4983915"/>
            <a:chExt cx="3790993" cy="69621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11">
                  <a:extLst>
                    <a:ext uri="{FF2B5EF4-FFF2-40B4-BE49-F238E27FC236}">
                      <a16:creationId xmlns:a16="http://schemas.microsoft.com/office/drawing/2014/main" id="{5C86E199-369A-4CED-AB63-D8DB0039AAE5}"/>
                    </a:ext>
                  </a:extLst>
                </p:cNvPr>
                <p:cNvSpPr txBox="1"/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  <m: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sup>
                            </m:sSup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Ω</m:t>
                            </m:r>
                          </m:den>
                        </m:f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1900" dirty="0"/>
                </a:p>
              </p:txBody>
            </p:sp>
          </mc:Choice>
          <mc:Fallback>
            <p:sp>
              <p:nvSpPr>
                <p:cNvPr id="39" name="TextBox 11">
                  <a:extLst>
                    <a:ext uri="{FF2B5EF4-FFF2-40B4-BE49-F238E27FC236}">
                      <a16:creationId xmlns:a16="http://schemas.microsoft.com/office/drawing/2014/main" id="{5C86E199-369A-4CED-AB63-D8DB0039A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3" name="圖形 72">
              <a:extLst>
                <a:ext uri="{FF2B5EF4-FFF2-40B4-BE49-F238E27FC236}">
                  <a16:creationId xmlns:a16="http://schemas.microsoft.com/office/drawing/2014/main" id="{74C9921B-14B4-42EF-9A0A-F375AA568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461281" y="5276850"/>
              <a:ext cx="401462" cy="258082"/>
            </a:xfrm>
            <a:prstGeom prst="rect">
              <a:avLst/>
            </a:prstGeom>
          </p:spPr>
        </p:pic>
      </p:grpSp>
      <p:sp>
        <p:nvSpPr>
          <p:cNvPr id="79" name="內容版面配置區 2">
            <a:extLst>
              <a:ext uri="{FF2B5EF4-FFF2-40B4-BE49-F238E27FC236}">
                <a16:creationId xmlns:a16="http://schemas.microsoft.com/office/drawing/2014/main" id="{523BC243-045E-4B2D-8E25-5759F71FA921}"/>
              </a:ext>
            </a:extLst>
          </p:cNvPr>
          <p:cNvSpPr txBox="1">
            <a:spLocks/>
          </p:cNvSpPr>
          <p:nvPr/>
        </p:nvSpPr>
        <p:spPr>
          <a:xfrm>
            <a:off x="107107" y="4025345"/>
            <a:ext cx="4945193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in angular spectrum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/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𝐿𝐺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  <m:rad>
                            <m:radPr>
                              <m:degHide m:val="on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altLang="zh-TW" sz="1900" dirty="0"/>
              </a:p>
              <a:p>
                <a:pPr algn="just"/>
                <a:endParaRPr lang="en-US" sz="1900" dirty="0"/>
              </a:p>
            </p:txBody>
          </p:sp>
        </mc:Choice>
        <mc:Fallback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7" name="圖形 86">
            <a:extLst>
              <a:ext uri="{FF2B5EF4-FFF2-40B4-BE49-F238E27FC236}">
                <a16:creationId xmlns:a16="http://schemas.microsoft.com/office/drawing/2014/main" id="{A1456DA0-35A4-4954-8D34-7AC1005058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135287" y="5791201"/>
            <a:ext cx="3788229" cy="6241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00E16859-3079-47F8-BC6B-3F52BB0BCBC1}"/>
                  </a:ext>
                </a:extLst>
              </p:cNvPr>
              <p:cNvSpPr/>
              <p:nvPr/>
            </p:nvSpPr>
            <p:spPr>
              <a:xfrm>
                <a:off x="2868857" y="5871069"/>
                <a:ext cx="292599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Hankel transform of order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00E16859-3079-47F8-BC6B-3F52BB0BCB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8857" y="5871069"/>
                <a:ext cx="2925994" cy="369332"/>
              </a:xfrm>
              <a:prstGeom prst="rect">
                <a:avLst/>
              </a:prstGeom>
              <a:blipFill>
                <a:blip r:embed="rId17"/>
                <a:stretch>
                  <a:fillRect l="-1875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矩形 89">
            <a:extLst>
              <a:ext uri="{FF2B5EF4-FFF2-40B4-BE49-F238E27FC236}">
                <a16:creationId xmlns:a16="http://schemas.microsoft.com/office/drawing/2014/main" id="{8482776D-FE25-4EAB-8C4D-A9D23AB11365}"/>
              </a:ext>
            </a:extLst>
          </p:cNvPr>
          <p:cNvSpPr/>
          <p:nvPr/>
        </p:nvSpPr>
        <p:spPr>
          <a:xfrm>
            <a:off x="1342861" y="2046646"/>
            <a:ext cx="295463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separated SAM &amp; OAM </a:t>
            </a:r>
            <a:endParaRPr lang="zh-TW" altLang="en-US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/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內容版面配置區 2">
                <a:extLst>
                  <a:ext uri="{FF2B5EF4-FFF2-40B4-BE49-F238E27FC236}">
                    <a16:creationId xmlns:a16="http://schemas.microsoft.com/office/drawing/2014/main" id="{01AC7AD3-FD85-4AFB-A2BC-0C4CD21323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Laguerre-Gaussian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(with long Rayleigh range approximation)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93" name="內容版面配置區 2">
                <a:extLst>
                  <a:ext uri="{FF2B5EF4-FFF2-40B4-BE49-F238E27FC236}">
                    <a16:creationId xmlns:a16="http://schemas.microsoft.com/office/drawing/2014/main" id="{01AC7AD3-FD85-4AFB-A2BC-0C4CD2132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19"/>
                <a:stretch>
                  <a:fillRect l="-500" t="-14530" b="-102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矩形 94">
            <a:extLst>
              <a:ext uri="{FF2B5EF4-FFF2-40B4-BE49-F238E27FC236}">
                <a16:creationId xmlns:a16="http://schemas.microsoft.com/office/drawing/2014/main" id="{19549506-D6E8-47A6-A551-777DE6A27C0A}"/>
              </a:ext>
            </a:extLst>
          </p:cNvPr>
          <p:cNvSpPr/>
          <p:nvPr/>
        </p:nvSpPr>
        <p:spPr>
          <a:xfrm>
            <a:off x="5961724" y="1155522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20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7753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E25A816-DAB1-4091-89F4-6912F7BC7FDB}"/>
              </a:ext>
            </a:extLst>
          </p:cNvPr>
          <p:cNvSpPr/>
          <p:nvPr/>
        </p:nvSpPr>
        <p:spPr>
          <a:xfrm>
            <a:off x="145774" y="1553028"/>
            <a:ext cx="542014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beam : angular spectrum 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10</a:t>
            </a:fld>
            <a:endParaRPr lang="zh-TW" altLang="en-US"/>
          </a:p>
        </p:txBody>
      </p: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03AAA45-95F8-478D-9C2C-8B47CD2AF706}"/>
              </a:ext>
            </a:extLst>
          </p:cNvPr>
          <p:cNvGrpSpPr/>
          <p:nvPr/>
        </p:nvGrpSpPr>
        <p:grpSpPr>
          <a:xfrm>
            <a:off x="640181" y="4516192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5B0A5375-7C63-4259-8624-534E7230FB0C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5B0A5375-7C63-4259-8624-534E7230F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2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3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7" name="圖形 66">
              <a:extLst>
                <a:ext uri="{FF2B5EF4-FFF2-40B4-BE49-F238E27FC236}">
                  <a16:creationId xmlns:a16="http://schemas.microsoft.com/office/drawing/2014/main" id="{1470E430-B9EA-4C79-9507-19E3F821AA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68" name="圖形 67">
              <a:extLst>
                <a:ext uri="{FF2B5EF4-FFF2-40B4-BE49-F238E27FC236}">
                  <a16:creationId xmlns:a16="http://schemas.microsoft.com/office/drawing/2014/main" id="{83C2D271-51E2-4B79-97EC-BFCB41731E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15081D78-2098-4400-AC0A-5188F402BC28}"/>
              </a:ext>
            </a:extLst>
          </p:cNvPr>
          <p:cNvGrpSpPr/>
          <p:nvPr/>
        </p:nvGrpSpPr>
        <p:grpSpPr>
          <a:xfrm>
            <a:off x="527954" y="5226872"/>
            <a:ext cx="3790993" cy="696216"/>
            <a:chOff x="118398" y="4983915"/>
            <a:chExt cx="3790993" cy="69621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11">
                  <a:extLst>
                    <a:ext uri="{FF2B5EF4-FFF2-40B4-BE49-F238E27FC236}">
                      <a16:creationId xmlns:a16="http://schemas.microsoft.com/office/drawing/2014/main" id="{5C86E199-369A-4CED-AB63-D8DB0039AAE5}"/>
                    </a:ext>
                  </a:extLst>
                </p:cNvPr>
                <p:cNvSpPr txBox="1"/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  <m: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sup>
                            </m:sSup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Ω</m:t>
                            </m:r>
                          </m:den>
                        </m:f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1900" dirty="0"/>
                </a:p>
              </p:txBody>
            </p:sp>
          </mc:Choice>
          <mc:Fallback>
            <p:sp>
              <p:nvSpPr>
                <p:cNvPr id="39" name="TextBox 11">
                  <a:extLst>
                    <a:ext uri="{FF2B5EF4-FFF2-40B4-BE49-F238E27FC236}">
                      <a16:creationId xmlns:a16="http://schemas.microsoft.com/office/drawing/2014/main" id="{5C86E199-369A-4CED-AB63-D8DB0039A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3" name="圖形 72">
              <a:extLst>
                <a:ext uri="{FF2B5EF4-FFF2-40B4-BE49-F238E27FC236}">
                  <a16:creationId xmlns:a16="http://schemas.microsoft.com/office/drawing/2014/main" id="{74C9921B-14B4-42EF-9A0A-F375AA568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461281" y="5276850"/>
              <a:ext cx="401462" cy="258082"/>
            </a:xfrm>
            <a:prstGeom prst="rect">
              <a:avLst/>
            </a:prstGeom>
          </p:spPr>
        </p:pic>
      </p:grpSp>
      <p:sp>
        <p:nvSpPr>
          <p:cNvPr id="79" name="內容版面配置區 2">
            <a:extLst>
              <a:ext uri="{FF2B5EF4-FFF2-40B4-BE49-F238E27FC236}">
                <a16:creationId xmlns:a16="http://schemas.microsoft.com/office/drawing/2014/main" id="{523BC243-045E-4B2D-8E25-5759F71FA921}"/>
              </a:ext>
            </a:extLst>
          </p:cNvPr>
          <p:cNvSpPr txBox="1">
            <a:spLocks/>
          </p:cNvSpPr>
          <p:nvPr/>
        </p:nvSpPr>
        <p:spPr>
          <a:xfrm>
            <a:off x="107107" y="4025345"/>
            <a:ext cx="4945193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in angular spectrum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/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𝐿𝐺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  <m:rad>
                            <m:radPr>
                              <m:degHide m:val="on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altLang="zh-TW" sz="1900" dirty="0"/>
              </a:p>
              <a:p>
                <a:pPr algn="just"/>
                <a:endParaRPr lang="en-US" sz="1900" dirty="0"/>
              </a:p>
            </p:txBody>
          </p:sp>
        </mc:Choice>
        <mc:Fallback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00E16859-3079-47F8-BC6B-3F52BB0BCBC1}"/>
                  </a:ext>
                </a:extLst>
              </p:cNvPr>
              <p:cNvSpPr/>
              <p:nvPr/>
            </p:nvSpPr>
            <p:spPr>
              <a:xfrm>
                <a:off x="2868857" y="5871069"/>
                <a:ext cx="292599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Hankel transform of order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00E16859-3079-47F8-BC6B-3F52BB0BCB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8857" y="5871069"/>
                <a:ext cx="2925994" cy="369332"/>
              </a:xfrm>
              <a:prstGeom prst="rect">
                <a:avLst/>
              </a:prstGeom>
              <a:blipFill>
                <a:blip r:embed="rId10"/>
                <a:stretch>
                  <a:fillRect l="-1875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矩形 89">
            <a:extLst>
              <a:ext uri="{FF2B5EF4-FFF2-40B4-BE49-F238E27FC236}">
                <a16:creationId xmlns:a16="http://schemas.microsoft.com/office/drawing/2014/main" id="{8482776D-FE25-4EAB-8C4D-A9D23AB11365}"/>
              </a:ext>
            </a:extLst>
          </p:cNvPr>
          <p:cNvSpPr/>
          <p:nvPr/>
        </p:nvSpPr>
        <p:spPr>
          <a:xfrm>
            <a:off x="1342861" y="2046646"/>
            <a:ext cx="295463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separated SAM &amp; OAM </a:t>
            </a:r>
            <a:endParaRPr lang="zh-TW" altLang="en-US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/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內容版面配置區 2">
                <a:extLst>
                  <a:ext uri="{FF2B5EF4-FFF2-40B4-BE49-F238E27FC236}">
                    <a16:creationId xmlns:a16="http://schemas.microsoft.com/office/drawing/2014/main" id="{01AC7AD3-FD85-4AFB-A2BC-0C4CD21323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Laguerre-Gaussian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(with long Rayleigh range approximation)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93" name="內容版面配置區 2">
                <a:extLst>
                  <a:ext uri="{FF2B5EF4-FFF2-40B4-BE49-F238E27FC236}">
                    <a16:creationId xmlns:a16="http://schemas.microsoft.com/office/drawing/2014/main" id="{01AC7AD3-FD85-4AFB-A2BC-0C4CD2132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12"/>
                <a:stretch>
                  <a:fillRect l="-500" t="-14530" b="-102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13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7" name="圖片 36">
            <a:extLst>
              <a:ext uri="{FF2B5EF4-FFF2-40B4-BE49-F238E27FC236}">
                <a16:creationId xmlns:a16="http://schemas.microsoft.com/office/drawing/2014/main" id="{DB393761-3192-4473-8A42-34FF0C34D80E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09805" y="1748858"/>
            <a:ext cx="6509624" cy="364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808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beam : transfer to Coulomb gauge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11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內容版面配置區 2">
                <a:extLst>
                  <a:ext uri="{FF2B5EF4-FFF2-40B4-BE49-F238E27FC236}">
                    <a16:creationId xmlns:a16="http://schemas.microsoft.com/office/drawing/2014/main" id="{DA093ED8-0E5C-41C3-8C7C-F7D529DF5FE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Laguerre-Gaussian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(with long Rayleigh range approximation)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26" name="內容版面配置區 2">
                <a:extLst>
                  <a:ext uri="{FF2B5EF4-FFF2-40B4-BE49-F238E27FC236}">
                    <a16:creationId xmlns:a16="http://schemas.microsoft.com/office/drawing/2014/main" id="{DA093ED8-0E5C-41C3-8C7C-F7D529DF5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2"/>
                <a:stretch>
                  <a:fillRect l="-500" t="-14530" b="-102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0DC1C16A-07C4-4422-BF35-87D35AEE21EF}"/>
              </a:ext>
            </a:extLst>
          </p:cNvPr>
          <p:cNvSpPr/>
          <p:nvPr/>
        </p:nvSpPr>
        <p:spPr>
          <a:xfrm>
            <a:off x="145774" y="1553028"/>
            <a:ext cx="5420140" cy="62411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1">
                <a:extLst>
                  <a:ext uri="{FF2B5EF4-FFF2-40B4-BE49-F238E27FC236}">
                    <a16:creationId xmlns:a16="http://schemas.microsoft.com/office/drawing/2014/main" id="{DA2AC7ED-CA1B-4B7E-A4C0-DB9C331346F5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5" name="TextBox 11">
                <a:extLst>
                  <a:ext uri="{FF2B5EF4-FFF2-40B4-BE49-F238E27FC236}">
                    <a16:creationId xmlns:a16="http://schemas.microsoft.com/office/drawing/2014/main" id="{DA2AC7ED-CA1B-4B7E-A4C0-DB9C331346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3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TextBox 11">
                <a:extLst>
                  <a:ext uri="{FF2B5EF4-FFF2-40B4-BE49-F238E27FC236}">
                    <a16:creationId xmlns:a16="http://schemas.microsoft.com/office/drawing/2014/main" id="{FFCB60F9-4F69-420B-9B91-5EF9D97E18D4}"/>
                  </a:ext>
                </a:extLst>
              </p:cNvPr>
              <p:cNvSpPr txBox="1"/>
              <p:nvPr/>
            </p:nvSpPr>
            <p:spPr>
              <a:xfrm>
                <a:off x="149838" y="2169066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6" name="TextBox 11">
                <a:extLst>
                  <a:ext uri="{FF2B5EF4-FFF2-40B4-BE49-F238E27FC236}">
                    <a16:creationId xmlns:a16="http://schemas.microsoft.com/office/drawing/2014/main" id="{FFCB60F9-4F69-420B-9B91-5EF9D97E1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838" y="2169066"/>
                <a:ext cx="5324926" cy="457305"/>
              </a:xfrm>
              <a:prstGeom prst="rect">
                <a:avLst/>
              </a:prstGeom>
              <a:blipFill>
                <a:blip r:embed="rId4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TextBox 11">
                <a:extLst>
                  <a:ext uri="{FF2B5EF4-FFF2-40B4-BE49-F238E27FC236}">
                    <a16:creationId xmlns:a16="http://schemas.microsoft.com/office/drawing/2014/main" id="{845BF1E4-6347-426E-952B-A379A10E3D10}"/>
                  </a:ext>
                </a:extLst>
              </p:cNvPr>
              <p:cNvSpPr txBox="1"/>
              <p:nvPr/>
            </p:nvSpPr>
            <p:spPr>
              <a:xfrm>
                <a:off x="657838" y="2889243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7" name="TextBox 11">
                <a:extLst>
                  <a:ext uri="{FF2B5EF4-FFF2-40B4-BE49-F238E27FC236}">
                    <a16:creationId xmlns:a16="http://schemas.microsoft.com/office/drawing/2014/main" id="{845BF1E4-6347-426E-952B-A379A10E3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38" y="2889243"/>
                <a:ext cx="5324926" cy="457305"/>
              </a:xfrm>
              <a:prstGeom prst="rect">
                <a:avLst/>
              </a:prstGeom>
              <a:blipFill>
                <a:blip r:embed="rId5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1">
                <a:extLst>
                  <a:ext uri="{FF2B5EF4-FFF2-40B4-BE49-F238E27FC236}">
                    <a16:creationId xmlns:a16="http://schemas.microsoft.com/office/drawing/2014/main" id="{DA895078-F48D-4765-BE91-C60E0C2E53A9}"/>
                  </a:ext>
                </a:extLst>
              </p:cNvPr>
              <p:cNvSpPr txBox="1"/>
              <p:nvPr/>
            </p:nvSpPr>
            <p:spPr>
              <a:xfrm>
                <a:off x="657838" y="3609421"/>
                <a:ext cx="6307011" cy="766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+ℓ</m:t>
                              </m:r>
                            </m:e>
                          </m:d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8" name="TextBox 11">
                <a:extLst>
                  <a:ext uri="{FF2B5EF4-FFF2-40B4-BE49-F238E27FC236}">
                    <a16:creationId xmlns:a16="http://schemas.microsoft.com/office/drawing/2014/main" id="{DA895078-F48D-4765-BE91-C60E0C2E5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38" y="3609421"/>
                <a:ext cx="6307011" cy="7661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TextBox 11">
            <a:extLst>
              <a:ext uri="{FF2B5EF4-FFF2-40B4-BE49-F238E27FC236}">
                <a16:creationId xmlns:a16="http://schemas.microsoft.com/office/drawing/2014/main" id="{933AFB33-4BA8-4C04-94E9-97A38EA526ED}"/>
              </a:ext>
            </a:extLst>
          </p:cNvPr>
          <p:cNvSpPr txBox="1"/>
          <p:nvPr/>
        </p:nvSpPr>
        <p:spPr>
          <a:xfrm>
            <a:off x="149838" y="255775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10" name="TextBox 11">
            <a:extLst>
              <a:ext uri="{FF2B5EF4-FFF2-40B4-BE49-F238E27FC236}">
                <a16:creationId xmlns:a16="http://schemas.microsoft.com/office/drawing/2014/main" id="{1D578D08-8510-45F2-8EDE-6397E1602054}"/>
              </a:ext>
            </a:extLst>
          </p:cNvPr>
          <p:cNvSpPr txBox="1"/>
          <p:nvPr/>
        </p:nvSpPr>
        <p:spPr>
          <a:xfrm>
            <a:off x="149838" y="3277929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3BFFF855-D015-43E7-AE48-6F7CBEFA7B19}"/>
              </a:ext>
            </a:extLst>
          </p:cNvPr>
          <p:cNvSpPr/>
          <p:nvPr/>
        </p:nvSpPr>
        <p:spPr>
          <a:xfrm>
            <a:off x="3741898" y="3284969"/>
            <a:ext cx="2949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 &amp; OAM interaction</a:t>
            </a:r>
            <a:endParaRPr lang="zh-TW" altLang="en-US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55B24262-403F-41F1-95B5-5A7AF4635F85}"/>
              </a:ext>
            </a:extLst>
          </p:cNvPr>
          <p:cNvSpPr/>
          <p:nvPr/>
        </p:nvSpPr>
        <p:spPr>
          <a:xfrm>
            <a:off x="6077699" y="1528420"/>
            <a:ext cx="5908598" cy="1432496"/>
          </a:xfrm>
          <a:prstGeom prst="roundRect">
            <a:avLst>
              <a:gd name="adj" fmla="val 7949"/>
            </a:avLst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5B806A59-DCFB-4FF3-8FCB-DB72AE39B8FD}"/>
              </a:ext>
            </a:extLst>
          </p:cNvPr>
          <p:cNvSpPr/>
          <p:nvPr/>
        </p:nvSpPr>
        <p:spPr>
          <a:xfrm>
            <a:off x="6509995" y="1639513"/>
            <a:ext cx="50440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 from Maxwell’s equations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4E99FD6F-F637-425F-8C65-EFB23125B6A9}"/>
              </a:ext>
            </a:extLst>
          </p:cNvPr>
          <p:cNvSpPr/>
          <p:nvPr/>
        </p:nvSpPr>
        <p:spPr>
          <a:xfrm>
            <a:off x="5961724" y="1155522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TextBox 11">
                <a:extLst>
                  <a:ext uri="{FF2B5EF4-FFF2-40B4-BE49-F238E27FC236}">
                    <a16:creationId xmlns:a16="http://schemas.microsoft.com/office/drawing/2014/main" id="{D70648C7-A0B3-42BC-A46E-9969F1E1F8A3}"/>
                  </a:ext>
                </a:extLst>
              </p:cNvPr>
              <p:cNvSpPr txBox="1"/>
              <p:nvPr/>
            </p:nvSpPr>
            <p:spPr>
              <a:xfrm>
                <a:off x="6978990" y="2009586"/>
                <a:ext cx="4339939" cy="875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d>
                            <m:d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Sup>
                                <m:sSubSup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,ℓ,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sSubSup>
                            <m:sSubSup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115" name="TextBox 11">
                <a:extLst>
                  <a:ext uri="{FF2B5EF4-FFF2-40B4-BE49-F238E27FC236}">
                    <a16:creationId xmlns:a16="http://schemas.microsoft.com/office/drawing/2014/main" id="{D70648C7-A0B3-42BC-A46E-9969F1E1F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990" y="2009586"/>
                <a:ext cx="4339939" cy="8753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3687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D6538454-22E9-4C0D-A4A5-98842C81DD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5255" b="48227"/>
          <a:stretch/>
        </p:blipFill>
        <p:spPr>
          <a:xfrm>
            <a:off x="90217" y="4733350"/>
            <a:ext cx="6016277" cy="2001629"/>
          </a:xfrm>
          <a:prstGeom prst="rect">
            <a:avLst/>
          </a:prstGeom>
        </p:spPr>
      </p:pic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218D0107-06C1-4C93-8555-21D940A7D39C}"/>
              </a:ext>
            </a:extLst>
          </p:cNvPr>
          <p:cNvSpPr/>
          <p:nvPr/>
        </p:nvSpPr>
        <p:spPr>
          <a:xfrm>
            <a:off x="145774" y="1553028"/>
            <a:ext cx="5420140" cy="62411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beam : transfer to Coulomb gauge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12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11">
                <a:extLst>
                  <a:ext uri="{FF2B5EF4-FFF2-40B4-BE49-F238E27FC236}">
                    <a16:creationId xmlns:a16="http://schemas.microsoft.com/office/drawing/2014/main" id="{89F02D2E-79AA-4438-B679-F693204089E2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9" name="TextBox 11">
                <a:extLst>
                  <a:ext uri="{FF2B5EF4-FFF2-40B4-BE49-F238E27FC236}">
                    <a16:creationId xmlns:a16="http://schemas.microsoft.com/office/drawing/2014/main" id="{89F02D2E-79AA-4438-B679-F69320408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3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內容版面配置區 2">
                <a:extLst>
                  <a:ext uri="{FF2B5EF4-FFF2-40B4-BE49-F238E27FC236}">
                    <a16:creationId xmlns:a16="http://schemas.microsoft.com/office/drawing/2014/main" id="{DA093ED8-0E5C-41C3-8C7C-F7D529DF5FE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Laguerre-Gaussian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(with long Rayleigh range approximation)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26" name="內容版面配置區 2">
                <a:extLst>
                  <a:ext uri="{FF2B5EF4-FFF2-40B4-BE49-F238E27FC236}">
                    <a16:creationId xmlns:a16="http://schemas.microsoft.com/office/drawing/2014/main" id="{DA093ED8-0E5C-41C3-8C7C-F7D529DF5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4"/>
                <a:stretch>
                  <a:fillRect l="-500" t="-14530" b="-102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C450CB63-30F6-4A5B-B5FB-03A63C758E82}"/>
              </a:ext>
            </a:extLst>
          </p:cNvPr>
          <p:cNvSpPr/>
          <p:nvPr/>
        </p:nvSpPr>
        <p:spPr>
          <a:xfrm>
            <a:off x="6077699" y="1528420"/>
            <a:ext cx="5908598" cy="1432496"/>
          </a:xfrm>
          <a:prstGeom prst="roundRect">
            <a:avLst>
              <a:gd name="adj" fmla="val 7949"/>
            </a:avLst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DDE098A-3E94-45FC-94D1-917FF8928F6E}"/>
              </a:ext>
            </a:extLst>
          </p:cNvPr>
          <p:cNvSpPr/>
          <p:nvPr/>
        </p:nvSpPr>
        <p:spPr>
          <a:xfrm>
            <a:off x="6509995" y="1639513"/>
            <a:ext cx="50440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 from Maxwell’s equations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BD9AAF9-A750-4280-87EB-3E21E1F711F1}"/>
              </a:ext>
            </a:extLst>
          </p:cNvPr>
          <p:cNvSpPr/>
          <p:nvPr/>
        </p:nvSpPr>
        <p:spPr>
          <a:xfrm>
            <a:off x="5961724" y="1155522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FE0B88CE-6FF3-4712-A209-432BD229F0E5}"/>
                  </a:ext>
                </a:extLst>
              </p:cNvPr>
              <p:cNvSpPr txBox="1"/>
              <p:nvPr/>
            </p:nvSpPr>
            <p:spPr>
              <a:xfrm>
                <a:off x="6978990" y="2009586"/>
                <a:ext cx="4339939" cy="875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d>
                            <m:d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Sup>
                                <m:sSubSup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,ℓ,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sSubSup>
                            <m:sSubSup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1900" dirty="0"/>
              </a:p>
            </p:txBody>
          </p:sp>
        </mc:Choice>
        <mc:Fallback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FE0B88CE-6FF3-4712-A209-432BD229F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990" y="2009586"/>
                <a:ext cx="4339939" cy="8753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1">
                <a:extLst>
                  <a:ext uri="{FF2B5EF4-FFF2-40B4-BE49-F238E27FC236}">
                    <a16:creationId xmlns:a16="http://schemas.microsoft.com/office/drawing/2014/main" id="{DB7194EC-A266-4965-90E0-4A01F31D654C}"/>
                  </a:ext>
                </a:extLst>
              </p:cNvPr>
              <p:cNvSpPr txBox="1"/>
              <p:nvPr/>
            </p:nvSpPr>
            <p:spPr>
              <a:xfrm>
                <a:off x="149838" y="2169066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8" name="TextBox 11">
                <a:extLst>
                  <a:ext uri="{FF2B5EF4-FFF2-40B4-BE49-F238E27FC236}">
                    <a16:creationId xmlns:a16="http://schemas.microsoft.com/office/drawing/2014/main" id="{DB7194EC-A266-4965-90E0-4A01F31D6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838" y="2169066"/>
                <a:ext cx="5324926" cy="45730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11">
                <a:extLst>
                  <a:ext uri="{FF2B5EF4-FFF2-40B4-BE49-F238E27FC236}">
                    <a16:creationId xmlns:a16="http://schemas.microsoft.com/office/drawing/2014/main" id="{1CE9FC94-3E14-41C1-A3D4-E13E716ADDAB}"/>
                  </a:ext>
                </a:extLst>
              </p:cNvPr>
              <p:cNvSpPr txBox="1"/>
              <p:nvPr/>
            </p:nvSpPr>
            <p:spPr>
              <a:xfrm>
                <a:off x="657838" y="2889243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9" name="TextBox 11">
                <a:extLst>
                  <a:ext uri="{FF2B5EF4-FFF2-40B4-BE49-F238E27FC236}">
                    <a16:creationId xmlns:a16="http://schemas.microsoft.com/office/drawing/2014/main" id="{1CE9FC94-3E14-41C1-A3D4-E13E716ADD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38" y="2889243"/>
                <a:ext cx="5324926" cy="457305"/>
              </a:xfrm>
              <a:prstGeom prst="rect">
                <a:avLst/>
              </a:prstGeom>
              <a:blipFill>
                <a:blip r:embed="rId7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1">
                <a:extLst>
                  <a:ext uri="{FF2B5EF4-FFF2-40B4-BE49-F238E27FC236}">
                    <a16:creationId xmlns:a16="http://schemas.microsoft.com/office/drawing/2014/main" id="{6E60E463-B31F-4AC2-8844-2AB2CD577CF1}"/>
                  </a:ext>
                </a:extLst>
              </p:cNvPr>
              <p:cNvSpPr txBox="1"/>
              <p:nvPr/>
            </p:nvSpPr>
            <p:spPr>
              <a:xfrm>
                <a:off x="657838" y="3609421"/>
                <a:ext cx="6307011" cy="766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+ℓ</m:t>
                              </m:r>
                            </m:e>
                          </m:d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0" name="TextBox 11">
                <a:extLst>
                  <a:ext uri="{FF2B5EF4-FFF2-40B4-BE49-F238E27FC236}">
                    <a16:creationId xmlns:a16="http://schemas.microsoft.com/office/drawing/2014/main" id="{6E60E463-B31F-4AC2-8844-2AB2CD577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38" y="3609421"/>
                <a:ext cx="6307011" cy="7661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TextBox 11">
            <a:extLst>
              <a:ext uri="{FF2B5EF4-FFF2-40B4-BE49-F238E27FC236}">
                <a16:creationId xmlns:a16="http://schemas.microsoft.com/office/drawing/2014/main" id="{E44B0D83-890E-4BD0-87CE-1F941EDFFF98}"/>
              </a:ext>
            </a:extLst>
          </p:cNvPr>
          <p:cNvSpPr txBox="1"/>
          <p:nvPr/>
        </p:nvSpPr>
        <p:spPr>
          <a:xfrm>
            <a:off x="149838" y="255775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54" name="TextBox 11">
            <a:extLst>
              <a:ext uri="{FF2B5EF4-FFF2-40B4-BE49-F238E27FC236}">
                <a16:creationId xmlns:a16="http://schemas.microsoft.com/office/drawing/2014/main" id="{439235E6-8936-4942-937D-858192F34608}"/>
              </a:ext>
            </a:extLst>
          </p:cNvPr>
          <p:cNvSpPr txBox="1"/>
          <p:nvPr/>
        </p:nvSpPr>
        <p:spPr>
          <a:xfrm>
            <a:off x="149838" y="3277929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456ED216-4078-4FE9-809F-39B12884FF4F}"/>
              </a:ext>
            </a:extLst>
          </p:cNvPr>
          <p:cNvGrpSpPr/>
          <p:nvPr/>
        </p:nvGrpSpPr>
        <p:grpSpPr>
          <a:xfrm>
            <a:off x="9761571" y="3476341"/>
            <a:ext cx="2445204" cy="1489137"/>
            <a:chOff x="2838257" y="6988797"/>
            <a:chExt cx="2445204" cy="1489137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A6F00C8C-AFFB-470E-80E9-8DD6C47683DF}"/>
                </a:ext>
              </a:extLst>
            </p:cNvPr>
            <p:cNvSpPr txBox="1"/>
            <p:nvPr/>
          </p:nvSpPr>
          <p:spPr>
            <a:xfrm>
              <a:off x="3185464" y="8108602"/>
              <a:ext cx="16435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(arbitrary units)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651C104C-39FC-4843-B7A9-9FA32B640330}"/>
                </a:ext>
              </a:extLst>
            </p:cNvPr>
            <p:cNvGrpSpPr/>
            <p:nvPr/>
          </p:nvGrpSpPr>
          <p:grpSpPr>
            <a:xfrm>
              <a:off x="2838257" y="6988797"/>
              <a:ext cx="2445204" cy="1127530"/>
              <a:chOff x="6759573" y="-18665"/>
              <a:chExt cx="2445204" cy="1127530"/>
            </a:xfrm>
          </p:grpSpPr>
          <p:grpSp>
            <p:nvGrpSpPr>
              <p:cNvPr id="58" name="群組 57">
                <a:extLst>
                  <a:ext uri="{FF2B5EF4-FFF2-40B4-BE49-F238E27FC236}">
                    <a16:creationId xmlns:a16="http://schemas.microsoft.com/office/drawing/2014/main" id="{FE44EE76-EFC2-440D-BC1C-59540C65CFA5}"/>
                  </a:ext>
                </a:extLst>
              </p:cNvPr>
              <p:cNvGrpSpPr/>
              <p:nvPr/>
            </p:nvGrpSpPr>
            <p:grpSpPr>
              <a:xfrm>
                <a:off x="6759573" y="-18665"/>
                <a:ext cx="2445204" cy="1127530"/>
                <a:chOff x="6067325" y="-300721"/>
                <a:chExt cx="2400583" cy="115350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文字方塊 62">
                      <a:extLst>
                        <a:ext uri="{FF2B5EF4-FFF2-40B4-BE49-F238E27FC236}">
                          <a16:creationId xmlns:a16="http://schemas.microsoft.com/office/drawing/2014/main" id="{08EEA621-8034-4F96-837C-B3F734CA57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45248" y="-300721"/>
                      <a:ext cx="1822660" cy="111915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b="0" i="1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TW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=1,ℓ,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TW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=−1,ℓ,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zh-TW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4" name="文字方塊 43">
                      <a:extLst>
                        <a:ext uri="{FF2B5EF4-FFF2-40B4-BE49-F238E27FC236}">
                          <a16:creationId xmlns:a16="http://schemas.microsoft.com/office/drawing/2014/main" id="{0EECDBE0-B06E-400E-ACE6-C5E5DE9C00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45248" y="-300721"/>
                      <a:ext cx="1822660" cy="1119155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b="-55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4" name="矩形: 圓角 63">
                  <a:extLst>
                    <a:ext uri="{FF2B5EF4-FFF2-40B4-BE49-F238E27FC236}">
                      <a16:creationId xmlns:a16="http://schemas.microsoft.com/office/drawing/2014/main" id="{AD37A031-39AB-4468-A993-99B7D9977B72}"/>
                    </a:ext>
                  </a:extLst>
                </p:cNvPr>
                <p:cNvSpPr/>
                <p:nvPr/>
              </p:nvSpPr>
              <p:spPr>
                <a:xfrm>
                  <a:off x="6067325" y="-268451"/>
                  <a:ext cx="2258421" cy="1121234"/>
                </a:xfrm>
                <a:prstGeom prst="roundRect">
                  <a:avLst/>
                </a:prstGeom>
                <a:noFill/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pic>
            <p:nvPicPr>
              <p:cNvPr id="62" name="圖片 61">
                <a:extLst>
                  <a:ext uri="{FF2B5EF4-FFF2-40B4-BE49-F238E27FC236}">
                    <a16:creationId xmlns:a16="http://schemas.microsoft.com/office/drawing/2014/main" id="{0829DE1A-DF7D-4207-9406-31071109B2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6855681" y="153447"/>
                <a:ext cx="567470" cy="787419"/>
              </a:xfrm>
              <a:prstGeom prst="rect">
                <a:avLst/>
              </a:prstGeom>
            </p:spPr>
          </p:pic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E168DBD0-7BDD-4596-8500-77136B095772}"/>
                  </a:ext>
                </a:extLst>
              </p:cNvPr>
              <p:cNvSpPr/>
              <p:nvPr/>
            </p:nvSpPr>
            <p:spPr>
              <a:xfrm>
                <a:off x="3741898" y="3284969"/>
                <a:ext cx="3386144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SAM &amp; OAM interaction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</m:t>
                    </m:r>
                  </m:oMath>
                </a14:m>
                <a:r>
                  <a:rPr lang="en-US" altLang="zh-TW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E168DBD0-7BDD-4596-8500-77136B0957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898" y="3284969"/>
                <a:ext cx="3386144" cy="400110"/>
              </a:xfrm>
              <a:prstGeom prst="rect">
                <a:avLst/>
              </a:prstGeom>
              <a:blipFill>
                <a:blip r:embed="rId19"/>
                <a:stretch>
                  <a:fillRect l="-1982" t="-9091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BCC1600-CCB7-4F75-A56A-AD6FC4B7A13D}"/>
                  </a:ext>
                </a:extLst>
              </p:cNvPr>
              <p:cNvSpPr/>
              <p:nvPr/>
            </p:nvSpPr>
            <p:spPr>
              <a:xfrm>
                <a:off x="6765185" y="3267373"/>
                <a:ext cx="2954630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indent="-457200">
                  <a:buAutoNum type="arabicPeriod"/>
                </a:pPr>
                <a:r>
                  <a:rPr lang="en-US" altLang="zh-TW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Asymmetry with </a:t>
                </a:r>
                <a14:m>
                  <m:oMath xmlns:m="http://schemas.openxmlformats.org/officeDocument/2006/math">
                    <m:r>
                      <a:rPr lang="en-US" altLang="zh-TW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±</m:t>
                    </m:r>
                    <m:r>
                      <a:rPr lang="en-US" altLang="zh-TW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</m:oMath>
                </a14:m>
                <a:endParaRPr lang="en-US" altLang="zh-TW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AutoNum type="arabicPeriod"/>
                </a:pPr>
                <a:r>
                  <a:rPr lang="en-US" altLang="zh-TW" sz="2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Larger when focused</a:t>
                </a:r>
                <a:endParaRPr lang="zh-TW" altLang="en-US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BCC1600-CCB7-4F75-A56A-AD6FC4B7A1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5185" y="3267373"/>
                <a:ext cx="2954630" cy="707886"/>
              </a:xfrm>
              <a:prstGeom prst="rect">
                <a:avLst/>
              </a:prstGeom>
              <a:blipFill>
                <a:blip r:embed="rId20"/>
                <a:stretch>
                  <a:fillRect l="-1860" t="-5172" b="-146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圖片 24">
            <a:extLst>
              <a:ext uri="{FF2B5EF4-FFF2-40B4-BE49-F238E27FC236}">
                <a16:creationId xmlns:a16="http://schemas.microsoft.com/office/drawing/2014/main" id="{D583FCDA-DA07-4533-B57C-037E822ECE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5255" t="52452"/>
          <a:stretch/>
        </p:blipFill>
        <p:spPr>
          <a:xfrm>
            <a:off x="6117664" y="4683028"/>
            <a:ext cx="6016277" cy="18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96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7C005CCE-1406-4BB0-8CE9-F532FD21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Light-matter interaction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Encoding SOI information 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895A4A1-A24F-4005-893F-E731AE9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97137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5A6C661-41C4-4FC1-B20D-D90885538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E6C2075-3F5C-497E-9964-9867555AC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6808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A01704AA-0464-4899-80C2-760928306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wave packet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9C0FAF-7BA8-41F3-B0A5-5F38A83D9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8295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3448457-02F0-4B46-89E3-AB70872B4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6F4F919-BABA-4A16-B156-B411B9B35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02376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267826F5-3628-4254-900A-BB61FABC6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dirty="0"/>
              <a:t>123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6789338-4F66-4CE7-AFD6-56B6F550D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6792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2999</TotalTime>
  <Words>980</Words>
  <Application>Microsoft Office PowerPoint</Application>
  <PresentationFormat>寬螢幕</PresentationFormat>
  <Paragraphs>182</Paragraphs>
  <Slides>17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4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86</cp:revision>
  <dcterms:created xsi:type="dcterms:W3CDTF">2026-05-29T06:10:36Z</dcterms:created>
  <dcterms:modified xsi:type="dcterms:W3CDTF">2026-07-01T04:48:22Z</dcterms:modified>
</cp:coreProperties>
</file>
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9"/>
  </p:notesMasterIdLst>
  <p:handoutMasterIdLst>
    <p:handoutMasterId r:id="rId70"/>
  </p:handoutMasterIdLst>
  <p:sldIdLst>
    <p:sldId id="257" r:id="rId2"/>
    <p:sldId id="259" r:id="rId3"/>
    <p:sldId id="260" r:id="rId4"/>
    <p:sldId id="329" r:id="rId5"/>
    <p:sldId id="290" r:id="rId6"/>
    <p:sldId id="291" r:id="rId7"/>
    <p:sldId id="293" r:id="rId8"/>
    <p:sldId id="294" r:id="rId9"/>
    <p:sldId id="295" r:id="rId10"/>
    <p:sldId id="328" r:id="rId11"/>
    <p:sldId id="265" r:id="rId12"/>
    <p:sldId id="331" r:id="rId13"/>
    <p:sldId id="330" r:id="rId14"/>
    <p:sldId id="332" r:id="rId15"/>
    <p:sldId id="323" r:id="rId16"/>
    <p:sldId id="324" r:id="rId17"/>
    <p:sldId id="325" r:id="rId18"/>
    <p:sldId id="326" r:id="rId19"/>
    <p:sldId id="322" r:id="rId20"/>
    <p:sldId id="327" r:id="rId21"/>
    <p:sldId id="339" r:id="rId22"/>
    <p:sldId id="340" r:id="rId23"/>
    <p:sldId id="261" r:id="rId24"/>
    <p:sldId id="266" r:id="rId25"/>
    <p:sldId id="276" r:id="rId26"/>
    <p:sldId id="269" r:id="rId27"/>
    <p:sldId id="279" r:id="rId28"/>
    <p:sldId id="271" r:id="rId29"/>
    <p:sldId id="333" r:id="rId30"/>
    <p:sldId id="274" r:id="rId31"/>
    <p:sldId id="277" r:id="rId32"/>
    <p:sldId id="334" r:id="rId33"/>
    <p:sldId id="338" r:id="rId34"/>
    <p:sldId id="280" r:id="rId35"/>
    <p:sldId id="284" r:id="rId36"/>
    <p:sldId id="335" r:id="rId37"/>
    <p:sldId id="288" r:id="rId38"/>
    <p:sldId id="286" r:id="rId39"/>
    <p:sldId id="298" r:id="rId40"/>
    <p:sldId id="336" r:id="rId41"/>
    <p:sldId id="299" r:id="rId42"/>
    <p:sldId id="301" r:id="rId43"/>
    <p:sldId id="296" r:id="rId44"/>
    <p:sldId id="306" r:id="rId45"/>
    <p:sldId id="302" r:id="rId46"/>
    <p:sldId id="303" r:id="rId47"/>
    <p:sldId id="304" r:id="rId48"/>
    <p:sldId id="337" r:id="rId49"/>
    <p:sldId id="305" r:id="rId50"/>
    <p:sldId id="31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5" r:id="rId59"/>
    <p:sldId id="314" r:id="rId60"/>
    <p:sldId id="317" r:id="rId61"/>
    <p:sldId id="318" r:id="rId62"/>
    <p:sldId id="319" r:id="rId63"/>
    <p:sldId id="262" r:id="rId64"/>
    <p:sldId id="267" r:id="rId65"/>
    <p:sldId id="263" r:id="rId66"/>
    <p:sldId id="268" r:id="rId67"/>
    <p:sldId id="264" r:id="rId6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ycugpu" initials="n" lastIdx="0" clrIdx="0">
    <p:extLst>
      <p:ext uri="{19B8F6BF-5375-455C-9EA6-DF929625EA0E}">
        <p15:presenceInfo xmlns:p15="http://schemas.microsoft.com/office/powerpoint/2012/main" userId="067ceecb8ce0afd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2B2D8"/>
    <a:srgbClr val="1A68AE"/>
    <a:srgbClr val="ECECEC"/>
    <a:srgbClr val="14783E"/>
    <a:srgbClr val="990043"/>
    <a:srgbClr val="2474B7"/>
    <a:srgbClr val="CE89C1"/>
    <a:srgbClr val="09703A"/>
    <a:srgbClr val="0A703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58" autoAdjust="0"/>
    <p:restoredTop sz="94660"/>
  </p:normalViewPr>
  <p:slideViewPr>
    <p:cSldViewPr snapToGrid="0">
      <p:cViewPr>
        <p:scale>
          <a:sx n="50" d="100"/>
          <a:sy n="50" d="100"/>
        </p:scale>
        <p:origin x="834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handoutMaster" Target="handoutMasters/handout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D58890FC-0E3C-4C7F-A446-14BA862BBA7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CCFFCC2-1A90-43CE-99E6-F48860C54E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94A7B6-1C40-4E50-A661-C1BB58DFEE8B}" type="datetimeFigureOut">
              <a:rPr lang="zh-TW" altLang="en-US" smtClean="0"/>
              <a:t>2026/8/5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FD85880-5A8C-4D97-864E-344E276004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F195ECA-E42C-42A9-929A-C5CC94E880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48F779-79CD-4108-A2AD-022A92E9A3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2022619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FA95AB-11A6-4F50-981D-2F517B9BD07B}" type="datetimeFigureOut">
              <a:rPr lang="zh-TW" altLang="en-US" smtClean="0"/>
              <a:t>2026/8/5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853A02-615E-438C-A6CE-7469719750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2049256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6B691C-CD4A-43A2-B520-CAE49D2F2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24B232C-0DBE-47DD-AFDD-9BD087A0F2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164BEA-135B-469A-9E72-43F538581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7EAE-E217-4C13-B1D4-C1D2362BCCD6}" type="datetime1">
              <a:rPr lang="zh-TW" altLang="en-US" smtClean="0"/>
              <a:t>2026/8/5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9737A42-901E-402E-9933-861BED20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6D43637-3443-483A-A0E1-0C760F4EE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0174" y="6561"/>
            <a:ext cx="2743200" cy="365125"/>
          </a:xfrm>
        </p:spPr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1130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AD6AD3-D64F-4AD1-B068-749E1E87A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7435B4B-E4C6-473E-AA93-3A4E4089E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327BFFB-5C39-42A9-84B7-B72D595BF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2E92-078D-445D-A315-241AB512DF4E}" type="datetime1">
              <a:rPr lang="zh-TW" altLang="en-US" smtClean="0"/>
              <a:t>2026/8/5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E80540A-C5F3-41CD-945D-0012EFC10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DA2F5F-79C4-47F0-9828-1B247829A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6815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BF93B3-9135-4423-B2A5-8F32A90FA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4B873E3-FAEF-4C2D-B950-2201DF7C4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3B26B3-8E3A-4103-B01A-27A4CA01E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F5C96-160B-4F0F-BE3F-3AAE2032A14A}" type="datetime1">
              <a:rPr lang="zh-TW" altLang="en-US" smtClean="0"/>
              <a:t>2026/8/5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627D54-7B66-473E-802C-B753DE12A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EC52D2-8F6B-4B98-9A89-42B98717F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4356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E3660B-86EB-4DA1-91A6-8DF03215D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A4C3EA-B57A-489B-A453-F808DD2F7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304A1C1-5C8F-40F7-9AEC-9A6F78DBAB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5B8368F-BC9A-4C47-844C-0C0F26052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DE22B-68CD-40D7-BF74-022E0380697F}" type="datetime1">
              <a:rPr lang="zh-TW" altLang="en-US" smtClean="0"/>
              <a:t>2026/8/5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031D34A-65B4-40EC-A193-7D310D9F0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3DCCEAA-8C5A-44AD-B5AD-B89BBCA5C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4940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1D70AB-5AEE-4987-B024-23B19E816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5911982-8F94-4665-92DB-BFB853679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B8426EA-A887-4D92-BF80-BBE88AB88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8078B31-7706-40E0-AF4C-5BC6F29D88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5F79F22-D921-40E8-A67E-2D5CCB406D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B3F61B2-E1EA-4161-A3F7-869A6E625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7BC32-EEEC-42AD-9FB7-1F67CBD9006C}" type="datetime1">
              <a:rPr lang="zh-TW" altLang="en-US" smtClean="0"/>
              <a:t>2026/8/5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5A15D31-E11F-4A77-9C5C-1BD127693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8BB29CF-0FEA-4BF1-96CF-1734DCF17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1440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F89D28-9A5E-4AD8-970C-FF8D860E6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BA51452-BE12-490A-AFB2-0C69ACAEB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34FD-B989-4DC7-B0C3-3D9481DCB247}" type="datetime1">
              <a:rPr lang="zh-TW" altLang="en-US" smtClean="0"/>
              <a:t>2026/8/5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47599B2-4579-44EA-A2EB-970FEC3CD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70D46C2-F5E5-48AF-8E51-35D0C962D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1525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E29EA59-25D4-490F-8850-031D90DFD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EB7E6-3D99-40BE-9488-75C5C51CD267}" type="datetime1">
              <a:rPr lang="zh-TW" altLang="en-US" smtClean="0"/>
              <a:t>2026/8/5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0F2C1BD-2ED5-4152-8BE0-FA6ACF44E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C791D6-5330-4A64-9C4B-B83034A27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8094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1B207F-FACC-47F5-9B64-79FD003C4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7E8F25-487C-4E15-8784-4F2CBE7FE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1C1711B-CB6F-4A47-BC26-6D68D8E121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48414E3-3B14-4639-A0A0-5C094E5EA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679B-3B15-42DA-A497-282AB7671468}" type="datetime1">
              <a:rPr lang="zh-TW" altLang="en-US" smtClean="0"/>
              <a:t>2026/8/5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0E8A612-B553-421E-85F9-285C18DE7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1B8DB27-133D-42A8-AE3F-5F4EB775E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9074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070C8E-1C12-441E-8FEA-5E759B2B6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E13A0B1-9018-43B1-A0A5-9CA75ACA99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EDD48C5-BA61-47FF-B4B0-1819525B5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83E122-E856-4E3E-9F77-1FB25FFA3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00812-8F6A-47B7-8300-ABC68422A82D}" type="datetime1">
              <a:rPr lang="zh-TW" altLang="en-US" smtClean="0"/>
              <a:t>2026/8/5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9CB8CB8-E381-4DB4-A08E-97D14C5B2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A1826EF-0C6C-4E70-B548-A6E61D8CF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4126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D49CA0-B2C1-4E4E-808C-F00586C91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F36D40E-FB2B-44DD-BAE0-04F965B14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E8BB79-C5CB-4265-9B44-179DBE11E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6042C-E665-4C51-80B3-C45E4AEFB00B}" type="datetime1">
              <a:rPr lang="zh-TW" altLang="en-US" smtClean="0"/>
              <a:t>2026/8/5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7900BEF-E29F-4120-985F-E4D4F5FFC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212B234-2BB5-41C9-BE01-0BD41460C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800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9F654B1-7D62-4C86-91A5-BBD33D8B65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E66CD05-1A94-4AD5-B835-FA3145CA32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9A61AF6-7FB4-41AB-9FBB-C674BC451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6AB9C-E9F3-448F-BAEF-2980284577BF}" type="datetime1">
              <a:rPr lang="zh-TW" altLang="en-US" smtClean="0"/>
              <a:t>2026/8/5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5CAD09C-4F2A-4FE9-BCA8-2DDAEC5F6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CA454CE-36C5-4608-82AF-1042403E2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8813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A90D6F6-BD99-45D8-B451-8F07A775D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764D2CF-3DF5-4498-8889-8484908F3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2A2A283-A1FA-4A52-962C-BC2FDC4887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5E079-4510-46F8-9023-A4DE6DD9B4B9}" type="datetime1">
              <a:rPr lang="zh-TW" altLang="en-US" smtClean="0"/>
              <a:t>2026/8/5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5E60776-BDAB-4A55-B603-4CE711BAC2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73EF202-F5F3-4F19-A55C-9132512DA8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0769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0.png"/><Relationship Id="rId7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10" Type="http://schemas.openxmlformats.org/officeDocument/2006/relationships/image" Target="../media/image13.png"/><Relationship Id="rId4" Type="http://schemas.openxmlformats.org/officeDocument/2006/relationships/image" Target="../media/image11.png"/><Relationship Id="rId9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6.png"/><Relationship Id="rId12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1.png"/><Relationship Id="rId5" Type="http://schemas.openxmlformats.org/officeDocument/2006/relationships/image" Target="../media/image14.png"/><Relationship Id="rId10" Type="http://schemas.openxmlformats.org/officeDocument/2006/relationships/image" Target="../media/image20.png"/><Relationship Id="rId4" Type="http://schemas.openxmlformats.org/officeDocument/2006/relationships/image" Target="../media/image11.png"/><Relationship Id="rId9" Type="http://schemas.openxmlformats.org/officeDocument/2006/relationships/image" Target="../media/image19.png"/><Relationship Id="rId1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2.png"/><Relationship Id="rId3" Type="http://schemas.openxmlformats.org/officeDocument/2006/relationships/image" Target="../media/image9.png"/><Relationship Id="rId7" Type="http://schemas.openxmlformats.org/officeDocument/2006/relationships/image" Target="../media/image16.png"/><Relationship Id="rId12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1.png"/><Relationship Id="rId5" Type="http://schemas.openxmlformats.org/officeDocument/2006/relationships/image" Target="../media/image14.png"/><Relationship Id="rId15" Type="http://schemas.openxmlformats.org/officeDocument/2006/relationships/image" Target="../media/image13.png"/><Relationship Id="rId10" Type="http://schemas.openxmlformats.org/officeDocument/2006/relationships/image" Target="../media/image20.png"/><Relationship Id="rId4" Type="http://schemas.openxmlformats.org/officeDocument/2006/relationships/image" Target="../media/image11.png"/><Relationship Id="rId9" Type="http://schemas.openxmlformats.org/officeDocument/2006/relationships/image" Target="../media/image19.png"/><Relationship Id="rId1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2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23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6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9.png"/><Relationship Id="rId7" Type="http://schemas.openxmlformats.org/officeDocument/2006/relationships/image" Target="../media/image1811.png"/><Relationship Id="rId12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2.png"/><Relationship Id="rId5" Type="http://schemas.openxmlformats.org/officeDocument/2006/relationships/image" Target="../media/image27.png"/><Relationship Id="rId10" Type="http://schemas.openxmlformats.org/officeDocument/2006/relationships/image" Target="../media/image2110.png"/><Relationship Id="rId4" Type="http://schemas.openxmlformats.org/officeDocument/2006/relationships/image" Target="../media/image10.png"/><Relationship Id="rId9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1.png"/><Relationship Id="rId7" Type="http://schemas.openxmlformats.org/officeDocument/2006/relationships/image" Target="../media/image3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openxmlformats.org/officeDocument/2006/relationships/image" Target="../media/image10.png"/><Relationship Id="rId7" Type="http://schemas.openxmlformats.org/officeDocument/2006/relationships/image" Target="../media/image2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12.png"/><Relationship Id="rId5" Type="http://schemas.openxmlformats.org/officeDocument/2006/relationships/image" Target="../media/image33.png"/><Relationship Id="rId10" Type="http://schemas.openxmlformats.org/officeDocument/2006/relationships/image" Target="../media/image270.png"/><Relationship Id="rId4" Type="http://schemas.openxmlformats.org/officeDocument/2006/relationships/image" Target="../media/image32.png"/><Relationship Id="rId9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36.png"/><Relationship Id="rId3" Type="http://schemas.openxmlformats.org/officeDocument/2006/relationships/image" Target="../media/image2.png"/><Relationship Id="rId7" Type="http://schemas.openxmlformats.org/officeDocument/2006/relationships/image" Target="../media/image60.png"/><Relationship Id="rId12" Type="http://schemas.openxmlformats.org/officeDocument/2006/relationships/image" Target="../media/image35.png"/><Relationship Id="rId2" Type="http://schemas.openxmlformats.org/officeDocument/2006/relationships/image" Target="../media/image1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34.png"/><Relationship Id="rId5" Type="http://schemas.openxmlformats.org/officeDocument/2006/relationships/image" Target="../media/image45.png"/><Relationship Id="rId15" Type="http://schemas.openxmlformats.org/officeDocument/2006/relationships/image" Target="../media/image340.png"/><Relationship Id="rId10" Type="http://schemas.openxmlformats.org/officeDocument/2006/relationships/image" Target="../media/image290.png"/><Relationship Id="rId4" Type="http://schemas.openxmlformats.org/officeDocument/2006/relationships/image" Target="../media/image310.png"/><Relationship Id="rId9" Type="http://schemas.openxmlformats.org/officeDocument/2006/relationships/image" Target="../media/image280.png"/><Relationship Id="rId1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7" Type="http://schemas.openxmlformats.org/officeDocument/2006/relationships/image" Target="../media/image39.png"/><Relationship Id="rId2" Type="http://schemas.openxmlformats.org/officeDocument/2006/relationships/image" Target="../media/image3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1810.png"/><Relationship Id="rId4" Type="http://schemas.openxmlformats.org/officeDocument/2006/relationships/image" Target="../media/image171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7" Type="http://schemas.openxmlformats.org/officeDocument/2006/relationships/image" Target="../media/image42.png"/><Relationship Id="rId2" Type="http://schemas.openxmlformats.org/officeDocument/2006/relationships/image" Target="../media/image3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1810.png"/><Relationship Id="rId4" Type="http://schemas.openxmlformats.org/officeDocument/2006/relationships/image" Target="../media/image171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0.png"/><Relationship Id="rId7" Type="http://schemas.openxmlformats.org/officeDocument/2006/relationships/image" Target="../media/image46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10" Type="http://schemas.openxmlformats.org/officeDocument/2006/relationships/image" Target="../media/image49.sv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50.png"/><Relationship Id="rId14" Type="http://schemas.openxmlformats.org/officeDocument/2006/relationships/image" Target="../media/image380.png"/></Relationships>
</file>

<file path=ppt/slides/_rels/slide29.xml.rels><?xml version="1.0" encoding="UTF-8" standalone="yes"?>
<Relationships xmlns="http://schemas.openxmlformats.org/package/2006/relationships"><Relationship Id="rId18" Type="http://schemas.openxmlformats.org/officeDocument/2006/relationships/image" Target="../media/image53.png"/><Relationship Id="rId8" Type="http://schemas.openxmlformats.org/officeDocument/2006/relationships/image" Target="../media/image320.png"/><Relationship Id="rId26" Type="http://schemas.openxmlformats.org/officeDocument/2006/relationships/image" Target="../media/image61.png"/><Relationship Id="rId21" Type="http://schemas.openxmlformats.org/officeDocument/2006/relationships/image" Target="../media/image56.svg"/><Relationship Id="rId17" Type="http://schemas.openxmlformats.org/officeDocument/2006/relationships/image" Target="../media/image52.png"/><Relationship Id="rId7" Type="http://schemas.openxmlformats.org/officeDocument/2006/relationships/image" Target="../media/image311.png"/><Relationship Id="rId25" Type="http://schemas.openxmlformats.org/officeDocument/2006/relationships/image" Target="../media/image60.svg"/><Relationship Id="rId16" Type="http://schemas.openxmlformats.org/officeDocument/2006/relationships/image" Target="../media/image51.png"/><Relationship Id="rId20" Type="http://schemas.openxmlformats.org/officeDocument/2006/relationships/image" Target="../media/image55.png"/><Relationship Id="rId29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59.png"/><Relationship Id="rId11" Type="http://schemas.openxmlformats.org/officeDocument/2006/relationships/image" Target="../media/image350.png"/><Relationship Id="rId15" Type="http://schemas.openxmlformats.org/officeDocument/2006/relationships/image" Target="../media/image50.png"/><Relationship Id="rId23" Type="http://schemas.openxmlformats.org/officeDocument/2006/relationships/image" Target="../media/image58.svg"/><Relationship Id="rId28" Type="http://schemas.openxmlformats.org/officeDocument/2006/relationships/image" Target="../media/image63.png"/><Relationship Id="rId19" Type="http://schemas.openxmlformats.org/officeDocument/2006/relationships/image" Target="../media/image54.png"/><Relationship Id="rId14" Type="http://schemas.openxmlformats.org/officeDocument/2006/relationships/image" Target="../media/image380.png"/><Relationship Id="rId22" Type="http://schemas.openxmlformats.org/officeDocument/2006/relationships/image" Target="../media/image57.png"/><Relationship Id="rId27" Type="http://schemas.openxmlformats.org/officeDocument/2006/relationships/image" Target="../media/image62.svg"/><Relationship Id="rId30" Type="http://schemas.openxmlformats.org/officeDocument/2006/relationships/image" Target="../media/image65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png"/><Relationship Id="rId13" Type="http://schemas.openxmlformats.org/officeDocument/2006/relationships/image" Target="../media/image61.png"/><Relationship Id="rId18" Type="http://schemas.openxmlformats.org/officeDocument/2006/relationships/image" Target="../media/image67.png"/><Relationship Id="rId7" Type="http://schemas.openxmlformats.org/officeDocument/2006/relationships/image" Target="../media/image311.png"/><Relationship Id="rId12" Type="http://schemas.openxmlformats.org/officeDocument/2006/relationships/image" Target="../media/image350.png"/><Relationship Id="rId17" Type="http://schemas.openxmlformats.org/officeDocument/2006/relationships/image" Target="../media/image51.png"/><Relationship Id="rId2" Type="http://schemas.openxmlformats.org/officeDocument/2006/relationships/image" Target="../media/image66.png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60.svg"/><Relationship Id="rId15" Type="http://schemas.openxmlformats.org/officeDocument/2006/relationships/image" Target="../media/image63.png"/><Relationship Id="rId10" Type="http://schemas.openxmlformats.org/officeDocument/2006/relationships/image" Target="../media/image59.png"/><Relationship Id="rId9" Type="http://schemas.openxmlformats.org/officeDocument/2006/relationships/image" Target="../media/image380.png"/><Relationship Id="rId14" Type="http://schemas.openxmlformats.org/officeDocument/2006/relationships/image" Target="../media/image62.sv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0.png"/><Relationship Id="rId7" Type="http://schemas.openxmlformats.org/officeDocument/2006/relationships/image" Target="../media/image69.png"/><Relationship Id="rId2" Type="http://schemas.openxmlformats.org/officeDocument/2006/relationships/image" Target="../media/image6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68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7" Type="http://schemas.openxmlformats.org/officeDocument/2006/relationships/image" Target="../media/image69.png"/><Relationship Id="rId2" Type="http://schemas.openxmlformats.org/officeDocument/2006/relationships/image" Target="../media/image6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/Relationships>
</file>

<file path=ppt/slides/_rels/slide34.xml.rels><?xml version="1.0" encoding="UTF-8" standalone="yes"?>
<Relationships xmlns="http://schemas.openxmlformats.org/package/2006/relationships"><Relationship Id="rId18" Type="http://schemas.openxmlformats.org/officeDocument/2006/relationships/image" Target="../media/image71.png"/><Relationship Id="rId3" Type="http://schemas.openxmlformats.org/officeDocument/2006/relationships/image" Target="../media/image51.png"/><Relationship Id="rId21" Type="http://schemas.openxmlformats.org/officeDocument/2006/relationships/image" Target="../media/image73.png"/><Relationship Id="rId17" Type="http://schemas.openxmlformats.org/officeDocument/2006/relationships/image" Target="../media/image160.png"/><Relationship Id="rId25" Type="http://schemas.openxmlformats.org/officeDocument/2006/relationships/image" Target="../media/image69.png"/><Relationship Id="rId2" Type="http://schemas.openxmlformats.org/officeDocument/2006/relationships/image" Target="../media/image50.png"/><Relationship Id="rId20" Type="http://schemas.openxmlformats.org/officeDocument/2006/relationships/image" Target="../media/image720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75.png"/><Relationship Id="rId23" Type="http://schemas.openxmlformats.org/officeDocument/2006/relationships/image" Target="../media/image660.png"/><Relationship Id="rId19" Type="http://schemas.openxmlformats.org/officeDocument/2006/relationships/image" Target="../media/image72.png"/><Relationship Id="rId22" Type="http://schemas.openxmlformats.org/officeDocument/2006/relationships/image" Target="../media/image74.png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20.png"/><Relationship Id="rId3" Type="http://schemas.openxmlformats.org/officeDocument/2006/relationships/image" Target="../media/image65.svg"/><Relationship Id="rId12" Type="http://schemas.openxmlformats.org/officeDocument/2006/relationships/image" Target="../media/image84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83.png"/><Relationship Id="rId15" Type="http://schemas.openxmlformats.org/officeDocument/2006/relationships/image" Target="../media/image60.svg"/><Relationship Id="rId10" Type="http://schemas.openxmlformats.org/officeDocument/2006/relationships/image" Target="../media/image82.png"/><Relationship Id="rId14" Type="http://schemas.openxmlformats.org/officeDocument/2006/relationships/image" Target="../media/image59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320.png"/><Relationship Id="rId3" Type="http://schemas.openxmlformats.org/officeDocument/2006/relationships/image" Target="../media/image77.png"/><Relationship Id="rId7" Type="http://schemas.openxmlformats.org/officeDocument/2006/relationships/image" Target="../media/image65.svg"/><Relationship Id="rId12" Type="http://schemas.openxmlformats.org/officeDocument/2006/relationships/image" Target="../media/image84.png"/><Relationship Id="rId2" Type="http://schemas.openxmlformats.org/officeDocument/2006/relationships/image" Target="../media/image76.png"/><Relationship Id="rId16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83.png"/><Relationship Id="rId5" Type="http://schemas.openxmlformats.org/officeDocument/2006/relationships/image" Target="../media/image49.svg"/><Relationship Id="rId15" Type="http://schemas.openxmlformats.org/officeDocument/2006/relationships/image" Target="../media/image60.svg"/><Relationship Id="rId10" Type="http://schemas.openxmlformats.org/officeDocument/2006/relationships/image" Target="../media/image82.png"/><Relationship Id="rId4" Type="http://schemas.openxmlformats.org/officeDocument/2006/relationships/image" Target="../media/image48.png"/><Relationship Id="rId9" Type="http://schemas.openxmlformats.org/officeDocument/2006/relationships/image" Target="../media/image81.png"/><Relationship Id="rId14" Type="http://schemas.openxmlformats.org/officeDocument/2006/relationships/image" Target="../media/image59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65.svg"/><Relationship Id="rId7" Type="http://schemas.openxmlformats.org/officeDocument/2006/relationships/image" Target="../media/image49.sv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86.png"/><Relationship Id="rId5" Type="http://schemas.openxmlformats.org/officeDocument/2006/relationships/image" Target="../media/image77.png"/><Relationship Id="rId10" Type="http://schemas.openxmlformats.org/officeDocument/2006/relationships/image" Target="../media/image78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65.svg"/><Relationship Id="rId7" Type="http://schemas.openxmlformats.org/officeDocument/2006/relationships/image" Target="../media/image77.png"/><Relationship Id="rId12" Type="http://schemas.openxmlformats.org/officeDocument/2006/relationships/image" Target="../media/image80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86.png"/><Relationship Id="rId4" Type="http://schemas.openxmlformats.org/officeDocument/2006/relationships/image" Target="../media/image78.png"/><Relationship Id="rId9" Type="http://schemas.openxmlformats.org/officeDocument/2006/relationships/image" Target="../media/image49.sv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6.png"/><Relationship Id="rId18" Type="http://schemas.openxmlformats.org/officeDocument/2006/relationships/image" Target="../media/image30.png"/><Relationship Id="rId3" Type="http://schemas.openxmlformats.org/officeDocument/2006/relationships/image" Target="../media/image65.svg"/><Relationship Id="rId7" Type="http://schemas.openxmlformats.org/officeDocument/2006/relationships/image" Target="../media/image92.png"/><Relationship Id="rId12" Type="http://schemas.openxmlformats.org/officeDocument/2006/relationships/image" Target="../media/image49.svg"/><Relationship Id="rId17" Type="http://schemas.openxmlformats.org/officeDocument/2006/relationships/image" Target="../media/image100.png"/><Relationship Id="rId2" Type="http://schemas.openxmlformats.org/officeDocument/2006/relationships/image" Target="../media/image64.png"/><Relationship Id="rId16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11" Type="http://schemas.openxmlformats.org/officeDocument/2006/relationships/image" Target="../media/image48.png"/><Relationship Id="rId5" Type="http://schemas.openxmlformats.org/officeDocument/2006/relationships/image" Target="../media/image90.png"/><Relationship Id="rId15" Type="http://schemas.openxmlformats.org/officeDocument/2006/relationships/image" Target="../media/image98.png"/><Relationship Id="rId10" Type="http://schemas.openxmlformats.org/officeDocument/2006/relationships/image" Target="../media/image95.png"/><Relationship Id="rId19" Type="http://schemas.openxmlformats.org/officeDocument/2006/relationships/image" Target="../media/image101.png"/><Relationship Id="rId4" Type="http://schemas.openxmlformats.org/officeDocument/2006/relationships/image" Target="../media/image87.png"/><Relationship Id="rId9" Type="http://schemas.openxmlformats.org/officeDocument/2006/relationships/image" Target="../media/image94.png"/><Relationship Id="rId14" Type="http://schemas.openxmlformats.org/officeDocument/2006/relationships/image" Target="../media/image97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65.svg"/><Relationship Id="rId7" Type="http://schemas.openxmlformats.org/officeDocument/2006/relationships/image" Target="../media/image48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30.png"/><Relationship Id="rId4" Type="http://schemas.openxmlformats.org/officeDocument/2006/relationships/image" Target="../media/image87.png"/><Relationship Id="rId9" Type="http://schemas.openxmlformats.org/officeDocument/2006/relationships/image" Target="../media/image102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13" Type="http://schemas.openxmlformats.org/officeDocument/2006/relationships/image" Target="../media/image106.png"/><Relationship Id="rId3" Type="http://schemas.openxmlformats.org/officeDocument/2006/relationships/image" Target="../media/image65.svg"/><Relationship Id="rId7" Type="http://schemas.openxmlformats.org/officeDocument/2006/relationships/image" Target="../media/image48.png"/><Relationship Id="rId12" Type="http://schemas.openxmlformats.org/officeDocument/2006/relationships/image" Target="../media/image10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11" Type="http://schemas.openxmlformats.org/officeDocument/2006/relationships/image" Target="../media/image104.png"/><Relationship Id="rId5" Type="http://schemas.openxmlformats.org/officeDocument/2006/relationships/image" Target="../media/image30.png"/><Relationship Id="rId10" Type="http://schemas.openxmlformats.org/officeDocument/2006/relationships/image" Target="../media/image103.png"/><Relationship Id="rId4" Type="http://schemas.openxmlformats.org/officeDocument/2006/relationships/image" Target="../media/image87.png"/><Relationship Id="rId9" Type="http://schemas.openxmlformats.org/officeDocument/2006/relationships/image" Target="../media/image102.png"/><Relationship Id="rId14" Type="http://schemas.openxmlformats.org/officeDocument/2006/relationships/image" Target="../media/image10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sv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9.svg"/><Relationship Id="rId10" Type="http://schemas.openxmlformats.org/officeDocument/2006/relationships/image" Target="../media/image48.png"/><Relationship Id="rId9" Type="http://schemas.openxmlformats.org/officeDocument/2006/relationships/image" Target="../media/image112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65.svg"/><Relationship Id="rId7" Type="http://schemas.openxmlformats.org/officeDocument/2006/relationships/image" Target="../media/image110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10" Type="http://schemas.openxmlformats.org/officeDocument/2006/relationships/image" Target="../media/image113.png"/><Relationship Id="rId4" Type="http://schemas.openxmlformats.org/officeDocument/2006/relationships/image" Target="../media/image109.png"/><Relationship Id="rId9" Type="http://schemas.openxmlformats.org/officeDocument/2006/relationships/image" Target="../media/image112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65.sv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svg"/><Relationship Id="rId11" Type="http://schemas.openxmlformats.org/officeDocument/2006/relationships/image" Target="../media/image114.png"/><Relationship Id="rId5" Type="http://schemas.openxmlformats.org/officeDocument/2006/relationships/image" Target="../media/image48.png"/><Relationship Id="rId10" Type="http://schemas.openxmlformats.org/officeDocument/2006/relationships/image" Target="../media/image113.png"/><Relationship Id="rId4" Type="http://schemas.openxmlformats.org/officeDocument/2006/relationships/image" Target="../media/image109.png"/><Relationship Id="rId9" Type="http://schemas.openxmlformats.org/officeDocument/2006/relationships/image" Target="../media/image112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65.svg"/><Relationship Id="rId7" Type="http://schemas.openxmlformats.org/officeDocument/2006/relationships/image" Target="../media/image49.sv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Relationship Id="rId9" Type="http://schemas.openxmlformats.org/officeDocument/2006/relationships/image" Target="../media/image119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29.png"/><Relationship Id="rId18" Type="http://schemas.openxmlformats.org/officeDocument/2006/relationships/image" Target="../media/image132.png"/><Relationship Id="rId26" Type="http://schemas.openxmlformats.org/officeDocument/2006/relationships/image" Target="../media/image134.png"/><Relationship Id="rId3" Type="http://schemas.openxmlformats.org/officeDocument/2006/relationships/image" Target="../media/image65.svg"/><Relationship Id="rId21" Type="http://schemas.openxmlformats.org/officeDocument/2006/relationships/image" Target="../media/image124.png"/><Relationship Id="rId7" Type="http://schemas.openxmlformats.org/officeDocument/2006/relationships/image" Target="../media/image89.png"/><Relationship Id="rId17" Type="http://schemas.openxmlformats.org/officeDocument/2006/relationships/image" Target="../media/image49.svg"/><Relationship Id="rId25" Type="http://schemas.openxmlformats.org/officeDocument/2006/relationships/image" Target="../media/image130.png"/><Relationship Id="rId2" Type="http://schemas.openxmlformats.org/officeDocument/2006/relationships/image" Target="../media/image64.png"/><Relationship Id="rId16" Type="http://schemas.openxmlformats.org/officeDocument/2006/relationships/image" Target="../media/image48.png"/><Relationship Id="rId20" Type="http://schemas.openxmlformats.org/officeDocument/2006/relationships/image" Target="../media/image1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image" Target="../media/image127.png"/><Relationship Id="rId24" Type="http://schemas.openxmlformats.org/officeDocument/2006/relationships/image" Target="../media/image134.png"/><Relationship Id="rId5" Type="http://schemas.openxmlformats.org/officeDocument/2006/relationships/image" Target="../media/image121.png"/><Relationship Id="rId15" Type="http://schemas.openxmlformats.org/officeDocument/2006/relationships/image" Target="../media/image131.png"/><Relationship Id="rId23" Type="http://schemas.openxmlformats.org/officeDocument/2006/relationships/image" Target="../media/image126.png"/><Relationship Id="rId19" Type="http://schemas.openxmlformats.org/officeDocument/2006/relationships/image" Target="../media/image133.png"/><Relationship Id="rId4" Type="http://schemas.openxmlformats.org/officeDocument/2006/relationships/image" Target="../media/image120.png"/><Relationship Id="rId14" Type="http://schemas.openxmlformats.org/officeDocument/2006/relationships/image" Target="../media/image122.png"/><Relationship Id="rId22" Type="http://schemas.openxmlformats.org/officeDocument/2006/relationships/image" Target="../media/image125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39.png"/><Relationship Id="rId18" Type="http://schemas.openxmlformats.org/officeDocument/2006/relationships/image" Target="../media/image127.png"/><Relationship Id="rId3" Type="http://schemas.openxmlformats.org/officeDocument/2006/relationships/image" Target="../media/image65.svg"/><Relationship Id="rId21" Type="http://schemas.openxmlformats.org/officeDocument/2006/relationships/image" Target="../media/image140.png"/><Relationship Id="rId7" Type="http://schemas.openxmlformats.org/officeDocument/2006/relationships/image" Target="../media/image138.png"/><Relationship Id="rId12" Type="http://schemas.openxmlformats.org/officeDocument/2006/relationships/image" Target="../media/image136.png"/><Relationship Id="rId17" Type="http://schemas.openxmlformats.org/officeDocument/2006/relationships/image" Target="../media/image129.png"/><Relationship Id="rId2" Type="http://schemas.openxmlformats.org/officeDocument/2006/relationships/image" Target="../media/image64.png"/><Relationship Id="rId20" Type="http://schemas.openxmlformats.org/officeDocument/2006/relationships/image" Target="../media/image1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svg"/><Relationship Id="rId11" Type="http://schemas.openxmlformats.org/officeDocument/2006/relationships/image" Target="../media/image135.png"/><Relationship Id="rId5" Type="http://schemas.openxmlformats.org/officeDocument/2006/relationships/image" Target="../media/image48.png"/><Relationship Id="rId10" Type="http://schemas.openxmlformats.org/officeDocument/2006/relationships/image" Target="../media/image1340.png"/><Relationship Id="rId19" Type="http://schemas.openxmlformats.org/officeDocument/2006/relationships/image" Target="../media/image123.png"/><Relationship Id="rId4" Type="http://schemas.openxmlformats.org/officeDocument/2006/relationships/image" Target="../media/image137.png"/><Relationship Id="rId9" Type="http://schemas.openxmlformats.org/officeDocument/2006/relationships/image" Target="../media/image88.png"/><Relationship Id="rId22" Type="http://schemas.openxmlformats.org/officeDocument/2006/relationships/image" Target="../media/image14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svg"/><Relationship Id="rId7" Type="http://schemas.openxmlformats.org/officeDocument/2006/relationships/image" Target="../media/image14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148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65.svg"/><Relationship Id="rId7" Type="http://schemas.openxmlformats.org/officeDocument/2006/relationships/image" Target="../media/image149.png"/><Relationship Id="rId12" Type="http://schemas.openxmlformats.org/officeDocument/2006/relationships/image" Target="../media/image154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svg"/><Relationship Id="rId11" Type="http://schemas.openxmlformats.org/officeDocument/2006/relationships/image" Target="../media/image153.png"/><Relationship Id="rId5" Type="http://schemas.openxmlformats.org/officeDocument/2006/relationships/image" Target="../media/image48.png"/><Relationship Id="rId10" Type="http://schemas.openxmlformats.org/officeDocument/2006/relationships/image" Target="../media/image152.png"/><Relationship Id="rId4" Type="http://schemas.openxmlformats.org/officeDocument/2006/relationships/image" Target="../media/image148.png"/><Relationship Id="rId9" Type="http://schemas.openxmlformats.org/officeDocument/2006/relationships/image" Target="../media/image151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13" Type="http://schemas.openxmlformats.org/officeDocument/2006/relationships/image" Target="../media/image114.png"/><Relationship Id="rId3" Type="http://schemas.openxmlformats.org/officeDocument/2006/relationships/image" Target="../media/image65.svg"/><Relationship Id="rId7" Type="http://schemas.openxmlformats.org/officeDocument/2006/relationships/image" Target="../media/image149.png"/><Relationship Id="rId12" Type="http://schemas.openxmlformats.org/officeDocument/2006/relationships/image" Target="../media/image154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svg"/><Relationship Id="rId11" Type="http://schemas.openxmlformats.org/officeDocument/2006/relationships/image" Target="../media/image153.png"/><Relationship Id="rId5" Type="http://schemas.openxmlformats.org/officeDocument/2006/relationships/image" Target="../media/image48.png"/><Relationship Id="rId10" Type="http://schemas.openxmlformats.org/officeDocument/2006/relationships/image" Target="../media/image152.png"/><Relationship Id="rId4" Type="http://schemas.openxmlformats.org/officeDocument/2006/relationships/image" Target="../media/image148.png"/><Relationship Id="rId9" Type="http://schemas.openxmlformats.org/officeDocument/2006/relationships/image" Target="../media/image151.png"/><Relationship Id="rId14" Type="http://schemas.openxmlformats.org/officeDocument/2006/relationships/image" Target="../media/image155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13" Type="http://schemas.openxmlformats.org/officeDocument/2006/relationships/image" Target="../media/image163.png"/><Relationship Id="rId18" Type="http://schemas.openxmlformats.org/officeDocument/2006/relationships/image" Target="../media/image146.png"/><Relationship Id="rId3" Type="http://schemas.openxmlformats.org/officeDocument/2006/relationships/image" Target="../media/image48.png"/><Relationship Id="rId21" Type="http://schemas.openxmlformats.org/officeDocument/2006/relationships/image" Target="../media/image171.png"/><Relationship Id="rId7" Type="http://schemas.openxmlformats.org/officeDocument/2006/relationships/image" Target="../media/image120.png"/><Relationship Id="rId12" Type="http://schemas.openxmlformats.org/officeDocument/2006/relationships/image" Target="../media/image144.png"/><Relationship Id="rId17" Type="http://schemas.openxmlformats.org/officeDocument/2006/relationships/image" Target="../media/image167.png"/><Relationship Id="rId25" Type="http://schemas.openxmlformats.org/officeDocument/2006/relationships/image" Target="../media/image162.png"/><Relationship Id="rId2" Type="http://schemas.openxmlformats.org/officeDocument/2006/relationships/image" Target="../media/image156.png"/><Relationship Id="rId16" Type="http://schemas.openxmlformats.org/officeDocument/2006/relationships/image" Target="../media/image166.png"/><Relationship Id="rId20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svg"/><Relationship Id="rId11" Type="http://schemas.openxmlformats.org/officeDocument/2006/relationships/image" Target="../media/image143.png"/><Relationship Id="rId24" Type="http://schemas.openxmlformats.org/officeDocument/2006/relationships/image" Target="../media/image161.png"/><Relationship Id="rId5" Type="http://schemas.openxmlformats.org/officeDocument/2006/relationships/image" Target="../media/image64.png"/><Relationship Id="rId15" Type="http://schemas.openxmlformats.org/officeDocument/2006/relationships/image" Target="../media/image165.png"/><Relationship Id="rId23" Type="http://schemas.openxmlformats.org/officeDocument/2006/relationships/image" Target="../media/image159.png"/><Relationship Id="rId10" Type="http://schemas.openxmlformats.org/officeDocument/2006/relationships/image" Target="../media/image142.png"/><Relationship Id="rId19" Type="http://schemas.openxmlformats.org/officeDocument/2006/relationships/image" Target="../media/image169.png"/><Relationship Id="rId4" Type="http://schemas.openxmlformats.org/officeDocument/2006/relationships/image" Target="../media/image49.svg"/><Relationship Id="rId9" Type="http://schemas.openxmlformats.org/officeDocument/2006/relationships/image" Target="../media/image158.png"/><Relationship Id="rId14" Type="http://schemas.openxmlformats.org/officeDocument/2006/relationships/image" Target="../media/image164.png"/><Relationship Id="rId22" Type="http://schemas.openxmlformats.org/officeDocument/2006/relationships/image" Target="../media/image147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png"/><Relationship Id="rId13" Type="http://schemas.openxmlformats.org/officeDocument/2006/relationships/image" Target="../media/image172.png"/><Relationship Id="rId18" Type="http://schemas.openxmlformats.org/officeDocument/2006/relationships/image" Target="../media/image174.png"/><Relationship Id="rId3" Type="http://schemas.openxmlformats.org/officeDocument/2006/relationships/image" Target="../media/image48.png"/><Relationship Id="rId21" Type="http://schemas.openxmlformats.org/officeDocument/2006/relationships/image" Target="../media/image180.png"/><Relationship Id="rId7" Type="http://schemas.openxmlformats.org/officeDocument/2006/relationships/image" Target="../media/image138.png"/><Relationship Id="rId12" Type="http://schemas.openxmlformats.org/officeDocument/2006/relationships/image" Target="../media/image168.png"/><Relationship Id="rId17" Type="http://schemas.openxmlformats.org/officeDocument/2006/relationships/image" Target="../media/image173.png"/><Relationship Id="rId2" Type="http://schemas.openxmlformats.org/officeDocument/2006/relationships/image" Target="../media/image176.png"/><Relationship Id="rId16" Type="http://schemas.openxmlformats.org/officeDocument/2006/relationships/image" Target="../media/image184.png"/><Relationship Id="rId20" Type="http://schemas.openxmlformats.org/officeDocument/2006/relationships/image" Target="../media/image1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svg"/><Relationship Id="rId11" Type="http://schemas.openxmlformats.org/officeDocument/2006/relationships/image" Target="../media/image143.png"/><Relationship Id="rId24" Type="http://schemas.openxmlformats.org/officeDocument/2006/relationships/image" Target="../media/image192.png"/><Relationship Id="rId5" Type="http://schemas.openxmlformats.org/officeDocument/2006/relationships/image" Target="../media/image64.png"/><Relationship Id="rId15" Type="http://schemas.openxmlformats.org/officeDocument/2006/relationships/image" Target="../media/image183.png"/><Relationship Id="rId23" Type="http://schemas.openxmlformats.org/officeDocument/2006/relationships/image" Target="../media/image191.png"/><Relationship Id="rId10" Type="http://schemas.openxmlformats.org/officeDocument/2006/relationships/image" Target="../media/image179.png"/><Relationship Id="rId19" Type="http://schemas.openxmlformats.org/officeDocument/2006/relationships/image" Target="../media/image187.png"/><Relationship Id="rId4" Type="http://schemas.openxmlformats.org/officeDocument/2006/relationships/image" Target="../media/image49.svg"/><Relationship Id="rId9" Type="http://schemas.openxmlformats.org/officeDocument/2006/relationships/image" Target="../media/image178.png"/><Relationship Id="rId14" Type="http://schemas.openxmlformats.org/officeDocument/2006/relationships/image" Target="../media/image182.png"/><Relationship Id="rId22" Type="http://schemas.openxmlformats.org/officeDocument/2006/relationships/image" Target="../media/image18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sv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png"/><Relationship Id="rId3" Type="http://schemas.openxmlformats.org/officeDocument/2006/relationships/image" Target="../media/image65.svg"/><Relationship Id="rId7" Type="http://schemas.openxmlformats.org/officeDocument/2006/relationships/image" Target="../media/image49.sv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194.png"/><Relationship Id="rId4" Type="http://schemas.openxmlformats.org/officeDocument/2006/relationships/image" Target="../media/image193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png"/><Relationship Id="rId3" Type="http://schemas.openxmlformats.org/officeDocument/2006/relationships/image" Target="../media/image65.svg"/><Relationship Id="rId7" Type="http://schemas.openxmlformats.org/officeDocument/2006/relationships/image" Target="../media/image49.sv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198.png"/><Relationship Id="rId5" Type="http://schemas.openxmlformats.org/officeDocument/2006/relationships/image" Target="../media/image194.png"/><Relationship Id="rId10" Type="http://schemas.openxmlformats.org/officeDocument/2006/relationships/image" Target="../media/image197.png"/><Relationship Id="rId4" Type="http://schemas.openxmlformats.org/officeDocument/2006/relationships/image" Target="../media/image193.png"/><Relationship Id="rId9" Type="http://schemas.openxmlformats.org/officeDocument/2006/relationships/image" Target="../media/image185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13" Type="http://schemas.openxmlformats.org/officeDocument/2006/relationships/image" Target="../media/image202.png"/><Relationship Id="rId3" Type="http://schemas.openxmlformats.org/officeDocument/2006/relationships/image" Target="../media/image64.png"/><Relationship Id="rId7" Type="http://schemas.openxmlformats.org/officeDocument/2006/relationships/image" Target="../media/image48.png"/><Relationship Id="rId12" Type="http://schemas.openxmlformats.org/officeDocument/2006/relationships/image" Target="../media/image201.png"/><Relationship Id="rId17" Type="http://schemas.openxmlformats.org/officeDocument/2006/relationships/image" Target="../media/image206.png"/><Relationship Id="rId2" Type="http://schemas.openxmlformats.org/officeDocument/2006/relationships/image" Target="../media/image199.png"/><Relationship Id="rId16" Type="http://schemas.openxmlformats.org/officeDocument/2006/relationships/image" Target="../media/image2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4.png"/><Relationship Id="rId11" Type="http://schemas.openxmlformats.org/officeDocument/2006/relationships/image" Target="../media/image197.png"/><Relationship Id="rId5" Type="http://schemas.openxmlformats.org/officeDocument/2006/relationships/image" Target="../media/image193.png"/><Relationship Id="rId15" Type="http://schemas.openxmlformats.org/officeDocument/2006/relationships/image" Target="../media/image204.png"/><Relationship Id="rId10" Type="http://schemas.openxmlformats.org/officeDocument/2006/relationships/image" Target="../media/image200.png"/><Relationship Id="rId4" Type="http://schemas.openxmlformats.org/officeDocument/2006/relationships/image" Target="../media/image65.svg"/><Relationship Id="rId9" Type="http://schemas.openxmlformats.org/officeDocument/2006/relationships/image" Target="../media/image195.png"/><Relationship Id="rId14" Type="http://schemas.openxmlformats.org/officeDocument/2006/relationships/image" Target="../media/image203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png"/><Relationship Id="rId13" Type="http://schemas.openxmlformats.org/officeDocument/2006/relationships/image" Target="../media/image188.png"/><Relationship Id="rId18" Type="http://schemas.openxmlformats.org/officeDocument/2006/relationships/image" Target="../media/image218.png"/><Relationship Id="rId3" Type="http://schemas.openxmlformats.org/officeDocument/2006/relationships/image" Target="../media/image65.svg"/><Relationship Id="rId7" Type="http://schemas.openxmlformats.org/officeDocument/2006/relationships/image" Target="../media/image207.png"/><Relationship Id="rId12" Type="http://schemas.openxmlformats.org/officeDocument/2006/relationships/image" Target="../media/image212.png"/><Relationship Id="rId17" Type="http://schemas.openxmlformats.org/officeDocument/2006/relationships/image" Target="../media/image217.png"/><Relationship Id="rId2" Type="http://schemas.openxmlformats.org/officeDocument/2006/relationships/image" Target="../media/image64.png"/><Relationship Id="rId16" Type="http://schemas.openxmlformats.org/officeDocument/2006/relationships/image" Target="../media/image2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svg"/><Relationship Id="rId11" Type="http://schemas.openxmlformats.org/officeDocument/2006/relationships/image" Target="../media/image186.png"/><Relationship Id="rId5" Type="http://schemas.openxmlformats.org/officeDocument/2006/relationships/image" Target="../media/image48.png"/><Relationship Id="rId15" Type="http://schemas.openxmlformats.org/officeDocument/2006/relationships/image" Target="../media/image215.png"/><Relationship Id="rId10" Type="http://schemas.openxmlformats.org/officeDocument/2006/relationships/image" Target="../media/image210.png"/><Relationship Id="rId19" Type="http://schemas.openxmlformats.org/officeDocument/2006/relationships/image" Target="../media/image219.png"/><Relationship Id="rId4" Type="http://schemas.openxmlformats.org/officeDocument/2006/relationships/image" Target="../media/image177.png"/><Relationship Id="rId9" Type="http://schemas.openxmlformats.org/officeDocument/2006/relationships/image" Target="../media/image209.png"/><Relationship Id="rId14" Type="http://schemas.openxmlformats.org/officeDocument/2006/relationships/image" Target="../media/image189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png"/><Relationship Id="rId13" Type="http://schemas.openxmlformats.org/officeDocument/2006/relationships/image" Target="../media/image189.png"/><Relationship Id="rId18" Type="http://schemas.openxmlformats.org/officeDocument/2006/relationships/image" Target="../media/image221.png"/><Relationship Id="rId3" Type="http://schemas.openxmlformats.org/officeDocument/2006/relationships/image" Target="../media/image65.svg"/><Relationship Id="rId21" Type="http://schemas.openxmlformats.org/officeDocument/2006/relationships/image" Target="../media/image190.png"/><Relationship Id="rId7" Type="http://schemas.openxmlformats.org/officeDocument/2006/relationships/image" Target="../media/image207.png"/><Relationship Id="rId12" Type="http://schemas.openxmlformats.org/officeDocument/2006/relationships/image" Target="../media/image188.png"/><Relationship Id="rId17" Type="http://schemas.openxmlformats.org/officeDocument/2006/relationships/image" Target="../media/image217.png"/><Relationship Id="rId2" Type="http://schemas.openxmlformats.org/officeDocument/2006/relationships/image" Target="../media/image64.png"/><Relationship Id="rId16" Type="http://schemas.openxmlformats.org/officeDocument/2006/relationships/image" Target="../media/image216.png"/><Relationship Id="rId20" Type="http://schemas.openxmlformats.org/officeDocument/2006/relationships/image" Target="../media/image2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svg"/><Relationship Id="rId11" Type="http://schemas.openxmlformats.org/officeDocument/2006/relationships/image" Target="../media/image186.png"/><Relationship Id="rId5" Type="http://schemas.openxmlformats.org/officeDocument/2006/relationships/image" Target="../media/image48.png"/><Relationship Id="rId15" Type="http://schemas.openxmlformats.org/officeDocument/2006/relationships/image" Target="../media/image215.png"/><Relationship Id="rId23" Type="http://schemas.openxmlformats.org/officeDocument/2006/relationships/image" Target="../media/image196.png"/><Relationship Id="rId10" Type="http://schemas.openxmlformats.org/officeDocument/2006/relationships/image" Target="../media/image210.png"/><Relationship Id="rId19" Type="http://schemas.openxmlformats.org/officeDocument/2006/relationships/image" Target="../media/image222.png"/><Relationship Id="rId4" Type="http://schemas.openxmlformats.org/officeDocument/2006/relationships/image" Target="../media/image177.png"/><Relationship Id="rId9" Type="http://schemas.openxmlformats.org/officeDocument/2006/relationships/image" Target="../media/image209.png"/><Relationship Id="rId22" Type="http://schemas.openxmlformats.org/officeDocument/2006/relationships/image" Target="../media/image225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228.png"/><Relationship Id="rId18" Type="http://schemas.openxmlformats.org/officeDocument/2006/relationships/image" Target="../media/image229.png"/><Relationship Id="rId3" Type="http://schemas.openxmlformats.org/officeDocument/2006/relationships/image" Target="../media/image64.png"/><Relationship Id="rId21" Type="http://schemas.openxmlformats.org/officeDocument/2006/relationships/image" Target="../media/image232.png"/><Relationship Id="rId7" Type="http://schemas.openxmlformats.org/officeDocument/2006/relationships/image" Target="../media/image209.png"/><Relationship Id="rId12" Type="http://schemas.openxmlformats.org/officeDocument/2006/relationships/image" Target="../media/image213.png"/><Relationship Id="rId17" Type="http://schemas.openxmlformats.org/officeDocument/2006/relationships/image" Target="../media/image217.png"/><Relationship Id="rId25" Type="http://schemas.openxmlformats.org/officeDocument/2006/relationships/image" Target="../media/image196.png"/><Relationship Id="rId2" Type="http://schemas.openxmlformats.org/officeDocument/2006/relationships/image" Target="../media/image186.png"/><Relationship Id="rId16" Type="http://schemas.openxmlformats.org/officeDocument/2006/relationships/image" Target="../media/image216.png"/><Relationship Id="rId20" Type="http://schemas.openxmlformats.org/officeDocument/2006/relationships/image" Target="../media/image2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8.png"/><Relationship Id="rId11" Type="http://schemas.openxmlformats.org/officeDocument/2006/relationships/image" Target="../media/image211.png"/><Relationship Id="rId24" Type="http://schemas.openxmlformats.org/officeDocument/2006/relationships/image" Target="../media/image234.png"/><Relationship Id="rId15" Type="http://schemas.openxmlformats.org/officeDocument/2006/relationships/image" Target="../media/image215.png"/><Relationship Id="rId23" Type="http://schemas.openxmlformats.org/officeDocument/2006/relationships/image" Target="../media/image210.png"/><Relationship Id="rId10" Type="http://schemas.openxmlformats.org/officeDocument/2006/relationships/image" Target="../media/image188.png"/><Relationship Id="rId19" Type="http://schemas.openxmlformats.org/officeDocument/2006/relationships/image" Target="../media/image230.png"/><Relationship Id="rId4" Type="http://schemas.openxmlformats.org/officeDocument/2006/relationships/image" Target="../media/image65.svg"/><Relationship Id="rId9" Type="http://schemas.openxmlformats.org/officeDocument/2006/relationships/image" Target="../media/image49.svg"/><Relationship Id="rId14" Type="http://schemas.openxmlformats.org/officeDocument/2006/relationships/image" Target="../media/image189.png"/><Relationship Id="rId22" Type="http://schemas.openxmlformats.org/officeDocument/2006/relationships/image" Target="../media/image233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216.png"/><Relationship Id="rId3" Type="http://schemas.openxmlformats.org/officeDocument/2006/relationships/image" Target="../media/image64.png"/><Relationship Id="rId7" Type="http://schemas.openxmlformats.org/officeDocument/2006/relationships/image" Target="../media/image209.png"/><Relationship Id="rId12" Type="http://schemas.openxmlformats.org/officeDocument/2006/relationships/image" Target="../media/image215.png"/><Relationship Id="rId17" Type="http://schemas.openxmlformats.org/officeDocument/2006/relationships/image" Target="../media/image196.png"/><Relationship Id="rId2" Type="http://schemas.openxmlformats.org/officeDocument/2006/relationships/image" Target="../media/image186.png"/><Relationship Id="rId16" Type="http://schemas.openxmlformats.org/officeDocument/2006/relationships/image" Target="../media/image2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8.png"/><Relationship Id="rId11" Type="http://schemas.openxmlformats.org/officeDocument/2006/relationships/image" Target="../media/image189.png"/><Relationship Id="rId15" Type="http://schemas.openxmlformats.org/officeDocument/2006/relationships/image" Target="../media/image210.png"/><Relationship Id="rId10" Type="http://schemas.openxmlformats.org/officeDocument/2006/relationships/image" Target="../media/image188.png"/><Relationship Id="rId4" Type="http://schemas.openxmlformats.org/officeDocument/2006/relationships/image" Target="../media/image65.svg"/><Relationship Id="rId9" Type="http://schemas.openxmlformats.org/officeDocument/2006/relationships/image" Target="../media/image49.svg"/><Relationship Id="rId14" Type="http://schemas.openxmlformats.org/officeDocument/2006/relationships/image" Target="../media/image217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216.png"/><Relationship Id="rId3" Type="http://schemas.openxmlformats.org/officeDocument/2006/relationships/image" Target="../media/image64.png"/><Relationship Id="rId7" Type="http://schemas.openxmlformats.org/officeDocument/2006/relationships/image" Target="../media/image209.png"/><Relationship Id="rId12" Type="http://schemas.openxmlformats.org/officeDocument/2006/relationships/image" Target="../media/image215.png"/><Relationship Id="rId17" Type="http://schemas.openxmlformats.org/officeDocument/2006/relationships/image" Target="../media/image196.png"/><Relationship Id="rId2" Type="http://schemas.openxmlformats.org/officeDocument/2006/relationships/image" Target="../media/image186.png"/><Relationship Id="rId16" Type="http://schemas.openxmlformats.org/officeDocument/2006/relationships/image" Target="../media/image2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8.png"/><Relationship Id="rId11" Type="http://schemas.openxmlformats.org/officeDocument/2006/relationships/image" Target="../media/image189.png"/><Relationship Id="rId15" Type="http://schemas.openxmlformats.org/officeDocument/2006/relationships/image" Target="../media/image210.png"/><Relationship Id="rId10" Type="http://schemas.openxmlformats.org/officeDocument/2006/relationships/image" Target="../media/image188.png"/><Relationship Id="rId4" Type="http://schemas.openxmlformats.org/officeDocument/2006/relationships/image" Target="../media/image65.svg"/><Relationship Id="rId9" Type="http://schemas.openxmlformats.org/officeDocument/2006/relationships/image" Target="../media/image49.svg"/><Relationship Id="rId14" Type="http://schemas.openxmlformats.org/officeDocument/2006/relationships/image" Target="../media/image217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216.png"/><Relationship Id="rId18" Type="http://schemas.openxmlformats.org/officeDocument/2006/relationships/image" Target="../media/image196.png"/><Relationship Id="rId3" Type="http://schemas.openxmlformats.org/officeDocument/2006/relationships/image" Target="../media/image64.png"/><Relationship Id="rId7" Type="http://schemas.openxmlformats.org/officeDocument/2006/relationships/image" Target="../media/image209.png"/><Relationship Id="rId12" Type="http://schemas.openxmlformats.org/officeDocument/2006/relationships/image" Target="../media/image215.png"/><Relationship Id="rId17" Type="http://schemas.openxmlformats.org/officeDocument/2006/relationships/image" Target="../media/image220.png"/><Relationship Id="rId2" Type="http://schemas.openxmlformats.org/officeDocument/2006/relationships/image" Target="../media/image186.png"/><Relationship Id="rId16" Type="http://schemas.openxmlformats.org/officeDocument/2006/relationships/image" Target="../media/image2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8.png"/><Relationship Id="rId11" Type="http://schemas.openxmlformats.org/officeDocument/2006/relationships/image" Target="../media/image189.png"/><Relationship Id="rId15" Type="http://schemas.openxmlformats.org/officeDocument/2006/relationships/image" Target="../media/image210.png"/><Relationship Id="rId10" Type="http://schemas.openxmlformats.org/officeDocument/2006/relationships/image" Target="../media/image188.png"/><Relationship Id="rId4" Type="http://schemas.openxmlformats.org/officeDocument/2006/relationships/image" Target="../media/image65.svg"/><Relationship Id="rId9" Type="http://schemas.openxmlformats.org/officeDocument/2006/relationships/image" Target="../media/image49.svg"/><Relationship Id="rId14" Type="http://schemas.openxmlformats.org/officeDocument/2006/relationships/image" Target="../media/image217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337E483-2C4B-4C93-9722-AE3E3DE35E20}"/>
              </a:ext>
            </a:extLst>
          </p:cNvPr>
          <p:cNvSpPr txBox="1">
            <a:spLocks/>
          </p:cNvSpPr>
          <p:nvPr/>
        </p:nvSpPr>
        <p:spPr>
          <a:xfrm>
            <a:off x="1054102" y="2084388"/>
            <a:ext cx="10083798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studies of excitonic transitions in two dimensional materials under photoexcitation of scalar and vector vortex beams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E6261B0-EBD3-4C22-9F81-7398932D8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4571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79DF72C3-F8A7-4781-A687-449ABFB48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174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Spin-orbital angular momentum interaction in light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Light-matter interaction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Exciton wave packet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and outlook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8CF4FCA-EFD1-480F-BEAC-69620E56E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8679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5DF1F115-271F-4B66-844C-E81655B2E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174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Spin-orbital angular momentum interaction in light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Light-matter interaction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Exciton wave packet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and outlook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9DCFE80-ACAC-4FCC-807E-86EC53B8F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3628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B99EEC2-809E-4AF1-B22E-26AA648F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AEFEC8A8-94FE-46E0-8270-505FBE644EB1}"/>
              </a:ext>
            </a:extLst>
          </p:cNvPr>
          <p:cNvSpPr txBox="1">
            <a:spLocks/>
          </p:cNvSpPr>
          <p:nvPr/>
        </p:nvSpPr>
        <p:spPr>
          <a:xfrm>
            <a:off x="4953000" y="3238301"/>
            <a:ext cx="2286000" cy="3813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material ?</a:t>
            </a:r>
          </a:p>
        </p:txBody>
      </p:sp>
    </p:spTree>
    <p:extLst>
      <p:ext uri="{BB962C8B-B14F-4D97-AF65-F5344CB8AC3E}">
        <p14:creationId xmlns:p14="http://schemas.microsoft.com/office/powerpoint/2010/main" val="1685346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B99EEC2-809E-4AF1-B22E-26AA648F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AE7E0B95-6070-4322-A3A9-FFD55F3E46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2533"/>
          <a:stretch/>
        </p:blipFill>
        <p:spPr>
          <a:xfrm>
            <a:off x="4428546" y="1065471"/>
            <a:ext cx="3183820" cy="2149070"/>
          </a:xfrm>
          <a:prstGeom prst="rect">
            <a:avLst/>
          </a:prstGeom>
        </p:spPr>
      </p:pic>
      <p:sp>
        <p:nvSpPr>
          <p:cNvPr id="34" name="內容版面配置區 2">
            <a:extLst>
              <a:ext uri="{FF2B5EF4-FFF2-40B4-BE49-F238E27FC236}">
                <a16:creationId xmlns:a16="http://schemas.microsoft.com/office/drawing/2014/main" id="{103CFA5E-A8B4-46D7-8063-AD9399C325B8}"/>
              </a:ext>
            </a:extLst>
          </p:cNvPr>
          <p:cNvSpPr txBox="1">
            <a:spLocks/>
          </p:cNvSpPr>
          <p:nvPr/>
        </p:nvSpPr>
        <p:spPr>
          <a:xfrm>
            <a:off x="67821" y="730966"/>
            <a:ext cx="7219118" cy="3813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buClr>
                <a:schemeClr val="accent1">
                  <a:lumMod val="75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dimensional (2D) Transition metal dichalcogenide (TMD) </a:t>
            </a:r>
          </a:p>
        </p:txBody>
      </p: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15C9A4A0-D400-4720-B906-D68E9E925AB1}"/>
              </a:ext>
            </a:extLst>
          </p:cNvPr>
          <p:cNvGrpSpPr/>
          <p:nvPr/>
        </p:nvGrpSpPr>
        <p:grpSpPr>
          <a:xfrm>
            <a:off x="8352149" y="1203573"/>
            <a:ext cx="1881084" cy="1768898"/>
            <a:chOff x="7239000" y="975361"/>
            <a:chExt cx="1789907" cy="1683158"/>
          </a:xfrm>
        </p:grpSpPr>
        <p:pic>
          <p:nvPicPr>
            <p:cNvPr id="36" name="Picture 3" descr="https://ars.els-cdn.com/content/image/1-s2.0-S235294071730080X-gr3.jpg">
              <a:extLst>
                <a:ext uri="{FF2B5EF4-FFF2-40B4-BE49-F238E27FC236}">
                  <a16:creationId xmlns:a16="http://schemas.microsoft.com/office/drawing/2014/main" id="{161E0BFD-D96B-4041-B01B-A6C61C3C27D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9748" b="47554"/>
            <a:stretch/>
          </p:blipFill>
          <p:spPr bwMode="auto">
            <a:xfrm>
              <a:off x="7239470" y="975361"/>
              <a:ext cx="1789437" cy="16831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AB8C95-149E-440C-9B3F-9B12631F46DE}"/>
                </a:ext>
              </a:extLst>
            </p:cNvPr>
            <p:cNvSpPr/>
            <p:nvPr/>
          </p:nvSpPr>
          <p:spPr>
            <a:xfrm>
              <a:off x="7239000" y="983933"/>
              <a:ext cx="107313" cy="1463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D535C96D-D9CF-4587-BCEF-B75716692176}"/>
                  </a:ext>
                </a:extLst>
              </p:cNvPr>
              <p:cNvSpPr/>
              <p:nvPr/>
            </p:nvSpPr>
            <p:spPr>
              <a:xfrm>
                <a:off x="4216925" y="3237352"/>
                <a:ext cx="3665220" cy="5078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algn="ctr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3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altLang="zh-TW" sz="1300" i="0" dirty="0" smtClean="0">
                            <a:latin typeface="Cambria Math" panose="02040503050406030204" pitchFamily="18" charset="0"/>
                          </a:rPr>
                          <m:t>MoS</m:t>
                        </m:r>
                      </m:e>
                      <m:sub>
                        <m:r>
                          <a:rPr lang="en-US" altLang="zh-TW" sz="13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it-IT" altLang="zh-TW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calculated band structure</a:t>
                </a:r>
              </a:p>
              <a:p>
                <a:pPr algn="ctr"/>
                <a:r>
                  <a:rPr lang="it-IT" altLang="zh-TW" sz="1400" dirty="0"/>
                  <a:t>A. Splendiani </a:t>
                </a:r>
                <a:r>
                  <a:rPr lang="it-IT" altLang="zh-TW" sz="1400" i="1" dirty="0"/>
                  <a:t>et al.</a:t>
                </a:r>
                <a:r>
                  <a:rPr lang="it-IT" altLang="zh-TW" sz="1400" dirty="0"/>
                  <a:t>, </a:t>
                </a:r>
                <a:r>
                  <a:rPr lang="it-IT" altLang="zh-TW" sz="1400" i="1" dirty="0"/>
                  <a:t>Nano Lett.</a:t>
                </a:r>
                <a:r>
                  <a:rPr lang="it-IT" altLang="zh-TW" sz="1400" dirty="0"/>
                  <a:t> </a:t>
                </a:r>
                <a:r>
                  <a:rPr lang="it-IT" altLang="zh-TW" sz="1400" b="1" dirty="0"/>
                  <a:t>10</a:t>
                </a:r>
                <a:r>
                  <a:rPr lang="it-IT" altLang="zh-TW" sz="1400" dirty="0"/>
                  <a:t>, 1271 (2010)</a:t>
                </a:r>
                <a:endParaRPr lang="zh-TW" alt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D535C96D-D9CF-4587-BCEF-B757166921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6925" y="3237352"/>
                <a:ext cx="3665220" cy="507831"/>
              </a:xfrm>
              <a:prstGeom prst="rect">
                <a:avLst/>
              </a:prstGeom>
              <a:blipFill>
                <a:blip r:embed="rId4"/>
                <a:stretch>
                  <a:fillRect t="-1205" b="-132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矩形 38">
            <a:extLst>
              <a:ext uri="{FF2B5EF4-FFF2-40B4-BE49-F238E27FC236}">
                <a16:creationId xmlns:a16="http://schemas.microsoft.com/office/drawing/2014/main" id="{F99DF6F1-3770-48D7-9662-7AD8C6CCEED0}"/>
              </a:ext>
            </a:extLst>
          </p:cNvPr>
          <p:cNvSpPr/>
          <p:nvPr/>
        </p:nvSpPr>
        <p:spPr>
          <a:xfrm>
            <a:off x="130392" y="3237352"/>
            <a:ext cx="366522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it-IT" altLang="zh-TW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Structures of a typicle 2D </a:t>
            </a:r>
            <a:r>
              <a:rPr lang="en-US" altLang="zh-TW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TMD material</a:t>
            </a:r>
            <a:endParaRPr lang="it-IT" altLang="zh-TW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TW" sz="1400" dirty="0"/>
              <a:t>A. </a:t>
            </a:r>
            <a:r>
              <a:rPr lang="en-US" altLang="zh-TW" sz="1400" dirty="0" err="1"/>
              <a:t>Krasnok</a:t>
            </a:r>
            <a:r>
              <a:rPr lang="en-US" altLang="zh-TW" sz="1400" dirty="0"/>
              <a:t> &amp; A. </a:t>
            </a:r>
            <a:r>
              <a:rPr lang="en-US" altLang="zh-TW" sz="1400" dirty="0" err="1"/>
              <a:t>Alù</a:t>
            </a:r>
            <a:r>
              <a:rPr lang="en-US" altLang="zh-TW" sz="1400" dirty="0"/>
              <a:t>, </a:t>
            </a:r>
            <a:r>
              <a:rPr lang="en-US" altLang="zh-TW" sz="1400" i="1" dirty="0"/>
              <a:t>Appl. Sci.</a:t>
            </a:r>
            <a:r>
              <a:rPr lang="en-US" altLang="zh-TW" sz="1400" dirty="0"/>
              <a:t> </a:t>
            </a:r>
            <a:r>
              <a:rPr lang="en-US" altLang="zh-TW" sz="1400" b="1" dirty="0"/>
              <a:t>8</a:t>
            </a:r>
            <a:r>
              <a:rPr lang="en-US" altLang="zh-TW" sz="1400" dirty="0"/>
              <a:t>, 1157 (2018)</a:t>
            </a:r>
            <a:endParaRPr lang="zh-TW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20E500B-D71E-44FB-9379-7530FF0B7E18}"/>
              </a:ext>
            </a:extLst>
          </p:cNvPr>
          <p:cNvSpPr/>
          <p:nvPr/>
        </p:nvSpPr>
        <p:spPr>
          <a:xfrm>
            <a:off x="8222017" y="3245046"/>
            <a:ext cx="3871444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TW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Screening in materials</a:t>
            </a:r>
          </a:p>
          <a:p>
            <a:pPr algn="ctr"/>
            <a:r>
              <a:rPr lang="en-US" altLang="zh-TW" sz="1300" dirty="0"/>
              <a:t>M. </a:t>
            </a:r>
            <a:r>
              <a:rPr lang="en-US" altLang="zh-TW" sz="1300" dirty="0" err="1"/>
              <a:t>Velický</a:t>
            </a:r>
            <a:r>
              <a:rPr lang="en-US" altLang="zh-TW" sz="1300" dirty="0"/>
              <a:t> &amp; P. S. Toth, </a:t>
            </a:r>
            <a:r>
              <a:rPr lang="en-US" altLang="zh-TW" sz="1300" i="1" dirty="0"/>
              <a:t>Appl. Mater. Today</a:t>
            </a:r>
            <a:r>
              <a:rPr lang="en-US" altLang="zh-TW" sz="1300" dirty="0"/>
              <a:t> </a:t>
            </a:r>
            <a:r>
              <a:rPr lang="en-US" altLang="zh-TW" sz="1300" b="1" dirty="0"/>
              <a:t>8</a:t>
            </a:r>
            <a:r>
              <a:rPr lang="en-US" altLang="zh-TW" sz="1300" dirty="0"/>
              <a:t>, 68 (2017)</a:t>
            </a:r>
            <a:endParaRPr lang="zh-TW" altLang="en-US" sz="1300" dirty="0"/>
          </a:p>
        </p:txBody>
      </p:sp>
      <p:grpSp>
        <p:nvGrpSpPr>
          <p:cNvPr id="42" name="群組 41">
            <a:extLst>
              <a:ext uri="{FF2B5EF4-FFF2-40B4-BE49-F238E27FC236}">
                <a16:creationId xmlns:a16="http://schemas.microsoft.com/office/drawing/2014/main" id="{24DC6D54-0E26-45FC-BACE-2950375C647B}"/>
              </a:ext>
            </a:extLst>
          </p:cNvPr>
          <p:cNvGrpSpPr/>
          <p:nvPr/>
        </p:nvGrpSpPr>
        <p:grpSpPr>
          <a:xfrm>
            <a:off x="634378" y="1236675"/>
            <a:ext cx="1773130" cy="1858188"/>
            <a:chOff x="1137907" y="1206142"/>
            <a:chExt cx="1432574" cy="1501295"/>
          </a:xfrm>
        </p:grpSpPr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B1964549-3B7A-462D-9222-0A84607960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1027" b="36476"/>
            <a:stretch/>
          </p:blipFill>
          <p:spPr>
            <a:xfrm>
              <a:off x="1137907" y="1206142"/>
              <a:ext cx="1432574" cy="1430378"/>
            </a:xfrm>
            <a:prstGeom prst="rect">
              <a:avLst/>
            </a:prstGeom>
          </p:spPr>
        </p:pic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F2020388-59BB-452D-A095-1EB98CD2A967}"/>
                </a:ext>
              </a:extLst>
            </p:cNvPr>
            <p:cNvSpPr/>
            <p:nvPr/>
          </p:nvSpPr>
          <p:spPr>
            <a:xfrm>
              <a:off x="2004166" y="2504237"/>
              <a:ext cx="391160" cy="20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D7817DDE-E0F2-4617-979D-67D2E3599461}"/>
              </a:ext>
            </a:extLst>
          </p:cNvPr>
          <p:cNvGrpSpPr/>
          <p:nvPr/>
        </p:nvGrpSpPr>
        <p:grpSpPr>
          <a:xfrm>
            <a:off x="10088945" y="1410256"/>
            <a:ext cx="1880592" cy="1455588"/>
            <a:chOff x="7239470" y="2799627"/>
            <a:chExt cx="1789437" cy="1385032"/>
          </a:xfrm>
        </p:grpSpPr>
        <p:pic>
          <p:nvPicPr>
            <p:cNvPr id="46" name="Picture 3" descr="https://ars.els-cdn.com/content/image/1-s2.0-S235294071730080X-gr3.jpg">
              <a:extLst>
                <a:ext uri="{FF2B5EF4-FFF2-40B4-BE49-F238E27FC236}">
                  <a16:creationId xmlns:a16="http://schemas.microsoft.com/office/drawing/2014/main" id="{E43ADF49-87EC-4DFC-B847-633BE209611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6843" r="49748"/>
            <a:stretch/>
          </p:blipFill>
          <p:spPr bwMode="auto">
            <a:xfrm>
              <a:off x="7239470" y="2799627"/>
              <a:ext cx="1789437" cy="13850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B327E831-965A-4391-A38C-F87A637FBF45}"/>
                </a:ext>
              </a:extLst>
            </p:cNvPr>
            <p:cNvSpPr/>
            <p:nvPr/>
          </p:nvSpPr>
          <p:spPr>
            <a:xfrm>
              <a:off x="7298050" y="2801162"/>
              <a:ext cx="280685" cy="4524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7F6FF1F8-C3CB-4B89-99C9-4766DD11F385}"/>
              </a:ext>
            </a:extLst>
          </p:cNvPr>
          <p:cNvGrpSpPr/>
          <p:nvPr/>
        </p:nvGrpSpPr>
        <p:grpSpPr>
          <a:xfrm>
            <a:off x="2278919" y="1885362"/>
            <a:ext cx="1552854" cy="1072424"/>
            <a:chOff x="2382520" y="2433320"/>
            <a:chExt cx="1435453" cy="991346"/>
          </a:xfrm>
        </p:grpSpPr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1B7711C4-85E6-4250-BD74-4DD3C812AFA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1027" t="57894"/>
            <a:stretch/>
          </p:blipFill>
          <p:spPr>
            <a:xfrm>
              <a:off x="2385399" y="2476548"/>
              <a:ext cx="1432574" cy="948118"/>
            </a:xfrm>
            <a:prstGeom prst="rect">
              <a:avLst/>
            </a:prstGeom>
          </p:spPr>
        </p:pic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69D6A178-660F-4BC6-A36E-DCC557BD5FC7}"/>
                </a:ext>
              </a:extLst>
            </p:cNvPr>
            <p:cNvSpPr/>
            <p:nvPr/>
          </p:nvSpPr>
          <p:spPr>
            <a:xfrm>
              <a:off x="2382520" y="2433320"/>
              <a:ext cx="391160" cy="20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51" name="內容版面配置區 2">
            <a:extLst>
              <a:ext uri="{FF2B5EF4-FFF2-40B4-BE49-F238E27FC236}">
                <a16:creationId xmlns:a16="http://schemas.microsoft.com/office/drawing/2014/main" id="{18CF9F7A-273B-49CC-B1D5-7EB943648D98}"/>
              </a:ext>
            </a:extLst>
          </p:cNvPr>
          <p:cNvSpPr txBox="1">
            <a:spLocks/>
          </p:cNvSpPr>
          <p:nvPr/>
        </p:nvSpPr>
        <p:spPr>
          <a:xfrm>
            <a:off x="-2330982" y="1090586"/>
            <a:ext cx="2175163" cy="6534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 structure that couple to light </a:t>
            </a:r>
          </a:p>
        </p:txBody>
      </p:sp>
      <p:sp>
        <p:nvSpPr>
          <p:cNvPr id="52" name="內容版面配置區 2">
            <a:extLst>
              <a:ext uri="{FF2B5EF4-FFF2-40B4-BE49-F238E27FC236}">
                <a16:creationId xmlns:a16="http://schemas.microsoft.com/office/drawing/2014/main" id="{19703DED-3BBF-4DE1-92B7-AB1C6157F9DE}"/>
              </a:ext>
            </a:extLst>
          </p:cNvPr>
          <p:cNvSpPr txBox="1">
            <a:spLocks/>
          </p:cNvSpPr>
          <p:nvPr/>
        </p:nvSpPr>
        <p:spPr>
          <a:xfrm>
            <a:off x="-2955752" y="4421206"/>
            <a:ext cx="2787871" cy="10529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Luminance property is dominant by exciton </a:t>
            </a:r>
          </a:p>
        </p:txBody>
      </p:sp>
    </p:spTree>
    <p:extLst>
      <p:ext uri="{BB962C8B-B14F-4D97-AF65-F5344CB8AC3E}">
        <p14:creationId xmlns:p14="http://schemas.microsoft.com/office/powerpoint/2010/main" val="956878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B99EEC2-809E-4AF1-B22E-26AA648F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E0DF42CA-493A-435E-B0FB-462AC0510EDE}"/>
              </a:ext>
            </a:extLst>
          </p:cNvPr>
          <p:cNvGrpSpPr/>
          <p:nvPr/>
        </p:nvGrpSpPr>
        <p:grpSpPr>
          <a:xfrm>
            <a:off x="7254241" y="4327796"/>
            <a:ext cx="4389118" cy="2179607"/>
            <a:chOff x="747798" y="4818086"/>
            <a:chExt cx="4389118" cy="2179607"/>
          </a:xfrm>
        </p:grpSpPr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6AA5E7EF-3B60-4DE2-89CB-F9F11021AF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" t="19178" r="50309" b="14375"/>
            <a:stretch/>
          </p:blipFill>
          <p:spPr>
            <a:xfrm>
              <a:off x="747798" y="4818086"/>
              <a:ext cx="4389118" cy="173887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5B5ADB71-4D90-4C0D-8502-4909F706E4B3}"/>
                    </a:ext>
                  </a:extLst>
                </p:cNvPr>
                <p:cNvSpPr/>
                <p:nvPr/>
              </p:nvSpPr>
              <p:spPr>
                <a:xfrm>
                  <a:off x="1288792" y="6489862"/>
                  <a:ext cx="3433376" cy="50783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285750" indent="-285750" algn="ctr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13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300" b="0" i="0" dirty="0" smtClean="0">
                              <a:latin typeface="Cambria Math" panose="02040503050406030204" pitchFamily="18" charset="0"/>
                            </a:rPr>
                            <m:t>WSe</m:t>
                          </m:r>
                        </m:e>
                        <m:sub>
                          <m:r>
                            <a:rPr lang="en-US" altLang="zh-TW" sz="1300" b="0" i="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it-IT" altLang="zh-TW" sz="13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calculated band structure</a:t>
                  </a:r>
                  <a:endParaRPr lang="nb-NO" altLang="zh-TW" sz="13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nb-NO" altLang="zh-TW" sz="1400" dirty="0"/>
                    <a:t>G.-H. Peng </a:t>
                  </a:r>
                  <a:r>
                    <a:rPr lang="nb-NO" altLang="zh-TW" sz="1400" i="1" dirty="0"/>
                    <a:t>et al.</a:t>
                  </a:r>
                  <a:r>
                    <a:rPr lang="nb-NO" altLang="zh-TW" sz="1400" dirty="0"/>
                    <a:t>, </a:t>
                  </a:r>
                  <a:r>
                    <a:rPr lang="nb-NO" altLang="zh-TW" sz="1400" i="1" dirty="0"/>
                    <a:t>Nano Lett.</a:t>
                  </a:r>
                  <a:r>
                    <a:rPr lang="nb-NO" altLang="zh-TW" sz="1400" dirty="0"/>
                    <a:t> </a:t>
                  </a:r>
                  <a:r>
                    <a:rPr lang="nb-NO" altLang="zh-TW" sz="1400" b="1" dirty="0"/>
                    <a:t>19</a:t>
                  </a:r>
                  <a:r>
                    <a:rPr lang="nb-NO" altLang="zh-TW" sz="1400" dirty="0"/>
                    <a:t>, 2299 (2019)</a:t>
                  </a:r>
                  <a:endParaRPr lang="zh-TW" altLang="en-US" sz="13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5B5ADB71-4D90-4C0D-8502-4909F706E4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8792" y="6489862"/>
                  <a:ext cx="3433376" cy="507831"/>
                </a:xfrm>
                <a:prstGeom prst="rect">
                  <a:avLst/>
                </a:prstGeom>
                <a:blipFill>
                  <a:blip r:embed="rId3"/>
                  <a:stretch>
                    <a:fillRect t="-1205" b="-1325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" name="圖片 1">
            <a:extLst>
              <a:ext uri="{FF2B5EF4-FFF2-40B4-BE49-F238E27FC236}">
                <a16:creationId xmlns:a16="http://schemas.microsoft.com/office/drawing/2014/main" id="{D6AF7015-26CC-41B3-8423-1DB41F0CFAD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5"/>
          <a:stretch/>
        </p:blipFill>
        <p:spPr>
          <a:xfrm>
            <a:off x="436880" y="4393625"/>
            <a:ext cx="6398899" cy="1986564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F062BD40-EF9A-4FC6-932B-5385C69BD36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32533"/>
          <a:stretch/>
        </p:blipFill>
        <p:spPr>
          <a:xfrm>
            <a:off x="4428546" y="1065471"/>
            <a:ext cx="3183820" cy="2149070"/>
          </a:xfrm>
          <a:prstGeom prst="rect">
            <a:avLst/>
          </a:prstGeom>
        </p:spPr>
      </p:pic>
      <p:sp>
        <p:nvSpPr>
          <p:cNvPr id="30" name="內容版面配置區 2">
            <a:extLst>
              <a:ext uri="{FF2B5EF4-FFF2-40B4-BE49-F238E27FC236}">
                <a16:creationId xmlns:a16="http://schemas.microsoft.com/office/drawing/2014/main" id="{D9FBB975-C8B8-4E4C-A98C-CA1D3FB83F8B}"/>
              </a:ext>
            </a:extLst>
          </p:cNvPr>
          <p:cNvSpPr txBox="1">
            <a:spLocks/>
          </p:cNvSpPr>
          <p:nvPr/>
        </p:nvSpPr>
        <p:spPr>
          <a:xfrm>
            <a:off x="67821" y="730966"/>
            <a:ext cx="7219118" cy="3813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buClr>
                <a:schemeClr val="accent1">
                  <a:lumMod val="75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dimensional (2D) Transition metal dichalcogenide (TMD) </a:t>
            </a:r>
          </a:p>
        </p:txBody>
      </p: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98B15C6F-DB12-418F-97E0-1196A1170665}"/>
              </a:ext>
            </a:extLst>
          </p:cNvPr>
          <p:cNvGrpSpPr/>
          <p:nvPr/>
        </p:nvGrpSpPr>
        <p:grpSpPr>
          <a:xfrm>
            <a:off x="8352149" y="1203573"/>
            <a:ext cx="1881084" cy="1768898"/>
            <a:chOff x="7239000" y="975361"/>
            <a:chExt cx="1789907" cy="1683158"/>
          </a:xfrm>
        </p:grpSpPr>
        <p:pic>
          <p:nvPicPr>
            <p:cNvPr id="32" name="Picture 3" descr="https://ars.els-cdn.com/content/image/1-s2.0-S235294071730080X-gr3.jpg">
              <a:extLst>
                <a:ext uri="{FF2B5EF4-FFF2-40B4-BE49-F238E27FC236}">
                  <a16:creationId xmlns:a16="http://schemas.microsoft.com/office/drawing/2014/main" id="{B8FFBBBA-F418-4032-8081-854168782BB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9748" b="47554"/>
            <a:stretch/>
          </p:blipFill>
          <p:spPr bwMode="auto">
            <a:xfrm>
              <a:off x="7239470" y="975361"/>
              <a:ext cx="1789437" cy="16831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51AFC2F9-7DE1-4CFD-B648-C8353FE444D1}"/>
                </a:ext>
              </a:extLst>
            </p:cNvPr>
            <p:cNvSpPr/>
            <p:nvPr/>
          </p:nvSpPr>
          <p:spPr>
            <a:xfrm>
              <a:off x="7239000" y="983933"/>
              <a:ext cx="107313" cy="1463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F37AD543-1F22-41F9-8D20-0EC9E8C7B5B8}"/>
                  </a:ext>
                </a:extLst>
              </p:cNvPr>
              <p:cNvSpPr/>
              <p:nvPr/>
            </p:nvSpPr>
            <p:spPr>
              <a:xfrm>
                <a:off x="4216925" y="3237352"/>
                <a:ext cx="3665220" cy="5078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algn="ctr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3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altLang="zh-TW" sz="1300" i="0" dirty="0" smtClean="0">
                            <a:latin typeface="Cambria Math" panose="02040503050406030204" pitchFamily="18" charset="0"/>
                          </a:rPr>
                          <m:t>MoS</m:t>
                        </m:r>
                      </m:e>
                      <m:sub>
                        <m:r>
                          <a:rPr lang="en-US" altLang="zh-TW" sz="13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it-IT" altLang="zh-TW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calculated band structure</a:t>
                </a:r>
              </a:p>
              <a:p>
                <a:pPr algn="ctr"/>
                <a:r>
                  <a:rPr lang="it-IT" altLang="zh-TW" sz="1400" dirty="0"/>
                  <a:t>A. Splendiani </a:t>
                </a:r>
                <a:r>
                  <a:rPr lang="it-IT" altLang="zh-TW" sz="1400" i="1" dirty="0"/>
                  <a:t>et al.</a:t>
                </a:r>
                <a:r>
                  <a:rPr lang="it-IT" altLang="zh-TW" sz="1400" dirty="0"/>
                  <a:t>, </a:t>
                </a:r>
                <a:r>
                  <a:rPr lang="it-IT" altLang="zh-TW" sz="1400" i="1" dirty="0"/>
                  <a:t>Nano Lett.</a:t>
                </a:r>
                <a:r>
                  <a:rPr lang="it-IT" altLang="zh-TW" sz="1400" dirty="0"/>
                  <a:t> </a:t>
                </a:r>
                <a:r>
                  <a:rPr lang="it-IT" altLang="zh-TW" sz="1400" b="1" dirty="0"/>
                  <a:t>10</a:t>
                </a:r>
                <a:r>
                  <a:rPr lang="it-IT" altLang="zh-TW" sz="1400" dirty="0"/>
                  <a:t>, 1271 (2010)</a:t>
                </a:r>
                <a:endParaRPr lang="zh-TW" alt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F37AD543-1F22-41F9-8D20-0EC9E8C7B5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6925" y="3237352"/>
                <a:ext cx="3665220" cy="507831"/>
              </a:xfrm>
              <a:prstGeom prst="rect">
                <a:avLst/>
              </a:prstGeom>
              <a:blipFill>
                <a:blip r:embed="rId7"/>
                <a:stretch>
                  <a:fillRect t="-1205" b="-132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矩形 34">
            <a:extLst>
              <a:ext uri="{FF2B5EF4-FFF2-40B4-BE49-F238E27FC236}">
                <a16:creationId xmlns:a16="http://schemas.microsoft.com/office/drawing/2014/main" id="{C5111E43-265F-45FF-80F3-013BD63FFCE4}"/>
              </a:ext>
            </a:extLst>
          </p:cNvPr>
          <p:cNvSpPr/>
          <p:nvPr/>
        </p:nvSpPr>
        <p:spPr>
          <a:xfrm>
            <a:off x="130392" y="3237352"/>
            <a:ext cx="366522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it-IT" altLang="zh-TW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Structures of a typicle 2D </a:t>
            </a:r>
            <a:r>
              <a:rPr lang="en-US" altLang="zh-TW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TMD material</a:t>
            </a:r>
            <a:endParaRPr lang="it-IT" altLang="zh-TW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TW" sz="1400" dirty="0"/>
              <a:t>A. </a:t>
            </a:r>
            <a:r>
              <a:rPr lang="en-US" altLang="zh-TW" sz="1400" dirty="0" err="1"/>
              <a:t>Krasnok</a:t>
            </a:r>
            <a:r>
              <a:rPr lang="en-US" altLang="zh-TW" sz="1400" dirty="0"/>
              <a:t> &amp; A. </a:t>
            </a:r>
            <a:r>
              <a:rPr lang="en-US" altLang="zh-TW" sz="1400" dirty="0" err="1"/>
              <a:t>Alù</a:t>
            </a:r>
            <a:r>
              <a:rPr lang="en-US" altLang="zh-TW" sz="1400" dirty="0"/>
              <a:t>, </a:t>
            </a:r>
            <a:r>
              <a:rPr lang="en-US" altLang="zh-TW" sz="1400" i="1" dirty="0"/>
              <a:t>Appl. Sci.</a:t>
            </a:r>
            <a:r>
              <a:rPr lang="en-US" altLang="zh-TW" sz="1400" dirty="0"/>
              <a:t> </a:t>
            </a:r>
            <a:r>
              <a:rPr lang="en-US" altLang="zh-TW" sz="1400" b="1" dirty="0"/>
              <a:t>8</a:t>
            </a:r>
            <a:r>
              <a:rPr lang="en-US" altLang="zh-TW" sz="1400" dirty="0"/>
              <a:t>, 1157 (2018)</a:t>
            </a:r>
            <a:endParaRPr lang="zh-TW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3A8F4B4-FB50-4460-BF45-0714496DD8C9}"/>
              </a:ext>
            </a:extLst>
          </p:cNvPr>
          <p:cNvSpPr/>
          <p:nvPr/>
        </p:nvSpPr>
        <p:spPr>
          <a:xfrm>
            <a:off x="8222017" y="3245046"/>
            <a:ext cx="3871444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TW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Screening in materials</a:t>
            </a:r>
          </a:p>
          <a:p>
            <a:pPr algn="ctr"/>
            <a:r>
              <a:rPr lang="en-US" altLang="zh-TW" sz="1300" dirty="0"/>
              <a:t>M. </a:t>
            </a:r>
            <a:r>
              <a:rPr lang="en-US" altLang="zh-TW" sz="1300" dirty="0" err="1"/>
              <a:t>Velický</a:t>
            </a:r>
            <a:r>
              <a:rPr lang="en-US" altLang="zh-TW" sz="1300" dirty="0"/>
              <a:t> &amp; P. S. Toth, </a:t>
            </a:r>
            <a:r>
              <a:rPr lang="en-US" altLang="zh-TW" sz="1300" i="1" dirty="0"/>
              <a:t>Appl. Mater. Today</a:t>
            </a:r>
            <a:r>
              <a:rPr lang="en-US" altLang="zh-TW" sz="1300" dirty="0"/>
              <a:t> </a:t>
            </a:r>
            <a:r>
              <a:rPr lang="en-US" altLang="zh-TW" sz="1300" b="1" dirty="0"/>
              <a:t>8</a:t>
            </a:r>
            <a:r>
              <a:rPr lang="en-US" altLang="zh-TW" sz="1300" dirty="0"/>
              <a:t>, 68 (2017)</a:t>
            </a:r>
            <a:endParaRPr lang="zh-TW" altLang="en-US" sz="1300" dirty="0"/>
          </a:p>
        </p:txBody>
      </p:sp>
      <p:sp>
        <p:nvSpPr>
          <p:cNvPr id="37" name="內容版面配置區 2">
            <a:extLst>
              <a:ext uri="{FF2B5EF4-FFF2-40B4-BE49-F238E27FC236}">
                <a16:creationId xmlns:a16="http://schemas.microsoft.com/office/drawing/2014/main" id="{6B99D9BD-6092-4B9B-8DD1-5F2E2CC229FF}"/>
              </a:ext>
            </a:extLst>
          </p:cNvPr>
          <p:cNvSpPr txBox="1">
            <a:spLocks/>
          </p:cNvSpPr>
          <p:nvPr/>
        </p:nvSpPr>
        <p:spPr>
          <a:xfrm>
            <a:off x="67821" y="3790825"/>
            <a:ext cx="2675379" cy="3074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buClr>
                <a:schemeClr val="accent1">
                  <a:lumMod val="75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Exciton in 2D TMD</a:t>
            </a:r>
          </a:p>
        </p:txBody>
      </p: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5F36F3A1-5DF0-4139-BF12-4FC715DEB7BF}"/>
              </a:ext>
            </a:extLst>
          </p:cNvPr>
          <p:cNvGrpSpPr/>
          <p:nvPr/>
        </p:nvGrpSpPr>
        <p:grpSpPr>
          <a:xfrm>
            <a:off x="634378" y="1236675"/>
            <a:ext cx="1773130" cy="1858188"/>
            <a:chOff x="1137907" y="1206142"/>
            <a:chExt cx="1432574" cy="1501295"/>
          </a:xfrm>
        </p:grpSpPr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924391BA-DF52-4926-B401-3658B4B0DA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71027" b="36476"/>
            <a:stretch/>
          </p:blipFill>
          <p:spPr>
            <a:xfrm>
              <a:off x="1137907" y="1206142"/>
              <a:ext cx="1432574" cy="1430378"/>
            </a:xfrm>
            <a:prstGeom prst="rect">
              <a:avLst/>
            </a:prstGeom>
          </p:spPr>
        </p:pic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9418EEAC-E603-4FF5-8122-908FB8823A71}"/>
                </a:ext>
              </a:extLst>
            </p:cNvPr>
            <p:cNvSpPr/>
            <p:nvPr/>
          </p:nvSpPr>
          <p:spPr>
            <a:xfrm>
              <a:off x="2004166" y="2504237"/>
              <a:ext cx="391160" cy="20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DD1AF000-86FC-43FF-8B4B-EC9B76DB5605}"/>
              </a:ext>
            </a:extLst>
          </p:cNvPr>
          <p:cNvGrpSpPr/>
          <p:nvPr/>
        </p:nvGrpSpPr>
        <p:grpSpPr>
          <a:xfrm>
            <a:off x="10088945" y="1410256"/>
            <a:ext cx="1880592" cy="1455588"/>
            <a:chOff x="7239470" y="2799627"/>
            <a:chExt cx="1789437" cy="1385032"/>
          </a:xfrm>
        </p:grpSpPr>
        <p:pic>
          <p:nvPicPr>
            <p:cNvPr id="42" name="Picture 3" descr="https://ars.els-cdn.com/content/image/1-s2.0-S235294071730080X-gr3.jpg">
              <a:extLst>
                <a:ext uri="{FF2B5EF4-FFF2-40B4-BE49-F238E27FC236}">
                  <a16:creationId xmlns:a16="http://schemas.microsoft.com/office/drawing/2014/main" id="{E1A6A328-3F35-4F5C-B8E5-329FA3C12C6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6843" r="49748"/>
            <a:stretch/>
          </p:blipFill>
          <p:spPr bwMode="auto">
            <a:xfrm>
              <a:off x="7239470" y="2799627"/>
              <a:ext cx="1789437" cy="13850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8EBB232A-DF51-468A-972E-0B9F0AD21D8F}"/>
                </a:ext>
              </a:extLst>
            </p:cNvPr>
            <p:cNvSpPr/>
            <p:nvPr/>
          </p:nvSpPr>
          <p:spPr>
            <a:xfrm>
              <a:off x="7298050" y="2801162"/>
              <a:ext cx="280685" cy="4524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44" name="群組 43">
            <a:extLst>
              <a:ext uri="{FF2B5EF4-FFF2-40B4-BE49-F238E27FC236}">
                <a16:creationId xmlns:a16="http://schemas.microsoft.com/office/drawing/2014/main" id="{C028C2E6-875E-4409-9DEE-4C8A7D84FA72}"/>
              </a:ext>
            </a:extLst>
          </p:cNvPr>
          <p:cNvGrpSpPr/>
          <p:nvPr/>
        </p:nvGrpSpPr>
        <p:grpSpPr>
          <a:xfrm>
            <a:off x="2278919" y="1885362"/>
            <a:ext cx="1552854" cy="1072424"/>
            <a:chOff x="2382520" y="2433320"/>
            <a:chExt cx="1435453" cy="991346"/>
          </a:xfrm>
        </p:grpSpPr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6E18918F-333E-4D65-A463-1225F16E44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71027" t="57894"/>
            <a:stretch/>
          </p:blipFill>
          <p:spPr>
            <a:xfrm>
              <a:off x="2385399" y="2476548"/>
              <a:ext cx="1432574" cy="948118"/>
            </a:xfrm>
            <a:prstGeom prst="rect">
              <a:avLst/>
            </a:prstGeom>
          </p:spPr>
        </p:pic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CAEDDCA5-A007-4A54-B291-9A762A3AF75A}"/>
                </a:ext>
              </a:extLst>
            </p:cNvPr>
            <p:cNvSpPr/>
            <p:nvPr/>
          </p:nvSpPr>
          <p:spPr>
            <a:xfrm>
              <a:off x="2382520" y="2433320"/>
              <a:ext cx="391160" cy="20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22784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B99EEC2-809E-4AF1-B22E-26AA648F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EAEAB4D7-B803-4C93-8457-52D57B9BC2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788"/>
          <a:stretch/>
        </p:blipFill>
        <p:spPr>
          <a:xfrm>
            <a:off x="447579" y="4291326"/>
            <a:ext cx="3520440" cy="2077220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C1E29E72-B834-4FF2-9FB7-98501E2E7D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2533"/>
          <a:stretch/>
        </p:blipFill>
        <p:spPr>
          <a:xfrm>
            <a:off x="4428546" y="1065471"/>
            <a:ext cx="3183820" cy="2149070"/>
          </a:xfrm>
          <a:prstGeom prst="rect">
            <a:avLst/>
          </a:prstGeom>
        </p:spPr>
      </p:pic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562B7D86-5534-4DDB-93F2-A5932C4CE466}"/>
              </a:ext>
            </a:extLst>
          </p:cNvPr>
          <p:cNvSpPr txBox="1">
            <a:spLocks/>
          </p:cNvSpPr>
          <p:nvPr/>
        </p:nvSpPr>
        <p:spPr>
          <a:xfrm>
            <a:off x="67821" y="730966"/>
            <a:ext cx="7219118" cy="3813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buClr>
                <a:schemeClr val="accent1">
                  <a:lumMod val="75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dimensional (2D) Transition metal dichalcogenide (TMD) </a:t>
            </a:r>
          </a:p>
        </p:txBody>
      </p: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1DE1F9EE-5B04-4928-9D85-EBC6D21FD425}"/>
              </a:ext>
            </a:extLst>
          </p:cNvPr>
          <p:cNvGrpSpPr/>
          <p:nvPr/>
        </p:nvGrpSpPr>
        <p:grpSpPr>
          <a:xfrm>
            <a:off x="8352149" y="1203573"/>
            <a:ext cx="1881084" cy="1768898"/>
            <a:chOff x="7239000" y="975361"/>
            <a:chExt cx="1789907" cy="1683158"/>
          </a:xfrm>
        </p:grpSpPr>
        <p:pic>
          <p:nvPicPr>
            <p:cNvPr id="30" name="Picture 3" descr="https://ars.els-cdn.com/content/image/1-s2.0-S235294071730080X-gr3.jpg">
              <a:extLst>
                <a:ext uri="{FF2B5EF4-FFF2-40B4-BE49-F238E27FC236}">
                  <a16:creationId xmlns:a16="http://schemas.microsoft.com/office/drawing/2014/main" id="{42D945AA-A4D6-4CCB-9F8B-798942B853D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9748" b="47554"/>
            <a:stretch/>
          </p:blipFill>
          <p:spPr bwMode="auto">
            <a:xfrm>
              <a:off x="7239470" y="975361"/>
              <a:ext cx="1789437" cy="16831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8399471F-64AD-4680-A206-24FD2EA933B0}"/>
                </a:ext>
              </a:extLst>
            </p:cNvPr>
            <p:cNvSpPr/>
            <p:nvPr/>
          </p:nvSpPr>
          <p:spPr>
            <a:xfrm>
              <a:off x="7239000" y="983933"/>
              <a:ext cx="107313" cy="1463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BCAFFCA6-42DE-4FCC-91EE-CA58CF377001}"/>
                  </a:ext>
                </a:extLst>
              </p:cNvPr>
              <p:cNvSpPr/>
              <p:nvPr/>
            </p:nvSpPr>
            <p:spPr>
              <a:xfrm>
                <a:off x="4216925" y="3237352"/>
                <a:ext cx="3665220" cy="5078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algn="ctr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3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altLang="zh-TW" sz="1300" i="0" dirty="0" smtClean="0">
                            <a:latin typeface="Cambria Math" panose="02040503050406030204" pitchFamily="18" charset="0"/>
                          </a:rPr>
                          <m:t>MoS</m:t>
                        </m:r>
                      </m:e>
                      <m:sub>
                        <m:r>
                          <a:rPr lang="en-US" altLang="zh-TW" sz="13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it-IT" altLang="zh-TW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calculated band structure</a:t>
                </a:r>
              </a:p>
              <a:p>
                <a:pPr algn="ctr"/>
                <a:r>
                  <a:rPr lang="it-IT" altLang="zh-TW" sz="1400" dirty="0"/>
                  <a:t>A. Splendiani </a:t>
                </a:r>
                <a:r>
                  <a:rPr lang="it-IT" altLang="zh-TW" sz="1400" i="1" dirty="0"/>
                  <a:t>et al.</a:t>
                </a:r>
                <a:r>
                  <a:rPr lang="it-IT" altLang="zh-TW" sz="1400" dirty="0"/>
                  <a:t>, </a:t>
                </a:r>
                <a:r>
                  <a:rPr lang="it-IT" altLang="zh-TW" sz="1400" i="1" dirty="0"/>
                  <a:t>Nano Lett.</a:t>
                </a:r>
                <a:r>
                  <a:rPr lang="it-IT" altLang="zh-TW" sz="1400" dirty="0"/>
                  <a:t> </a:t>
                </a:r>
                <a:r>
                  <a:rPr lang="it-IT" altLang="zh-TW" sz="1400" b="1" dirty="0"/>
                  <a:t>10</a:t>
                </a:r>
                <a:r>
                  <a:rPr lang="it-IT" altLang="zh-TW" sz="1400" dirty="0"/>
                  <a:t>, 1271 (2010)</a:t>
                </a:r>
                <a:endParaRPr lang="zh-TW" alt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BCAFFCA6-42DE-4FCC-91EE-CA58CF3770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6925" y="3237352"/>
                <a:ext cx="3665220" cy="507831"/>
              </a:xfrm>
              <a:prstGeom prst="rect">
                <a:avLst/>
              </a:prstGeom>
              <a:blipFill>
                <a:blip r:embed="rId5"/>
                <a:stretch>
                  <a:fillRect t="-1205" b="-132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矩形 32">
            <a:extLst>
              <a:ext uri="{FF2B5EF4-FFF2-40B4-BE49-F238E27FC236}">
                <a16:creationId xmlns:a16="http://schemas.microsoft.com/office/drawing/2014/main" id="{5F09DF68-0E20-4FD4-8012-17FBCCB8FCFB}"/>
              </a:ext>
            </a:extLst>
          </p:cNvPr>
          <p:cNvSpPr/>
          <p:nvPr/>
        </p:nvSpPr>
        <p:spPr>
          <a:xfrm>
            <a:off x="130392" y="3237352"/>
            <a:ext cx="366522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it-IT" altLang="zh-TW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Structures of a typicle 2D </a:t>
            </a:r>
            <a:r>
              <a:rPr lang="en-US" altLang="zh-TW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TMD material</a:t>
            </a:r>
            <a:endParaRPr lang="it-IT" altLang="zh-TW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TW" sz="1400" dirty="0"/>
              <a:t>A. </a:t>
            </a:r>
            <a:r>
              <a:rPr lang="en-US" altLang="zh-TW" sz="1400" dirty="0" err="1"/>
              <a:t>Krasnok</a:t>
            </a:r>
            <a:r>
              <a:rPr lang="en-US" altLang="zh-TW" sz="1400" dirty="0"/>
              <a:t> &amp; A. </a:t>
            </a:r>
            <a:r>
              <a:rPr lang="en-US" altLang="zh-TW" sz="1400" dirty="0" err="1"/>
              <a:t>Alù</a:t>
            </a:r>
            <a:r>
              <a:rPr lang="en-US" altLang="zh-TW" sz="1400" dirty="0"/>
              <a:t>, </a:t>
            </a:r>
            <a:r>
              <a:rPr lang="en-US" altLang="zh-TW" sz="1400" i="1" dirty="0"/>
              <a:t>Appl. Sci.</a:t>
            </a:r>
            <a:r>
              <a:rPr lang="en-US" altLang="zh-TW" sz="1400" dirty="0"/>
              <a:t> </a:t>
            </a:r>
            <a:r>
              <a:rPr lang="en-US" altLang="zh-TW" sz="1400" b="1" dirty="0"/>
              <a:t>8</a:t>
            </a:r>
            <a:r>
              <a:rPr lang="en-US" altLang="zh-TW" sz="1400" dirty="0"/>
              <a:t>, 1157 (2018)</a:t>
            </a:r>
            <a:endParaRPr lang="zh-TW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2F1B1FB-CE13-4E64-81E1-41DE6C6A3A2F}"/>
              </a:ext>
            </a:extLst>
          </p:cNvPr>
          <p:cNvSpPr/>
          <p:nvPr/>
        </p:nvSpPr>
        <p:spPr>
          <a:xfrm>
            <a:off x="8222017" y="3245046"/>
            <a:ext cx="3871444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TW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Screening in materials</a:t>
            </a:r>
          </a:p>
          <a:p>
            <a:pPr algn="ctr"/>
            <a:r>
              <a:rPr lang="en-US" altLang="zh-TW" sz="1300" dirty="0"/>
              <a:t>M. </a:t>
            </a:r>
            <a:r>
              <a:rPr lang="en-US" altLang="zh-TW" sz="1300" dirty="0" err="1"/>
              <a:t>Velický</a:t>
            </a:r>
            <a:r>
              <a:rPr lang="en-US" altLang="zh-TW" sz="1300" dirty="0"/>
              <a:t> &amp; P. S. Toth, </a:t>
            </a:r>
            <a:r>
              <a:rPr lang="en-US" altLang="zh-TW" sz="1300" i="1" dirty="0"/>
              <a:t>Appl. Mater. Today</a:t>
            </a:r>
            <a:r>
              <a:rPr lang="en-US" altLang="zh-TW" sz="1300" dirty="0"/>
              <a:t> </a:t>
            </a:r>
            <a:r>
              <a:rPr lang="en-US" altLang="zh-TW" sz="1300" b="1" dirty="0"/>
              <a:t>8</a:t>
            </a:r>
            <a:r>
              <a:rPr lang="en-US" altLang="zh-TW" sz="1300" dirty="0"/>
              <a:t>, 68 (2017)</a:t>
            </a:r>
            <a:endParaRPr lang="zh-TW" altLang="en-US" sz="1300" dirty="0"/>
          </a:p>
        </p:txBody>
      </p:sp>
      <p:sp>
        <p:nvSpPr>
          <p:cNvPr id="35" name="內容版面配置區 2">
            <a:extLst>
              <a:ext uri="{FF2B5EF4-FFF2-40B4-BE49-F238E27FC236}">
                <a16:creationId xmlns:a16="http://schemas.microsoft.com/office/drawing/2014/main" id="{4F221197-7189-473B-A8E5-AD00A6ABF315}"/>
              </a:ext>
            </a:extLst>
          </p:cNvPr>
          <p:cNvSpPr txBox="1">
            <a:spLocks/>
          </p:cNvSpPr>
          <p:nvPr/>
        </p:nvSpPr>
        <p:spPr>
          <a:xfrm>
            <a:off x="67821" y="3790825"/>
            <a:ext cx="2675379" cy="3074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buClr>
                <a:schemeClr val="accent1">
                  <a:lumMod val="75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Exciton in 2D TMD</a:t>
            </a:r>
          </a:p>
        </p:txBody>
      </p: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70284759-60F3-4736-85A1-225E1E4DC27E}"/>
              </a:ext>
            </a:extLst>
          </p:cNvPr>
          <p:cNvGrpSpPr/>
          <p:nvPr/>
        </p:nvGrpSpPr>
        <p:grpSpPr>
          <a:xfrm>
            <a:off x="634378" y="1236675"/>
            <a:ext cx="1773130" cy="1858188"/>
            <a:chOff x="1137907" y="1206142"/>
            <a:chExt cx="1432574" cy="1501295"/>
          </a:xfrm>
        </p:grpSpPr>
        <p:pic>
          <p:nvPicPr>
            <p:cNvPr id="37" name="圖片 36">
              <a:extLst>
                <a:ext uri="{FF2B5EF4-FFF2-40B4-BE49-F238E27FC236}">
                  <a16:creationId xmlns:a16="http://schemas.microsoft.com/office/drawing/2014/main" id="{7BCE1D80-D686-4A9B-8C89-32F0563AF6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1027" b="36476"/>
            <a:stretch/>
          </p:blipFill>
          <p:spPr>
            <a:xfrm>
              <a:off x="1137907" y="1206142"/>
              <a:ext cx="1432574" cy="1430378"/>
            </a:xfrm>
            <a:prstGeom prst="rect">
              <a:avLst/>
            </a:prstGeom>
          </p:spPr>
        </p:pic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AAB79C9D-8621-409E-9077-B61D5C59CFA8}"/>
                </a:ext>
              </a:extLst>
            </p:cNvPr>
            <p:cNvSpPr/>
            <p:nvPr/>
          </p:nvSpPr>
          <p:spPr>
            <a:xfrm>
              <a:off x="2004166" y="2504237"/>
              <a:ext cx="391160" cy="20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3D3EEBFC-786A-41ED-B174-3377A14086AE}"/>
              </a:ext>
            </a:extLst>
          </p:cNvPr>
          <p:cNvGrpSpPr/>
          <p:nvPr/>
        </p:nvGrpSpPr>
        <p:grpSpPr>
          <a:xfrm>
            <a:off x="10088945" y="1410256"/>
            <a:ext cx="1880592" cy="1455588"/>
            <a:chOff x="7239470" y="2799627"/>
            <a:chExt cx="1789437" cy="1385032"/>
          </a:xfrm>
        </p:grpSpPr>
        <p:pic>
          <p:nvPicPr>
            <p:cNvPr id="40" name="Picture 3" descr="https://ars.els-cdn.com/content/image/1-s2.0-S235294071730080X-gr3.jpg">
              <a:extLst>
                <a:ext uri="{FF2B5EF4-FFF2-40B4-BE49-F238E27FC236}">
                  <a16:creationId xmlns:a16="http://schemas.microsoft.com/office/drawing/2014/main" id="{CA43F1CF-6245-4C5E-8A93-5FCB9089CBB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6843" r="49748"/>
            <a:stretch/>
          </p:blipFill>
          <p:spPr bwMode="auto">
            <a:xfrm>
              <a:off x="7239470" y="2799627"/>
              <a:ext cx="1789437" cy="13850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A6B37CB3-E96D-4398-B54F-54F394329F86}"/>
                </a:ext>
              </a:extLst>
            </p:cNvPr>
            <p:cNvSpPr/>
            <p:nvPr/>
          </p:nvSpPr>
          <p:spPr>
            <a:xfrm>
              <a:off x="7298050" y="2801162"/>
              <a:ext cx="280685" cy="4524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42" name="群組 41">
            <a:extLst>
              <a:ext uri="{FF2B5EF4-FFF2-40B4-BE49-F238E27FC236}">
                <a16:creationId xmlns:a16="http://schemas.microsoft.com/office/drawing/2014/main" id="{91E2A23E-6F0D-461F-B5C0-DE1BE0F702D1}"/>
              </a:ext>
            </a:extLst>
          </p:cNvPr>
          <p:cNvGrpSpPr/>
          <p:nvPr/>
        </p:nvGrpSpPr>
        <p:grpSpPr>
          <a:xfrm>
            <a:off x="2278919" y="1885362"/>
            <a:ext cx="1552854" cy="1072424"/>
            <a:chOff x="2382520" y="2433320"/>
            <a:chExt cx="1435453" cy="991346"/>
          </a:xfrm>
        </p:grpSpPr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040E213E-BC7E-4CD1-8BA8-1250C888856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1027" t="57894"/>
            <a:stretch/>
          </p:blipFill>
          <p:spPr>
            <a:xfrm>
              <a:off x="2385399" y="2476548"/>
              <a:ext cx="1432574" cy="948118"/>
            </a:xfrm>
            <a:prstGeom prst="rect">
              <a:avLst/>
            </a:prstGeom>
          </p:spPr>
        </p:pic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523BAA3D-248C-41B6-894E-DC956B375614}"/>
                </a:ext>
              </a:extLst>
            </p:cNvPr>
            <p:cNvSpPr/>
            <p:nvPr/>
          </p:nvSpPr>
          <p:spPr>
            <a:xfrm>
              <a:off x="2382520" y="2433320"/>
              <a:ext cx="391160" cy="20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4290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B99EEC2-809E-4AF1-B22E-26AA648F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3D10935E-BB9C-4A9E-82C9-0BC5DEAE20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2533"/>
          <a:stretch/>
        </p:blipFill>
        <p:spPr>
          <a:xfrm>
            <a:off x="4428546" y="1065471"/>
            <a:ext cx="3183820" cy="2149070"/>
          </a:xfrm>
          <a:prstGeom prst="rect">
            <a:avLst/>
          </a:prstGeom>
        </p:spPr>
      </p:pic>
      <p:sp>
        <p:nvSpPr>
          <p:cNvPr id="19" name="內容版面配置區 2">
            <a:extLst>
              <a:ext uri="{FF2B5EF4-FFF2-40B4-BE49-F238E27FC236}">
                <a16:creationId xmlns:a16="http://schemas.microsoft.com/office/drawing/2014/main" id="{CB643816-D742-43FD-95D6-7E0EF7B7120B}"/>
              </a:ext>
            </a:extLst>
          </p:cNvPr>
          <p:cNvSpPr txBox="1">
            <a:spLocks/>
          </p:cNvSpPr>
          <p:nvPr/>
        </p:nvSpPr>
        <p:spPr>
          <a:xfrm>
            <a:off x="67821" y="730966"/>
            <a:ext cx="7219118" cy="3813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buClr>
                <a:schemeClr val="accent1">
                  <a:lumMod val="75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dimensional (2D) Transition metal dichalcogenide (TMD) </a:t>
            </a:r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11834A5C-5281-49D6-9147-3FC92E8DA8CF}"/>
              </a:ext>
            </a:extLst>
          </p:cNvPr>
          <p:cNvGrpSpPr/>
          <p:nvPr/>
        </p:nvGrpSpPr>
        <p:grpSpPr>
          <a:xfrm>
            <a:off x="8352149" y="1203573"/>
            <a:ext cx="1881084" cy="1768898"/>
            <a:chOff x="7239000" y="975361"/>
            <a:chExt cx="1789907" cy="1683158"/>
          </a:xfrm>
        </p:grpSpPr>
        <p:pic>
          <p:nvPicPr>
            <p:cNvPr id="2051" name="Picture 3" descr="https://ars.els-cdn.com/content/image/1-s2.0-S235294071730080X-gr3.jpg">
              <a:extLst>
                <a:ext uri="{FF2B5EF4-FFF2-40B4-BE49-F238E27FC236}">
                  <a16:creationId xmlns:a16="http://schemas.microsoft.com/office/drawing/2014/main" id="{1B8458DB-585F-4581-BA13-2075CA78C27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9748" b="47554"/>
            <a:stretch/>
          </p:blipFill>
          <p:spPr bwMode="auto">
            <a:xfrm>
              <a:off x="7239470" y="975361"/>
              <a:ext cx="1789437" cy="16831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881C8294-F689-4CFB-84F6-46EF3F7C9B72}"/>
                </a:ext>
              </a:extLst>
            </p:cNvPr>
            <p:cNvSpPr/>
            <p:nvPr/>
          </p:nvSpPr>
          <p:spPr>
            <a:xfrm>
              <a:off x="7239000" y="983933"/>
              <a:ext cx="107313" cy="1463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B67D38DD-640F-4966-A172-61BD64B30CAE}"/>
                  </a:ext>
                </a:extLst>
              </p:cNvPr>
              <p:cNvSpPr/>
              <p:nvPr/>
            </p:nvSpPr>
            <p:spPr>
              <a:xfrm>
                <a:off x="4216925" y="3237352"/>
                <a:ext cx="3665220" cy="5078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algn="ctr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3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altLang="zh-TW" sz="1300" i="0" dirty="0" smtClean="0">
                            <a:latin typeface="Cambria Math" panose="02040503050406030204" pitchFamily="18" charset="0"/>
                          </a:rPr>
                          <m:t>MoS</m:t>
                        </m:r>
                      </m:e>
                      <m:sub>
                        <m:r>
                          <a:rPr lang="en-US" altLang="zh-TW" sz="13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it-IT" altLang="zh-TW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calculated band structure</a:t>
                </a:r>
              </a:p>
              <a:p>
                <a:pPr algn="ctr"/>
                <a:r>
                  <a:rPr lang="it-IT" altLang="zh-TW" sz="1400" dirty="0"/>
                  <a:t>A. Splendiani </a:t>
                </a:r>
                <a:r>
                  <a:rPr lang="it-IT" altLang="zh-TW" sz="1400" i="1" dirty="0"/>
                  <a:t>et al.</a:t>
                </a:r>
                <a:r>
                  <a:rPr lang="it-IT" altLang="zh-TW" sz="1400" dirty="0"/>
                  <a:t>, </a:t>
                </a:r>
                <a:r>
                  <a:rPr lang="it-IT" altLang="zh-TW" sz="1400" i="1" dirty="0"/>
                  <a:t>Nano Lett.</a:t>
                </a:r>
                <a:r>
                  <a:rPr lang="it-IT" altLang="zh-TW" sz="1400" dirty="0"/>
                  <a:t> </a:t>
                </a:r>
                <a:r>
                  <a:rPr lang="it-IT" altLang="zh-TW" sz="1400" b="1" dirty="0"/>
                  <a:t>10</a:t>
                </a:r>
                <a:r>
                  <a:rPr lang="it-IT" altLang="zh-TW" sz="1400" dirty="0"/>
                  <a:t>, 1271 (2010)</a:t>
                </a:r>
                <a:endParaRPr lang="zh-TW" alt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B67D38DD-640F-4966-A172-61BD64B30C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6925" y="3237352"/>
                <a:ext cx="3665220" cy="507831"/>
              </a:xfrm>
              <a:prstGeom prst="rect">
                <a:avLst/>
              </a:prstGeom>
              <a:blipFill>
                <a:blip r:embed="rId4"/>
                <a:stretch>
                  <a:fillRect t="-1205" b="-132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11ED28BF-368B-49CF-8CDE-B7AC70CDFFA3}"/>
              </a:ext>
            </a:extLst>
          </p:cNvPr>
          <p:cNvSpPr/>
          <p:nvPr/>
        </p:nvSpPr>
        <p:spPr>
          <a:xfrm>
            <a:off x="130392" y="3237352"/>
            <a:ext cx="366522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it-IT" altLang="zh-TW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Structures of a typicle 2D </a:t>
            </a:r>
            <a:r>
              <a:rPr lang="en-US" altLang="zh-TW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TMD material</a:t>
            </a:r>
            <a:endParaRPr lang="it-IT" altLang="zh-TW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TW" sz="1400" dirty="0"/>
              <a:t>A. </a:t>
            </a:r>
            <a:r>
              <a:rPr lang="en-US" altLang="zh-TW" sz="1400" dirty="0" err="1"/>
              <a:t>Krasnok</a:t>
            </a:r>
            <a:r>
              <a:rPr lang="en-US" altLang="zh-TW" sz="1400" dirty="0"/>
              <a:t> &amp; A. </a:t>
            </a:r>
            <a:r>
              <a:rPr lang="en-US" altLang="zh-TW" sz="1400" dirty="0" err="1"/>
              <a:t>Alù</a:t>
            </a:r>
            <a:r>
              <a:rPr lang="en-US" altLang="zh-TW" sz="1400" dirty="0"/>
              <a:t>, </a:t>
            </a:r>
            <a:r>
              <a:rPr lang="en-US" altLang="zh-TW" sz="1400" i="1" dirty="0"/>
              <a:t>Appl. Sci.</a:t>
            </a:r>
            <a:r>
              <a:rPr lang="en-US" altLang="zh-TW" sz="1400" dirty="0"/>
              <a:t> </a:t>
            </a:r>
            <a:r>
              <a:rPr lang="en-US" altLang="zh-TW" sz="1400" b="1" dirty="0"/>
              <a:t>8</a:t>
            </a:r>
            <a:r>
              <a:rPr lang="en-US" altLang="zh-TW" sz="1400" dirty="0"/>
              <a:t>, 1157 (2018)</a:t>
            </a:r>
            <a:endParaRPr lang="zh-TW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4CEC191-68E1-484B-866A-00B6133F5B4F}"/>
              </a:ext>
            </a:extLst>
          </p:cNvPr>
          <p:cNvSpPr/>
          <p:nvPr/>
        </p:nvSpPr>
        <p:spPr>
          <a:xfrm>
            <a:off x="8222017" y="3245046"/>
            <a:ext cx="3871444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TW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Screening in materials</a:t>
            </a:r>
          </a:p>
          <a:p>
            <a:pPr algn="ctr"/>
            <a:r>
              <a:rPr lang="en-US" altLang="zh-TW" sz="1300" dirty="0"/>
              <a:t>M. </a:t>
            </a:r>
            <a:r>
              <a:rPr lang="en-US" altLang="zh-TW" sz="1300" dirty="0" err="1"/>
              <a:t>Velický</a:t>
            </a:r>
            <a:r>
              <a:rPr lang="en-US" altLang="zh-TW" sz="1300" dirty="0"/>
              <a:t> &amp; P. S. Toth, </a:t>
            </a:r>
            <a:r>
              <a:rPr lang="en-US" altLang="zh-TW" sz="1300" i="1" dirty="0"/>
              <a:t>Appl. Mater. Today</a:t>
            </a:r>
            <a:r>
              <a:rPr lang="en-US" altLang="zh-TW" sz="1300" dirty="0"/>
              <a:t> </a:t>
            </a:r>
            <a:r>
              <a:rPr lang="en-US" altLang="zh-TW" sz="1300" b="1" dirty="0"/>
              <a:t>8</a:t>
            </a:r>
            <a:r>
              <a:rPr lang="en-US" altLang="zh-TW" sz="1300" dirty="0"/>
              <a:t>, 68 (2017)</a:t>
            </a:r>
            <a:endParaRPr lang="zh-TW" altLang="en-US" sz="1300" dirty="0"/>
          </a:p>
        </p:txBody>
      </p:sp>
      <p:sp>
        <p:nvSpPr>
          <p:cNvPr id="25" name="內容版面配置區 2">
            <a:extLst>
              <a:ext uri="{FF2B5EF4-FFF2-40B4-BE49-F238E27FC236}">
                <a16:creationId xmlns:a16="http://schemas.microsoft.com/office/drawing/2014/main" id="{ADA6BFAE-B89B-4FF5-BCFF-7884B5DF2BEA}"/>
              </a:ext>
            </a:extLst>
          </p:cNvPr>
          <p:cNvSpPr txBox="1">
            <a:spLocks/>
          </p:cNvSpPr>
          <p:nvPr/>
        </p:nvSpPr>
        <p:spPr>
          <a:xfrm>
            <a:off x="67821" y="3790825"/>
            <a:ext cx="2675379" cy="3074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buClr>
                <a:schemeClr val="accent1">
                  <a:lumMod val="75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Exciton in 2D TMD</a:t>
            </a:r>
          </a:p>
        </p:txBody>
      </p:sp>
      <p:sp>
        <p:nvSpPr>
          <p:cNvPr id="26" name="內容版面配置區 2">
            <a:extLst>
              <a:ext uri="{FF2B5EF4-FFF2-40B4-BE49-F238E27FC236}">
                <a16:creationId xmlns:a16="http://schemas.microsoft.com/office/drawing/2014/main" id="{8BC166C7-51C6-4FD2-85E9-0DC437D12A18}"/>
              </a:ext>
            </a:extLst>
          </p:cNvPr>
          <p:cNvSpPr txBox="1">
            <a:spLocks/>
          </p:cNvSpPr>
          <p:nvPr/>
        </p:nvSpPr>
        <p:spPr>
          <a:xfrm>
            <a:off x="3929662" y="3790825"/>
            <a:ext cx="2675379" cy="3074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buClr>
                <a:schemeClr val="accent1">
                  <a:lumMod val="75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Exciton types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5A2492F-A78C-4D6D-B5B7-71FDDED01DD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17"/>
          <a:stretch/>
        </p:blipFill>
        <p:spPr>
          <a:xfrm>
            <a:off x="4493509" y="4178855"/>
            <a:ext cx="3891424" cy="1265027"/>
          </a:xfrm>
          <a:prstGeom prst="rect">
            <a:avLst/>
          </a:prstGeom>
        </p:spPr>
      </p:pic>
      <p:grpSp>
        <p:nvGrpSpPr>
          <p:cNvPr id="12" name="群組 11">
            <a:extLst>
              <a:ext uri="{FF2B5EF4-FFF2-40B4-BE49-F238E27FC236}">
                <a16:creationId xmlns:a16="http://schemas.microsoft.com/office/drawing/2014/main" id="{D7C167E2-C56D-450A-9D62-9C22A10776CE}"/>
              </a:ext>
            </a:extLst>
          </p:cNvPr>
          <p:cNvGrpSpPr/>
          <p:nvPr/>
        </p:nvGrpSpPr>
        <p:grpSpPr>
          <a:xfrm>
            <a:off x="634378" y="1236675"/>
            <a:ext cx="1773130" cy="1858188"/>
            <a:chOff x="1137907" y="1206142"/>
            <a:chExt cx="1432574" cy="1501295"/>
          </a:xfrm>
        </p:grpSpPr>
        <p:pic>
          <p:nvPicPr>
            <p:cNvPr id="20" name="圖片 19">
              <a:extLst>
                <a:ext uri="{FF2B5EF4-FFF2-40B4-BE49-F238E27FC236}">
                  <a16:creationId xmlns:a16="http://schemas.microsoft.com/office/drawing/2014/main" id="{3E92F052-5BD1-451F-806B-60BDA9A475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1027" b="36476"/>
            <a:stretch/>
          </p:blipFill>
          <p:spPr>
            <a:xfrm>
              <a:off x="1137907" y="1206142"/>
              <a:ext cx="1432574" cy="1430378"/>
            </a:xfrm>
            <a:prstGeom prst="rect">
              <a:avLst/>
            </a:prstGeom>
          </p:spPr>
        </p:pic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EB595994-8C47-43E6-A274-DE6FC6DA3874}"/>
                </a:ext>
              </a:extLst>
            </p:cNvPr>
            <p:cNvSpPr/>
            <p:nvPr/>
          </p:nvSpPr>
          <p:spPr>
            <a:xfrm>
              <a:off x="2004166" y="2504237"/>
              <a:ext cx="391160" cy="20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1FBFE1B4-88BA-4C28-A61E-EC10ED7925FE}"/>
              </a:ext>
            </a:extLst>
          </p:cNvPr>
          <p:cNvGrpSpPr/>
          <p:nvPr/>
        </p:nvGrpSpPr>
        <p:grpSpPr>
          <a:xfrm>
            <a:off x="10088945" y="1410256"/>
            <a:ext cx="1880592" cy="1455588"/>
            <a:chOff x="7239470" y="2799627"/>
            <a:chExt cx="1789437" cy="1385032"/>
          </a:xfrm>
        </p:grpSpPr>
        <p:pic>
          <p:nvPicPr>
            <p:cNvPr id="31" name="Picture 3" descr="https://ars.els-cdn.com/content/image/1-s2.0-S235294071730080X-gr3.jpg">
              <a:extLst>
                <a:ext uri="{FF2B5EF4-FFF2-40B4-BE49-F238E27FC236}">
                  <a16:creationId xmlns:a16="http://schemas.microsoft.com/office/drawing/2014/main" id="{A9809DC4-BA7D-4B02-B6F5-51FD39707C1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6843" r="49748"/>
            <a:stretch/>
          </p:blipFill>
          <p:spPr bwMode="auto">
            <a:xfrm>
              <a:off x="7239470" y="2799627"/>
              <a:ext cx="1789437" cy="13850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A3505E65-D885-43B3-B823-53004B7FD25E}"/>
                </a:ext>
              </a:extLst>
            </p:cNvPr>
            <p:cNvSpPr/>
            <p:nvPr/>
          </p:nvSpPr>
          <p:spPr>
            <a:xfrm>
              <a:off x="7298050" y="2801162"/>
              <a:ext cx="280685" cy="4524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7C09A0C3-183D-4132-9ED8-774EE73D3309}"/>
              </a:ext>
            </a:extLst>
          </p:cNvPr>
          <p:cNvGrpSpPr/>
          <p:nvPr/>
        </p:nvGrpSpPr>
        <p:grpSpPr>
          <a:xfrm>
            <a:off x="2278919" y="1885362"/>
            <a:ext cx="1552854" cy="1072424"/>
            <a:chOff x="2382520" y="2433320"/>
            <a:chExt cx="1435453" cy="991346"/>
          </a:xfrm>
        </p:grpSpPr>
        <p:pic>
          <p:nvPicPr>
            <p:cNvPr id="28" name="圖片 27">
              <a:extLst>
                <a:ext uri="{FF2B5EF4-FFF2-40B4-BE49-F238E27FC236}">
                  <a16:creationId xmlns:a16="http://schemas.microsoft.com/office/drawing/2014/main" id="{41483170-7413-4B75-AB1D-E0B23AD321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1027" t="57894"/>
            <a:stretch/>
          </p:blipFill>
          <p:spPr>
            <a:xfrm>
              <a:off x="2385399" y="2476548"/>
              <a:ext cx="1432574" cy="948118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A36EC78-AE2E-4102-9046-DDD4E2AA5233}"/>
                </a:ext>
              </a:extLst>
            </p:cNvPr>
            <p:cNvSpPr/>
            <p:nvPr/>
          </p:nvSpPr>
          <p:spPr>
            <a:xfrm>
              <a:off x="2382520" y="2433320"/>
              <a:ext cx="391160" cy="20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33" name="圖片 32">
            <a:extLst>
              <a:ext uri="{FF2B5EF4-FFF2-40B4-BE49-F238E27FC236}">
                <a16:creationId xmlns:a16="http://schemas.microsoft.com/office/drawing/2014/main" id="{17B2DE0A-F09E-48AE-9A7A-7943BAD19F5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9788"/>
          <a:stretch/>
        </p:blipFill>
        <p:spPr>
          <a:xfrm>
            <a:off x="447579" y="4291326"/>
            <a:ext cx="3520440" cy="2077220"/>
          </a:xfrm>
          <a:prstGeom prst="rect">
            <a:avLst/>
          </a:prstGeom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CD61F4AB-71B9-4BAE-BFF5-099F8CCA9FD9}"/>
              </a:ext>
            </a:extLst>
          </p:cNvPr>
          <p:cNvSpPr/>
          <p:nvPr/>
        </p:nvSpPr>
        <p:spPr>
          <a:xfrm>
            <a:off x="8415831" y="4538598"/>
            <a:ext cx="3753399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TW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Bright excitons degenerate</a:t>
            </a:r>
          </a:p>
          <a:p>
            <a:pPr algn="ctr"/>
            <a:r>
              <a:rPr lang="en-US" altLang="zh-TW" sz="1400" dirty="0"/>
              <a:t>G.-H. Peng </a:t>
            </a:r>
            <a:r>
              <a:rPr lang="en-US" altLang="zh-TW" sz="1400" i="1" dirty="0"/>
              <a:t>et al.</a:t>
            </a:r>
            <a:r>
              <a:rPr lang="en-US" altLang="zh-TW" sz="1400" dirty="0"/>
              <a:t>, </a:t>
            </a:r>
            <a:r>
              <a:rPr lang="en-US" altLang="zh-TW" sz="1400" i="1" dirty="0"/>
              <a:t>Phys. Rev. B</a:t>
            </a:r>
            <a:r>
              <a:rPr lang="en-US" altLang="zh-TW" sz="1400" dirty="0"/>
              <a:t> </a:t>
            </a:r>
            <a:r>
              <a:rPr lang="en-US" altLang="zh-TW" sz="1400" b="1" dirty="0"/>
              <a:t>106</a:t>
            </a:r>
            <a:r>
              <a:rPr lang="en-US" altLang="zh-TW" sz="1400" dirty="0"/>
              <a:t>, 155304 (2022)</a:t>
            </a:r>
            <a:endParaRPr lang="zh-TW" altLang="en-US" sz="1300" dirty="0"/>
          </a:p>
        </p:txBody>
      </p:sp>
    </p:spTree>
    <p:extLst>
      <p:ext uri="{BB962C8B-B14F-4D97-AF65-F5344CB8AC3E}">
        <p14:creationId xmlns:p14="http://schemas.microsoft.com/office/powerpoint/2010/main" val="4264089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B99EEC2-809E-4AF1-B22E-26AA648F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3D10935E-BB9C-4A9E-82C9-0BC5DEAE20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2533"/>
          <a:stretch/>
        </p:blipFill>
        <p:spPr>
          <a:xfrm>
            <a:off x="4428546" y="1065471"/>
            <a:ext cx="3183820" cy="2149070"/>
          </a:xfrm>
          <a:prstGeom prst="rect">
            <a:avLst/>
          </a:prstGeom>
        </p:spPr>
      </p:pic>
      <p:sp>
        <p:nvSpPr>
          <p:cNvPr id="19" name="內容版面配置區 2">
            <a:extLst>
              <a:ext uri="{FF2B5EF4-FFF2-40B4-BE49-F238E27FC236}">
                <a16:creationId xmlns:a16="http://schemas.microsoft.com/office/drawing/2014/main" id="{CB643816-D742-43FD-95D6-7E0EF7B7120B}"/>
              </a:ext>
            </a:extLst>
          </p:cNvPr>
          <p:cNvSpPr txBox="1">
            <a:spLocks/>
          </p:cNvSpPr>
          <p:nvPr/>
        </p:nvSpPr>
        <p:spPr>
          <a:xfrm>
            <a:off x="67821" y="730966"/>
            <a:ext cx="7219118" cy="3813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buClr>
                <a:schemeClr val="accent1">
                  <a:lumMod val="75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dimensional (2D) Transition metal dichalcogenide (TMD) </a:t>
            </a:r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11834A5C-5281-49D6-9147-3FC92E8DA8CF}"/>
              </a:ext>
            </a:extLst>
          </p:cNvPr>
          <p:cNvGrpSpPr/>
          <p:nvPr/>
        </p:nvGrpSpPr>
        <p:grpSpPr>
          <a:xfrm>
            <a:off x="8352149" y="1203573"/>
            <a:ext cx="1881084" cy="1768898"/>
            <a:chOff x="7239000" y="975361"/>
            <a:chExt cx="1789907" cy="1683158"/>
          </a:xfrm>
        </p:grpSpPr>
        <p:pic>
          <p:nvPicPr>
            <p:cNvPr id="2051" name="Picture 3" descr="https://ars.els-cdn.com/content/image/1-s2.0-S235294071730080X-gr3.jpg">
              <a:extLst>
                <a:ext uri="{FF2B5EF4-FFF2-40B4-BE49-F238E27FC236}">
                  <a16:creationId xmlns:a16="http://schemas.microsoft.com/office/drawing/2014/main" id="{1B8458DB-585F-4581-BA13-2075CA78C27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9748" b="47554"/>
            <a:stretch/>
          </p:blipFill>
          <p:spPr bwMode="auto">
            <a:xfrm>
              <a:off x="7239470" y="975361"/>
              <a:ext cx="1789437" cy="16831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881C8294-F689-4CFB-84F6-46EF3F7C9B72}"/>
                </a:ext>
              </a:extLst>
            </p:cNvPr>
            <p:cNvSpPr/>
            <p:nvPr/>
          </p:nvSpPr>
          <p:spPr>
            <a:xfrm>
              <a:off x="7239000" y="983933"/>
              <a:ext cx="107313" cy="1463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B67D38DD-640F-4966-A172-61BD64B30CAE}"/>
                  </a:ext>
                </a:extLst>
              </p:cNvPr>
              <p:cNvSpPr/>
              <p:nvPr/>
            </p:nvSpPr>
            <p:spPr>
              <a:xfrm>
                <a:off x="4216925" y="3237352"/>
                <a:ext cx="3665220" cy="5078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algn="ctr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3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altLang="zh-TW" sz="1300" i="0" dirty="0" smtClean="0">
                            <a:latin typeface="Cambria Math" panose="02040503050406030204" pitchFamily="18" charset="0"/>
                          </a:rPr>
                          <m:t>MoS</m:t>
                        </m:r>
                      </m:e>
                      <m:sub>
                        <m:r>
                          <a:rPr lang="en-US" altLang="zh-TW" sz="13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it-IT" altLang="zh-TW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calculated band structure</a:t>
                </a:r>
              </a:p>
              <a:p>
                <a:pPr algn="ctr"/>
                <a:r>
                  <a:rPr lang="it-IT" altLang="zh-TW" sz="1400" dirty="0"/>
                  <a:t>A. Splendiani </a:t>
                </a:r>
                <a:r>
                  <a:rPr lang="it-IT" altLang="zh-TW" sz="1400" i="1" dirty="0"/>
                  <a:t>et al.</a:t>
                </a:r>
                <a:r>
                  <a:rPr lang="it-IT" altLang="zh-TW" sz="1400" dirty="0"/>
                  <a:t>, </a:t>
                </a:r>
                <a:r>
                  <a:rPr lang="it-IT" altLang="zh-TW" sz="1400" i="1" dirty="0"/>
                  <a:t>Nano Lett.</a:t>
                </a:r>
                <a:r>
                  <a:rPr lang="it-IT" altLang="zh-TW" sz="1400" dirty="0"/>
                  <a:t> </a:t>
                </a:r>
                <a:r>
                  <a:rPr lang="it-IT" altLang="zh-TW" sz="1400" b="1" dirty="0"/>
                  <a:t>10</a:t>
                </a:r>
                <a:r>
                  <a:rPr lang="it-IT" altLang="zh-TW" sz="1400" dirty="0"/>
                  <a:t>, 1271 (2010)</a:t>
                </a:r>
                <a:endParaRPr lang="zh-TW" alt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B67D38DD-640F-4966-A172-61BD64B30C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6925" y="3237352"/>
                <a:ext cx="3665220" cy="507831"/>
              </a:xfrm>
              <a:prstGeom prst="rect">
                <a:avLst/>
              </a:prstGeom>
              <a:blipFill>
                <a:blip r:embed="rId4"/>
                <a:stretch>
                  <a:fillRect t="-1205" b="-132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11ED28BF-368B-49CF-8CDE-B7AC70CDFFA3}"/>
              </a:ext>
            </a:extLst>
          </p:cNvPr>
          <p:cNvSpPr/>
          <p:nvPr/>
        </p:nvSpPr>
        <p:spPr>
          <a:xfrm>
            <a:off x="130392" y="3237352"/>
            <a:ext cx="366522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it-IT" altLang="zh-TW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Structures of a typicle 2D </a:t>
            </a:r>
            <a:r>
              <a:rPr lang="en-US" altLang="zh-TW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TMD material</a:t>
            </a:r>
            <a:endParaRPr lang="it-IT" altLang="zh-TW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TW" sz="1400" dirty="0"/>
              <a:t>A. </a:t>
            </a:r>
            <a:r>
              <a:rPr lang="en-US" altLang="zh-TW" sz="1400" dirty="0" err="1"/>
              <a:t>Krasnok</a:t>
            </a:r>
            <a:r>
              <a:rPr lang="en-US" altLang="zh-TW" sz="1400" dirty="0"/>
              <a:t> &amp; A. </a:t>
            </a:r>
            <a:r>
              <a:rPr lang="en-US" altLang="zh-TW" sz="1400" dirty="0" err="1"/>
              <a:t>Alù</a:t>
            </a:r>
            <a:r>
              <a:rPr lang="en-US" altLang="zh-TW" sz="1400" dirty="0"/>
              <a:t>, </a:t>
            </a:r>
            <a:r>
              <a:rPr lang="en-US" altLang="zh-TW" sz="1400" i="1" dirty="0"/>
              <a:t>Appl. Sci.</a:t>
            </a:r>
            <a:r>
              <a:rPr lang="en-US" altLang="zh-TW" sz="1400" dirty="0"/>
              <a:t> </a:t>
            </a:r>
            <a:r>
              <a:rPr lang="en-US" altLang="zh-TW" sz="1400" b="1" dirty="0"/>
              <a:t>8</a:t>
            </a:r>
            <a:r>
              <a:rPr lang="en-US" altLang="zh-TW" sz="1400" dirty="0"/>
              <a:t>, 1157 (2018)</a:t>
            </a:r>
            <a:endParaRPr lang="zh-TW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4CEC191-68E1-484B-866A-00B6133F5B4F}"/>
              </a:ext>
            </a:extLst>
          </p:cNvPr>
          <p:cNvSpPr/>
          <p:nvPr/>
        </p:nvSpPr>
        <p:spPr>
          <a:xfrm>
            <a:off x="8222017" y="3245046"/>
            <a:ext cx="3871444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TW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Screening in materials</a:t>
            </a:r>
          </a:p>
          <a:p>
            <a:pPr algn="ctr"/>
            <a:r>
              <a:rPr lang="en-US" altLang="zh-TW" sz="1300" dirty="0"/>
              <a:t>M. </a:t>
            </a:r>
            <a:r>
              <a:rPr lang="en-US" altLang="zh-TW" sz="1300" dirty="0" err="1"/>
              <a:t>Velický</a:t>
            </a:r>
            <a:r>
              <a:rPr lang="en-US" altLang="zh-TW" sz="1300" dirty="0"/>
              <a:t> &amp; P. S. Toth, </a:t>
            </a:r>
            <a:r>
              <a:rPr lang="en-US" altLang="zh-TW" sz="1300" i="1" dirty="0"/>
              <a:t>Appl. Mater. Today</a:t>
            </a:r>
            <a:r>
              <a:rPr lang="en-US" altLang="zh-TW" sz="1300" dirty="0"/>
              <a:t> </a:t>
            </a:r>
            <a:r>
              <a:rPr lang="en-US" altLang="zh-TW" sz="1300" b="1" dirty="0"/>
              <a:t>8</a:t>
            </a:r>
            <a:r>
              <a:rPr lang="en-US" altLang="zh-TW" sz="1300" dirty="0"/>
              <a:t>, 68 (2017)</a:t>
            </a:r>
            <a:endParaRPr lang="zh-TW" altLang="en-US" sz="1300" dirty="0"/>
          </a:p>
        </p:txBody>
      </p:sp>
      <p:sp>
        <p:nvSpPr>
          <p:cNvPr id="25" name="內容版面配置區 2">
            <a:extLst>
              <a:ext uri="{FF2B5EF4-FFF2-40B4-BE49-F238E27FC236}">
                <a16:creationId xmlns:a16="http://schemas.microsoft.com/office/drawing/2014/main" id="{ADA6BFAE-B89B-4FF5-BCFF-7884B5DF2BEA}"/>
              </a:ext>
            </a:extLst>
          </p:cNvPr>
          <p:cNvSpPr txBox="1">
            <a:spLocks/>
          </p:cNvSpPr>
          <p:nvPr/>
        </p:nvSpPr>
        <p:spPr>
          <a:xfrm>
            <a:off x="67821" y="3790825"/>
            <a:ext cx="2675379" cy="3074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buClr>
                <a:schemeClr val="accent1">
                  <a:lumMod val="75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Exciton in 2D TMD</a:t>
            </a:r>
          </a:p>
        </p:txBody>
      </p:sp>
      <p:sp>
        <p:nvSpPr>
          <p:cNvPr id="26" name="內容版面配置區 2">
            <a:extLst>
              <a:ext uri="{FF2B5EF4-FFF2-40B4-BE49-F238E27FC236}">
                <a16:creationId xmlns:a16="http://schemas.microsoft.com/office/drawing/2014/main" id="{8BC166C7-51C6-4FD2-85E9-0DC437D12A18}"/>
              </a:ext>
            </a:extLst>
          </p:cNvPr>
          <p:cNvSpPr txBox="1">
            <a:spLocks/>
          </p:cNvSpPr>
          <p:nvPr/>
        </p:nvSpPr>
        <p:spPr>
          <a:xfrm>
            <a:off x="3929662" y="3790825"/>
            <a:ext cx="2675379" cy="3074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buClr>
                <a:schemeClr val="accent1">
                  <a:lumMod val="75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Exciton types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E41DB2C4-D541-4C10-A78B-4B7BEAAFFD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5761" y="5580667"/>
            <a:ext cx="3952579" cy="948085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05A2492F-A78C-4D6D-B5B7-71FDDED01DD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17"/>
          <a:stretch/>
        </p:blipFill>
        <p:spPr>
          <a:xfrm>
            <a:off x="4493509" y="4178855"/>
            <a:ext cx="3891424" cy="1265027"/>
          </a:xfrm>
          <a:prstGeom prst="rect">
            <a:avLst/>
          </a:prstGeom>
        </p:spPr>
      </p:pic>
      <p:grpSp>
        <p:nvGrpSpPr>
          <p:cNvPr id="12" name="群組 11">
            <a:extLst>
              <a:ext uri="{FF2B5EF4-FFF2-40B4-BE49-F238E27FC236}">
                <a16:creationId xmlns:a16="http://schemas.microsoft.com/office/drawing/2014/main" id="{D7C167E2-C56D-450A-9D62-9C22A10776CE}"/>
              </a:ext>
            </a:extLst>
          </p:cNvPr>
          <p:cNvGrpSpPr/>
          <p:nvPr/>
        </p:nvGrpSpPr>
        <p:grpSpPr>
          <a:xfrm>
            <a:off x="634378" y="1236675"/>
            <a:ext cx="1773130" cy="1858188"/>
            <a:chOff x="1137907" y="1206142"/>
            <a:chExt cx="1432574" cy="1501295"/>
          </a:xfrm>
        </p:grpSpPr>
        <p:pic>
          <p:nvPicPr>
            <p:cNvPr id="20" name="圖片 19">
              <a:extLst>
                <a:ext uri="{FF2B5EF4-FFF2-40B4-BE49-F238E27FC236}">
                  <a16:creationId xmlns:a16="http://schemas.microsoft.com/office/drawing/2014/main" id="{3E92F052-5BD1-451F-806B-60BDA9A475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1027" b="36476"/>
            <a:stretch/>
          </p:blipFill>
          <p:spPr>
            <a:xfrm>
              <a:off x="1137907" y="1206142"/>
              <a:ext cx="1432574" cy="1430378"/>
            </a:xfrm>
            <a:prstGeom prst="rect">
              <a:avLst/>
            </a:prstGeom>
          </p:spPr>
        </p:pic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EB595994-8C47-43E6-A274-DE6FC6DA3874}"/>
                </a:ext>
              </a:extLst>
            </p:cNvPr>
            <p:cNvSpPr/>
            <p:nvPr/>
          </p:nvSpPr>
          <p:spPr>
            <a:xfrm>
              <a:off x="2004166" y="2504237"/>
              <a:ext cx="391160" cy="20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1FBFE1B4-88BA-4C28-A61E-EC10ED7925FE}"/>
              </a:ext>
            </a:extLst>
          </p:cNvPr>
          <p:cNvGrpSpPr/>
          <p:nvPr/>
        </p:nvGrpSpPr>
        <p:grpSpPr>
          <a:xfrm>
            <a:off x="10088945" y="1410256"/>
            <a:ext cx="1880592" cy="1455588"/>
            <a:chOff x="7239470" y="2799627"/>
            <a:chExt cx="1789437" cy="1385032"/>
          </a:xfrm>
        </p:grpSpPr>
        <p:pic>
          <p:nvPicPr>
            <p:cNvPr id="31" name="Picture 3" descr="https://ars.els-cdn.com/content/image/1-s2.0-S235294071730080X-gr3.jpg">
              <a:extLst>
                <a:ext uri="{FF2B5EF4-FFF2-40B4-BE49-F238E27FC236}">
                  <a16:creationId xmlns:a16="http://schemas.microsoft.com/office/drawing/2014/main" id="{A9809DC4-BA7D-4B02-B6F5-51FD39707C1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6843" r="49748"/>
            <a:stretch/>
          </p:blipFill>
          <p:spPr bwMode="auto">
            <a:xfrm>
              <a:off x="7239470" y="2799627"/>
              <a:ext cx="1789437" cy="13850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A3505E65-D885-43B3-B823-53004B7FD25E}"/>
                </a:ext>
              </a:extLst>
            </p:cNvPr>
            <p:cNvSpPr/>
            <p:nvPr/>
          </p:nvSpPr>
          <p:spPr>
            <a:xfrm>
              <a:off x="7298050" y="2801162"/>
              <a:ext cx="280685" cy="4524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7C09A0C3-183D-4132-9ED8-774EE73D3309}"/>
              </a:ext>
            </a:extLst>
          </p:cNvPr>
          <p:cNvGrpSpPr/>
          <p:nvPr/>
        </p:nvGrpSpPr>
        <p:grpSpPr>
          <a:xfrm>
            <a:off x="2278919" y="1885362"/>
            <a:ext cx="1552854" cy="1072424"/>
            <a:chOff x="2382520" y="2433320"/>
            <a:chExt cx="1435453" cy="991346"/>
          </a:xfrm>
        </p:grpSpPr>
        <p:pic>
          <p:nvPicPr>
            <p:cNvPr id="28" name="圖片 27">
              <a:extLst>
                <a:ext uri="{FF2B5EF4-FFF2-40B4-BE49-F238E27FC236}">
                  <a16:creationId xmlns:a16="http://schemas.microsoft.com/office/drawing/2014/main" id="{41483170-7413-4B75-AB1D-E0B23AD321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1027" t="57894"/>
            <a:stretch/>
          </p:blipFill>
          <p:spPr>
            <a:xfrm>
              <a:off x="2385399" y="2476548"/>
              <a:ext cx="1432574" cy="948118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A36EC78-AE2E-4102-9046-DDD4E2AA5233}"/>
                </a:ext>
              </a:extLst>
            </p:cNvPr>
            <p:cNvSpPr/>
            <p:nvPr/>
          </p:nvSpPr>
          <p:spPr>
            <a:xfrm>
              <a:off x="2382520" y="2433320"/>
              <a:ext cx="391160" cy="20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33" name="圖片 32">
            <a:extLst>
              <a:ext uri="{FF2B5EF4-FFF2-40B4-BE49-F238E27FC236}">
                <a16:creationId xmlns:a16="http://schemas.microsoft.com/office/drawing/2014/main" id="{17B2DE0A-F09E-48AE-9A7A-7943BAD19F5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9788"/>
          <a:stretch/>
        </p:blipFill>
        <p:spPr>
          <a:xfrm>
            <a:off x="447579" y="4291326"/>
            <a:ext cx="3520440" cy="2077220"/>
          </a:xfrm>
          <a:prstGeom prst="rect">
            <a:avLst/>
          </a:prstGeom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CD61F4AB-71B9-4BAE-BFF5-099F8CCA9FD9}"/>
              </a:ext>
            </a:extLst>
          </p:cNvPr>
          <p:cNvSpPr/>
          <p:nvPr/>
        </p:nvSpPr>
        <p:spPr>
          <a:xfrm>
            <a:off x="8415831" y="4538598"/>
            <a:ext cx="3753399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TW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Bright excitons degenerate</a:t>
            </a:r>
          </a:p>
          <a:p>
            <a:pPr algn="ctr"/>
            <a:r>
              <a:rPr lang="en-US" altLang="zh-TW" sz="1400" dirty="0"/>
              <a:t>G.-H. Peng </a:t>
            </a:r>
            <a:r>
              <a:rPr lang="en-US" altLang="zh-TW" sz="1400" i="1" dirty="0"/>
              <a:t>et al.</a:t>
            </a:r>
            <a:r>
              <a:rPr lang="en-US" altLang="zh-TW" sz="1400" dirty="0"/>
              <a:t>, </a:t>
            </a:r>
            <a:r>
              <a:rPr lang="en-US" altLang="zh-TW" sz="1400" i="1" dirty="0"/>
              <a:t>Phys. Rev. B</a:t>
            </a:r>
            <a:r>
              <a:rPr lang="en-US" altLang="zh-TW" sz="1400" dirty="0"/>
              <a:t> </a:t>
            </a:r>
            <a:r>
              <a:rPr lang="en-US" altLang="zh-TW" sz="1400" b="1" dirty="0"/>
              <a:t>106</a:t>
            </a:r>
            <a:r>
              <a:rPr lang="en-US" altLang="zh-TW" sz="1400" dirty="0"/>
              <a:t>, 155304 (2022)</a:t>
            </a:r>
            <a:endParaRPr lang="zh-TW" altLang="en-US" sz="1300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4E430D2-F37E-4F2A-BBEC-96645283A96F}"/>
              </a:ext>
            </a:extLst>
          </p:cNvPr>
          <p:cNvSpPr/>
          <p:nvPr/>
        </p:nvSpPr>
        <p:spPr>
          <a:xfrm>
            <a:off x="8449366" y="5740853"/>
            <a:ext cx="3686329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TW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Excitons categorized by radiation patterns</a:t>
            </a:r>
          </a:p>
          <a:p>
            <a:pPr algn="ctr"/>
            <a:r>
              <a:rPr lang="da-DK" altLang="zh-TW" sz="1400" dirty="0"/>
              <a:t>L. M. Schneider </a:t>
            </a:r>
            <a:r>
              <a:rPr lang="da-DK" altLang="zh-TW" sz="1400" i="1" dirty="0"/>
              <a:t>et al.</a:t>
            </a:r>
            <a:r>
              <a:rPr lang="da-DK" altLang="zh-TW" sz="1400" dirty="0"/>
              <a:t>, </a:t>
            </a:r>
            <a:r>
              <a:rPr lang="da-DK" altLang="zh-TW" sz="1400" i="1" dirty="0"/>
              <a:t>Sci. Rep.</a:t>
            </a:r>
            <a:r>
              <a:rPr lang="da-DK" altLang="zh-TW" sz="1400" dirty="0"/>
              <a:t> </a:t>
            </a:r>
            <a:r>
              <a:rPr lang="da-DK" altLang="zh-TW" sz="1400" b="1" dirty="0"/>
              <a:t>10</a:t>
            </a:r>
            <a:r>
              <a:rPr lang="da-DK" altLang="zh-TW" sz="1400" dirty="0"/>
              <a:t>, 8091 (2020)</a:t>
            </a:r>
            <a:endParaRPr lang="zh-TW" altLang="en-US" sz="1300" dirty="0"/>
          </a:p>
        </p:txBody>
      </p:sp>
    </p:spTree>
    <p:extLst>
      <p:ext uri="{BB962C8B-B14F-4D97-AF65-F5344CB8AC3E}">
        <p14:creationId xmlns:p14="http://schemas.microsoft.com/office/powerpoint/2010/main" val="4246961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B99EEC2-809E-4AF1-B22E-26AA648F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內容版面配置區 2">
            <a:extLst>
              <a:ext uri="{FF2B5EF4-FFF2-40B4-BE49-F238E27FC236}">
                <a16:creationId xmlns:a16="http://schemas.microsoft.com/office/drawing/2014/main" id="{321E7E8A-0E9B-42F0-9CD1-D1052F134A47}"/>
              </a:ext>
            </a:extLst>
          </p:cNvPr>
          <p:cNvSpPr txBox="1">
            <a:spLocks/>
          </p:cNvSpPr>
          <p:nvPr/>
        </p:nvSpPr>
        <p:spPr>
          <a:xfrm>
            <a:off x="4343400" y="3238301"/>
            <a:ext cx="3505200" cy="3813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light information ?</a:t>
            </a:r>
          </a:p>
        </p:txBody>
      </p:sp>
    </p:spTree>
    <p:extLst>
      <p:ext uri="{BB962C8B-B14F-4D97-AF65-F5344CB8AC3E}">
        <p14:creationId xmlns:p14="http://schemas.microsoft.com/office/powerpoint/2010/main" val="4156627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B99EEC2-809E-4AF1-B22E-26AA648F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19" name="內容版面配置區 5">
            <a:extLst>
              <a:ext uri="{FF2B5EF4-FFF2-40B4-BE49-F238E27FC236}">
                <a16:creationId xmlns:a16="http://schemas.microsoft.com/office/drawing/2014/main" id="{6C455A4A-01DE-4F45-98BE-B366C987D166}"/>
              </a:ext>
            </a:extLst>
          </p:cNvPr>
          <p:cNvSpPr txBox="1">
            <a:spLocks/>
          </p:cNvSpPr>
          <p:nvPr/>
        </p:nvSpPr>
        <p:spPr>
          <a:xfrm>
            <a:off x="76200" y="7081152"/>
            <a:ext cx="12115800" cy="27956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1909 theoretical work by Poynting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----- </a:t>
            </a:r>
            <a:r>
              <a:rPr lang="en-US" altLang="zh-TW" sz="1400" dirty="0"/>
              <a:t>J. H. Poynting, </a:t>
            </a:r>
            <a:r>
              <a:rPr lang="en-US" altLang="zh-TW" sz="1400" i="1" dirty="0"/>
              <a:t>Proc. R. Soc. </a:t>
            </a:r>
            <a:r>
              <a:rPr lang="en-US" altLang="zh-TW" sz="1400" i="1" dirty="0" err="1"/>
              <a:t>Lond</a:t>
            </a:r>
            <a:r>
              <a:rPr lang="en-US" altLang="zh-TW" sz="1400" i="1" dirty="0"/>
              <a:t>. A</a:t>
            </a:r>
            <a:r>
              <a:rPr lang="en-US" altLang="zh-TW" sz="1400" dirty="0"/>
              <a:t> </a:t>
            </a:r>
            <a:r>
              <a:rPr lang="en-US" altLang="zh-TW" sz="1400" b="1" dirty="0"/>
              <a:t>82</a:t>
            </a:r>
            <a:r>
              <a:rPr lang="en-US" altLang="zh-TW" sz="1400" dirty="0"/>
              <a:t>, 560</a:t>
            </a:r>
            <a:endParaRPr lang="en-US" altLang="zh-T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1936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experimental evidence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spin angular momentum (SAM)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----- </a:t>
            </a:r>
            <a:r>
              <a:rPr lang="en-US" altLang="zh-TW" sz="1400" dirty="0"/>
              <a:t>R. A. Beth, </a:t>
            </a:r>
            <a:r>
              <a:rPr lang="en-US" altLang="zh-TW" sz="1400" i="1" dirty="0"/>
              <a:t>Phys. Rev.</a:t>
            </a:r>
            <a:r>
              <a:rPr lang="en-US" altLang="zh-TW" sz="1400" dirty="0"/>
              <a:t> </a:t>
            </a:r>
            <a:r>
              <a:rPr lang="en-US" altLang="zh-TW" sz="1400" b="1" dirty="0"/>
              <a:t>50</a:t>
            </a:r>
            <a:r>
              <a:rPr lang="en-US" altLang="zh-TW" sz="1400" dirty="0"/>
              <a:t>, 115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1992 Experimental demonstration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orbital angular momentum (OAM) in Laguerre-Gaussian (LG) Beam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----- </a:t>
            </a:r>
            <a:r>
              <a:rPr lang="en-US" altLang="zh-TW" sz="1400" dirty="0"/>
              <a:t>L. Allen </a:t>
            </a:r>
            <a:r>
              <a:rPr lang="en-US" altLang="zh-TW" sz="1400" i="1" dirty="0"/>
              <a:t>et al.</a:t>
            </a:r>
            <a:r>
              <a:rPr lang="en-US" altLang="zh-TW" sz="1400" dirty="0"/>
              <a:t>, </a:t>
            </a:r>
            <a:r>
              <a:rPr lang="en-US" altLang="zh-TW" sz="1400" i="1" dirty="0"/>
              <a:t>Phys. Rev. A</a:t>
            </a:r>
            <a:r>
              <a:rPr lang="en-US" altLang="zh-TW" sz="1400" dirty="0"/>
              <a:t> </a:t>
            </a:r>
            <a:r>
              <a:rPr lang="en-US" altLang="zh-TW" sz="1400" b="1" dirty="0"/>
              <a:t>45</a:t>
            </a:r>
            <a:r>
              <a:rPr lang="en-US" altLang="zh-TW" sz="1400" dirty="0"/>
              <a:t>, 8185 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2A1E837B-E2E1-455A-A5BA-0C41E1445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649" y="1205149"/>
            <a:ext cx="3179276" cy="964602"/>
          </a:xfrm>
          <a:prstGeom prst="rect">
            <a:avLst/>
          </a:prstGeom>
        </p:spPr>
      </p:pic>
      <p:grpSp>
        <p:nvGrpSpPr>
          <p:cNvPr id="31" name="群組 30">
            <a:extLst>
              <a:ext uri="{FF2B5EF4-FFF2-40B4-BE49-F238E27FC236}">
                <a16:creationId xmlns:a16="http://schemas.microsoft.com/office/drawing/2014/main" id="{487384C2-568E-4782-A7B6-6A473B24B8CF}"/>
              </a:ext>
            </a:extLst>
          </p:cNvPr>
          <p:cNvGrpSpPr/>
          <p:nvPr/>
        </p:nvGrpSpPr>
        <p:grpSpPr>
          <a:xfrm>
            <a:off x="952093" y="2437028"/>
            <a:ext cx="4448582" cy="1013404"/>
            <a:chOff x="85318" y="3045927"/>
            <a:chExt cx="5458232" cy="1243406"/>
          </a:xfrm>
        </p:grpSpPr>
        <p:pic>
          <p:nvPicPr>
            <p:cNvPr id="23" name="圖片 22">
              <a:extLst>
                <a:ext uri="{FF2B5EF4-FFF2-40B4-BE49-F238E27FC236}">
                  <a16:creationId xmlns:a16="http://schemas.microsoft.com/office/drawing/2014/main" id="{BB924937-081A-4314-9A81-C1BCBF95FE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50711"/>
            <a:stretch/>
          </p:blipFill>
          <p:spPr>
            <a:xfrm>
              <a:off x="85318" y="3141682"/>
              <a:ext cx="2561188" cy="1068489"/>
            </a:xfrm>
            <a:prstGeom prst="rect">
              <a:avLst/>
            </a:prstGeom>
          </p:spPr>
        </p:pic>
        <p:pic>
          <p:nvPicPr>
            <p:cNvPr id="24" name="圖片 23">
              <a:extLst>
                <a:ext uri="{FF2B5EF4-FFF2-40B4-BE49-F238E27FC236}">
                  <a16:creationId xmlns:a16="http://schemas.microsoft.com/office/drawing/2014/main" id="{4E3DFE44-8A87-491C-A659-AB1985165B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52080"/>
            <a:stretch/>
          </p:blipFill>
          <p:spPr>
            <a:xfrm>
              <a:off x="2665683" y="3122080"/>
              <a:ext cx="2877867" cy="1167253"/>
            </a:xfrm>
            <a:prstGeom prst="rect">
              <a:avLst/>
            </a:prstGeom>
          </p:spPr>
        </p:pic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40DAD5F-0741-405E-8051-4C24DA28D360}"/>
                </a:ext>
              </a:extLst>
            </p:cNvPr>
            <p:cNvSpPr/>
            <p:nvPr/>
          </p:nvSpPr>
          <p:spPr>
            <a:xfrm>
              <a:off x="136109" y="3130223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227AFE30-6584-4E1F-808D-1F5500C5E69A}"/>
                </a:ext>
              </a:extLst>
            </p:cNvPr>
            <p:cNvSpPr/>
            <p:nvPr/>
          </p:nvSpPr>
          <p:spPr>
            <a:xfrm>
              <a:off x="1296047" y="3130223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A643E35F-62BA-4FCB-A9C5-735DEF87AFED}"/>
                </a:ext>
              </a:extLst>
            </p:cNvPr>
            <p:cNvSpPr/>
            <p:nvPr/>
          </p:nvSpPr>
          <p:spPr>
            <a:xfrm>
              <a:off x="2727152" y="3045927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2B345902-86BF-4452-8AEE-89EEC30A5C2E}"/>
                </a:ext>
              </a:extLst>
            </p:cNvPr>
            <p:cNvSpPr/>
            <p:nvPr/>
          </p:nvSpPr>
          <p:spPr>
            <a:xfrm>
              <a:off x="4053256" y="3054016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0" name="內容版面配置區 2">
            <a:extLst>
              <a:ext uri="{FF2B5EF4-FFF2-40B4-BE49-F238E27FC236}">
                <a16:creationId xmlns:a16="http://schemas.microsoft.com/office/drawing/2014/main" id="{837B9E7A-B20B-43D2-A2A2-EB357CDE6A66}"/>
              </a:ext>
            </a:extLst>
          </p:cNvPr>
          <p:cNvSpPr txBox="1">
            <a:spLocks/>
          </p:cNvSpPr>
          <p:nvPr/>
        </p:nvSpPr>
        <p:spPr>
          <a:xfrm>
            <a:off x="67821" y="730966"/>
            <a:ext cx="7219118" cy="3813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buClr>
                <a:schemeClr val="accent1">
                  <a:lumMod val="75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momentum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light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內容版面配置區 5">
                <a:extLst>
                  <a:ext uri="{FF2B5EF4-FFF2-40B4-BE49-F238E27FC236}">
                    <a16:creationId xmlns:a16="http://schemas.microsoft.com/office/drawing/2014/main" id="{890CA1D5-75B5-4D96-BEEE-3C3FCAA9A2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09211" y="1109393"/>
                <a:ext cx="4220556" cy="127639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Spin angular momentum (SAM)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&gt; circular polarizations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&gt; </a:t>
                </a:r>
                <a14:m>
                  <m:oMath xmlns:m="http://schemas.openxmlformats.org/officeDocument/2006/math">
                    <m:r>
                      <a:rPr lang="en-US" altLang="zh-TW" sz="18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altLang="zh-TW" sz="18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ℏ</m:t>
                    </m:r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per photon (</a:t>
                </a:r>
                <a14:m>
                  <m:oMath xmlns:m="http://schemas.openxmlformats.org/officeDocument/2006/math">
                    <m:r>
                      <a:rPr lang="en-US" altLang="zh-TW" sz="18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altLang="zh-TW" sz="18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=±1</m:t>
                    </m:r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altLang="zh-TW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" name="內容版面配置區 5">
                <a:extLst>
                  <a:ext uri="{FF2B5EF4-FFF2-40B4-BE49-F238E27FC236}">
                    <a16:creationId xmlns:a16="http://schemas.microsoft.com/office/drawing/2014/main" id="{890CA1D5-75B5-4D96-BEEE-3C3FCAA9A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9211" y="1109393"/>
                <a:ext cx="4220556" cy="1276393"/>
              </a:xfrm>
              <a:prstGeom prst="rect">
                <a:avLst/>
              </a:prstGeom>
              <a:blipFill>
                <a:blip r:embed="rId4"/>
                <a:stretch>
                  <a:fillRect l="-1012" t="-478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576942ED-8107-49AE-885E-D4F8CBBBA3DC}"/>
                  </a:ext>
                </a:extLst>
              </p:cNvPr>
              <p:cNvSpPr/>
              <p:nvPr/>
            </p:nvSpPr>
            <p:spPr>
              <a:xfrm>
                <a:off x="882296" y="3343909"/>
                <a:ext cx="47470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Polarization of light</a:t>
                </a:r>
                <a:r>
                  <a:rPr lang="en-US" altLang="zh-TW" sz="1400" dirty="0"/>
                  <a:t> / Helical phase fronts for </a:t>
                </a:r>
                <a14:m>
                  <m:oMath xmlns:m="http://schemas.openxmlformats.org/officeDocument/2006/math">
                    <m:r>
                      <a:rPr lang="en-US" altLang="zh-TW" sz="1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ℓ=0, 1, 2, 3</m:t>
                    </m:r>
                  </m:oMath>
                </a14:m>
                <a:r>
                  <a:rPr lang="en-US" altLang="zh-TW" sz="1400" dirty="0"/>
                  <a:t> </a:t>
                </a:r>
                <a:endPara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TW" sz="1400" dirty="0"/>
                  <a:t>A. M. Yao &amp; M. J. Padgett, </a:t>
                </a:r>
                <a:r>
                  <a:rPr lang="en-US" altLang="zh-TW" sz="1400" i="1" dirty="0"/>
                  <a:t>Adv. Opt. Photonics</a:t>
                </a:r>
                <a:r>
                  <a:rPr lang="en-US" altLang="zh-TW" sz="1400" dirty="0"/>
                  <a:t> </a:t>
                </a:r>
                <a:r>
                  <a:rPr lang="en-US" altLang="zh-TW" sz="1400" b="1" dirty="0"/>
                  <a:t>3</a:t>
                </a:r>
                <a:r>
                  <a:rPr lang="en-US" altLang="zh-TW" sz="1400" dirty="0"/>
                  <a:t>, 161 (2011)</a:t>
                </a:r>
                <a:endParaRPr lang="zh-TW" altLang="en-US" sz="1400" dirty="0"/>
              </a:p>
            </p:txBody>
          </p:sp>
        </mc:Choice>
        <mc:Fallback xmlns=""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576942ED-8107-49AE-885E-D4F8CBBBA3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296" y="3343909"/>
                <a:ext cx="4747069" cy="523220"/>
              </a:xfrm>
              <a:prstGeom prst="rect">
                <a:avLst/>
              </a:prstGeom>
              <a:blipFill>
                <a:blip r:embed="rId5"/>
                <a:stretch>
                  <a:fillRect t="-3529" b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內容版面配置區 5">
                <a:extLst>
                  <a:ext uri="{FF2B5EF4-FFF2-40B4-BE49-F238E27FC236}">
                    <a16:creationId xmlns:a16="http://schemas.microsoft.com/office/drawing/2014/main" id="{B330D6EB-2446-4C3E-AA2F-D43026305BA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09210" y="2583471"/>
                <a:ext cx="6558939" cy="132299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Orbital angular momentum</a:t>
                </a:r>
                <a:r>
                  <a:rPr lang="zh-TW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(OAM)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&gt; helical wave front (ex. Laguerre-Gaussian (LG) beam)</a:t>
                </a:r>
              </a:p>
              <a:p>
                <a:pPr marL="0" indent="0">
                  <a:buNone/>
                </a:pP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&gt; </a:t>
                </a:r>
                <a14:m>
                  <m:oMath xmlns:m="http://schemas.openxmlformats.org/officeDocument/2006/math">
                    <m:r>
                      <a:rPr lang="en-US" altLang="zh-TW" sz="18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  <m:r>
                      <a:rPr lang="en-US" altLang="zh-TW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ℏ</m:t>
                    </m:r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per photon (</a:t>
                </a:r>
                <a14:m>
                  <m:oMath xmlns:m="http://schemas.openxmlformats.org/officeDocument/2006/math">
                    <m:r>
                      <a:rPr lang="en-US" altLang="zh-TW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  <m:r>
                      <a:rPr lang="en-US" altLang="zh-TW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 ±1, ±2, ±3……±</m:t>
                    </m:r>
                    <m:r>
                      <a:rPr lang="en-US" altLang="zh-TW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𝑍</m:t>
                    </m:r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64" name="內容版面配置區 5">
                <a:extLst>
                  <a:ext uri="{FF2B5EF4-FFF2-40B4-BE49-F238E27FC236}">
                    <a16:creationId xmlns:a16="http://schemas.microsoft.com/office/drawing/2014/main" id="{B330D6EB-2446-4C3E-AA2F-D43026305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9210" y="2583471"/>
                <a:ext cx="6558939" cy="1322998"/>
              </a:xfrm>
              <a:prstGeom prst="rect">
                <a:avLst/>
              </a:prstGeom>
              <a:blipFill>
                <a:blip r:embed="rId6"/>
                <a:stretch>
                  <a:fillRect l="-651" t="-46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4408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B99EEC2-809E-4AF1-B22E-26AA648F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19" name="內容版面配置區 5">
            <a:extLst>
              <a:ext uri="{FF2B5EF4-FFF2-40B4-BE49-F238E27FC236}">
                <a16:creationId xmlns:a16="http://schemas.microsoft.com/office/drawing/2014/main" id="{6C455A4A-01DE-4F45-98BE-B366C987D166}"/>
              </a:ext>
            </a:extLst>
          </p:cNvPr>
          <p:cNvSpPr txBox="1">
            <a:spLocks/>
          </p:cNvSpPr>
          <p:nvPr/>
        </p:nvSpPr>
        <p:spPr>
          <a:xfrm>
            <a:off x="76200" y="7081152"/>
            <a:ext cx="12115800" cy="27956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1909 theoretical work by Poynting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----- </a:t>
            </a:r>
            <a:r>
              <a:rPr lang="en-US" altLang="zh-TW" sz="1400" dirty="0"/>
              <a:t>J. H. Poynting, </a:t>
            </a:r>
            <a:r>
              <a:rPr lang="en-US" altLang="zh-TW" sz="1400" i="1" dirty="0"/>
              <a:t>Proc. R. Soc. </a:t>
            </a:r>
            <a:r>
              <a:rPr lang="en-US" altLang="zh-TW" sz="1400" i="1" dirty="0" err="1"/>
              <a:t>Lond</a:t>
            </a:r>
            <a:r>
              <a:rPr lang="en-US" altLang="zh-TW" sz="1400" i="1" dirty="0"/>
              <a:t>. A</a:t>
            </a:r>
            <a:r>
              <a:rPr lang="en-US" altLang="zh-TW" sz="1400" dirty="0"/>
              <a:t> </a:t>
            </a:r>
            <a:r>
              <a:rPr lang="en-US" altLang="zh-TW" sz="1400" b="1" dirty="0"/>
              <a:t>82</a:t>
            </a:r>
            <a:r>
              <a:rPr lang="en-US" altLang="zh-TW" sz="1400" dirty="0"/>
              <a:t>, 560</a:t>
            </a:r>
            <a:endParaRPr lang="en-US" altLang="zh-T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1936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experimental evidence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spin angular momentum (SAM)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----- </a:t>
            </a:r>
            <a:r>
              <a:rPr lang="en-US" altLang="zh-TW" sz="1400" dirty="0"/>
              <a:t>R. A. Beth, </a:t>
            </a:r>
            <a:r>
              <a:rPr lang="en-US" altLang="zh-TW" sz="1400" i="1" dirty="0"/>
              <a:t>Phys. Rev.</a:t>
            </a:r>
            <a:r>
              <a:rPr lang="en-US" altLang="zh-TW" sz="1400" dirty="0"/>
              <a:t> </a:t>
            </a:r>
            <a:r>
              <a:rPr lang="en-US" altLang="zh-TW" sz="1400" b="1" dirty="0"/>
              <a:t>50</a:t>
            </a:r>
            <a:r>
              <a:rPr lang="en-US" altLang="zh-TW" sz="1400" dirty="0"/>
              <a:t>, 115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1992 Experimental demonstration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orbital angular momentum (OAM) in Laguerre-Gaussian (LG) Beam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----- </a:t>
            </a:r>
            <a:r>
              <a:rPr lang="en-US" altLang="zh-TW" sz="1400" dirty="0"/>
              <a:t>L. Allen </a:t>
            </a:r>
            <a:r>
              <a:rPr lang="en-US" altLang="zh-TW" sz="1400" i="1" dirty="0"/>
              <a:t>et al.</a:t>
            </a:r>
            <a:r>
              <a:rPr lang="en-US" altLang="zh-TW" sz="1400" dirty="0"/>
              <a:t>, </a:t>
            </a:r>
            <a:r>
              <a:rPr lang="en-US" altLang="zh-TW" sz="1400" i="1" dirty="0"/>
              <a:t>Phys. Rev. A</a:t>
            </a:r>
            <a:r>
              <a:rPr lang="en-US" altLang="zh-TW" sz="1400" dirty="0"/>
              <a:t> </a:t>
            </a:r>
            <a:r>
              <a:rPr lang="en-US" altLang="zh-TW" sz="1400" b="1" dirty="0"/>
              <a:t>45</a:t>
            </a:r>
            <a:r>
              <a:rPr lang="en-US" altLang="zh-TW" sz="1400" dirty="0"/>
              <a:t>, 8185 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2A1E837B-E2E1-455A-A5BA-0C41E1445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649" y="1205149"/>
            <a:ext cx="3179276" cy="964602"/>
          </a:xfrm>
          <a:prstGeom prst="rect">
            <a:avLst/>
          </a:prstGeom>
        </p:spPr>
      </p:pic>
      <p:grpSp>
        <p:nvGrpSpPr>
          <p:cNvPr id="31" name="群組 30">
            <a:extLst>
              <a:ext uri="{FF2B5EF4-FFF2-40B4-BE49-F238E27FC236}">
                <a16:creationId xmlns:a16="http://schemas.microsoft.com/office/drawing/2014/main" id="{487384C2-568E-4782-A7B6-6A473B24B8CF}"/>
              </a:ext>
            </a:extLst>
          </p:cNvPr>
          <p:cNvGrpSpPr/>
          <p:nvPr/>
        </p:nvGrpSpPr>
        <p:grpSpPr>
          <a:xfrm>
            <a:off x="952093" y="2437028"/>
            <a:ext cx="4448582" cy="1013404"/>
            <a:chOff x="85318" y="3045927"/>
            <a:chExt cx="5458232" cy="1243406"/>
          </a:xfrm>
        </p:grpSpPr>
        <p:pic>
          <p:nvPicPr>
            <p:cNvPr id="23" name="圖片 22">
              <a:extLst>
                <a:ext uri="{FF2B5EF4-FFF2-40B4-BE49-F238E27FC236}">
                  <a16:creationId xmlns:a16="http://schemas.microsoft.com/office/drawing/2014/main" id="{BB924937-081A-4314-9A81-C1BCBF95FE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50711"/>
            <a:stretch/>
          </p:blipFill>
          <p:spPr>
            <a:xfrm>
              <a:off x="85318" y="3141682"/>
              <a:ext cx="2561188" cy="1068489"/>
            </a:xfrm>
            <a:prstGeom prst="rect">
              <a:avLst/>
            </a:prstGeom>
          </p:spPr>
        </p:pic>
        <p:pic>
          <p:nvPicPr>
            <p:cNvPr id="24" name="圖片 23">
              <a:extLst>
                <a:ext uri="{FF2B5EF4-FFF2-40B4-BE49-F238E27FC236}">
                  <a16:creationId xmlns:a16="http://schemas.microsoft.com/office/drawing/2014/main" id="{4E3DFE44-8A87-491C-A659-AB1985165B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52080"/>
            <a:stretch/>
          </p:blipFill>
          <p:spPr>
            <a:xfrm>
              <a:off x="2665683" y="3122080"/>
              <a:ext cx="2877867" cy="1167253"/>
            </a:xfrm>
            <a:prstGeom prst="rect">
              <a:avLst/>
            </a:prstGeom>
          </p:spPr>
        </p:pic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40DAD5F-0741-405E-8051-4C24DA28D360}"/>
                </a:ext>
              </a:extLst>
            </p:cNvPr>
            <p:cNvSpPr/>
            <p:nvPr/>
          </p:nvSpPr>
          <p:spPr>
            <a:xfrm>
              <a:off x="136109" y="3130223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227AFE30-6584-4E1F-808D-1F5500C5E69A}"/>
                </a:ext>
              </a:extLst>
            </p:cNvPr>
            <p:cNvSpPr/>
            <p:nvPr/>
          </p:nvSpPr>
          <p:spPr>
            <a:xfrm>
              <a:off x="1296047" y="3130223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A643E35F-62BA-4FCB-A9C5-735DEF87AFED}"/>
                </a:ext>
              </a:extLst>
            </p:cNvPr>
            <p:cNvSpPr/>
            <p:nvPr/>
          </p:nvSpPr>
          <p:spPr>
            <a:xfrm>
              <a:off x="2727152" y="3045927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2B345902-86BF-4452-8AEE-89EEC30A5C2E}"/>
                </a:ext>
              </a:extLst>
            </p:cNvPr>
            <p:cNvSpPr/>
            <p:nvPr/>
          </p:nvSpPr>
          <p:spPr>
            <a:xfrm>
              <a:off x="4053256" y="3054016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0" name="內容版面配置區 2">
            <a:extLst>
              <a:ext uri="{FF2B5EF4-FFF2-40B4-BE49-F238E27FC236}">
                <a16:creationId xmlns:a16="http://schemas.microsoft.com/office/drawing/2014/main" id="{837B9E7A-B20B-43D2-A2A2-EB357CDE6A66}"/>
              </a:ext>
            </a:extLst>
          </p:cNvPr>
          <p:cNvSpPr txBox="1">
            <a:spLocks/>
          </p:cNvSpPr>
          <p:nvPr/>
        </p:nvSpPr>
        <p:spPr>
          <a:xfrm>
            <a:off x="67821" y="730966"/>
            <a:ext cx="7219118" cy="3813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buClr>
                <a:schemeClr val="accent1">
                  <a:lumMod val="75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momentum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light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內容版面配置區 5">
                <a:extLst>
                  <a:ext uri="{FF2B5EF4-FFF2-40B4-BE49-F238E27FC236}">
                    <a16:creationId xmlns:a16="http://schemas.microsoft.com/office/drawing/2014/main" id="{890CA1D5-75B5-4D96-BEEE-3C3FCAA9A2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09211" y="1109393"/>
                <a:ext cx="4220556" cy="127639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Spin angular momentum (SAM)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&gt; circular polarizations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&gt; </a:t>
                </a:r>
                <a14:m>
                  <m:oMath xmlns:m="http://schemas.openxmlformats.org/officeDocument/2006/math">
                    <m:r>
                      <a:rPr lang="en-US" altLang="zh-TW" sz="18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altLang="zh-TW" sz="18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ℏ</m:t>
                    </m:r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per photon (</a:t>
                </a:r>
                <a14:m>
                  <m:oMath xmlns:m="http://schemas.openxmlformats.org/officeDocument/2006/math">
                    <m:r>
                      <a:rPr lang="en-US" altLang="zh-TW" sz="18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altLang="zh-TW" sz="18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=±1</m:t>
                    </m:r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altLang="zh-TW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" name="內容版面配置區 5">
                <a:extLst>
                  <a:ext uri="{FF2B5EF4-FFF2-40B4-BE49-F238E27FC236}">
                    <a16:creationId xmlns:a16="http://schemas.microsoft.com/office/drawing/2014/main" id="{890CA1D5-75B5-4D96-BEEE-3C3FCAA9A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9211" y="1109393"/>
                <a:ext cx="4220556" cy="1276393"/>
              </a:xfrm>
              <a:prstGeom prst="rect">
                <a:avLst/>
              </a:prstGeom>
              <a:blipFill>
                <a:blip r:embed="rId4"/>
                <a:stretch>
                  <a:fillRect l="-1012" t="-478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7A767FEE-AE40-4AE3-97AC-25FAF85F9D0E}"/>
                  </a:ext>
                </a:extLst>
              </p:cNvPr>
              <p:cNvSpPr/>
              <p:nvPr/>
            </p:nvSpPr>
            <p:spPr>
              <a:xfrm>
                <a:off x="882296" y="3343909"/>
                <a:ext cx="47470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Polarization of light</a:t>
                </a:r>
                <a:r>
                  <a:rPr lang="en-US" altLang="zh-TW" sz="1400" dirty="0"/>
                  <a:t> / Helical phase fronts for </a:t>
                </a:r>
                <a14:m>
                  <m:oMath xmlns:m="http://schemas.openxmlformats.org/officeDocument/2006/math">
                    <m:r>
                      <a:rPr lang="en-US" altLang="zh-TW" sz="1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ℓ=0, 1, 2, 3</m:t>
                    </m:r>
                  </m:oMath>
                </a14:m>
                <a:r>
                  <a:rPr lang="en-US" altLang="zh-TW" sz="1400" dirty="0"/>
                  <a:t> </a:t>
                </a:r>
                <a:endPara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TW" sz="1400" dirty="0"/>
                  <a:t>A. M. Yao &amp; M. J. Padgett, </a:t>
                </a:r>
                <a:r>
                  <a:rPr lang="en-US" altLang="zh-TW" sz="1400" i="1" dirty="0"/>
                  <a:t>Adv. Opt. Photonics</a:t>
                </a:r>
                <a:r>
                  <a:rPr lang="en-US" altLang="zh-TW" sz="1400" dirty="0"/>
                  <a:t> </a:t>
                </a:r>
                <a:r>
                  <a:rPr lang="en-US" altLang="zh-TW" sz="1400" b="1" dirty="0"/>
                  <a:t>3</a:t>
                </a:r>
                <a:r>
                  <a:rPr lang="en-US" altLang="zh-TW" sz="1400" dirty="0"/>
                  <a:t>, 161 (2011)</a:t>
                </a:r>
                <a:endParaRPr lang="zh-TW" altLang="en-US" sz="1400" dirty="0"/>
              </a:p>
            </p:txBody>
          </p:sp>
        </mc:Choice>
        <mc:Fallback xmlns="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7A767FEE-AE40-4AE3-97AC-25FAF85F9D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296" y="3343909"/>
                <a:ext cx="4747069" cy="523220"/>
              </a:xfrm>
              <a:prstGeom prst="rect">
                <a:avLst/>
              </a:prstGeom>
              <a:blipFill>
                <a:blip r:embed="rId5"/>
                <a:stretch>
                  <a:fillRect t="-3529" b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群組 42">
            <a:extLst>
              <a:ext uri="{FF2B5EF4-FFF2-40B4-BE49-F238E27FC236}">
                <a16:creationId xmlns:a16="http://schemas.microsoft.com/office/drawing/2014/main" id="{457C8E7F-575C-4C39-85BE-530E3518E62B}"/>
              </a:ext>
            </a:extLst>
          </p:cNvPr>
          <p:cNvGrpSpPr/>
          <p:nvPr/>
        </p:nvGrpSpPr>
        <p:grpSpPr>
          <a:xfrm>
            <a:off x="995849" y="4370982"/>
            <a:ext cx="2300644" cy="1962701"/>
            <a:chOff x="2507149" y="4370982"/>
            <a:chExt cx="2300644" cy="1962701"/>
          </a:xfrm>
        </p:grpSpPr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7E72505E-5F40-4A9A-BEF8-A41AD16CDA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51098" b="50711"/>
            <a:stretch/>
          </p:blipFill>
          <p:spPr>
            <a:xfrm>
              <a:off x="2507149" y="4370982"/>
              <a:ext cx="2300644" cy="1962701"/>
            </a:xfrm>
            <a:prstGeom prst="rect">
              <a:avLst/>
            </a:prstGeom>
          </p:spPr>
        </p:pic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607A7ACB-2388-4180-BCE8-99321ADEC101}"/>
                </a:ext>
              </a:extLst>
            </p:cNvPr>
            <p:cNvSpPr/>
            <p:nvPr/>
          </p:nvSpPr>
          <p:spPr>
            <a:xfrm>
              <a:off x="2591267" y="4413768"/>
              <a:ext cx="262993" cy="2310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6D2875A3-D4F8-4B04-BC8C-746AE167E6C2}"/>
              </a:ext>
            </a:extLst>
          </p:cNvPr>
          <p:cNvCxnSpPr/>
          <p:nvPr/>
        </p:nvCxnSpPr>
        <p:spPr>
          <a:xfrm flipV="1">
            <a:off x="2595880" y="4526280"/>
            <a:ext cx="0" cy="103418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D9A54635-C5D4-4C75-A88F-BF5E96DF372C}"/>
              </a:ext>
            </a:extLst>
          </p:cNvPr>
          <p:cNvCxnSpPr>
            <a:cxnSpLocks/>
          </p:cNvCxnSpPr>
          <p:nvPr/>
        </p:nvCxnSpPr>
        <p:spPr>
          <a:xfrm flipH="1">
            <a:off x="1780540" y="5560469"/>
            <a:ext cx="812572" cy="3612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C5879800-129B-48CC-A745-C75536004EB5}"/>
              </a:ext>
            </a:extLst>
          </p:cNvPr>
          <p:cNvCxnSpPr>
            <a:cxnSpLocks/>
          </p:cNvCxnSpPr>
          <p:nvPr/>
        </p:nvCxnSpPr>
        <p:spPr>
          <a:xfrm>
            <a:off x="2593112" y="5560469"/>
            <a:ext cx="551408" cy="3045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內容版面配置區 5">
                <a:extLst>
                  <a:ext uri="{FF2B5EF4-FFF2-40B4-BE49-F238E27FC236}">
                    <a16:creationId xmlns:a16="http://schemas.microsoft.com/office/drawing/2014/main" id="{B4212D3E-D3A0-4362-9B66-0BDA904EC43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61326" y="4231095"/>
                <a:ext cx="630794" cy="4018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𝑬</m:t>
                      </m:r>
                    </m:oMath>
                  </m:oMathPara>
                </a14:m>
                <a:endParaRPr lang="en-US" altLang="zh-TW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內容版面配置區 5">
                <a:extLst>
                  <a:ext uri="{FF2B5EF4-FFF2-40B4-BE49-F238E27FC236}">
                    <a16:creationId xmlns:a16="http://schemas.microsoft.com/office/drawing/2014/main" id="{B4212D3E-D3A0-4362-9B66-0BDA904EC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1326" y="4231095"/>
                <a:ext cx="630794" cy="4018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內容版面配置區 5">
                <a:extLst>
                  <a:ext uri="{FF2B5EF4-FFF2-40B4-BE49-F238E27FC236}">
                    <a16:creationId xmlns:a16="http://schemas.microsoft.com/office/drawing/2014/main" id="{1E9E9260-C101-4559-9476-7AFF96D0D86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40246" y="5861775"/>
                <a:ext cx="630794" cy="4018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𝑩</m:t>
                      </m:r>
                    </m:oMath>
                  </m:oMathPara>
                </a14:m>
                <a:endParaRPr lang="en-US" altLang="zh-TW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0" name="內容版面配置區 5">
                <a:extLst>
                  <a:ext uri="{FF2B5EF4-FFF2-40B4-BE49-F238E27FC236}">
                    <a16:creationId xmlns:a16="http://schemas.microsoft.com/office/drawing/2014/main" id="{1E9E9260-C101-4559-9476-7AFF96D0D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246" y="5861775"/>
                <a:ext cx="630794" cy="4018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內容版面配置區 5">
                <a:extLst>
                  <a:ext uri="{FF2B5EF4-FFF2-40B4-BE49-F238E27FC236}">
                    <a16:creationId xmlns:a16="http://schemas.microsoft.com/office/drawing/2014/main" id="{543A5324-8F8A-4F69-9F36-EA90DB160C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85550" y="5836859"/>
                <a:ext cx="1252866" cy="4018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𝑺</m:t>
                      </m:r>
                      <m:r>
                        <a:rPr lang="en-US" altLang="zh-TW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≡</m:t>
                      </m:r>
                      <m:r>
                        <a:rPr lang="en-US" altLang="zh-TW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𝑬</m:t>
                      </m:r>
                      <m:r>
                        <a:rPr lang="en-US" altLang="zh-TW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altLang="zh-TW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𝑩</m:t>
                      </m:r>
                    </m:oMath>
                  </m:oMathPara>
                </a14:m>
                <a:endParaRPr lang="en-US" altLang="zh-TW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內容版面配置區 5">
                <a:extLst>
                  <a:ext uri="{FF2B5EF4-FFF2-40B4-BE49-F238E27FC236}">
                    <a16:creationId xmlns:a16="http://schemas.microsoft.com/office/drawing/2014/main" id="{543A5324-8F8A-4F69-9F36-EA90DB160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5550" y="5836859"/>
                <a:ext cx="1252866" cy="4018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內容版面配置區 5">
                <a:extLst>
                  <a:ext uri="{FF2B5EF4-FFF2-40B4-BE49-F238E27FC236}">
                    <a16:creationId xmlns:a16="http://schemas.microsoft.com/office/drawing/2014/main" id="{D5B9375D-B150-4F03-97BF-CF3D367A973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84856" y="6200943"/>
                <a:ext cx="1252866" cy="4018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𝜃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altLang="zh-TW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" name="內容版面配置區 5">
                <a:extLst>
                  <a:ext uri="{FF2B5EF4-FFF2-40B4-BE49-F238E27FC236}">
                    <a16:creationId xmlns:a16="http://schemas.microsoft.com/office/drawing/2014/main" id="{D5B9375D-B150-4F03-97BF-CF3D367A9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4856" y="6200943"/>
                <a:ext cx="1252866" cy="4018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內容版面配置區 5">
                <a:extLst>
                  <a:ext uri="{FF2B5EF4-FFF2-40B4-BE49-F238E27FC236}">
                    <a16:creationId xmlns:a16="http://schemas.microsoft.com/office/drawing/2014/main" id="{A421BE50-36F3-4466-955C-3D818DFC41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09210" y="2583471"/>
                <a:ext cx="6558939" cy="132299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Orbital angular momentum</a:t>
                </a:r>
                <a:r>
                  <a:rPr lang="zh-TW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(OAM)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&gt; helical wave front (ex. Laguerre-Gaussian (LG) beam)</a:t>
                </a:r>
              </a:p>
              <a:p>
                <a:pPr marL="0" indent="0">
                  <a:buNone/>
                </a:pP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&gt; </a:t>
                </a:r>
                <a14:m>
                  <m:oMath xmlns:m="http://schemas.openxmlformats.org/officeDocument/2006/math">
                    <m:r>
                      <a:rPr lang="en-US" altLang="zh-TW" sz="18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  <m:r>
                      <a:rPr lang="en-US" altLang="zh-TW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ℏ</m:t>
                    </m:r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per photon (</a:t>
                </a:r>
                <a14:m>
                  <m:oMath xmlns:m="http://schemas.openxmlformats.org/officeDocument/2006/math">
                    <m:r>
                      <a:rPr lang="en-US" altLang="zh-TW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  <m:r>
                      <a:rPr lang="en-US" altLang="zh-TW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 ±1, ±2, ±3……±</m:t>
                    </m:r>
                    <m:r>
                      <a:rPr lang="en-US" altLang="zh-TW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𝑍</m:t>
                    </m:r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65" name="內容版面配置區 5">
                <a:extLst>
                  <a:ext uri="{FF2B5EF4-FFF2-40B4-BE49-F238E27FC236}">
                    <a16:creationId xmlns:a16="http://schemas.microsoft.com/office/drawing/2014/main" id="{A421BE50-36F3-4466-955C-3D818DFC4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9210" y="2583471"/>
                <a:ext cx="6558939" cy="1322998"/>
              </a:xfrm>
              <a:prstGeom prst="rect">
                <a:avLst/>
              </a:prstGeom>
              <a:blipFill>
                <a:blip r:embed="rId10"/>
                <a:stretch>
                  <a:fillRect l="-651" t="-46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3207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>
            <a:extLst>
              <a:ext uri="{FF2B5EF4-FFF2-40B4-BE49-F238E27FC236}">
                <a16:creationId xmlns:a16="http://schemas.microsoft.com/office/drawing/2014/main" id="{88541E1B-390E-4871-9421-64123970431E}"/>
              </a:ext>
            </a:extLst>
          </p:cNvPr>
          <p:cNvGrpSpPr/>
          <p:nvPr/>
        </p:nvGrpSpPr>
        <p:grpSpPr>
          <a:xfrm>
            <a:off x="4888513" y="4260926"/>
            <a:ext cx="2747203" cy="2269413"/>
            <a:chOff x="7093953" y="4862907"/>
            <a:chExt cx="1054186" cy="870843"/>
          </a:xfrm>
        </p:grpSpPr>
        <p:pic>
          <p:nvPicPr>
            <p:cNvPr id="34" name="圖片 33">
              <a:extLst>
                <a:ext uri="{FF2B5EF4-FFF2-40B4-BE49-F238E27FC236}">
                  <a16:creationId xmlns:a16="http://schemas.microsoft.com/office/drawing/2014/main" id="{1977A050-550E-475A-B770-6406A8E582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0857" b="50711"/>
            <a:stretch/>
          </p:blipFill>
          <p:spPr>
            <a:xfrm>
              <a:off x="7122319" y="4862907"/>
              <a:ext cx="1025820" cy="870843"/>
            </a:xfrm>
            <a:prstGeom prst="rect">
              <a:avLst/>
            </a:prstGeom>
          </p:spPr>
        </p:pic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1CF9B926-9B8D-45C2-AC08-422AD47F055A}"/>
                </a:ext>
              </a:extLst>
            </p:cNvPr>
            <p:cNvSpPr/>
            <p:nvPr/>
          </p:nvSpPr>
          <p:spPr>
            <a:xfrm>
              <a:off x="7093953" y="4876800"/>
              <a:ext cx="95041" cy="1190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9459ECD5-0974-490B-BAC5-EA9E136A1261}"/>
              </a:ext>
            </a:extLst>
          </p:cNvPr>
          <p:cNvCxnSpPr>
            <a:cxnSpLocks/>
          </p:cNvCxnSpPr>
          <p:nvPr/>
        </p:nvCxnSpPr>
        <p:spPr>
          <a:xfrm>
            <a:off x="6026546" y="5648333"/>
            <a:ext cx="905168" cy="503237"/>
          </a:xfrm>
          <a:prstGeom prst="straightConnector1">
            <a:avLst/>
          </a:prstGeom>
          <a:ln>
            <a:prstDash val="sysDash"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B99EEC2-809E-4AF1-B22E-26AA648F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13</a:t>
            </a:fld>
            <a:endParaRPr lang="zh-TW" altLang="en-US"/>
          </a:p>
        </p:txBody>
      </p:sp>
      <p:sp>
        <p:nvSpPr>
          <p:cNvPr id="19" name="內容版面配置區 5">
            <a:extLst>
              <a:ext uri="{FF2B5EF4-FFF2-40B4-BE49-F238E27FC236}">
                <a16:creationId xmlns:a16="http://schemas.microsoft.com/office/drawing/2014/main" id="{6C455A4A-01DE-4F45-98BE-B366C987D166}"/>
              </a:ext>
            </a:extLst>
          </p:cNvPr>
          <p:cNvSpPr txBox="1">
            <a:spLocks/>
          </p:cNvSpPr>
          <p:nvPr/>
        </p:nvSpPr>
        <p:spPr>
          <a:xfrm>
            <a:off x="76200" y="7081152"/>
            <a:ext cx="12115800" cy="27956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1909 theoretical work by Poynting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----- </a:t>
            </a:r>
            <a:r>
              <a:rPr lang="en-US" altLang="zh-TW" sz="1400" dirty="0"/>
              <a:t>J. H. Poynting, </a:t>
            </a:r>
            <a:r>
              <a:rPr lang="en-US" altLang="zh-TW" sz="1400" i="1" dirty="0"/>
              <a:t>Proc. R. Soc. </a:t>
            </a:r>
            <a:r>
              <a:rPr lang="en-US" altLang="zh-TW" sz="1400" i="1" dirty="0" err="1"/>
              <a:t>Lond</a:t>
            </a:r>
            <a:r>
              <a:rPr lang="en-US" altLang="zh-TW" sz="1400" i="1" dirty="0"/>
              <a:t>. A</a:t>
            </a:r>
            <a:r>
              <a:rPr lang="en-US" altLang="zh-TW" sz="1400" dirty="0"/>
              <a:t> </a:t>
            </a:r>
            <a:r>
              <a:rPr lang="en-US" altLang="zh-TW" sz="1400" b="1" dirty="0"/>
              <a:t>82</a:t>
            </a:r>
            <a:r>
              <a:rPr lang="en-US" altLang="zh-TW" sz="1400" dirty="0"/>
              <a:t>, 560</a:t>
            </a:r>
            <a:endParaRPr lang="en-US" altLang="zh-T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1936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experimental evidence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spin angular momentum (SAM)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----- </a:t>
            </a:r>
            <a:r>
              <a:rPr lang="en-US" altLang="zh-TW" sz="1400" dirty="0"/>
              <a:t>R. A. Beth, </a:t>
            </a:r>
            <a:r>
              <a:rPr lang="en-US" altLang="zh-TW" sz="1400" i="1" dirty="0"/>
              <a:t>Phys. Rev.</a:t>
            </a:r>
            <a:r>
              <a:rPr lang="en-US" altLang="zh-TW" sz="1400" dirty="0"/>
              <a:t> </a:t>
            </a:r>
            <a:r>
              <a:rPr lang="en-US" altLang="zh-TW" sz="1400" b="1" dirty="0"/>
              <a:t>50</a:t>
            </a:r>
            <a:r>
              <a:rPr lang="en-US" altLang="zh-TW" sz="1400" dirty="0"/>
              <a:t>, 115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1992 Experimental demonstration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orbital angular momentum (OAM) in Laguerre-Gaussian (LG) Beam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----- </a:t>
            </a:r>
            <a:r>
              <a:rPr lang="en-US" altLang="zh-TW" sz="1400" dirty="0"/>
              <a:t>L. Allen </a:t>
            </a:r>
            <a:r>
              <a:rPr lang="en-US" altLang="zh-TW" sz="1400" i="1" dirty="0"/>
              <a:t>et al.</a:t>
            </a:r>
            <a:r>
              <a:rPr lang="en-US" altLang="zh-TW" sz="1400" dirty="0"/>
              <a:t>, </a:t>
            </a:r>
            <a:r>
              <a:rPr lang="en-US" altLang="zh-TW" sz="1400" i="1" dirty="0"/>
              <a:t>Phys. Rev. A</a:t>
            </a:r>
            <a:r>
              <a:rPr lang="en-US" altLang="zh-TW" sz="1400" dirty="0"/>
              <a:t> </a:t>
            </a:r>
            <a:r>
              <a:rPr lang="en-US" altLang="zh-TW" sz="1400" b="1" dirty="0"/>
              <a:t>45</a:t>
            </a:r>
            <a:r>
              <a:rPr lang="en-US" altLang="zh-TW" sz="1400" dirty="0"/>
              <a:t>, 8185 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2A1E837B-E2E1-455A-A5BA-0C41E1445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649" y="1205149"/>
            <a:ext cx="3179276" cy="964602"/>
          </a:xfrm>
          <a:prstGeom prst="rect">
            <a:avLst/>
          </a:prstGeom>
        </p:spPr>
      </p:pic>
      <p:grpSp>
        <p:nvGrpSpPr>
          <p:cNvPr id="31" name="群組 30">
            <a:extLst>
              <a:ext uri="{FF2B5EF4-FFF2-40B4-BE49-F238E27FC236}">
                <a16:creationId xmlns:a16="http://schemas.microsoft.com/office/drawing/2014/main" id="{487384C2-568E-4782-A7B6-6A473B24B8CF}"/>
              </a:ext>
            </a:extLst>
          </p:cNvPr>
          <p:cNvGrpSpPr/>
          <p:nvPr/>
        </p:nvGrpSpPr>
        <p:grpSpPr>
          <a:xfrm>
            <a:off x="952093" y="2437028"/>
            <a:ext cx="4448582" cy="1013404"/>
            <a:chOff x="85318" y="3045927"/>
            <a:chExt cx="5458232" cy="1243406"/>
          </a:xfrm>
        </p:grpSpPr>
        <p:pic>
          <p:nvPicPr>
            <p:cNvPr id="23" name="圖片 22">
              <a:extLst>
                <a:ext uri="{FF2B5EF4-FFF2-40B4-BE49-F238E27FC236}">
                  <a16:creationId xmlns:a16="http://schemas.microsoft.com/office/drawing/2014/main" id="{BB924937-081A-4314-9A81-C1BCBF95FE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50711"/>
            <a:stretch/>
          </p:blipFill>
          <p:spPr>
            <a:xfrm>
              <a:off x="85318" y="3141682"/>
              <a:ext cx="2561188" cy="1068489"/>
            </a:xfrm>
            <a:prstGeom prst="rect">
              <a:avLst/>
            </a:prstGeom>
          </p:spPr>
        </p:pic>
        <p:pic>
          <p:nvPicPr>
            <p:cNvPr id="24" name="圖片 23">
              <a:extLst>
                <a:ext uri="{FF2B5EF4-FFF2-40B4-BE49-F238E27FC236}">
                  <a16:creationId xmlns:a16="http://schemas.microsoft.com/office/drawing/2014/main" id="{4E3DFE44-8A87-491C-A659-AB1985165B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52080"/>
            <a:stretch/>
          </p:blipFill>
          <p:spPr>
            <a:xfrm>
              <a:off x="2665683" y="3122080"/>
              <a:ext cx="2877867" cy="1167253"/>
            </a:xfrm>
            <a:prstGeom prst="rect">
              <a:avLst/>
            </a:prstGeom>
          </p:spPr>
        </p:pic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40DAD5F-0741-405E-8051-4C24DA28D360}"/>
                </a:ext>
              </a:extLst>
            </p:cNvPr>
            <p:cNvSpPr/>
            <p:nvPr/>
          </p:nvSpPr>
          <p:spPr>
            <a:xfrm>
              <a:off x="136109" y="3130223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227AFE30-6584-4E1F-808D-1F5500C5E69A}"/>
                </a:ext>
              </a:extLst>
            </p:cNvPr>
            <p:cNvSpPr/>
            <p:nvPr/>
          </p:nvSpPr>
          <p:spPr>
            <a:xfrm>
              <a:off x="1296047" y="3130223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A643E35F-62BA-4FCB-A9C5-735DEF87AFED}"/>
                </a:ext>
              </a:extLst>
            </p:cNvPr>
            <p:cNvSpPr/>
            <p:nvPr/>
          </p:nvSpPr>
          <p:spPr>
            <a:xfrm>
              <a:off x="2727152" y="3045927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2B345902-86BF-4452-8AEE-89EEC30A5C2E}"/>
                </a:ext>
              </a:extLst>
            </p:cNvPr>
            <p:cNvSpPr/>
            <p:nvPr/>
          </p:nvSpPr>
          <p:spPr>
            <a:xfrm>
              <a:off x="4053256" y="3054016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0" name="內容版面配置區 2">
            <a:extLst>
              <a:ext uri="{FF2B5EF4-FFF2-40B4-BE49-F238E27FC236}">
                <a16:creationId xmlns:a16="http://schemas.microsoft.com/office/drawing/2014/main" id="{837B9E7A-B20B-43D2-A2A2-EB357CDE6A66}"/>
              </a:ext>
            </a:extLst>
          </p:cNvPr>
          <p:cNvSpPr txBox="1">
            <a:spLocks/>
          </p:cNvSpPr>
          <p:nvPr/>
        </p:nvSpPr>
        <p:spPr>
          <a:xfrm>
            <a:off x="67821" y="730966"/>
            <a:ext cx="7219118" cy="3813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buClr>
                <a:schemeClr val="accent1">
                  <a:lumMod val="75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momentum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light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內容版面配置區 5">
                <a:extLst>
                  <a:ext uri="{FF2B5EF4-FFF2-40B4-BE49-F238E27FC236}">
                    <a16:creationId xmlns:a16="http://schemas.microsoft.com/office/drawing/2014/main" id="{890CA1D5-75B5-4D96-BEEE-3C3FCAA9A2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09211" y="1109393"/>
                <a:ext cx="4220556" cy="127639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Spin angular momentum (SAM)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&gt; circular polarizations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&gt; </a:t>
                </a:r>
                <a14:m>
                  <m:oMath xmlns:m="http://schemas.openxmlformats.org/officeDocument/2006/math">
                    <m:r>
                      <a:rPr lang="en-US" altLang="zh-TW" sz="18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altLang="zh-TW" sz="18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ℏ</m:t>
                    </m:r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per photon (</a:t>
                </a:r>
                <a14:m>
                  <m:oMath xmlns:m="http://schemas.openxmlformats.org/officeDocument/2006/math">
                    <m:r>
                      <a:rPr lang="en-US" altLang="zh-TW" sz="18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altLang="zh-TW" sz="18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=±1</m:t>
                    </m:r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altLang="zh-TW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" name="內容版面配置區 5">
                <a:extLst>
                  <a:ext uri="{FF2B5EF4-FFF2-40B4-BE49-F238E27FC236}">
                    <a16:creationId xmlns:a16="http://schemas.microsoft.com/office/drawing/2014/main" id="{890CA1D5-75B5-4D96-BEEE-3C3FCAA9A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9211" y="1109393"/>
                <a:ext cx="4220556" cy="1276393"/>
              </a:xfrm>
              <a:prstGeom prst="rect">
                <a:avLst/>
              </a:prstGeom>
              <a:blipFill>
                <a:blip r:embed="rId4"/>
                <a:stretch>
                  <a:fillRect l="-1012" t="-478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群組 12">
            <a:extLst>
              <a:ext uri="{FF2B5EF4-FFF2-40B4-BE49-F238E27FC236}">
                <a16:creationId xmlns:a16="http://schemas.microsoft.com/office/drawing/2014/main" id="{732E5E48-BCFC-422B-B3DB-10A2B67BC29A}"/>
              </a:ext>
            </a:extLst>
          </p:cNvPr>
          <p:cNvGrpSpPr/>
          <p:nvPr/>
        </p:nvGrpSpPr>
        <p:grpSpPr>
          <a:xfrm>
            <a:off x="995849" y="4370982"/>
            <a:ext cx="2300644" cy="1962701"/>
            <a:chOff x="2507149" y="4370982"/>
            <a:chExt cx="2300644" cy="1962701"/>
          </a:xfrm>
        </p:grpSpPr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B9712563-BC0D-44F6-ABB0-9D27D1F741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51098" b="50711"/>
            <a:stretch/>
          </p:blipFill>
          <p:spPr>
            <a:xfrm>
              <a:off x="2507149" y="4370982"/>
              <a:ext cx="2300644" cy="1962701"/>
            </a:xfrm>
            <a:prstGeom prst="rect">
              <a:avLst/>
            </a:prstGeom>
          </p:spPr>
        </p:pic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35B4B4DA-952E-4058-950A-E14F9698B828}"/>
                </a:ext>
              </a:extLst>
            </p:cNvPr>
            <p:cNvSpPr/>
            <p:nvPr/>
          </p:nvSpPr>
          <p:spPr>
            <a:xfrm>
              <a:off x="2591267" y="4413768"/>
              <a:ext cx="262993" cy="2310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6B22FD3D-0BE4-411F-B42B-41C179DD2F19}"/>
              </a:ext>
            </a:extLst>
          </p:cNvPr>
          <p:cNvCxnSpPr/>
          <p:nvPr/>
        </p:nvCxnSpPr>
        <p:spPr>
          <a:xfrm flipV="1">
            <a:off x="2595880" y="4526280"/>
            <a:ext cx="0" cy="103418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A7A0E30C-3471-497A-B972-221836EB7CA5}"/>
              </a:ext>
            </a:extLst>
          </p:cNvPr>
          <p:cNvCxnSpPr>
            <a:cxnSpLocks/>
          </p:cNvCxnSpPr>
          <p:nvPr/>
        </p:nvCxnSpPr>
        <p:spPr>
          <a:xfrm flipH="1">
            <a:off x="1780540" y="5560469"/>
            <a:ext cx="812572" cy="3612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ED184503-9C56-4A4B-BF4D-5A2816643F5B}"/>
              </a:ext>
            </a:extLst>
          </p:cNvPr>
          <p:cNvCxnSpPr>
            <a:cxnSpLocks/>
          </p:cNvCxnSpPr>
          <p:nvPr/>
        </p:nvCxnSpPr>
        <p:spPr>
          <a:xfrm>
            <a:off x="2593112" y="5560469"/>
            <a:ext cx="551408" cy="3045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內容版面配置區 5">
                <a:extLst>
                  <a:ext uri="{FF2B5EF4-FFF2-40B4-BE49-F238E27FC236}">
                    <a16:creationId xmlns:a16="http://schemas.microsoft.com/office/drawing/2014/main" id="{92F61E23-12F6-4BC4-A68D-C1C1DB657C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61326" y="4231095"/>
                <a:ext cx="630794" cy="4018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𝑬</m:t>
                      </m:r>
                    </m:oMath>
                  </m:oMathPara>
                </a14:m>
                <a:endParaRPr lang="en-US" altLang="zh-TW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內容版面配置區 5">
                <a:extLst>
                  <a:ext uri="{FF2B5EF4-FFF2-40B4-BE49-F238E27FC236}">
                    <a16:creationId xmlns:a16="http://schemas.microsoft.com/office/drawing/2014/main" id="{92F61E23-12F6-4BC4-A68D-C1C1DB657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1326" y="4231095"/>
                <a:ext cx="630794" cy="4018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內容版面配置區 5">
                <a:extLst>
                  <a:ext uri="{FF2B5EF4-FFF2-40B4-BE49-F238E27FC236}">
                    <a16:creationId xmlns:a16="http://schemas.microsoft.com/office/drawing/2014/main" id="{40A9D056-B00D-4D7F-B100-811C5B0AF8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40246" y="5861775"/>
                <a:ext cx="630794" cy="4018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𝑩</m:t>
                      </m:r>
                    </m:oMath>
                  </m:oMathPara>
                </a14:m>
                <a:endParaRPr lang="en-US" altLang="zh-TW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內容版面配置區 5">
                <a:extLst>
                  <a:ext uri="{FF2B5EF4-FFF2-40B4-BE49-F238E27FC236}">
                    <a16:creationId xmlns:a16="http://schemas.microsoft.com/office/drawing/2014/main" id="{40A9D056-B00D-4D7F-B100-811C5B0AF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246" y="5861775"/>
                <a:ext cx="630794" cy="4018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內容版面配置區 5">
                <a:extLst>
                  <a:ext uri="{FF2B5EF4-FFF2-40B4-BE49-F238E27FC236}">
                    <a16:creationId xmlns:a16="http://schemas.microsoft.com/office/drawing/2014/main" id="{6BB2AC8D-89EC-41D5-A8A0-3A004903B8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85550" y="5836859"/>
                <a:ext cx="1252866" cy="4018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𝑺</m:t>
                      </m:r>
                      <m:r>
                        <a:rPr lang="en-US" altLang="zh-TW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≡</m:t>
                      </m:r>
                      <m:r>
                        <a:rPr lang="en-US" altLang="zh-TW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𝑬</m:t>
                      </m:r>
                      <m:r>
                        <a:rPr lang="en-US" altLang="zh-TW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altLang="zh-TW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𝑩</m:t>
                      </m:r>
                    </m:oMath>
                  </m:oMathPara>
                </a14:m>
                <a:endParaRPr lang="en-US" altLang="zh-TW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內容版面配置區 5">
                <a:extLst>
                  <a:ext uri="{FF2B5EF4-FFF2-40B4-BE49-F238E27FC236}">
                    <a16:creationId xmlns:a16="http://schemas.microsoft.com/office/drawing/2014/main" id="{6BB2AC8D-89EC-41D5-A8A0-3A004903B8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5550" y="5836859"/>
                <a:ext cx="1252866" cy="4018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2F75CDB2-7171-4312-83D2-174CED2F894F}"/>
              </a:ext>
            </a:extLst>
          </p:cNvPr>
          <p:cNvCxnSpPr>
            <a:cxnSpLocks/>
          </p:cNvCxnSpPr>
          <p:nvPr/>
        </p:nvCxnSpPr>
        <p:spPr>
          <a:xfrm flipV="1">
            <a:off x="6034714" y="4961087"/>
            <a:ext cx="172215" cy="6934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3" name="直線單箭頭接點 42">
            <a:extLst>
              <a:ext uri="{FF2B5EF4-FFF2-40B4-BE49-F238E27FC236}">
                <a16:creationId xmlns:a16="http://schemas.microsoft.com/office/drawing/2014/main" id="{141FC772-47ED-48C2-A2DA-FCD8D834A690}"/>
              </a:ext>
            </a:extLst>
          </p:cNvPr>
          <p:cNvCxnSpPr>
            <a:cxnSpLocks/>
          </p:cNvCxnSpPr>
          <p:nvPr/>
        </p:nvCxnSpPr>
        <p:spPr>
          <a:xfrm flipH="1">
            <a:off x="5352331" y="5646360"/>
            <a:ext cx="690159" cy="4559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內容版面配置區 5">
                <a:extLst>
                  <a:ext uri="{FF2B5EF4-FFF2-40B4-BE49-F238E27FC236}">
                    <a16:creationId xmlns:a16="http://schemas.microsoft.com/office/drawing/2014/main" id="{BDD71715-0083-4337-8D70-9FB56FB3EFA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43924" y="4687343"/>
                <a:ext cx="630794" cy="4018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𝑬</m:t>
                      </m:r>
                    </m:oMath>
                  </m:oMathPara>
                </a14:m>
                <a:endParaRPr lang="en-US" altLang="zh-TW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內容版面配置區 5">
                <a:extLst>
                  <a:ext uri="{FF2B5EF4-FFF2-40B4-BE49-F238E27FC236}">
                    <a16:creationId xmlns:a16="http://schemas.microsoft.com/office/drawing/2014/main" id="{BDD71715-0083-4337-8D70-9FB56FB3E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3924" y="4687343"/>
                <a:ext cx="630794" cy="4018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內容版面配置區 5">
                <a:extLst>
                  <a:ext uri="{FF2B5EF4-FFF2-40B4-BE49-F238E27FC236}">
                    <a16:creationId xmlns:a16="http://schemas.microsoft.com/office/drawing/2014/main" id="{BE588E29-E044-435F-BC1F-C3B334BE5B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81476" y="5934677"/>
                <a:ext cx="630794" cy="4018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𝑩</m:t>
                      </m:r>
                    </m:oMath>
                  </m:oMathPara>
                </a14:m>
                <a:endParaRPr lang="en-US" altLang="zh-TW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0" name="內容版面配置區 5">
                <a:extLst>
                  <a:ext uri="{FF2B5EF4-FFF2-40B4-BE49-F238E27FC236}">
                    <a16:creationId xmlns:a16="http://schemas.microsoft.com/office/drawing/2014/main" id="{BE588E29-E044-435F-BC1F-C3B334BE5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476" y="5934677"/>
                <a:ext cx="630794" cy="4018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內容版面配置區 5">
                <a:extLst>
                  <a:ext uri="{FF2B5EF4-FFF2-40B4-BE49-F238E27FC236}">
                    <a16:creationId xmlns:a16="http://schemas.microsoft.com/office/drawing/2014/main" id="{6EDAF6D9-5FF3-4A4E-81DC-A11149528B1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86905" y="6117561"/>
                <a:ext cx="423790" cy="4018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𝑺</m:t>
                      </m:r>
                    </m:oMath>
                  </m:oMathPara>
                </a14:m>
                <a:endParaRPr lang="en-US" altLang="zh-TW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內容版面配置區 5">
                <a:extLst>
                  <a:ext uri="{FF2B5EF4-FFF2-40B4-BE49-F238E27FC236}">
                    <a16:creationId xmlns:a16="http://schemas.microsoft.com/office/drawing/2014/main" id="{6EDAF6D9-5FF3-4A4E-81DC-A11149528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6905" y="6117561"/>
                <a:ext cx="423790" cy="4018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局部圓 54">
            <a:extLst>
              <a:ext uri="{FF2B5EF4-FFF2-40B4-BE49-F238E27FC236}">
                <a16:creationId xmlns:a16="http://schemas.microsoft.com/office/drawing/2014/main" id="{62984B0C-A923-46AB-940D-E29B84DC78EF}"/>
              </a:ext>
            </a:extLst>
          </p:cNvPr>
          <p:cNvSpPr/>
          <p:nvPr/>
        </p:nvSpPr>
        <p:spPr>
          <a:xfrm>
            <a:off x="5634678" y="5247693"/>
            <a:ext cx="837634" cy="837634"/>
          </a:xfrm>
          <a:prstGeom prst="pie">
            <a:avLst>
              <a:gd name="adj1" fmla="val 1768953"/>
              <a:gd name="adj2" fmla="val 2642692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701CA18C-1933-4983-98E7-BCFBD23F319D}"/>
              </a:ext>
            </a:extLst>
          </p:cNvPr>
          <p:cNvCxnSpPr>
            <a:cxnSpLocks/>
          </p:cNvCxnSpPr>
          <p:nvPr/>
        </p:nvCxnSpPr>
        <p:spPr>
          <a:xfrm>
            <a:off x="6037346" y="5645944"/>
            <a:ext cx="509593" cy="5006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內容版面配置區 5">
                <a:extLst>
                  <a:ext uri="{FF2B5EF4-FFF2-40B4-BE49-F238E27FC236}">
                    <a16:creationId xmlns:a16="http://schemas.microsoft.com/office/drawing/2014/main" id="{27A9ECFD-06CB-4070-8BAF-EA787E005D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88845" y="5587780"/>
                <a:ext cx="1252866" cy="4018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𝜃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≠0</m:t>
                      </m:r>
                    </m:oMath>
                  </m:oMathPara>
                </a14:m>
                <a:endParaRPr lang="en-US" altLang="zh-TW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內容版面配置區 5">
                <a:extLst>
                  <a:ext uri="{FF2B5EF4-FFF2-40B4-BE49-F238E27FC236}">
                    <a16:creationId xmlns:a16="http://schemas.microsoft.com/office/drawing/2014/main" id="{27A9ECFD-06CB-4070-8BAF-EA787E005D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8845" y="5587780"/>
                <a:ext cx="1252866" cy="4018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內容版面配置區 5">
                <a:extLst>
                  <a:ext uri="{FF2B5EF4-FFF2-40B4-BE49-F238E27FC236}">
                    <a16:creationId xmlns:a16="http://schemas.microsoft.com/office/drawing/2014/main" id="{40683053-9216-463F-985D-DEABEC220CE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84856" y="6200943"/>
                <a:ext cx="1252866" cy="4018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𝜃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altLang="zh-TW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9" name="內容版面配置區 5">
                <a:extLst>
                  <a:ext uri="{FF2B5EF4-FFF2-40B4-BE49-F238E27FC236}">
                    <a16:creationId xmlns:a16="http://schemas.microsoft.com/office/drawing/2014/main" id="{40683053-9216-463F-985D-DEABEC220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4856" y="6200943"/>
                <a:ext cx="1252866" cy="4018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3EBCB313-B84E-4287-85B4-28B024334BAB}"/>
                  </a:ext>
                </a:extLst>
              </p:cNvPr>
              <p:cNvSpPr/>
              <p:nvPr/>
            </p:nvSpPr>
            <p:spPr>
              <a:xfrm>
                <a:off x="882296" y="3343909"/>
                <a:ext cx="47470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Polarization of light</a:t>
                </a:r>
                <a:r>
                  <a:rPr lang="en-US" altLang="zh-TW" sz="1400" dirty="0"/>
                  <a:t> / Helical phase fronts for </a:t>
                </a:r>
                <a14:m>
                  <m:oMath xmlns:m="http://schemas.openxmlformats.org/officeDocument/2006/math">
                    <m:r>
                      <a:rPr lang="en-US" altLang="zh-TW" sz="1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ℓ=0, 1, 2, 3</m:t>
                    </m:r>
                  </m:oMath>
                </a14:m>
                <a:r>
                  <a:rPr lang="en-US" altLang="zh-TW" sz="1400" dirty="0"/>
                  <a:t> </a:t>
                </a:r>
                <a:endPara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TW" sz="1400" dirty="0"/>
                  <a:t>A. M. Yao &amp; M. J. Padgett, </a:t>
                </a:r>
                <a:r>
                  <a:rPr lang="en-US" altLang="zh-TW" sz="1400" i="1" dirty="0"/>
                  <a:t>Adv. Opt. Photonics</a:t>
                </a:r>
                <a:r>
                  <a:rPr lang="en-US" altLang="zh-TW" sz="1400" dirty="0"/>
                  <a:t> </a:t>
                </a:r>
                <a:r>
                  <a:rPr lang="en-US" altLang="zh-TW" sz="1400" b="1" dirty="0"/>
                  <a:t>3</a:t>
                </a:r>
                <a:r>
                  <a:rPr lang="en-US" altLang="zh-TW" sz="1400" dirty="0"/>
                  <a:t>, 161 (2011)</a:t>
                </a:r>
                <a:endParaRPr lang="zh-TW" altLang="en-US" sz="1400" dirty="0"/>
              </a:p>
            </p:txBody>
          </p:sp>
        </mc:Choice>
        <mc:Fallback xmlns="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3EBCB313-B84E-4287-85B4-28B024334B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296" y="3343909"/>
                <a:ext cx="4747069" cy="523220"/>
              </a:xfrm>
              <a:prstGeom prst="rect">
                <a:avLst/>
              </a:prstGeom>
              <a:blipFill>
                <a:blip r:embed="rId13"/>
                <a:stretch>
                  <a:fillRect t="-3529" b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內容版面配置區 5">
                <a:extLst>
                  <a:ext uri="{FF2B5EF4-FFF2-40B4-BE49-F238E27FC236}">
                    <a16:creationId xmlns:a16="http://schemas.microsoft.com/office/drawing/2014/main" id="{A4C0E23F-98AD-4D13-883D-80BCD9C042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09210" y="2583471"/>
                <a:ext cx="6558939" cy="132299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Orbital angular momentum</a:t>
                </a:r>
                <a:r>
                  <a:rPr lang="zh-TW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(OAM)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&gt; helical wave front (ex. Laguerre-Gaussian (LG) beam)</a:t>
                </a:r>
              </a:p>
              <a:p>
                <a:pPr marL="0" indent="0">
                  <a:buNone/>
                </a:pP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&gt; </a:t>
                </a:r>
                <a14:m>
                  <m:oMath xmlns:m="http://schemas.openxmlformats.org/officeDocument/2006/math">
                    <m:r>
                      <a:rPr lang="en-US" altLang="zh-TW" sz="18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  <m:r>
                      <a:rPr lang="en-US" altLang="zh-TW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ℏ</m:t>
                    </m:r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per photon (</a:t>
                </a:r>
                <a14:m>
                  <m:oMath xmlns:m="http://schemas.openxmlformats.org/officeDocument/2006/math">
                    <m:r>
                      <a:rPr lang="en-US" altLang="zh-TW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  <m:r>
                      <a:rPr lang="en-US" altLang="zh-TW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 ±1, ±2, ±3……±</m:t>
                    </m:r>
                    <m:r>
                      <a:rPr lang="en-US" altLang="zh-TW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𝑍</m:t>
                    </m:r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61" name="內容版面配置區 5">
                <a:extLst>
                  <a:ext uri="{FF2B5EF4-FFF2-40B4-BE49-F238E27FC236}">
                    <a16:creationId xmlns:a16="http://schemas.microsoft.com/office/drawing/2014/main" id="{A4C0E23F-98AD-4D13-883D-80BCD9C04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9210" y="2583471"/>
                <a:ext cx="6558939" cy="1322998"/>
              </a:xfrm>
              <a:prstGeom prst="rect">
                <a:avLst/>
              </a:prstGeom>
              <a:blipFill>
                <a:blip r:embed="rId14"/>
                <a:stretch>
                  <a:fillRect l="-651" t="-46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4801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>
            <a:extLst>
              <a:ext uri="{FF2B5EF4-FFF2-40B4-BE49-F238E27FC236}">
                <a16:creationId xmlns:a16="http://schemas.microsoft.com/office/drawing/2014/main" id="{88541E1B-390E-4871-9421-64123970431E}"/>
              </a:ext>
            </a:extLst>
          </p:cNvPr>
          <p:cNvGrpSpPr/>
          <p:nvPr/>
        </p:nvGrpSpPr>
        <p:grpSpPr>
          <a:xfrm>
            <a:off x="4888513" y="4260926"/>
            <a:ext cx="2747203" cy="2269413"/>
            <a:chOff x="7093953" y="4862907"/>
            <a:chExt cx="1054186" cy="870843"/>
          </a:xfrm>
        </p:grpSpPr>
        <p:pic>
          <p:nvPicPr>
            <p:cNvPr id="34" name="圖片 33">
              <a:extLst>
                <a:ext uri="{FF2B5EF4-FFF2-40B4-BE49-F238E27FC236}">
                  <a16:creationId xmlns:a16="http://schemas.microsoft.com/office/drawing/2014/main" id="{1977A050-550E-475A-B770-6406A8E582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0857" b="50711"/>
            <a:stretch/>
          </p:blipFill>
          <p:spPr>
            <a:xfrm>
              <a:off x="7122319" y="4862907"/>
              <a:ext cx="1025820" cy="870843"/>
            </a:xfrm>
            <a:prstGeom prst="rect">
              <a:avLst/>
            </a:prstGeom>
          </p:spPr>
        </p:pic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1CF9B926-9B8D-45C2-AC08-422AD47F055A}"/>
                </a:ext>
              </a:extLst>
            </p:cNvPr>
            <p:cNvSpPr/>
            <p:nvPr/>
          </p:nvSpPr>
          <p:spPr>
            <a:xfrm>
              <a:off x="7093953" y="4876800"/>
              <a:ext cx="95041" cy="1190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9459ECD5-0974-490B-BAC5-EA9E136A1261}"/>
              </a:ext>
            </a:extLst>
          </p:cNvPr>
          <p:cNvCxnSpPr>
            <a:cxnSpLocks/>
          </p:cNvCxnSpPr>
          <p:nvPr/>
        </p:nvCxnSpPr>
        <p:spPr>
          <a:xfrm>
            <a:off x="6026546" y="5648333"/>
            <a:ext cx="905168" cy="503237"/>
          </a:xfrm>
          <a:prstGeom prst="straightConnector1">
            <a:avLst/>
          </a:prstGeom>
          <a:ln>
            <a:prstDash val="sysDash"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B99EEC2-809E-4AF1-B22E-26AA648F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19" name="內容版面配置區 5">
            <a:extLst>
              <a:ext uri="{FF2B5EF4-FFF2-40B4-BE49-F238E27FC236}">
                <a16:creationId xmlns:a16="http://schemas.microsoft.com/office/drawing/2014/main" id="{6C455A4A-01DE-4F45-98BE-B366C987D166}"/>
              </a:ext>
            </a:extLst>
          </p:cNvPr>
          <p:cNvSpPr txBox="1">
            <a:spLocks/>
          </p:cNvSpPr>
          <p:nvPr/>
        </p:nvSpPr>
        <p:spPr>
          <a:xfrm>
            <a:off x="76200" y="7081152"/>
            <a:ext cx="12115800" cy="27956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1909 theoretical work by Poynting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----- </a:t>
            </a:r>
            <a:r>
              <a:rPr lang="en-US" altLang="zh-TW" sz="1400" dirty="0"/>
              <a:t>J. H. Poynting, </a:t>
            </a:r>
            <a:r>
              <a:rPr lang="en-US" altLang="zh-TW" sz="1400" i="1" dirty="0"/>
              <a:t>Proc. R. Soc. </a:t>
            </a:r>
            <a:r>
              <a:rPr lang="en-US" altLang="zh-TW" sz="1400" i="1" dirty="0" err="1"/>
              <a:t>Lond</a:t>
            </a:r>
            <a:r>
              <a:rPr lang="en-US" altLang="zh-TW" sz="1400" i="1" dirty="0"/>
              <a:t>. A</a:t>
            </a:r>
            <a:r>
              <a:rPr lang="en-US" altLang="zh-TW" sz="1400" dirty="0"/>
              <a:t> </a:t>
            </a:r>
            <a:r>
              <a:rPr lang="en-US" altLang="zh-TW" sz="1400" b="1" dirty="0"/>
              <a:t>82</a:t>
            </a:r>
            <a:r>
              <a:rPr lang="en-US" altLang="zh-TW" sz="1400" dirty="0"/>
              <a:t>, 560</a:t>
            </a:r>
            <a:endParaRPr lang="en-US" altLang="zh-T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1936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experimental evidence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spin angular momentum (SAM)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----- </a:t>
            </a:r>
            <a:r>
              <a:rPr lang="en-US" altLang="zh-TW" sz="1400" dirty="0"/>
              <a:t>R. A. Beth, </a:t>
            </a:r>
            <a:r>
              <a:rPr lang="en-US" altLang="zh-TW" sz="1400" i="1" dirty="0"/>
              <a:t>Phys. Rev.</a:t>
            </a:r>
            <a:r>
              <a:rPr lang="en-US" altLang="zh-TW" sz="1400" dirty="0"/>
              <a:t> </a:t>
            </a:r>
            <a:r>
              <a:rPr lang="en-US" altLang="zh-TW" sz="1400" b="1" dirty="0"/>
              <a:t>50</a:t>
            </a:r>
            <a:r>
              <a:rPr lang="en-US" altLang="zh-TW" sz="1400" dirty="0"/>
              <a:t>, 115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1992 Experimental demonstration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orbital angular momentum (OAM) in Laguerre-Gaussian (LG) Beam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----- </a:t>
            </a:r>
            <a:r>
              <a:rPr lang="en-US" altLang="zh-TW" sz="1400" dirty="0"/>
              <a:t>L. Allen </a:t>
            </a:r>
            <a:r>
              <a:rPr lang="en-US" altLang="zh-TW" sz="1400" i="1" dirty="0"/>
              <a:t>et al.</a:t>
            </a:r>
            <a:r>
              <a:rPr lang="en-US" altLang="zh-TW" sz="1400" dirty="0"/>
              <a:t>, </a:t>
            </a:r>
            <a:r>
              <a:rPr lang="en-US" altLang="zh-TW" sz="1400" i="1" dirty="0"/>
              <a:t>Phys. Rev. A</a:t>
            </a:r>
            <a:r>
              <a:rPr lang="en-US" altLang="zh-TW" sz="1400" dirty="0"/>
              <a:t> </a:t>
            </a:r>
            <a:r>
              <a:rPr lang="en-US" altLang="zh-TW" sz="1400" b="1" dirty="0"/>
              <a:t>45</a:t>
            </a:r>
            <a:r>
              <a:rPr lang="en-US" altLang="zh-TW" sz="1400" dirty="0"/>
              <a:t>, 8185 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2A1E837B-E2E1-455A-A5BA-0C41E1445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649" y="1205149"/>
            <a:ext cx="3179276" cy="964602"/>
          </a:xfrm>
          <a:prstGeom prst="rect">
            <a:avLst/>
          </a:prstGeom>
        </p:spPr>
      </p:pic>
      <p:grpSp>
        <p:nvGrpSpPr>
          <p:cNvPr id="31" name="群組 30">
            <a:extLst>
              <a:ext uri="{FF2B5EF4-FFF2-40B4-BE49-F238E27FC236}">
                <a16:creationId xmlns:a16="http://schemas.microsoft.com/office/drawing/2014/main" id="{487384C2-568E-4782-A7B6-6A473B24B8CF}"/>
              </a:ext>
            </a:extLst>
          </p:cNvPr>
          <p:cNvGrpSpPr/>
          <p:nvPr/>
        </p:nvGrpSpPr>
        <p:grpSpPr>
          <a:xfrm>
            <a:off x="952093" y="2437028"/>
            <a:ext cx="4448582" cy="1013404"/>
            <a:chOff x="85318" y="3045927"/>
            <a:chExt cx="5458232" cy="1243406"/>
          </a:xfrm>
        </p:grpSpPr>
        <p:pic>
          <p:nvPicPr>
            <p:cNvPr id="23" name="圖片 22">
              <a:extLst>
                <a:ext uri="{FF2B5EF4-FFF2-40B4-BE49-F238E27FC236}">
                  <a16:creationId xmlns:a16="http://schemas.microsoft.com/office/drawing/2014/main" id="{BB924937-081A-4314-9A81-C1BCBF95FE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50711"/>
            <a:stretch/>
          </p:blipFill>
          <p:spPr>
            <a:xfrm>
              <a:off x="85318" y="3141682"/>
              <a:ext cx="2561188" cy="1068489"/>
            </a:xfrm>
            <a:prstGeom prst="rect">
              <a:avLst/>
            </a:prstGeom>
          </p:spPr>
        </p:pic>
        <p:pic>
          <p:nvPicPr>
            <p:cNvPr id="24" name="圖片 23">
              <a:extLst>
                <a:ext uri="{FF2B5EF4-FFF2-40B4-BE49-F238E27FC236}">
                  <a16:creationId xmlns:a16="http://schemas.microsoft.com/office/drawing/2014/main" id="{4E3DFE44-8A87-491C-A659-AB1985165B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52080"/>
            <a:stretch/>
          </p:blipFill>
          <p:spPr>
            <a:xfrm>
              <a:off x="2665683" y="3122080"/>
              <a:ext cx="2877867" cy="1167253"/>
            </a:xfrm>
            <a:prstGeom prst="rect">
              <a:avLst/>
            </a:prstGeom>
          </p:spPr>
        </p:pic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40DAD5F-0741-405E-8051-4C24DA28D360}"/>
                </a:ext>
              </a:extLst>
            </p:cNvPr>
            <p:cNvSpPr/>
            <p:nvPr/>
          </p:nvSpPr>
          <p:spPr>
            <a:xfrm>
              <a:off x="136109" y="3130223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227AFE30-6584-4E1F-808D-1F5500C5E69A}"/>
                </a:ext>
              </a:extLst>
            </p:cNvPr>
            <p:cNvSpPr/>
            <p:nvPr/>
          </p:nvSpPr>
          <p:spPr>
            <a:xfrm>
              <a:off x="1296047" y="3130223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A643E35F-62BA-4FCB-A9C5-735DEF87AFED}"/>
                </a:ext>
              </a:extLst>
            </p:cNvPr>
            <p:cNvSpPr/>
            <p:nvPr/>
          </p:nvSpPr>
          <p:spPr>
            <a:xfrm>
              <a:off x="2727152" y="3045927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2B345902-86BF-4452-8AEE-89EEC30A5C2E}"/>
                </a:ext>
              </a:extLst>
            </p:cNvPr>
            <p:cNvSpPr/>
            <p:nvPr/>
          </p:nvSpPr>
          <p:spPr>
            <a:xfrm>
              <a:off x="4053256" y="3054016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0" name="內容版面配置區 2">
            <a:extLst>
              <a:ext uri="{FF2B5EF4-FFF2-40B4-BE49-F238E27FC236}">
                <a16:creationId xmlns:a16="http://schemas.microsoft.com/office/drawing/2014/main" id="{837B9E7A-B20B-43D2-A2A2-EB357CDE6A66}"/>
              </a:ext>
            </a:extLst>
          </p:cNvPr>
          <p:cNvSpPr txBox="1">
            <a:spLocks/>
          </p:cNvSpPr>
          <p:nvPr/>
        </p:nvSpPr>
        <p:spPr>
          <a:xfrm>
            <a:off x="67821" y="730966"/>
            <a:ext cx="7219118" cy="3813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buClr>
                <a:schemeClr val="accent1">
                  <a:lumMod val="75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momentum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light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內容版面配置區 5">
                <a:extLst>
                  <a:ext uri="{FF2B5EF4-FFF2-40B4-BE49-F238E27FC236}">
                    <a16:creationId xmlns:a16="http://schemas.microsoft.com/office/drawing/2014/main" id="{890CA1D5-75B5-4D96-BEEE-3C3FCAA9A2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09211" y="1109393"/>
                <a:ext cx="4220556" cy="127639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Spin angular momentum (SAM)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&gt; circular polarizations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&gt; </a:t>
                </a:r>
                <a14:m>
                  <m:oMath xmlns:m="http://schemas.openxmlformats.org/officeDocument/2006/math">
                    <m:r>
                      <a:rPr lang="en-US" altLang="zh-TW" sz="18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altLang="zh-TW" sz="18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ℏ</m:t>
                    </m:r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per photon (</a:t>
                </a:r>
                <a14:m>
                  <m:oMath xmlns:m="http://schemas.openxmlformats.org/officeDocument/2006/math">
                    <m:r>
                      <a:rPr lang="en-US" altLang="zh-TW" sz="18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altLang="zh-TW" sz="18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=±1</m:t>
                    </m:r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altLang="zh-TW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" name="內容版面配置區 5">
                <a:extLst>
                  <a:ext uri="{FF2B5EF4-FFF2-40B4-BE49-F238E27FC236}">
                    <a16:creationId xmlns:a16="http://schemas.microsoft.com/office/drawing/2014/main" id="{890CA1D5-75B5-4D96-BEEE-3C3FCAA9A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9211" y="1109393"/>
                <a:ext cx="4220556" cy="1276393"/>
              </a:xfrm>
              <a:prstGeom prst="rect">
                <a:avLst/>
              </a:prstGeom>
              <a:blipFill>
                <a:blip r:embed="rId4"/>
                <a:stretch>
                  <a:fillRect l="-1012" t="-478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群組 12">
            <a:extLst>
              <a:ext uri="{FF2B5EF4-FFF2-40B4-BE49-F238E27FC236}">
                <a16:creationId xmlns:a16="http://schemas.microsoft.com/office/drawing/2014/main" id="{732E5E48-BCFC-422B-B3DB-10A2B67BC29A}"/>
              </a:ext>
            </a:extLst>
          </p:cNvPr>
          <p:cNvGrpSpPr/>
          <p:nvPr/>
        </p:nvGrpSpPr>
        <p:grpSpPr>
          <a:xfrm>
            <a:off x="995849" y="4370982"/>
            <a:ext cx="2300644" cy="1962701"/>
            <a:chOff x="2507149" y="4370982"/>
            <a:chExt cx="2300644" cy="1962701"/>
          </a:xfrm>
        </p:grpSpPr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B9712563-BC0D-44F6-ABB0-9D27D1F741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51098" b="50711"/>
            <a:stretch/>
          </p:blipFill>
          <p:spPr>
            <a:xfrm>
              <a:off x="2507149" y="4370982"/>
              <a:ext cx="2300644" cy="1962701"/>
            </a:xfrm>
            <a:prstGeom prst="rect">
              <a:avLst/>
            </a:prstGeom>
          </p:spPr>
        </p:pic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35B4B4DA-952E-4058-950A-E14F9698B828}"/>
                </a:ext>
              </a:extLst>
            </p:cNvPr>
            <p:cNvSpPr/>
            <p:nvPr/>
          </p:nvSpPr>
          <p:spPr>
            <a:xfrm>
              <a:off x="2591267" y="4413768"/>
              <a:ext cx="262993" cy="2310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6B22FD3D-0BE4-411F-B42B-41C179DD2F19}"/>
              </a:ext>
            </a:extLst>
          </p:cNvPr>
          <p:cNvCxnSpPr/>
          <p:nvPr/>
        </p:nvCxnSpPr>
        <p:spPr>
          <a:xfrm flipV="1">
            <a:off x="2595880" y="4526280"/>
            <a:ext cx="0" cy="103418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A7A0E30C-3471-497A-B972-221836EB7CA5}"/>
              </a:ext>
            </a:extLst>
          </p:cNvPr>
          <p:cNvCxnSpPr>
            <a:cxnSpLocks/>
          </p:cNvCxnSpPr>
          <p:nvPr/>
        </p:nvCxnSpPr>
        <p:spPr>
          <a:xfrm flipH="1">
            <a:off x="1780540" y="5560469"/>
            <a:ext cx="812572" cy="3612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ED184503-9C56-4A4B-BF4D-5A2816643F5B}"/>
              </a:ext>
            </a:extLst>
          </p:cNvPr>
          <p:cNvCxnSpPr>
            <a:cxnSpLocks/>
          </p:cNvCxnSpPr>
          <p:nvPr/>
        </p:nvCxnSpPr>
        <p:spPr>
          <a:xfrm>
            <a:off x="2593112" y="5560469"/>
            <a:ext cx="551408" cy="3045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內容版面配置區 5">
                <a:extLst>
                  <a:ext uri="{FF2B5EF4-FFF2-40B4-BE49-F238E27FC236}">
                    <a16:creationId xmlns:a16="http://schemas.microsoft.com/office/drawing/2014/main" id="{92F61E23-12F6-4BC4-A68D-C1C1DB657C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61326" y="4231095"/>
                <a:ext cx="630794" cy="4018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𝑬</m:t>
                      </m:r>
                    </m:oMath>
                  </m:oMathPara>
                </a14:m>
                <a:endParaRPr lang="en-US" altLang="zh-TW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內容版面配置區 5">
                <a:extLst>
                  <a:ext uri="{FF2B5EF4-FFF2-40B4-BE49-F238E27FC236}">
                    <a16:creationId xmlns:a16="http://schemas.microsoft.com/office/drawing/2014/main" id="{92F61E23-12F6-4BC4-A68D-C1C1DB657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1326" y="4231095"/>
                <a:ext cx="630794" cy="4018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內容版面配置區 5">
                <a:extLst>
                  <a:ext uri="{FF2B5EF4-FFF2-40B4-BE49-F238E27FC236}">
                    <a16:creationId xmlns:a16="http://schemas.microsoft.com/office/drawing/2014/main" id="{40A9D056-B00D-4D7F-B100-811C5B0AF8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40246" y="5861775"/>
                <a:ext cx="630794" cy="4018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𝑩</m:t>
                      </m:r>
                    </m:oMath>
                  </m:oMathPara>
                </a14:m>
                <a:endParaRPr lang="en-US" altLang="zh-TW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內容版面配置區 5">
                <a:extLst>
                  <a:ext uri="{FF2B5EF4-FFF2-40B4-BE49-F238E27FC236}">
                    <a16:creationId xmlns:a16="http://schemas.microsoft.com/office/drawing/2014/main" id="{40A9D056-B00D-4D7F-B100-811C5B0AF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246" y="5861775"/>
                <a:ext cx="630794" cy="4018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內容版面配置區 5">
                <a:extLst>
                  <a:ext uri="{FF2B5EF4-FFF2-40B4-BE49-F238E27FC236}">
                    <a16:creationId xmlns:a16="http://schemas.microsoft.com/office/drawing/2014/main" id="{6BB2AC8D-89EC-41D5-A8A0-3A004903B8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85550" y="5836859"/>
                <a:ext cx="1252866" cy="4018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𝑺</m:t>
                      </m:r>
                      <m:r>
                        <a:rPr lang="en-US" altLang="zh-TW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≡</m:t>
                      </m:r>
                      <m:r>
                        <a:rPr lang="en-US" altLang="zh-TW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𝑬</m:t>
                      </m:r>
                      <m:r>
                        <a:rPr lang="en-US" altLang="zh-TW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altLang="zh-TW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𝑩</m:t>
                      </m:r>
                    </m:oMath>
                  </m:oMathPara>
                </a14:m>
                <a:endParaRPr lang="en-US" altLang="zh-TW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內容版面配置區 5">
                <a:extLst>
                  <a:ext uri="{FF2B5EF4-FFF2-40B4-BE49-F238E27FC236}">
                    <a16:creationId xmlns:a16="http://schemas.microsoft.com/office/drawing/2014/main" id="{6BB2AC8D-89EC-41D5-A8A0-3A004903B8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5550" y="5836859"/>
                <a:ext cx="1252866" cy="4018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2F75CDB2-7171-4312-83D2-174CED2F894F}"/>
              </a:ext>
            </a:extLst>
          </p:cNvPr>
          <p:cNvCxnSpPr>
            <a:cxnSpLocks/>
          </p:cNvCxnSpPr>
          <p:nvPr/>
        </p:nvCxnSpPr>
        <p:spPr>
          <a:xfrm flipV="1">
            <a:off x="6034714" y="4961087"/>
            <a:ext cx="172215" cy="6934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3" name="直線單箭頭接點 42">
            <a:extLst>
              <a:ext uri="{FF2B5EF4-FFF2-40B4-BE49-F238E27FC236}">
                <a16:creationId xmlns:a16="http://schemas.microsoft.com/office/drawing/2014/main" id="{141FC772-47ED-48C2-A2DA-FCD8D834A690}"/>
              </a:ext>
            </a:extLst>
          </p:cNvPr>
          <p:cNvCxnSpPr>
            <a:cxnSpLocks/>
          </p:cNvCxnSpPr>
          <p:nvPr/>
        </p:nvCxnSpPr>
        <p:spPr>
          <a:xfrm flipH="1">
            <a:off x="5352331" y="5646360"/>
            <a:ext cx="690159" cy="4559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內容版面配置區 5">
                <a:extLst>
                  <a:ext uri="{FF2B5EF4-FFF2-40B4-BE49-F238E27FC236}">
                    <a16:creationId xmlns:a16="http://schemas.microsoft.com/office/drawing/2014/main" id="{BDD71715-0083-4337-8D70-9FB56FB3EFA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43924" y="4687343"/>
                <a:ext cx="630794" cy="4018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𝑬</m:t>
                      </m:r>
                    </m:oMath>
                  </m:oMathPara>
                </a14:m>
                <a:endParaRPr lang="en-US" altLang="zh-TW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內容版面配置區 5">
                <a:extLst>
                  <a:ext uri="{FF2B5EF4-FFF2-40B4-BE49-F238E27FC236}">
                    <a16:creationId xmlns:a16="http://schemas.microsoft.com/office/drawing/2014/main" id="{BDD71715-0083-4337-8D70-9FB56FB3E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3924" y="4687343"/>
                <a:ext cx="630794" cy="4018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內容版面配置區 5">
                <a:extLst>
                  <a:ext uri="{FF2B5EF4-FFF2-40B4-BE49-F238E27FC236}">
                    <a16:creationId xmlns:a16="http://schemas.microsoft.com/office/drawing/2014/main" id="{BE588E29-E044-435F-BC1F-C3B334BE5B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81476" y="5934677"/>
                <a:ext cx="630794" cy="4018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𝑩</m:t>
                      </m:r>
                    </m:oMath>
                  </m:oMathPara>
                </a14:m>
                <a:endParaRPr lang="en-US" altLang="zh-TW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0" name="內容版面配置區 5">
                <a:extLst>
                  <a:ext uri="{FF2B5EF4-FFF2-40B4-BE49-F238E27FC236}">
                    <a16:creationId xmlns:a16="http://schemas.microsoft.com/office/drawing/2014/main" id="{BE588E29-E044-435F-BC1F-C3B334BE5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476" y="5934677"/>
                <a:ext cx="630794" cy="4018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內容版面配置區 5">
                <a:extLst>
                  <a:ext uri="{FF2B5EF4-FFF2-40B4-BE49-F238E27FC236}">
                    <a16:creationId xmlns:a16="http://schemas.microsoft.com/office/drawing/2014/main" id="{6EDAF6D9-5FF3-4A4E-81DC-A11149528B1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86905" y="6117561"/>
                <a:ext cx="423790" cy="4018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𝑺</m:t>
                      </m:r>
                    </m:oMath>
                  </m:oMathPara>
                </a14:m>
                <a:endParaRPr lang="en-US" altLang="zh-TW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內容版面配置區 5">
                <a:extLst>
                  <a:ext uri="{FF2B5EF4-FFF2-40B4-BE49-F238E27FC236}">
                    <a16:creationId xmlns:a16="http://schemas.microsoft.com/office/drawing/2014/main" id="{6EDAF6D9-5FF3-4A4E-81DC-A11149528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6905" y="6117561"/>
                <a:ext cx="423790" cy="4018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局部圓 54">
            <a:extLst>
              <a:ext uri="{FF2B5EF4-FFF2-40B4-BE49-F238E27FC236}">
                <a16:creationId xmlns:a16="http://schemas.microsoft.com/office/drawing/2014/main" id="{62984B0C-A923-46AB-940D-E29B84DC78EF}"/>
              </a:ext>
            </a:extLst>
          </p:cNvPr>
          <p:cNvSpPr/>
          <p:nvPr/>
        </p:nvSpPr>
        <p:spPr>
          <a:xfrm>
            <a:off x="5634678" y="5247693"/>
            <a:ext cx="837634" cy="837634"/>
          </a:xfrm>
          <a:prstGeom prst="pie">
            <a:avLst>
              <a:gd name="adj1" fmla="val 1768953"/>
              <a:gd name="adj2" fmla="val 2642692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701CA18C-1933-4983-98E7-BCFBD23F319D}"/>
              </a:ext>
            </a:extLst>
          </p:cNvPr>
          <p:cNvCxnSpPr>
            <a:cxnSpLocks/>
          </p:cNvCxnSpPr>
          <p:nvPr/>
        </p:nvCxnSpPr>
        <p:spPr>
          <a:xfrm>
            <a:off x="6037346" y="5645944"/>
            <a:ext cx="509593" cy="5006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內容版面配置區 5">
                <a:extLst>
                  <a:ext uri="{FF2B5EF4-FFF2-40B4-BE49-F238E27FC236}">
                    <a16:creationId xmlns:a16="http://schemas.microsoft.com/office/drawing/2014/main" id="{27A9ECFD-06CB-4070-8BAF-EA787E005D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88845" y="5587780"/>
                <a:ext cx="1252866" cy="4018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𝜃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≠0</m:t>
                      </m:r>
                    </m:oMath>
                  </m:oMathPara>
                </a14:m>
                <a:endParaRPr lang="en-US" altLang="zh-TW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內容版面配置區 5">
                <a:extLst>
                  <a:ext uri="{FF2B5EF4-FFF2-40B4-BE49-F238E27FC236}">
                    <a16:creationId xmlns:a16="http://schemas.microsoft.com/office/drawing/2014/main" id="{27A9ECFD-06CB-4070-8BAF-EA787E005D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8845" y="5587780"/>
                <a:ext cx="1252866" cy="4018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內容版面配置區 5">
                <a:extLst>
                  <a:ext uri="{FF2B5EF4-FFF2-40B4-BE49-F238E27FC236}">
                    <a16:creationId xmlns:a16="http://schemas.microsoft.com/office/drawing/2014/main" id="{40683053-9216-463F-985D-DEABEC220CE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84856" y="6200943"/>
                <a:ext cx="1252866" cy="4018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𝜃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altLang="zh-TW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9" name="內容版面配置區 5">
                <a:extLst>
                  <a:ext uri="{FF2B5EF4-FFF2-40B4-BE49-F238E27FC236}">
                    <a16:creationId xmlns:a16="http://schemas.microsoft.com/office/drawing/2014/main" id="{40683053-9216-463F-985D-DEABEC220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4856" y="6200943"/>
                <a:ext cx="1252866" cy="4018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6" name="圖片 45">
            <a:extLst>
              <a:ext uri="{FF2B5EF4-FFF2-40B4-BE49-F238E27FC236}">
                <a16:creationId xmlns:a16="http://schemas.microsoft.com/office/drawing/2014/main" id="{88CE6203-54B9-43A0-BEF4-07467E35DCA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77438" y="3932240"/>
            <a:ext cx="2980130" cy="2153157"/>
          </a:xfrm>
          <a:prstGeom prst="rect">
            <a:avLst/>
          </a:prstGeom>
        </p:spPr>
      </p:pic>
      <p:sp>
        <p:nvSpPr>
          <p:cNvPr id="44" name="矩形 43">
            <a:extLst>
              <a:ext uri="{FF2B5EF4-FFF2-40B4-BE49-F238E27FC236}">
                <a16:creationId xmlns:a16="http://schemas.microsoft.com/office/drawing/2014/main" id="{BB3CA50B-A0C7-4FC0-9051-01054362FBDD}"/>
              </a:ext>
            </a:extLst>
          </p:cNvPr>
          <p:cNvSpPr/>
          <p:nvPr/>
        </p:nvSpPr>
        <p:spPr>
          <a:xfrm>
            <a:off x="7733722" y="6116687"/>
            <a:ext cx="399820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TW" sz="1400" dirty="0"/>
              <a:t>Spiraling Poynting vector</a:t>
            </a:r>
          </a:p>
          <a:p>
            <a:pPr algn="ctr"/>
            <a:r>
              <a:rPr lang="en-US" altLang="zh-TW" sz="1400" dirty="0"/>
              <a:t>L. Allen </a:t>
            </a:r>
            <a:r>
              <a:rPr lang="en-US" altLang="zh-TW" sz="1400" i="1" dirty="0"/>
              <a:t>et al.</a:t>
            </a:r>
            <a:r>
              <a:rPr lang="en-US" altLang="zh-TW" sz="1400" dirty="0"/>
              <a:t>, </a:t>
            </a:r>
            <a:r>
              <a:rPr lang="en-US" altLang="zh-TW" sz="1400" i="1" dirty="0"/>
              <a:t>Phys. Rev. A</a:t>
            </a:r>
            <a:r>
              <a:rPr lang="en-US" altLang="zh-TW" sz="1400" dirty="0"/>
              <a:t> </a:t>
            </a:r>
            <a:r>
              <a:rPr lang="en-US" altLang="zh-TW" sz="1400" b="1" dirty="0"/>
              <a:t>45</a:t>
            </a:r>
            <a:r>
              <a:rPr lang="en-US" altLang="zh-TW" sz="1400" dirty="0"/>
              <a:t>, 8185 (1992)</a:t>
            </a:r>
            <a:endParaRPr lang="zh-TW" altLang="en-US" sz="1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3C02ACA8-13E5-4C04-8B82-3C64C09D2AD6}"/>
                  </a:ext>
                </a:extLst>
              </p:cNvPr>
              <p:cNvSpPr/>
              <p:nvPr/>
            </p:nvSpPr>
            <p:spPr>
              <a:xfrm>
                <a:off x="882296" y="3343909"/>
                <a:ext cx="47470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Polarization of light</a:t>
                </a:r>
                <a:r>
                  <a:rPr lang="en-US" altLang="zh-TW" sz="1400" dirty="0"/>
                  <a:t> / Helical phase fronts for </a:t>
                </a:r>
                <a14:m>
                  <m:oMath xmlns:m="http://schemas.openxmlformats.org/officeDocument/2006/math">
                    <m:r>
                      <a:rPr lang="en-US" altLang="zh-TW" sz="1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ℓ=0, 1, 2, 3</m:t>
                    </m:r>
                  </m:oMath>
                </a14:m>
                <a:r>
                  <a:rPr lang="en-US" altLang="zh-TW" sz="1400" dirty="0"/>
                  <a:t> </a:t>
                </a:r>
                <a:endPara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TW" sz="1400" dirty="0"/>
                  <a:t>A. M. Yao &amp; M. J. Padgett, </a:t>
                </a:r>
                <a:r>
                  <a:rPr lang="en-US" altLang="zh-TW" sz="1400" i="1" dirty="0"/>
                  <a:t>Adv. Opt. Photonics</a:t>
                </a:r>
                <a:r>
                  <a:rPr lang="en-US" altLang="zh-TW" sz="1400" dirty="0"/>
                  <a:t> </a:t>
                </a:r>
                <a:r>
                  <a:rPr lang="en-US" altLang="zh-TW" sz="1400" b="1" dirty="0"/>
                  <a:t>3</a:t>
                </a:r>
                <a:r>
                  <a:rPr lang="en-US" altLang="zh-TW" sz="1400" dirty="0"/>
                  <a:t>, 161 (2011)</a:t>
                </a:r>
                <a:endParaRPr lang="zh-TW" altLang="en-US" sz="1400" dirty="0"/>
              </a:p>
            </p:txBody>
          </p:sp>
        </mc:Choice>
        <mc:Fallback xmlns="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3C02ACA8-13E5-4C04-8B82-3C64C09D2A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296" y="3343909"/>
                <a:ext cx="4747069" cy="523220"/>
              </a:xfrm>
              <a:prstGeom prst="rect">
                <a:avLst/>
              </a:prstGeom>
              <a:blipFill>
                <a:blip r:embed="rId14"/>
                <a:stretch>
                  <a:fillRect t="-3529" b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內容版面配置區 5">
                <a:extLst>
                  <a:ext uri="{FF2B5EF4-FFF2-40B4-BE49-F238E27FC236}">
                    <a16:creationId xmlns:a16="http://schemas.microsoft.com/office/drawing/2014/main" id="{992EEC87-72BB-4D4A-8B0C-B3DE36BAD7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09210" y="2583471"/>
                <a:ext cx="6558939" cy="132299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Orbital angular momentum</a:t>
                </a:r>
                <a:r>
                  <a:rPr lang="zh-TW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(OAM)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&gt; helical wave front (ex. Laguerre-Gaussian (LG) beam)</a:t>
                </a:r>
              </a:p>
              <a:p>
                <a:pPr marL="0" indent="0">
                  <a:buNone/>
                </a:pP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&gt; </a:t>
                </a:r>
                <a14:m>
                  <m:oMath xmlns:m="http://schemas.openxmlformats.org/officeDocument/2006/math">
                    <m:r>
                      <a:rPr lang="en-US" altLang="zh-TW" sz="18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  <m:r>
                      <a:rPr lang="en-US" altLang="zh-TW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ℏ</m:t>
                    </m:r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per photon (</a:t>
                </a:r>
                <a14:m>
                  <m:oMath xmlns:m="http://schemas.openxmlformats.org/officeDocument/2006/math">
                    <m:r>
                      <a:rPr lang="en-US" altLang="zh-TW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  <m:r>
                      <a:rPr lang="en-US" altLang="zh-TW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 ±1, ±2, ±3……±</m:t>
                    </m:r>
                    <m:r>
                      <a:rPr lang="en-US" altLang="zh-TW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𝑍</m:t>
                    </m:r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4" name="內容版面配置區 5">
                <a:extLst>
                  <a:ext uri="{FF2B5EF4-FFF2-40B4-BE49-F238E27FC236}">
                    <a16:creationId xmlns:a16="http://schemas.microsoft.com/office/drawing/2014/main" id="{992EEC87-72BB-4D4A-8B0C-B3DE36BAD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9210" y="2583471"/>
                <a:ext cx="6558939" cy="1322998"/>
              </a:xfrm>
              <a:prstGeom prst="rect">
                <a:avLst/>
              </a:prstGeom>
              <a:blipFill>
                <a:blip r:embed="rId15"/>
                <a:stretch>
                  <a:fillRect l="-651" t="-46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8579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5">
                <a:extLst>
                  <a:ext uri="{FF2B5EF4-FFF2-40B4-BE49-F238E27FC236}">
                    <a16:creationId xmlns:a16="http://schemas.microsoft.com/office/drawing/2014/main" id="{7A0B84D7-FBF0-48E8-A5CC-0E544A1522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09211" y="1109393"/>
                <a:ext cx="4220556" cy="1276393"/>
              </a:xfrm>
            </p:spPr>
            <p:txBody>
              <a:bodyPr>
                <a:noAutofit/>
              </a:bodyPr>
              <a:lstStyle/>
              <a:p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Spin angular momentum (SAM) </a:t>
                </a:r>
              </a:p>
              <a:p>
                <a:pPr marL="0" indent="0">
                  <a:buNone/>
                </a:pP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&gt; circular polarizations </a:t>
                </a:r>
              </a:p>
              <a:p>
                <a:pPr marL="0" indent="0">
                  <a:buNone/>
                </a:pP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&gt; </a:t>
                </a:r>
                <a14:m>
                  <m:oMath xmlns:m="http://schemas.openxmlformats.org/officeDocument/2006/math">
                    <m:r>
                      <a:rPr lang="en-US" altLang="zh-TW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altLang="zh-TW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ℏ</m:t>
                    </m:r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per photon (</a:t>
                </a:r>
                <a14:m>
                  <m:oMath xmlns:m="http://schemas.openxmlformats.org/officeDocument/2006/math">
                    <m:r>
                      <a:rPr lang="en-US" altLang="zh-TW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altLang="zh-TW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=±1</m:t>
                    </m:r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None/>
                </a:pPr>
                <a:endParaRPr lang="en-US" altLang="zh-TW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內容版面配置區 5">
                <a:extLst>
                  <a:ext uri="{FF2B5EF4-FFF2-40B4-BE49-F238E27FC236}">
                    <a16:creationId xmlns:a16="http://schemas.microsoft.com/office/drawing/2014/main" id="{7A0B84D7-FBF0-48E8-A5CC-0E544A1522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09211" y="1109393"/>
                <a:ext cx="4220556" cy="1276393"/>
              </a:xfrm>
              <a:blipFill>
                <a:blip r:embed="rId2"/>
                <a:stretch>
                  <a:fillRect l="-1012" t="-478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B99EEC2-809E-4AF1-B22E-26AA648F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19" name="內容版面配置區 5">
            <a:extLst>
              <a:ext uri="{FF2B5EF4-FFF2-40B4-BE49-F238E27FC236}">
                <a16:creationId xmlns:a16="http://schemas.microsoft.com/office/drawing/2014/main" id="{6C455A4A-01DE-4F45-98BE-B366C987D166}"/>
              </a:ext>
            </a:extLst>
          </p:cNvPr>
          <p:cNvSpPr txBox="1">
            <a:spLocks/>
          </p:cNvSpPr>
          <p:nvPr/>
        </p:nvSpPr>
        <p:spPr>
          <a:xfrm>
            <a:off x="76200" y="7081152"/>
            <a:ext cx="12115800" cy="27956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1909 theoretical work by Poynting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----- </a:t>
            </a:r>
            <a:r>
              <a:rPr lang="en-US" altLang="zh-TW" sz="1400" dirty="0"/>
              <a:t>J. H. Poynting, </a:t>
            </a:r>
            <a:r>
              <a:rPr lang="en-US" altLang="zh-TW" sz="1400" i="1" dirty="0"/>
              <a:t>Proc. R. Soc. </a:t>
            </a:r>
            <a:r>
              <a:rPr lang="en-US" altLang="zh-TW" sz="1400" i="1" dirty="0" err="1"/>
              <a:t>Lond</a:t>
            </a:r>
            <a:r>
              <a:rPr lang="en-US" altLang="zh-TW" sz="1400" i="1" dirty="0"/>
              <a:t>. A</a:t>
            </a:r>
            <a:r>
              <a:rPr lang="en-US" altLang="zh-TW" sz="1400" dirty="0"/>
              <a:t> </a:t>
            </a:r>
            <a:r>
              <a:rPr lang="en-US" altLang="zh-TW" sz="1400" b="1" dirty="0"/>
              <a:t>82</a:t>
            </a:r>
            <a:r>
              <a:rPr lang="en-US" altLang="zh-TW" sz="1400" dirty="0"/>
              <a:t>, 560</a:t>
            </a:r>
            <a:endParaRPr lang="en-US" altLang="zh-T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1936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experimental evidence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spin angular momentum (SAM)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----- </a:t>
            </a:r>
            <a:r>
              <a:rPr lang="en-US" altLang="zh-TW" sz="1400" dirty="0"/>
              <a:t>R. A. Beth, </a:t>
            </a:r>
            <a:r>
              <a:rPr lang="en-US" altLang="zh-TW" sz="1400" i="1" dirty="0"/>
              <a:t>Phys. Rev.</a:t>
            </a:r>
            <a:r>
              <a:rPr lang="en-US" altLang="zh-TW" sz="1400" dirty="0"/>
              <a:t> </a:t>
            </a:r>
            <a:r>
              <a:rPr lang="en-US" altLang="zh-TW" sz="1400" b="1" dirty="0"/>
              <a:t>50</a:t>
            </a:r>
            <a:r>
              <a:rPr lang="en-US" altLang="zh-TW" sz="1400" dirty="0"/>
              <a:t>, 115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1992 Experimental demonstration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orbital angular momentum (OAM) in Laguerre-Gaussian (LG) Beam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----- </a:t>
            </a:r>
            <a:r>
              <a:rPr lang="en-US" altLang="zh-TW" sz="1400" dirty="0"/>
              <a:t>L. Allen </a:t>
            </a:r>
            <a:r>
              <a:rPr lang="en-US" altLang="zh-TW" sz="1400" i="1" dirty="0"/>
              <a:t>et al.</a:t>
            </a:r>
            <a:r>
              <a:rPr lang="en-US" altLang="zh-TW" sz="1400" dirty="0"/>
              <a:t>, </a:t>
            </a:r>
            <a:r>
              <a:rPr lang="en-US" altLang="zh-TW" sz="1400" i="1" dirty="0"/>
              <a:t>Phys. Rev. A</a:t>
            </a:r>
            <a:r>
              <a:rPr lang="en-US" altLang="zh-TW" sz="1400" dirty="0"/>
              <a:t> </a:t>
            </a:r>
            <a:r>
              <a:rPr lang="en-US" altLang="zh-TW" sz="1400" b="1" dirty="0"/>
              <a:t>45</a:t>
            </a:r>
            <a:r>
              <a:rPr lang="en-US" altLang="zh-TW" sz="1400" dirty="0"/>
              <a:t>, 8185 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2A1E837B-E2E1-455A-A5BA-0C41E1445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649" y="1205149"/>
            <a:ext cx="3179276" cy="964602"/>
          </a:xfrm>
          <a:prstGeom prst="rect">
            <a:avLst/>
          </a:prstGeom>
        </p:spPr>
      </p:pic>
      <p:grpSp>
        <p:nvGrpSpPr>
          <p:cNvPr id="31" name="群組 30">
            <a:extLst>
              <a:ext uri="{FF2B5EF4-FFF2-40B4-BE49-F238E27FC236}">
                <a16:creationId xmlns:a16="http://schemas.microsoft.com/office/drawing/2014/main" id="{487384C2-568E-4782-A7B6-6A473B24B8CF}"/>
              </a:ext>
            </a:extLst>
          </p:cNvPr>
          <p:cNvGrpSpPr/>
          <p:nvPr/>
        </p:nvGrpSpPr>
        <p:grpSpPr>
          <a:xfrm>
            <a:off x="952093" y="2437028"/>
            <a:ext cx="4448582" cy="1013404"/>
            <a:chOff x="85318" y="3045927"/>
            <a:chExt cx="5458232" cy="1243406"/>
          </a:xfrm>
        </p:grpSpPr>
        <p:pic>
          <p:nvPicPr>
            <p:cNvPr id="23" name="圖片 22">
              <a:extLst>
                <a:ext uri="{FF2B5EF4-FFF2-40B4-BE49-F238E27FC236}">
                  <a16:creationId xmlns:a16="http://schemas.microsoft.com/office/drawing/2014/main" id="{BB924937-081A-4314-9A81-C1BCBF95FE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50711"/>
            <a:stretch/>
          </p:blipFill>
          <p:spPr>
            <a:xfrm>
              <a:off x="85318" y="3141682"/>
              <a:ext cx="2561188" cy="1068489"/>
            </a:xfrm>
            <a:prstGeom prst="rect">
              <a:avLst/>
            </a:prstGeom>
          </p:spPr>
        </p:pic>
        <p:pic>
          <p:nvPicPr>
            <p:cNvPr id="24" name="圖片 23">
              <a:extLst>
                <a:ext uri="{FF2B5EF4-FFF2-40B4-BE49-F238E27FC236}">
                  <a16:creationId xmlns:a16="http://schemas.microsoft.com/office/drawing/2014/main" id="{4E3DFE44-8A87-491C-A659-AB1985165B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52080"/>
            <a:stretch/>
          </p:blipFill>
          <p:spPr>
            <a:xfrm>
              <a:off x="2665683" y="3122080"/>
              <a:ext cx="2877867" cy="1167253"/>
            </a:xfrm>
            <a:prstGeom prst="rect">
              <a:avLst/>
            </a:prstGeom>
          </p:spPr>
        </p:pic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40DAD5F-0741-405E-8051-4C24DA28D360}"/>
                </a:ext>
              </a:extLst>
            </p:cNvPr>
            <p:cNvSpPr/>
            <p:nvPr/>
          </p:nvSpPr>
          <p:spPr>
            <a:xfrm>
              <a:off x="136109" y="3130223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227AFE30-6584-4E1F-808D-1F5500C5E69A}"/>
                </a:ext>
              </a:extLst>
            </p:cNvPr>
            <p:cNvSpPr/>
            <p:nvPr/>
          </p:nvSpPr>
          <p:spPr>
            <a:xfrm>
              <a:off x="1296047" y="3130223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A643E35F-62BA-4FCB-A9C5-735DEF87AFED}"/>
                </a:ext>
              </a:extLst>
            </p:cNvPr>
            <p:cNvSpPr/>
            <p:nvPr/>
          </p:nvSpPr>
          <p:spPr>
            <a:xfrm>
              <a:off x="2727152" y="3045927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2B345902-86BF-4452-8AEE-89EEC30A5C2E}"/>
                </a:ext>
              </a:extLst>
            </p:cNvPr>
            <p:cNvSpPr/>
            <p:nvPr/>
          </p:nvSpPr>
          <p:spPr>
            <a:xfrm>
              <a:off x="4053256" y="3054016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0" name="內容版面配置區 2">
            <a:extLst>
              <a:ext uri="{FF2B5EF4-FFF2-40B4-BE49-F238E27FC236}">
                <a16:creationId xmlns:a16="http://schemas.microsoft.com/office/drawing/2014/main" id="{837B9E7A-B20B-43D2-A2A2-EB357CDE6A66}"/>
              </a:ext>
            </a:extLst>
          </p:cNvPr>
          <p:cNvSpPr txBox="1">
            <a:spLocks/>
          </p:cNvSpPr>
          <p:nvPr/>
        </p:nvSpPr>
        <p:spPr>
          <a:xfrm>
            <a:off x="67821" y="730966"/>
            <a:ext cx="7219118" cy="3813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buClr>
                <a:schemeClr val="accent1">
                  <a:lumMod val="75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momentum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light</a:t>
            </a:r>
          </a:p>
        </p:txBody>
      </p:sp>
      <p:sp>
        <p:nvSpPr>
          <p:cNvPr id="29" name="內容版面配置區 5">
            <a:extLst>
              <a:ext uri="{FF2B5EF4-FFF2-40B4-BE49-F238E27FC236}">
                <a16:creationId xmlns:a16="http://schemas.microsoft.com/office/drawing/2014/main" id="{0D52447E-ECC2-4C3A-B14E-6CB366A1DAC8}"/>
              </a:ext>
            </a:extLst>
          </p:cNvPr>
          <p:cNvSpPr txBox="1">
            <a:spLocks/>
          </p:cNvSpPr>
          <p:nvPr/>
        </p:nvSpPr>
        <p:spPr>
          <a:xfrm>
            <a:off x="5309211" y="4296385"/>
            <a:ext cx="5587679" cy="24190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Spin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Orbital angular momentum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 (SOI)</a:t>
            </a:r>
          </a:p>
          <a:p>
            <a:pPr marL="0" indent="0"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&gt; </a:t>
            </a:r>
            <a:r>
              <a:rPr lang="en-US" altLang="zh-TW" sz="1800" dirty="0"/>
              <a:t>circularly polarized laser beam reflected or 	    refracted by medium inhomogeneity 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&gt; Tight focusing of a paraxial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beam </a:t>
            </a:r>
          </a:p>
          <a:p>
            <a:pPr marL="0" indent="0"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&gt; paraxial beam propagates in optical </a:t>
            </a:r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fibres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&gt; other ……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4AFE13A-1A84-4888-A101-150DF96205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853" y="4467842"/>
            <a:ext cx="1788397" cy="1646742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08BD4446-7D85-457A-A866-669CA3626D72}"/>
              </a:ext>
            </a:extLst>
          </p:cNvPr>
          <p:cNvSpPr/>
          <p:nvPr/>
        </p:nvSpPr>
        <p:spPr>
          <a:xfrm>
            <a:off x="1300842" y="6144334"/>
            <a:ext cx="36088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cases for SOI</a:t>
            </a:r>
          </a:p>
          <a:p>
            <a:r>
              <a:rPr lang="da-DK" altLang="zh-TW" sz="1400" dirty="0"/>
              <a:t>K. Y. Bliokh </a:t>
            </a:r>
            <a:r>
              <a:rPr lang="da-DK" altLang="zh-TW" sz="1400" i="1" dirty="0"/>
              <a:t>et al.</a:t>
            </a:r>
            <a:r>
              <a:rPr lang="da-DK" altLang="zh-TW" sz="1400" dirty="0"/>
              <a:t>, </a:t>
            </a:r>
            <a:r>
              <a:rPr lang="da-DK" altLang="zh-TW" sz="1400" i="1" dirty="0"/>
              <a:t>Nat. Photonics</a:t>
            </a:r>
            <a:r>
              <a:rPr lang="da-DK" altLang="zh-TW" sz="1400" dirty="0"/>
              <a:t> </a:t>
            </a:r>
            <a:r>
              <a:rPr lang="da-DK" altLang="zh-TW" sz="1400" b="1" dirty="0"/>
              <a:t>9</a:t>
            </a:r>
            <a:r>
              <a:rPr lang="da-DK" altLang="zh-TW" sz="1400" dirty="0"/>
              <a:t>, 796 (2015).</a:t>
            </a:r>
            <a:r>
              <a:rPr lang="en-US" altLang="zh-TW" sz="1400" dirty="0"/>
              <a:t> </a:t>
            </a:r>
            <a:endParaRPr lang="zh-TW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F7617EE2-F028-43A5-971D-5FD02BD737B5}"/>
                  </a:ext>
                </a:extLst>
              </p:cNvPr>
              <p:cNvSpPr/>
              <p:nvPr/>
            </p:nvSpPr>
            <p:spPr>
              <a:xfrm>
                <a:off x="882296" y="3343909"/>
                <a:ext cx="47470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Polarization of light</a:t>
                </a:r>
                <a:r>
                  <a:rPr lang="en-US" altLang="zh-TW" sz="1400" dirty="0"/>
                  <a:t> / Helical phase fronts for </a:t>
                </a:r>
                <a14:m>
                  <m:oMath xmlns:m="http://schemas.openxmlformats.org/officeDocument/2006/math">
                    <m:r>
                      <a:rPr lang="en-US" altLang="zh-TW" sz="1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ℓ=0, 1, 2, 3</m:t>
                    </m:r>
                  </m:oMath>
                </a14:m>
                <a:r>
                  <a:rPr lang="en-US" altLang="zh-TW" sz="1400" dirty="0"/>
                  <a:t> </a:t>
                </a:r>
                <a:endPara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TW" sz="1400" dirty="0"/>
                  <a:t>A. M. Yao &amp; M. J. Padgett, </a:t>
                </a:r>
                <a:r>
                  <a:rPr lang="en-US" altLang="zh-TW" sz="1400" i="1" dirty="0"/>
                  <a:t>Adv. Opt. Photonics</a:t>
                </a:r>
                <a:r>
                  <a:rPr lang="en-US" altLang="zh-TW" sz="1400" dirty="0"/>
                  <a:t> </a:t>
                </a:r>
                <a:r>
                  <a:rPr lang="en-US" altLang="zh-TW" sz="1400" b="1" dirty="0"/>
                  <a:t>3</a:t>
                </a:r>
                <a:r>
                  <a:rPr lang="en-US" altLang="zh-TW" sz="1400" dirty="0"/>
                  <a:t>, 161 (2011)</a:t>
                </a:r>
                <a:endParaRPr lang="zh-TW" altLang="en-US" sz="1400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F7617EE2-F028-43A5-971D-5FD02BD737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296" y="3343909"/>
                <a:ext cx="4747069" cy="523220"/>
              </a:xfrm>
              <a:prstGeom prst="rect">
                <a:avLst/>
              </a:prstGeom>
              <a:blipFill>
                <a:blip r:embed="rId6"/>
                <a:stretch>
                  <a:fillRect t="-3529" b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群組 6">
            <a:extLst>
              <a:ext uri="{FF2B5EF4-FFF2-40B4-BE49-F238E27FC236}">
                <a16:creationId xmlns:a16="http://schemas.microsoft.com/office/drawing/2014/main" id="{1B04F226-A1F2-4254-B163-06AB888C5E58}"/>
              </a:ext>
            </a:extLst>
          </p:cNvPr>
          <p:cNvGrpSpPr/>
          <p:nvPr/>
        </p:nvGrpSpPr>
        <p:grpSpPr>
          <a:xfrm>
            <a:off x="3016861" y="4539139"/>
            <a:ext cx="2100628" cy="1475758"/>
            <a:chOff x="3016861" y="4539139"/>
            <a:chExt cx="2100628" cy="1475758"/>
          </a:xfrm>
        </p:grpSpPr>
        <p:pic>
          <p:nvPicPr>
            <p:cNvPr id="2" name="圖片 1">
              <a:extLst>
                <a:ext uri="{FF2B5EF4-FFF2-40B4-BE49-F238E27FC236}">
                  <a16:creationId xmlns:a16="http://schemas.microsoft.com/office/drawing/2014/main" id="{E846AD22-2223-447B-9D49-08099B41E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016861" y="4539139"/>
              <a:ext cx="2100628" cy="1475758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587F755-AA59-48D7-87C4-38A045539F99}"/>
                </a:ext>
              </a:extLst>
            </p:cNvPr>
            <p:cNvSpPr/>
            <p:nvPr/>
          </p:nvSpPr>
          <p:spPr>
            <a:xfrm>
              <a:off x="3016861" y="4539139"/>
              <a:ext cx="144950" cy="1728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內容版面配置區 5">
                <a:extLst>
                  <a:ext uri="{FF2B5EF4-FFF2-40B4-BE49-F238E27FC236}">
                    <a16:creationId xmlns:a16="http://schemas.microsoft.com/office/drawing/2014/main" id="{E2E1C49F-5A31-42CF-936F-9A08F8F77D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09210" y="2583471"/>
                <a:ext cx="6558939" cy="132299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Orbital angular momentum</a:t>
                </a:r>
                <a:r>
                  <a:rPr lang="zh-TW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(OAM)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&gt; helical wave front (ex. Laguerre-Gaussian (LG) beam)</a:t>
                </a:r>
              </a:p>
              <a:p>
                <a:pPr marL="0" indent="0">
                  <a:buNone/>
                </a:pP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&gt; </a:t>
                </a:r>
                <a14:m>
                  <m:oMath xmlns:m="http://schemas.openxmlformats.org/officeDocument/2006/math">
                    <m:r>
                      <a:rPr lang="en-US" altLang="zh-TW" sz="18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  <m:r>
                      <a:rPr lang="en-US" altLang="zh-TW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ℏ</m:t>
                    </m:r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per photon (</a:t>
                </a:r>
                <a14:m>
                  <m:oMath xmlns:m="http://schemas.openxmlformats.org/officeDocument/2006/math">
                    <m:r>
                      <a:rPr lang="en-US" altLang="zh-TW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  <m:r>
                      <a:rPr lang="en-US" altLang="zh-TW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 ±1, ±2, ±3……±</m:t>
                    </m:r>
                    <m:r>
                      <a:rPr lang="en-US" altLang="zh-TW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𝑍</m:t>
                    </m:r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4" name="內容版面配置區 5">
                <a:extLst>
                  <a:ext uri="{FF2B5EF4-FFF2-40B4-BE49-F238E27FC236}">
                    <a16:creationId xmlns:a16="http://schemas.microsoft.com/office/drawing/2014/main" id="{E2E1C49F-5A31-42CF-936F-9A08F8F77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9210" y="2583471"/>
                <a:ext cx="6558939" cy="1322998"/>
              </a:xfrm>
              <a:prstGeom prst="rect">
                <a:avLst/>
              </a:prstGeom>
              <a:blipFill>
                <a:blip r:embed="rId8"/>
                <a:stretch>
                  <a:fillRect l="-651" t="-46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25533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B99EEC2-809E-4AF1-B22E-26AA648F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16</a:t>
            </a:fld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5A164AA-D965-45B2-B1B7-8C288D250D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r="633"/>
          <a:stretch/>
        </p:blipFill>
        <p:spPr>
          <a:xfrm>
            <a:off x="2142120" y="4349315"/>
            <a:ext cx="2496555" cy="1794647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1DBFE493-2615-42DE-9D4A-CF1D579BF254}"/>
              </a:ext>
            </a:extLst>
          </p:cNvPr>
          <p:cNvSpPr/>
          <p:nvPr/>
        </p:nvSpPr>
        <p:spPr>
          <a:xfrm>
            <a:off x="379305" y="6064594"/>
            <a:ext cx="5925405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TW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Measurements of SAM and OAM </a:t>
            </a:r>
          </a:p>
          <a:p>
            <a:pPr algn="ctr"/>
            <a:r>
              <a:rPr lang="en-US" altLang="zh-TW" sz="1400" dirty="0"/>
              <a:t>R. A. Beth, </a:t>
            </a:r>
            <a:r>
              <a:rPr lang="en-US" altLang="zh-TW" sz="1400" i="1" dirty="0"/>
              <a:t>Phys. Rev.</a:t>
            </a:r>
            <a:r>
              <a:rPr lang="en-US" altLang="zh-TW" sz="1400" dirty="0"/>
              <a:t> </a:t>
            </a:r>
            <a:r>
              <a:rPr lang="en-US" altLang="zh-TW" sz="1400" b="1" dirty="0"/>
              <a:t>50</a:t>
            </a:r>
            <a:r>
              <a:rPr lang="en-US" altLang="zh-TW" sz="1400" dirty="0"/>
              <a:t>, 115 (1936)/L. Allen </a:t>
            </a:r>
            <a:r>
              <a:rPr lang="en-US" altLang="zh-TW" sz="1400" i="1" dirty="0"/>
              <a:t>et al.</a:t>
            </a:r>
            <a:r>
              <a:rPr lang="en-US" altLang="zh-TW" sz="1400" dirty="0"/>
              <a:t>, </a:t>
            </a:r>
            <a:r>
              <a:rPr lang="en-US" altLang="zh-TW" sz="1400" i="1" dirty="0"/>
              <a:t>Phys. Rev. A</a:t>
            </a:r>
            <a:r>
              <a:rPr lang="en-US" altLang="zh-TW" sz="1400" dirty="0"/>
              <a:t> </a:t>
            </a:r>
            <a:r>
              <a:rPr lang="en-US" altLang="zh-TW" sz="1400" b="1" dirty="0"/>
              <a:t>45</a:t>
            </a:r>
            <a:r>
              <a:rPr lang="en-US" altLang="zh-TW" sz="1400" dirty="0"/>
              <a:t>, 8185 (1992)</a:t>
            </a:r>
            <a:endParaRPr lang="zh-TW" altLang="en-US" sz="1300" dirty="0"/>
          </a:p>
        </p:txBody>
      </p:sp>
      <p:sp>
        <p:nvSpPr>
          <p:cNvPr id="19" name="內容版面配置區 5">
            <a:extLst>
              <a:ext uri="{FF2B5EF4-FFF2-40B4-BE49-F238E27FC236}">
                <a16:creationId xmlns:a16="http://schemas.microsoft.com/office/drawing/2014/main" id="{6C455A4A-01DE-4F45-98BE-B366C987D166}"/>
              </a:ext>
            </a:extLst>
          </p:cNvPr>
          <p:cNvSpPr txBox="1">
            <a:spLocks/>
          </p:cNvSpPr>
          <p:nvPr/>
        </p:nvSpPr>
        <p:spPr>
          <a:xfrm>
            <a:off x="76200" y="7081152"/>
            <a:ext cx="12115800" cy="27956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1909 theoretical work by Poynting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----- </a:t>
            </a:r>
            <a:r>
              <a:rPr lang="en-US" altLang="zh-TW" sz="1400" dirty="0"/>
              <a:t>J. H. Poynting, </a:t>
            </a:r>
            <a:r>
              <a:rPr lang="en-US" altLang="zh-TW" sz="1400" i="1" dirty="0"/>
              <a:t>Proc. R. Soc. </a:t>
            </a:r>
            <a:r>
              <a:rPr lang="en-US" altLang="zh-TW" sz="1400" i="1" dirty="0" err="1"/>
              <a:t>Lond</a:t>
            </a:r>
            <a:r>
              <a:rPr lang="en-US" altLang="zh-TW" sz="1400" i="1" dirty="0"/>
              <a:t>. A</a:t>
            </a:r>
            <a:r>
              <a:rPr lang="en-US" altLang="zh-TW" sz="1400" dirty="0"/>
              <a:t> </a:t>
            </a:r>
            <a:r>
              <a:rPr lang="en-US" altLang="zh-TW" sz="1400" b="1" dirty="0"/>
              <a:t>82</a:t>
            </a:r>
            <a:r>
              <a:rPr lang="en-US" altLang="zh-TW" sz="1400" dirty="0"/>
              <a:t>, 560</a:t>
            </a:r>
            <a:endParaRPr lang="en-US" altLang="zh-T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1936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experimental evidence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spin angular momentum (SAM)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----- </a:t>
            </a:r>
            <a:r>
              <a:rPr lang="en-US" altLang="zh-TW" sz="1400" dirty="0"/>
              <a:t>R. A. Beth, </a:t>
            </a:r>
            <a:r>
              <a:rPr lang="en-US" altLang="zh-TW" sz="1400" i="1" dirty="0"/>
              <a:t>Phys. Rev.</a:t>
            </a:r>
            <a:r>
              <a:rPr lang="en-US" altLang="zh-TW" sz="1400" dirty="0"/>
              <a:t> </a:t>
            </a:r>
            <a:r>
              <a:rPr lang="en-US" altLang="zh-TW" sz="1400" b="1" dirty="0"/>
              <a:t>50</a:t>
            </a:r>
            <a:r>
              <a:rPr lang="en-US" altLang="zh-TW" sz="1400" dirty="0"/>
              <a:t>, 115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1992 Experimental demonstration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orbital angular momentum (OAM) in Laguerre-Gaussian (LG) Beam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----- </a:t>
            </a:r>
            <a:r>
              <a:rPr lang="en-US" altLang="zh-TW" sz="1400" dirty="0"/>
              <a:t>L. Allen </a:t>
            </a:r>
            <a:r>
              <a:rPr lang="en-US" altLang="zh-TW" sz="1400" i="1" dirty="0"/>
              <a:t>et al.</a:t>
            </a:r>
            <a:r>
              <a:rPr lang="en-US" altLang="zh-TW" sz="1400" dirty="0"/>
              <a:t>, </a:t>
            </a:r>
            <a:r>
              <a:rPr lang="en-US" altLang="zh-TW" sz="1400" i="1" dirty="0"/>
              <a:t>Phys. Rev. A</a:t>
            </a:r>
            <a:r>
              <a:rPr lang="en-US" altLang="zh-TW" sz="1400" dirty="0"/>
              <a:t> </a:t>
            </a:r>
            <a:r>
              <a:rPr lang="en-US" altLang="zh-TW" sz="1400" b="1" dirty="0"/>
              <a:t>45</a:t>
            </a:r>
            <a:r>
              <a:rPr lang="en-US" altLang="zh-TW" sz="1400" dirty="0"/>
              <a:t>, 8185 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2A1E837B-E2E1-455A-A5BA-0C41E1445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649" y="1205149"/>
            <a:ext cx="3179276" cy="964602"/>
          </a:xfrm>
          <a:prstGeom prst="rect">
            <a:avLst/>
          </a:prstGeom>
        </p:spPr>
      </p:pic>
      <p:grpSp>
        <p:nvGrpSpPr>
          <p:cNvPr id="31" name="群組 30">
            <a:extLst>
              <a:ext uri="{FF2B5EF4-FFF2-40B4-BE49-F238E27FC236}">
                <a16:creationId xmlns:a16="http://schemas.microsoft.com/office/drawing/2014/main" id="{487384C2-568E-4782-A7B6-6A473B24B8CF}"/>
              </a:ext>
            </a:extLst>
          </p:cNvPr>
          <p:cNvGrpSpPr/>
          <p:nvPr/>
        </p:nvGrpSpPr>
        <p:grpSpPr>
          <a:xfrm>
            <a:off x="952093" y="2437028"/>
            <a:ext cx="4448582" cy="1013404"/>
            <a:chOff x="85318" y="3045927"/>
            <a:chExt cx="5458232" cy="1243406"/>
          </a:xfrm>
        </p:grpSpPr>
        <p:pic>
          <p:nvPicPr>
            <p:cNvPr id="23" name="圖片 22">
              <a:extLst>
                <a:ext uri="{FF2B5EF4-FFF2-40B4-BE49-F238E27FC236}">
                  <a16:creationId xmlns:a16="http://schemas.microsoft.com/office/drawing/2014/main" id="{BB924937-081A-4314-9A81-C1BCBF95FE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50711"/>
            <a:stretch/>
          </p:blipFill>
          <p:spPr>
            <a:xfrm>
              <a:off x="85318" y="3141682"/>
              <a:ext cx="2561188" cy="1068489"/>
            </a:xfrm>
            <a:prstGeom prst="rect">
              <a:avLst/>
            </a:prstGeom>
          </p:spPr>
        </p:pic>
        <p:pic>
          <p:nvPicPr>
            <p:cNvPr id="24" name="圖片 23">
              <a:extLst>
                <a:ext uri="{FF2B5EF4-FFF2-40B4-BE49-F238E27FC236}">
                  <a16:creationId xmlns:a16="http://schemas.microsoft.com/office/drawing/2014/main" id="{4E3DFE44-8A87-491C-A659-AB1985165B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52080"/>
            <a:stretch/>
          </p:blipFill>
          <p:spPr>
            <a:xfrm>
              <a:off x="2665683" y="3122080"/>
              <a:ext cx="2877867" cy="1167253"/>
            </a:xfrm>
            <a:prstGeom prst="rect">
              <a:avLst/>
            </a:prstGeom>
          </p:spPr>
        </p:pic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40DAD5F-0741-405E-8051-4C24DA28D360}"/>
                </a:ext>
              </a:extLst>
            </p:cNvPr>
            <p:cNvSpPr/>
            <p:nvPr/>
          </p:nvSpPr>
          <p:spPr>
            <a:xfrm>
              <a:off x="136109" y="3130223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227AFE30-6584-4E1F-808D-1F5500C5E69A}"/>
                </a:ext>
              </a:extLst>
            </p:cNvPr>
            <p:cNvSpPr/>
            <p:nvPr/>
          </p:nvSpPr>
          <p:spPr>
            <a:xfrm>
              <a:off x="1296047" y="3130223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A643E35F-62BA-4FCB-A9C5-735DEF87AFED}"/>
                </a:ext>
              </a:extLst>
            </p:cNvPr>
            <p:cNvSpPr/>
            <p:nvPr/>
          </p:nvSpPr>
          <p:spPr>
            <a:xfrm>
              <a:off x="2727152" y="3045927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2B345902-86BF-4452-8AEE-89EEC30A5C2E}"/>
                </a:ext>
              </a:extLst>
            </p:cNvPr>
            <p:cNvSpPr/>
            <p:nvPr/>
          </p:nvSpPr>
          <p:spPr>
            <a:xfrm>
              <a:off x="4053256" y="3054016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0" name="內容版面配置區 2">
            <a:extLst>
              <a:ext uri="{FF2B5EF4-FFF2-40B4-BE49-F238E27FC236}">
                <a16:creationId xmlns:a16="http://schemas.microsoft.com/office/drawing/2014/main" id="{837B9E7A-B20B-43D2-A2A2-EB357CDE6A66}"/>
              </a:ext>
            </a:extLst>
          </p:cNvPr>
          <p:cNvSpPr txBox="1">
            <a:spLocks/>
          </p:cNvSpPr>
          <p:nvPr/>
        </p:nvSpPr>
        <p:spPr>
          <a:xfrm>
            <a:off x="67821" y="730966"/>
            <a:ext cx="7219118" cy="3813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buClr>
                <a:schemeClr val="accent1">
                  <a:lumMod val="75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momentum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light</a:t>
            </a:r>
          </a:p>
        </p:txBody>
      </p:sp>
      <p:pic>
        <p:nvPicPr>
          <p:cNvPr id="34" name="圖片 33">
            <a:extLst>
              <a:ext uri="{FF2B5EF4-FFF2-40B4-BE49-F238E27FC236}">
                <a16:creationId xmlns:a16="http://schemas.microsoft.com/office/drawing/2014/main" id="{D52B8FF9-39B3-4B15-9EFD-E94F03D592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0789" y="4264631"/>
            <a:ext cx="2829277" cy="1777640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63D5C67E-DACC-4121-9F06-1478F90E0A44}"/>
              </a:ext>
            </a:extLst>
          </p:cNvPr>
          <p:cNvSpPr/>
          <p:nvPr/>
        </p:nvSpPr>
        <p:spPr>
          <a:xfrm>
            <a:off x="6905588" y="6056899"/>
            <a:ext cx="45188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of SAM and OAM in optical tweezers </a:t>
            </a:r>
          </a:p>
          <a:p>
            <a:r>
              <a:rPr lang="en-US" altLang="zh-TW" sz="1400" dirty="0"/>
              <a:t>A. M. Yao &amp; M. J. Padgett, </a:t>
            </a:r>
            <a:r>
              <a:rPr lang="en-US" altLang="zh-TW" sz="1400" i="1" dirty="0"/>
              <a:t>Adv. Opt. Photonics</a:t>
            </a:r>
            <a:r>
              <a:rPr lang="en-US" altLang="zh-TW" sz="1400" dirty="0"/>
              <a:t> </a:t>
            </a:r>
            <a:r>
              <a:rPr lang="en-US" altLang="zh-TW" sz="1400" b="1" dirty="0"/>
              <a:t>3</a:t>
            </a:r>
            <a:r>
              <a:rPr lang="en-US" altLang="zh-TW" sz="1400" dirty="0"/>
              <a:t>, 161 (2011)</a:t>
            </a:r>
            <a:endParaRPr lang="zh-TW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內容版面配置區 5">
                <a:extLst>
                  <a:ext uri="{FF2B5EF4-FFF2-40B4-BE49-F238E27FC236}">
                    <a16:creationId xmlns:a16="http://schemas.microsoft.com/office/drawing/2014/main" id="{890CA1D5-75B5-4D96-BEEE-3C3FCAA9A2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09211" y="1109393"/>
                <a:ext cx="4220556" cy="127639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Spin angular momentum (SAM)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&gt; circular polarizations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&gt; </a:t>
                </a:r>
                <a14:m>
                  <m:oMath xmlns:m="http://schemas.openxmlformats.org/officeDocument/2006/math">
                    <m:r>
                      <a:rPr lang="en-US" altLang="zh-TW" sz="18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altLang="zh-TW" sz="18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ℏ</m:t>
                    </m:r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per photon (</a:t>
                </a:r>
                <a14:m>
                  <m:oMath xmlns:m="http://schemas.openxmlformats.org/officeDocument/2006/math">
                    <m:r>
                      <a:rPr lang="en-US" altLang="zh-TW" sz="18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altLang="zh-TW" sz="18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=±1</m:t>
                    </m:r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altLang="zh-TW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" name="內容版面配置區 5">
                <a:extLst>
                  <a:ext uri="{FF2B5EF4-FFF2-40B4-BE49-F238E27FC236}">
                    <a16:creationId xmlns:a16="http://schemas.microsoft.com/office/drawing/2014/main" id="{890CA1D5-75B5-4D96-BEEE-3C3FCAA9A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9211" y="1109393"/>
                <a:ext cx="4220556" cy="1276393"/>
              </a:xfrm>
              <a:prstGeom prst="rect">
                <a:avLst/>
              </a:prstGeom>
              <a:blipFill>
                <a:blip r:embed="rId6"/>
                <a:stretch>
                  <a:fillRect l="-1012" t="-478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內容版面配置區 2">
            <a:extLst>
              <a:ext uri="{FF2B5EF4-FFF2-40B4-BE49-F238E27FC236}">
                <a16:creationId xmlns:a16="http://schemas.microsoft.com/office/drawing/2014/main" id="{AE39F4C0-8876-4136-8512-61FC5E31A737}"/>
              </a:ext>
            </a:extLst>
          </p:cNvPr>
          <p:cNvSpPr txBox="1">
            <a:spLocks/>
          </p:cNvSpPr>
          <p:nvPr/>
        </p:nvSpPr>
        <p:spPr>
          <a:xfrm>
            <a:off x="173871" y="3875749"/>
            <a:ext cx="3204330" cy="3813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buClr>
                <a:schemeClr val="accent1">
                  <a:lumMod val="75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matter interaction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239F1BEA-BBC9-4957-A6C0-E3FD2E6E332F}"/>
                  </a:ext>
                </a:extLst>
              </p:cNvPr>
              <p:cNvSpPr/>
              <p:nvPr/>
            </p:nvSpPr>
            <p:spPr>
              <a:xfrm>
                <a:off x="882296" y="3343909"/>
                <a:ext cx="47470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Polarization of light</a:t>
                </a:r>
                <a:r>
                  <a:rPr lang="en-US" altLang="zh-TW" sz="1400" dirty="0"/>
                  <a:t> / Helical phase fronts for </a:t>
                </a:r>
                <a14:m>
                  <m:oMath xmlns:m="http://schemas.openxmlformats.org/officeDocument/2006/math">
                    <m:r>
                      <a:rPr lang="en-US" altLang="zh-TW" sz="1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ℓ=0, 1, 2, 3</m:t>
                    </m:r>
                  </m:oMath>
                </a14:m>
                <a:r>
                  <a:rPr lang="en-US" altLang="zh-TW" sz="1400" dirty="0"/>
                  <a:t> </a:t>
                </a:r>
                <a:endPara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TW" sz="1400" dirty="0"/>
                  <a:t>A. M. Yao &amp; M. J. Padgett, </a:t>
                </a:r>
                <a:r>
                  <a:rPr lang="en-US" altLang="zh-TW" sz="1400" i="1" dirty="0"/>
                  <a:t>Adv. Opt. Photonics</a:t>
                </a:r>
                <a:r>
                  <a:rPr lang="en-US" altLang="zh-TW" sz="1400" dirty="0"/>
                  <a:t> </a:t>
                </a:r>
                <a:r>
                  <a:rPr lang="en-US" altLang="zh-TW" sz="1400" b="1" dirty="0"/>
                  <a:t>3</a:t>
                </a:r>
                <a:r>
                  <a:rPr lang="en-US" altLang="zh-TW" sz="1400" dirty="0"/>
                  <a:t>, 161 (2011)</a:t>
                </a:r>
                <a:endParaRPr lang="zh-TW" altLang="en-US" sz="1400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239F1BEA-BBC9-4957-A6C0-E3FD2E6E33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296" y="3343909"/>
                <a:ext cx="4747069" cy="523220"/>
              </a:xfrm>
              <a:prstGeom prst="rect">
                <a:avLst/>
              </a:prstGeom>
              <a:blipFill>
                <a:blip r:embed="rId7"/>
                <a:stretch>
                  <a:fillRect t="-3529" b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內容版面配置區 5">
                <a:extLst>
                  <a:ext uri="{FF2B5EF4-FFF2-40B4-BE49-F238E27FC236}">
                    <a16:creationId xmlns:a16="http://schemas.microsoft.com/office/drawing/2014/main" id="{E50DB266-7995-49A2-84A4-A17CBB69AF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09210" y="2583471"/>
                <a:ext cx="6558939" cy="132299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Orbital angular momentum</a:t>
                </a:r>
                <a:r>
                  <a:rPr lang="zh-TW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(OAM)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&gt; helical wave front (ex. Laguerre-Gaussian (LG) beam)</a:t>
                </a:r>
              </a:p>
              <a:p>
                <a:pPr marL="0" indent="0">
                  <a:buNone/>
                </a:pP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&gt; </a:t>
                </a:r>
                <a14:m>
                  <m:oMath xmlns:m="http://schemas.openxmlformats.org/officeDocument/2006/math">
                    <m:r>
                      <a:rPr lang="en-US" altLang="zh-TW" sz="18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  <m:r>
                      <a:rPr lang="en-US" altLang="zh-TW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ℏ</m:t>
                    </m:r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per photon (</a:t>
                </a:r>
                <a14:m>
                  <m:oMath xmlns:m="http://schemas.openxmlformats.org/officeDocument/2006/math">
                    <m:r>
                      <a:rPr lang="en-US" altLang="zh-TW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  <m:r>
                      <a:rPr lang="en-US" altLang="zh-TW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 ±1, ±2, ±3……±</m:t>
                    </m:r>
                    <m:r>
                      <a:rPr lang="en-US" altLang="zh-TW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𝑍</m:t>
                    </m:r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3" name="內容版面配置區 5">
                <a:extLst>
                  <a:ext uri="{FF2B5EF4-FFF2-40B4-BE49-F238E27FC236}">
                    <a16:creationId xmlns:a16="http://schemas.microsoft.com/office/drawing/2014/main" id="{E50DB266-7995-49A2-84A4-A17CBB69A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9210" y="2583471"/>
                <a:ext cx="6558939" cy="1322998"/>
              </a:xfrm>
              <a:prstGeom prst="rect">
                <a:avLst/>
              </a:prstGeom>
              <a:blipFill>
                <a:blip r:embed="rId8"/>
                <a:stretch>
                  <a:fillRect l="-651" t="-46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8848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5">
                <a:extLst>
                  <a:ext uri="{FF2B5EF4-FFF2-40B4-BE49-F238E27FC236}">
                    <a16:creationId xmlns:a16="http://schemas.microsoft.com/office/drawing/2014/main" id="{7A0B84D7-FBF0-48E8-A5CC-0E544A1522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09211" y="1109393"/>
                <a:ext cx="4220556" cy="1276393"/>
              </a:xfrm>
            </p:spPr>
            <p:txBody>
              <a:bodyPr>
                <a:noAutofit/>
              </a:bodyPr>
              <a:lstStyle/>
              <a:p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Spin angular momentum (SAM) </a:t>
                </a:r>
              </a:p>
              <a:p>
                <a:pPr marL="0" indent="0">
                  <a:buNone/>
                </a:pP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&gt; circular polarizations </a:t>
                </a:r>
              </a:p>
              <a:p>
                <a:pPr marL="0" indent="0">
                  <a:buNone/>
                </a:pP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&gt; </a:t>
                </a:r>
                <a14:m>
                  <m:oMath xmlns:m="http://schemas.openxmlformats.org/officeDocument/2006/math">
                    <m:r>
                      <a:rPr lang="en-US" altLang="zh-TW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altLang="zh-TW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ℏ</m:t>
                    </m:r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per photon (</a:t>
                </a:r>
                <a14:m>
                  <m:oMath xmlns:m="http://schemas.openxmlformats.org/officeDocument/2006/math">
                    <m:r>
                      <a:rPr lang="en-US" altLang="zh-TW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altLang="zh-TW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=±1</m:t>
                    </m:r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None/>
                </a:pPr>
                <a:endParaRPr lang="en-US" altLang="zh-TW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內容版面配置區 5">
                <a:extLst>
                  <a:ext uri="{FF2B5EF4-FFF2-40B4-BE49-F238E27FC236}">
                    <a16:creationId xmlns:a16="http://schemas.microsoft.com/office/drawing/2014/main" id="{7A0B84D7-FBF0-48E8-A5CC-0E544A1522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09211" y="1109393"/>
                <a:ext cx="4220556" cy="1276393"/>
              </a:xfrm>
              <a:blipFill>
                <a:blip r:embed="rId2"/>
                <a:stretch>
                  <a:fillRect l="-1012" t="-478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B99EEC2-809E-4AF1-B22E-26AA648F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17</a:t>
            </a:fld>
            <a:endParaRPr lang="zh-TW" altLang="en-US"/>
          </a:p>
        </p:txBody>
      </p:sp>
      <p:sp>
        <p:nvSpPr>
          <p:cNvPr id="19" name="內容版面配置區 5">
            <a:extLst>
              <a:ext uri="{FF2B5EF4-FFF2-40B4-BE49-F238E27FC236}">
                <a16:creationId xmlns:a16="http://schemas.microsoft.com/office/drawing/2014/main" id="{6C455A4A-01DE-4F45-98BE-B366C987D166}"/>
              </a:ext>
            </a:extLst>
          </p:cNvPr>
          <p:cNvSpPr txBox="1">
            <a:spLocks/>
          </p:cNvSpPr>
          <p:nvPr/>
        </p:nvSpPr>
        <p:spPr>
          <a:xfrm>
            <a:off x="67821" y="7055991"/>
            <a:ext cx="12115800" cy="27956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1909 theoretical work by Poynting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----- </a:t>
            </a:r>
            <a:r>
              <a:rPr lang="en-US" altLang="zh-TW" sz="1400" dirty="0"/>
              <a:t>J. H. Poynting, </a:t>
            </a:r>
            <a:r>
              <a:rPr lang="en-US" altLang="zh-TW" sz="1400" i="1" dirty="0"/>
              <a:t>Proc. R. Soc. </a:t>
            </a:r>
            <a:r>
              <a:rPr lang="en-US" altLang="zh-TW" sz="1400" i="1" dirty="0" err="1"/>
              <a:t>Lond</a:t>
            </a:r>
            <a:r>
              <a:rPr lang="en-US" altLang="zh-TW" sz="1400" i="1" dirty="0"/>
              <a:t>. A</a:t>
            </a:r>
            <a:r>
              <a:rPr lang="en-US" altLang="zh-TW" sz="1400" dirty="0"/>
              <a:t> </a:t>
            </a:r>
            <a:r>
              <a:rPr lang="en-US" altLang="zh-TW" sz="1400" b="1" dirty="0"/>
              <a:t>82</a:t>
            </a:r>
            <a:r>
              <a:rPr lang="en-US" altLang="zh-TW" sz="1400" dirty="0"/>
              <a:t>, 560</a:t>
            </a:r>
            <a:endParaRPr lang="en-US" altLang="zh-T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1936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experimental evidence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spin angular momentum (SAM)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----- </a:t>
            </a:r>
            <a:r>
              <a:rPr lang="en-US" altLang="zh-TW" sz="1400" dirty="0"/>
              <a:t>R. A. Beth, </a:t>
            </a:r>
            <a:r>
              <a:rPr lang="en-US" altLang="zh-TW" sz="1400" i="1" dirty="0"/>
              <a:t>Phys. Rev.</a:t>
            </a:r>
            <a:r>
              <a:rPr lang="en-US" altLang="zh-TW" sz="1400" dirty="0"/>
              <a:t> </a:t>
            </a:r>
            <a:r>
              <a:rPr lang="en-US" altLang="zh-TW" sz="1400" b="1" dirty="0"/>
              <a:t>50</a:t>
            </a:r>
            <a:r>
              <a:rPr lang="en-US" altLang="zh-TW" sz="1400" dirty="0"/>
              <a:t>, 115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1992 Experimental demonstration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orbital angular momentum (OAM) in Laguerre-Gaussian (LG) Beam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----- </a:t>
            </a:r>
            <a:r>
              <a:rPr lang="en-US" altLang="zh-TW" sz="1400" dirty="0"/>
              <a:t>L. Allen </a:t>
            </a:r>
            <a:r>
              <a:rPr lang="en-US" altLang="zh-TW" sz="1400" i="1" dirty="0"/>
              <a:t>et al.</a:t>
            </a:r>
            <a:r>
              <a:rPr lang="en-US" altLang="zh-TW" sz="1400" dirty="0"/>
              <a:t>, </a:t>
            </a:r>
            <a:r>
              <a:rPr lang="en-US" altLang="zh-TW" sz="1400" i="1" dirty="0"/>
              <a:t>Phys. Rev. A</a:t>
            </a:r>
            <a:r>
              <a:rPr lang="en-US" altLang="zh-TW" sz="1400" dirty="0"/>
              <a:t> </a:t>
            </a:r>
            <a:r>
              <a:rPr lang="en-US" altLang="zh-TW" sz="1400" b="1" dirty="0"/>
              <a:t>45</a:t>
            </a:r>
            <a:r>
              <a:rPr lang="en-US" altLang="zh-TW" sz="1400" dirty="0"/>
              <a:t>, 8185 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2A1E837B-E2E1-455A-A5BA-0C41E1445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649" y="1205149"/>
            <a:ext cx="3179276" cy="964602"/>
          </a:xfrm>
          <a:prstGeom prst="rect">
            <a:avLst/>
          </a:prstGeom>
        </p:spPr>
      </p:pic>
      <p:grpSp>
        <p:nvGrpSpPr>
          <p:cNvPr id="31" name="群組 30">
            <a:extLst>
              <a:ext uri="{FF2B5EF4-FFF2-40B4-BE49-F238E27FC236}">
                <a16:creationId xmlns:a16="http://schemas.microsoft.com/office/drawing/2014/main" id="{487384C2-568E-4782-A7B6-6A473B24B8CF}"/>
              </a:ext>
            </a:extLst>
          </p:cNvPr>
          <p:cNvGrpSpPr/>
          <p:nvPr/>
        </p:nvGrpSpPr>
        <p:grpSpPr>
          <a:xfrm>
            <a:off x="952093" y="2437028"/>
            <a:ext cx="4448582" cy="1013404"/>
            <a:chOff x="85318" y="3045927"/>
            <a:chExt cx="5458232" cy="1243406"/>
          </a:xfrm>
        </p:grpSpPr>
        <p:pic>
          <p:nvPicPr>
            <p:cNvPr id="23" name="圖片 22">
              <a:extLst>
                <a:ext uri="{FF2B5EF4-FFF2-40B4-BE49-F238E27FC236}">
                  <a16:creationId xmlns:a16="http://schemas.microsoft.com/office/drawing/2014/main" id="{BB924937-081A-4314-9A81-C1BCBF95FE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50711"/>
            <a:stretch/>
          </p:blipFill>
          <p:spPr>
            <a:xfrm>
              <a:off x="85318" y="3141682"/>
              <a:ext cx="2561188" cy="1068489"/>
            </a:xfrm>
            <a:prstGeom prst="rect">
              <a:avLst/>
            </a:prstGeom>
          </p:spPr>
        </p:pic>
        <p:pic>
          <p:nvPicPr>
            <p:cNvPr id="24" name="圖片 23">
              <a:extLst>
                <a:ext uri="{FF2B5EF4-FFF2-40B4-BE49-F238E27FC236}">
                  <a16:creationId xmlns:a16="http://schemas.microsoft.com/office/drawing/2014/main" id="{4E3DFE44-8A87-491C-A659-AB1985165B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52080"/>
            <a:stretch/>
          </p:blipFill>
          <p:spPr>
            <a:xfrm>
              <a:off x="2665683" y="3122080"/>
              <a:ext cx="2877867" cy="1167253"/>
            </a:xfrm>
            <a:prstGeom prst="rect">
              <a:avLst/>
            </a:prstGeom>
          </p:spPr>
        </p:pic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40DAD5F-0741-405E-8051-4C24DA28D360}"/>
                </a:ext>
              </a:extLst>
            </p:cNvPr>
            <p:cNvSpPr/>
            <p:nvPr/>
          </p:nvSpPr>
          <p:spPr>
            <a:xfrm>
              <a:off x="136109" y="3130223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227AFE30-6584-4E1F-808D-1F5500C5E69A}"/>
                </a:ext>
              </a:extLst>
            </p:cNvPr>
            <p:cNvSpPr/>
            <p:nvPr/>
          </p:nvSpPr>
          <p:spPr>
            <a:xfrm>
              <a:off x="1307735" y="3130223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A643E35F-62BA-4FCB-A9C5-735DEF87AFED}"/>
                </a:ext>
              </a:extLst>
            </p:cNvPr>
            <p:cNvSpPr/>
            <p:nvPr/>
          </p:nvSpPr>
          <p:spPr>
            <a:xfrm>
              <a:off x="2727152" y="3045927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2B345902-86BF-4452-8AEE-89EEC30A5C2E}"/>
                </a:ext>
              </a:extLst>
            </p:cNvPr>
            <p:cNvSpPr/>
            <p:nvPr/>
          </p:nvSpPr>
          <p:spPr>
            <a:xfrm>
              <a:off x="4053256" y="3054016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0" name="內容版面配置區 2">
            <a:extLst>
              <a:ext uri="{FF2B5EF4-FFF2-40B4-BE49-F238E27FC236}">
                <a16:creationId xmlns:a16="http://schemas.microsoft.com/office/drawing/2014/main" id="{837B9E7A-B20B-43D2-A2A2-EB357CDE6A66}"/>
              </a:ext>
            </a:extLst>
          </p:cNvPr>
          <p:cNvSpPr txBox="1">
            <a:spLocks/>
          </p:cNvSpPr>
          <p:nvPr/>
        </p:nvSpPr>
        <p:spPr>
          <a:xfrm>
            <a:off x="67821" y="730966"/>
            <a:ext cx="7219118" cy="3813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buClr>
                <a:schemeClr val="accent1">
                  <a:lumMod val="75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momentum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light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4D332F5-669A-4E1F-B617-0FC71058DB9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840" r="53631" b="63462"/>
          <a:stretch/>
        </p:blipFill>
        <p:spPr>
          <a:xfrm>
            <a:off x="1203270" y="5285347"/>
            <a:ext cx="1402824" cy="1325289"/>
          </a:xfrm>
          <a:prstGeom prst="rect">
            <a:avLst/>
          </a:prstGeom>
        </p:spPr>
      </p:pic>
      <p:sp>
        <p:nvSpPr>
          <p:cNvPr id="33" name="矩形 32">
            <a:extLst>
              <a:ext uri="{FF2B5EF4-FFF2-40B4-BE49-F238E27FC236}">
                <a16:creationId xmlns:a16="http://schemas.microsoft.com/office/drawing/2014/main" id="{A1E84CE4-E353-463D-9452-C400C832F807}"/>
              </a:ext>
            </a:extLst>
          </p:cNvPr>
          <p:cNvSpPr/>
          <p:nvPr/>
        </p:nvSpPr>
        <p:spPr>
          <a:xfrm>
            <a:off x="6288811" y="6147405"/>
            <a:ext cx="432336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OAM can influence exciton’s wave packet structures</a:t>
            </a:r>
            <a:r>
              <a:rPr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sz="1400" dirty="0"/>
          </a:p>
        </p:txBody>
      </p:sp>
      <p:pic>
        <p:nvPicPr>
          <p:cNvPr id="34" name="圖片 33">
            <a:extLst>
              <a:ext uri="{FF2B5EF4-FFF2-40B4-BE49-F238E27FC236}">
                <a16:creationId xmlns:a16="http://schemas.microsoft.com/office/drawing/2014/main" id="{9ADE0147-B0D9-4D50-86B8-673B75B0E3A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5263" t="36113" b="32342"/>
          <a:stretch/>
        </p:blipFill>
        <p:spPr>
          <a:xfrm>
            <a:off x="2994732" y="5264581"/>
            <a:ext cx="1628866" cy="11441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6" name="內容版面配置區 5">
                <a:extLst>
                  <a:ext uri="{FF2B5EF4-FFF2-40B4-BE49-F238E27FC236}">
                    <a16:creationId xmlns:a16="http://schemas.microsoft.com/office/drawing/2014/main" id="{2899872C-3191-4C81-A938-48E599E7BB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96838" y="5817226"/>
                <a:ext cx="434362" cy="33507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⇒</m:t>
                      </m:r>
                    </m:oMath>
                  </m:oMathPara>
                </a14:m>
                <a:endParaRPr lang="en-US" altLang="zh-TW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內容版面配置區 5">
                <a:extLst>
                  <a:ext uri="{FF2B5EF4-FFF2-40B4-BE49-F238E27FC236}">
                    <a16:creationId xmlns:a16="http://schemas.microsoft.com/office/drawing/2014/main" id="{2899872C-3191-4C81-A938-48E599E7B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6838" y="5817226"/>
                <a:ext cx="434362" cy="33507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圖片 36">
            <a:extLst>
              <a:ext uri="{FF2B5EF4-FFF2-40B4-BE49-F238E27FC236}">
                <a16:creationId xmlns:a16="http://schemas.microsoft.com/office/drawing/2014/main" id="{74FEF948-8A13-4808-9051-95CF8AE505D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5263" t="72249"/>
          <a:stretch/>
        </p:blipFill>
        <p:spPr>
          <a:xfrm>
            <a:off x="4338735" y="5430205"/>
            <a:ext cx="1628866" cy="100659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D741BE2B-A7B1-4A09-B946-42CEE4E44801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56460" b="70943"/>
          <a:stretch/>
        </p:blipFill>
        <p:spPr>
          <a:xfrm>
            <a:off x="1203271" y="4420543"/>
            <a:ext cx="1329066" cy="987052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E2EAEDE5-5487-408B-BC53-FE67D2C95FB8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8163" t="36623" b="33614"/>
          <a:stretch/>
        </p:blipFill>
        <p:spPr>
          <a:xfrm>
            <a:off x="3023369" y="4376811"/>
            <a:ext cx="1277080" cy="1011008"/>
          </a:xfrm>
          <a:prstGeom prst="rect">
            <a:avLst/>
          </a:prstGeom>
        </p:spPr>
      </p:pic>
      <p:pic>
        <p:nvPicPr>
          <p:cNvPr id="38" name="圖片 37">
            <a:extLst>
              <a:ext uri="{FF2B5EF4-FFF2-40B4-BE49-F238E27FC236}">
                <a16:creationId xmlns:a16="http://schemas.microsoft.com/office/drawing/2014/main" id="{EC84E8AD-1051-41CB-B787-C9993C2B4F2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8163" t="71024"/>
          <a:stretch/>
        </p:blipFill>
        <p:spPr>
          <a:xfrm>
            <a:off x="4375205" y="4425351"/>
            <a:ext cx="1277081" cy="98431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44A4BA1D-896C-4713-98A0-476BED4EDE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8575" y="4572707"/>
            <a:ext cx="4260024" cy="14099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9" name="內容版面配置區 5">
                <a:extLst>
                  <a:ext uri="{FF2B5EF4-FFF2-40B4-BE49-F238E27FC236}">
                    <a16:creationId xmlns:a16="http://schemas.microsoft.com/office/drawing/2014/main" id="{933EA2D4-0595-4DEF-A0D6-13D578F72CA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96838" y="4778106"/>
                <a:ext cx="434362" cy="33507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⇒</m:t>
                      </m:r>
                    </m:oMath>
                  </m:oMathPara>
                </a14:m>
                <a:endParaRPr lang="en-US" altLang="zh-TW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" name="內容版面配置區 5">
                <a:extLst>
                  <a:ext uri="{FF2B5EF4-FFF2-40B4-BE49-F238E27FC236}">
                    <a16:creationId xmlns:a16="http://schemas.microsoft.com/office/drawing/2014/main" id="{933EA2D4-0595-4DEF-A0D6-13D578F72C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6838" y="4778106"/>
                <a:ext cx="434362" cy="33507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內容版面配置區 2">
            <a:extLst>
              <a:ext uri="{FF2B5EF4-FFF2-40B4-BE49-F238E27FC236}">
                <a16:creationId xmlns:a16="http://schemas.microsoft.com/office/drawing/2014/main" id="{4063E9B3-51F7-4626-BA70-227D76EDB313}"/>
              </a:ext>
            </a:extLst>
          </p:cNvPr>
          <p:cNvSpPr txBox="1">
            <a:spLocks/>
          </p:cNvSpPr>
          <p:nvPr/>
        </p:nvSpPr>
        <p:spPr>
          <a:xfrm>
            <a:off x="173871" y="3875749"/>
            <a:ext cx="3204330" cy="3813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buClr>
                <a:schemeClr val="accent1">
                  <a:lumMod val="75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matter interaction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89D8E537-C9D6-40B2-B6B6-C59A2C36F2EE}"/>
                  </a:ext>
                </a:extLst>
              </p:cNvPr>
              <p:cNvSpPr/>
              <p:nvPr/>
            </p:nvSpPr>
            <p:spPr>
              <a:xfrm>
                <a:off x="882296" y="3343909"/>
                <a:ext cx="47470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Polarization of light</a:t>
                </a:r>
                <a:r>
                  <a:rPr lang="en-US" altLang="zh-TW" sz="1400" dirty="0"/>
                  <a:t> / Helical phase fronts for </a:t>
                </a:r>
                <a14:m>
                  <m:oMath xmlns:m="http://schemas.openxmlformats.org/officeDocument/2006/math">
                    <m:r>
                      <a:rPr lang="en-US" altLang="zh-TW" sz="1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ℓ=0, 1, 2, 3</m:t>
                    </m:r>
                  </m:oMath>
                </a14:m>
                <a:r>
                  <a:rPr lang="en-US" altLang="zh-TW" sz="1400" dirty="0"/>
                  <a:t> </a:t>
                </a:r>
                <a:endPara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TW" sz="1400" dirty="0"/>
                  <a:t>A. M. Yao &amp; M. J. Padgett, </a:t>
                </a:r>
                <a:r>
                  <a:rPr lang="en-US" altLang="zh-TW" sz="1400" i="1" dirty="0"/>
                  <a:t>Adv. Opt. Photonics</a:t>
                </a:r>
                <a:r>
                  <a:rPr lang="en-US" altLang="zh-TW" sz="1400" dirty="0"/>
                  <a:t> </a:t>
                </a:r>
                <a:r>
                  <a:rPr lang="en-US" altLang="zh-TW" sz="1400" b="1" dirty="0"/>
                  <a:t>3</a:t>
                </a:r>
                <a:r>
                  <a:rPr lang="en-US" altLang="zh-TW" sz="1400" dirty="0"/>
                  <a:t>, 161 (2011)</a:t>
                </a:r>
                <a:endParaRPr lang="zh-TW" altLang="en-US" sz="1400" dirty="0"/>
              </a:p>
            </p:txBody>
          </p:sp>
        </mc:Choice>
        <mc:Fallback xmlns="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89D8E537-C9D6-40B2-B6B6-C59A2C36F2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296" y="3343909"/>
                <a:ext cx="4747069" cy="523220"/>
              </a:xfrm>
              <a:prstGeom prst="rect">
                <a:avLst/>
              </a:prstGeom>
              <a:blipFill>
                <a:blip r:embed="rId11"/>
                <a:stretch>
                  <a:fillRect t="-3529" b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內容版面配置區 5">
                <a:extLst>
                  <a:ext uri="{FF2B5EF4-FFF2-40B4-BE49-F238E27FC236}">
                    <a16:creationId xmlns:a16="http://schemas.microsoft.com/office/drawing/2014/main" id="{6DA683E1-22BF-4EF5-9A36-7B14676558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09210" y="2583471"/>
                <a:ext cx="6558939" cy="132299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Orbital angular momentum</a:t>
                </a:r>
                <a:r>
                  <a:rPr lang="zh-TW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(OAM)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&gt; helical wave front (ex. Laguerre-Gaussian (LG) beam)</a:t>
                </a:r>
              </a:p>
              <a:p>
                <a:pPr marL="0" indent="0">
                  <a:buNone/>
                </a:pP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&gt; </a:t>
                </a:r>
                <a14:m>
                  <m:oMath xmlns:m="http://schemas.openxmlformats.org/officeDocument/2006/math">
                    <m:r>
                      <a:rPr lang="en-US" altLang="zh-TW" sz="18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  <m:r>
                      <a:rPr lang="en-US" altLang="zh-TW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ℏ</m:t>
                    </m:r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per photon (</a:t>
                </a:r>
                <a14:m>
                  <m:oMath xmlns:m="http://schemas.openxmlformats.org/officeDocument/2006/math">
                    <m:r>
                      <a:rPr lang="en-US" altLang="zh-TW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  <m:r>
                      <a:rPr lang="en-US" altLang="zh-TW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 ±1, ±2, ±3……±</m:t>
                    </m:r>
                    <m:r>
                      <a:rPr lang="en-US" altLang="zh-TW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𝑍</m:t>
                    </m:r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2" name="內容版面配置區 5">
                <a:extLst>
                  <a:ext uri="{FF2B5EF4-FFF2-40B4-BE49-F238E27FC236}">
                    <a16:creationId xmlns:a16="http://schemas.microsoft.com/office/drawing/2014/main" id="{6DA683E1-22BF-4EF5-9A36-7B1467655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9210" y="2583471"/>
                <a:ext cx="6558939" cy="1322998"/>
              </a:xfrm>
              <a:prstGeom prst="rect">
                <a:avLst/>
              </a:prstGeom>
              <a:blipFill>
                <a:blip r:embed="rId12"/>
                <a:stretch>
                  <a:fillRect l="-651" t="-46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30151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B99EEC2-809E-4AF1-B22E-26AA648F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18</a:t>
            </a:fld>
            <a:endParaRPr lang="zh-TW" altLang="en-US"/>
          </a:p>
        </p:txBody>
      </p:sp>
      <p:sp>
        <p:nvSpPr>
          <p:cNvPr id="19" name="內容版面配置區 5">
            <a:extLst>
              <a:ext uri="{FF2B5EF4-FFF2-40B4-BE49-F238E27FC236}">
                <a16:creationId xmlns:a16="http://schemas.microsoft.com/office/drawing/2014/main" id="{6C455A4A-01DE-4F45-98BE-B366C987D166}"/>
              </a:ext>
            </a:extLst>
          </p:cNvPr>
          <p:cNvSpPr txBox="1">
            <a:spLocks/>
          </p:cNvSpPr>
          <p:nvPr/>
        </p:nvSpPr>
        <p:spPr>
          <a:xfrm>
            <a:off x="76200" y="7081152"/>
            <a:ext cx="12115800" cy="27956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1909 theoretical work by Poynting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----- </a:t>
            </a:r>
            <a:r>
              <a:rPr lang="en-US" altLang="zh-TW" sz="1400" dirty="0"/>
              <a:t>J. H. Poynting, </a:t>
            </a:r>
            <a:r>
              <a:rPr lang="en-US" altLang="zh-TW" sz="1400" i="1" dirty="0"/>
              <a:t>Proc. R. Soc. </a:t>
            </a:r>
            <a:r>
              <a:rPr lang="en-US" altLang="zh-TW" sz="1400" i="1" dirty="0" err="1"/>
              <a:t>Lond</a:t>
            </a:r>
            <a:r>
              <a:rPr lang="en-US" altLang="zh-TW" sz="1400" i="1" dirty="0"/>
              <a:t>. A</a:t>
            </a:r>
            <a:r>
              <a:rPr lang="en-US" altLang="zh-TW" sz="1400" dirty="0"/>
              <a:t> </a:t>
            </a:r>
            <a:r>
              <a:rPr lang="en-US" altLang="zh-TW" sz="1400" b="1" dirty="0"/>
              <a:t>82</a:t>
            </a:r>
            <a:r>
              <a:rPr lang="en-US" altLang="zh-TW" sz="1400" dirty="0"/>
              <a:t>, 560</a:t>
            </a:r>
            <a:endParaRPr lang="en-US" altLang="zh-T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1936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experimental evidence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spin angular momentum (SAM)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----- </a:t>
            </a:r>
            <a:r>
              <a:rPr lang="en-US" altLang="zh-TW" sz="1400" dirty="0"/>
              <a:t>R. A. Beth, </a:t>
            </a:r>
            <a:r>
              <a:rPr lang="en-US" altLang="zh-TW" sz="1400" i="1" dirty="0"/>
              <a:t>Phys. Rev.</a:t>
            </a:r>
            <a:r>
              <a:rPr lang="en-US" altLang="zh-TW" sz="1400" dirty="0"/>
              <a:t> </a:t>
            </a:r>
            <a:r>
              <a:rPr lang="en-US" altLang="zh-TW" sz="1400" b="1" dirty="0"/>
              <a:t>50</a:t>
            </a:r>
            <a:r>
              <a:rPr lang="en-US" altLang="zh-TW" sz="1400" dirty="0"/>
              <a:t>, 115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1992 Experimental demonstration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orbital angular momentum (OAM) in Laguerre-Gaussian (LG) Beam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----- </a:t>
            </a:r>
            <a:r>
              <a:rPr lang="en-US" altLang="zh-TW" sz="1400" dirty="0"/>
              <a:t>L. Allen </a:t>
            </a:r>
            <a:r>
              <a:rPr lang="en-US" altLang="zh-TW" sz="1400" i="1" dirty="0"/>
              <a:t>et al.</a:t>
            </a:r>
            <a:r>
              <a:rPr lang="en-US" altLang="zh-TW" sz="1400" dirty="0"/>
              <a:t>, </a:t>
            </a:r>
            <a:r>
              <a:rPr lang="en-US" altLang="zh-TW" sz="1400" i="1" dirty="0"/>
              <a:t>Phys. Rev. A</a:t>
            </a:r>
            <a:r>
              <a:rPr lang="en-US" altLang="zh-TW" sz="1400" dirty="0"/>
              <a:t> </a:t>
            </a:r>
            <a:r>
              <a:rPr lang="en-US" altLang="zh-TW" sz="1400" b="1" dirty="0"/>
              <a:t>45</a:t>
            </a:r>
            <a:r>
              <a:rPr lang="en-US" altLang="zh-TW" sz="1400" dirty="0"/>
              <a:t>, 8185 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2A1E837B-E2E1-455A-A5BA-0C41E1445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649" y="1205149"/>
            <a:ext cx="3179276" cy="964602"/>
          </a:xfrm>
          <a:prstGeom prst="rect">
            <a:avLst/>
          </a:prstGeom>
        </p:spPr>
      </p:pic>
      <p:grpSp>
        <p:nvGrpSpPr>
          <p:cNvPr id="31" name="群組 30">
            <a:extLst>
              <a:ext uri="{FF2B5EF4-FFF2-40B4-BE49-F238E27FC236}">
                <a16:creationId xmlns:a16="http://schemas.microsoft.com/office/drawing/2014/main" id="{487384C2-568E-4782-A7B6-6A473B24B8CF}"/>
              </a:ext>
            </a:extLst>
          </p:cNvPr>
          <p:cNvGrpSpPr/>
          <p:nvPr/>
        </p:nvGrpSpPr>
        <p:grpSpPr>
          <a:xfrm>
            <a:off x="952093" y="2437028"/>
            <a:ext cx="4448582" cy="1013404"/>
            <a:chOff x="85318" y="3045927"/>
            <a:chExt cx="5458232" cy="1243406"/>
          </a:xfrm>
        </p:grpSpPr>
        <p:pic>
          <p:nvPicPr>
            <p:cNvPr id="23" name="圖片 22">
              <a:extLst>
                <a:ext uri="{FF2B5EF4-FFF2-40B4-BE49-F238E27FC236}">
                  <a16:creationId xmlns:a16="http://schemas.microsoft.com/office/drawing/2014/main" id="{BB924937-081A-4314-9A81-C1BCBF95FE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50711"/>
            <a:stretch/>
          </p:blipFill>
          <p:spPr>
            <a:xfrm>
              <a:off x="85318" y="3141682"/>
              <a:ext cx="2561188" cy="1068489"/>
            </a:xfrm>
            <a:prstGeom prst="rect">
              <a:avLst/>
            </a:prstGeom>
          </p:spPr>
        </p:pic>
        <p:pic>
          <p:nvPicPr>
            <p:cNvPr id="24" name="圖片 23">
              <a:extLst>
                <a:ext uri="{FF2B5EF4-FFF2-40B4-BE49-F238E27FC236}">
                  <a16:creationId xmlns:a16="http://schemas.microsoft.com/office/drawing/2014/main" id="{4E3DFE44-8A87-491C-A659-AB1985165B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52080"/>
            <a:stretch/>
          </p:blipFill>
          <p:spPr>
            <a:xfrm>
              <a:off x="2665683" y="3122080"/>
              <a:ext cx="2877867" cy="1167253"/>
            </a:xfrm>
            <a:prstGeom prst="rect">
              <a:avLst/>
            </a:prstGeom>
          </p:spPr>
        </p:pic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40DAD5F-0741-405E-8051-4C24DA28D360}"/>
                </a:ext>
              </a:extLst>
            </p:cNvPr>
            <p:cNvSpPr/>
            <p:nvPr/>
          </p:nvSpPr>
          <p:spPr>
            <a:xfrm>
              <a:off x="136109" y="3130223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227AFE30-6584-4E1F-808D-1F5500C5E69A}"/>
                </a:ext>
              </a:extLst>
            </p:cNvPr>
            <p:cNvSpPr/>
            <p:nvPr/>
          </p:nvSpPr>
          <p:spPr>
            <a:xfrm>
              <a:off x="1296047" y="3130223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A643E35F-62BA-4FCB-A9C5-735DEF87AFED}"/>
                </a:ext>
              </a:extLst>
            </p:cNvPr>
            <p:cNvSpPr/>
            <p:nvPr/>
          </p:nvSpPr>
          <p:spPr>
            <a:xfrm>
              <a:off x="2727152" y="3045927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2B345902-86BF-4452-8AEE-89EEC30A5C2E}"/>
                </a:ext>
              </a:extLst>
            </p:cNvPr>
            <p:cNvSpPr/>
            <p:nvPr/>
          </p:nvSpPr>
          <p:spPr>
            <a:xfrm>
              <a:off x="4053256" y="3054016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0" name="內容版面配置區 2">
            <a:extLst>
              <a:ext uri="{FF2B5EF4-FFF2-40B4-BE49-F238E27FC236}">
                <a16:creationId xmlns:a16="http://schemas.microsoft.com/office/drawing/2014/main" id="{837B9E7A-B20B-43D2-A2A2-EB357CDE6A66}"/>
              </a:ext>
            </a:extLst>
          </p:cNvPr>
          <p:cNvSpPr txBox="1">
            <a:spLocks/>
          </p:cNvSpPr>
          <p:nvPr/>
        </p:nvSpPr>
        <p:spPr>
          <a:xfrm>
            <a:off x="67821" y="730966"/>
            <a:ext cx="7219118" cy="3813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buClr>
                <a:schemeClr val="accent1">
                  <a:lumMod val="75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momentum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light</a:t>
            </a:r>
          </a:p>
        </p:txBody>
      </p:sp>
      <p:sp>
        <p:nvSpPr>
          <p:cNvPr id="33" name="內容版面配置區 5">
            <a:extLst>
              <a:ext uri="{FF2B5EF4-FFF2-40B4-BE49-F238E27FC236}">
                <a16:creationId xmlns:a16="http://schemas.microsoft.com/office/drawing/2014/main" id="{4882FF95-6C48-4CB0-B5A9-5F7DE2911146}"/>
              </a:ext>
            </a:extLst>
          </p:cNvPr>
          <p:cNvSpPr txBox="1">
            <a:spLocks/>
          </p:cNvSpPr>
          <p:nvPr/>
        </p:nvSpPr>
        <p:spPr>
          <a:xfrm>
            <a:off x="4981512" y="6568417"/>
            <a:ext cx="5355193" cy="13229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altLang="zh-TW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in the phase are likely </a:t>
            </a:r>
            <a:r>
              <a:rPr lang="en-US" altLang="zh-TW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lost</a:t>
            </a:r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calculating optical transition rates</a:t>
            </a:r>
            <a:r>
              <a:rPr lang="zh-TW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2D TMD </a:t>
            </a:r>
          </a:p>
        </p:txBody>
      </p:sp>
      <p:sp>
        <p:nvSpPr>
          <p:cNvPr id="32" name="內容版面配置區 2">
            <a:extLst>
              <a:ext uri="{FF2B5EF4-FFF2-40B4-BE49-F238E27FC236}">
                <a16:creationId xmlns:a16="http://schemas.microsoft.com/office/drawing/2014/main" id="{43D5DCA2-E3F7-451B-B11C-E203FD9BF7A9}"/>
              </a:ext>
            </a:extLst>
          </p:cNvPr>
          <p:cNvSpPr txBox="1">
            <a:spLocks/>
          </p:cNvSpPr>
          <p:nvPr/>
        </p:nvSpPr>
        <p:spPr>
          <a:xfrm>
            <a:off x="173870" y="3875749"/>
            <a:ext cx="10217905" cy="3813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buClr>
                <a:schemeClr val="accent1">
                  <a:lumMod val="75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matter interaction</a:t>
            </a:r>
          </a:p>
        </p:txBody>
      </p: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3A67E5DB-04FC-45BA-AA38-222E2CD3B8D7}"/>
              </a:ext>
            </a:extLst>
          </p:cNvPr>
          <p:cNvGrpSpPr/>
          <p:nvPr/>
        </p:nvGrpSpPr>
        <p:grpSpPr>
          <a:xfrm>
            <a:off x="6400897" y="838200"/>
            <a:ext cx="4353342" cy="3062689"/>
            <a:chOff x="266736" y="3041685"/>
            <a:chExt cx="4353342" cy="3062689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2D4C80FF-9357-4C29-AC2E-0F59ADB3647C}"/>
                </a:ext>
              </a:extLst>
            </p:cNvPr>
            <p:cNvSpPr/>
            <p:nvPr/>
          </p:nvSpPr>
          <p:spPr>
            <a:xfrm>
              <a:off x="266736" y="5365710"/>
              <a:ext cx="4353342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LG beams and vector vortex beams</a:t>
              </a:r>
              <a:r>
                <a: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(transverse plane) </a:t>
              </a:r>
            </a:p>
            <a:p>
              <a:pPr algn="ctr"/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Reproduced from Miles J. Padgett, International School on Parametric Nonlinear Optics (2015)</a:t>
              </a:r>
              <a:endParaRPr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6" name="圖片 35">
              <a:extLst>
                <a:ext uri="{FF2B5EF4-FFF2-40B4-BE49-F238E27FC236}">
                  <a16:creationId xmlns:a16="http://schemas.microsoft.com/office/drawing/2014/main" id="{72A00A31-B2E3-4CF6-AE72-DCE06F1D6B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72059" y="3041685"/>
              <a:ext cx="2713737" cy="232864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A44B9D44-44DB-4FE3-95F2-947F22FB093E}"/>
                  </a:ext>
                </a:extLst>
              </p:cNvPr>
              <p:cNvSpPr/>
              <p:nvPr/>
            </p:nvSpPr>
            <p:spPr>
              <a:xfrm>
                <a:off x="882296" y="3343909"/>
                <a:ext cx="47470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Polarization of light</a:t>
                </a:r>
                <a:r>
                  <a:rPr lang="en-US" altLang="zh-TW" sz="1400" dirty="0"/>
                  <a:t> / Helical phase fronts for </a:t>
                </a:r>
                <a14:m>
                  <m:oMath xmlns:m="http://schemas.openxmlformats.org/officeDocument/2006/math">
                    <m:r>
                      <a:rPr lang="en-US" altLang="zh-TW" sz="1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ℓ=0, 1, 2, 3</m:t>
                    </m:r>
                  </m:oMath>
                </a14:m>
                <a:r>
                  <a:rPr lang="en-US" altLang="zh-TW" sz="1400" dirty="0"/>
                  <a:t> </a:t>
                </a:r>
                <a:endPara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TW" sz="1400" dirty="0"/>
                  <a:t>A. M. Yao &amp; M. J. Padgett, </a:t>
                </a:r>
                <a:r>
                  <a:rPr lang="en-US" altLang="zh-TW" sz="1400" i="1" dirty="0"/>
                  <a:t>Adv. Opt. Photonics</a:t>
                </a:r>
                <a:r>
                  <a:rPr lang="en-US" altLang="zh-TW" sz="1400" dirty="0"/>
                  <a:t> </a:t>
                </a:r>
                <a:r>
                  <a:rPr lang="en-US" altLang="zh-TW" sz="1400" b="1" dirty="0"/>
                  <a:t>3</a:t>
                </a:r>
                <a:r>
                  <a:rPr lang="en-US" altLang="zh-TW" sz="1400" dirty="0"/>
                  <a:t>, 161 (2011)</a:t>
                </a:r>
                <a:endParaRPr lang="zh-TW" altLang="en-US" sz="1400" dirty="0"/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A44B9D44-44DB-4FE3-95F2-947F22FB09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296" y="3343909"/>
                <a:ext cx="4747069" cy="523220"/>
              </a:xfrm>
              <a:prstGeom prst="rect">
                <a:avLst/>
              </a:prstGeom>
              <a:blipFill>
                <a:blip r:embed="rId5"/>
                <a:stretch>
                  <a:fillRect t="-3529" b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16862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B99EEC2-809E-4AF1-B22E-26AA648F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19</a:t>
            </a:fld>
            <a:endParaRPr lang="zh-TW" altLang="en-US"/>
          </a:p>
        </p:txBody>
      </p:sp>
      <p:sp>
        <p:nvSpPr>
          <p:cNvPr id="19" name="內容版面配置區 5">
            <a:extLst>
              <a:ext uri="{FF2B5EF4-FFF2-40B4-BE49-F238E27FC236}">
                <a16:creationId xmlns:a16="http://schemas.microsoft.com/office/drawing/2014/main" id="{6C455A4A-01DE-4F45-98BE-B366C987D166}"/>
              </a:ext>
            </a:extLst>
          </p:cNvPr>
          <p:cNvSpPr txBox="1">
            <a:spLocks/>
          </p:cNvSpPr>
          <p:nvPr/>
        </p:nvSpPr>
        <p:spPr>
          <a:xfrm>
            <a:off x="76200" y="7090677"/>
            <a:ext cx="12115800" cy="27956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1909 theoretical work by Poynting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----- </a:t>
            </a:r>
            <a:r>
              <a:rPr lang="en-US" altLang="zh-TW" sz="1400" dirty="0"/>
              <a:t>J. H. Poynting, </a:t>
            </a:r>
            <a:r>
              <a:rPr lang="en-US" altLang="zh-TW" sz="1400" i="1" dirty="0"/>
              <a:t>Proc. R. Soc. </a:t>
            </a:r>
            <a:r>
              <a:rPr lang="en-US" altLang="zh-TW" sz="1400" i="1" dirty="0" err="1"/>
              <a:t>Lond</a:t>
            </a:r>
            <a:r>
              <a:rPr lang="en-US" altLang="zh-TW" sz="1400" i="1" dirty="0"/>
              <a:t>. A</a:t>
            </a:r>
            <a:r>
              <a:rPr lang="en-US" altLang="zh-TW" sz="1400" dirty="0"/>
              <a:t> </a:t>
            </a:r>
            <a:r>
              <a:rPr lang="en-US" altLang="zh-TW" sz="1400" b="1" dirty="0"/>
              <a:t>82</a:t>
            </a:r>
            <a:r>
              <a:rPr lang="en-US" altLang="zh-TW" sz="1400" dirty="0"/>
              <a:t>, 560</a:t>
            </a:r>
            <a:endParaRPr lang="en-US" altLang="zh-T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1936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experimental evidence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spin angular momentum (SAM)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----- </a:t>
            </a:r>
            <a:r>
              <a:rPr lang="en-US" altLang="zh-TW" sz="1400" dirty="0"/>
              <a:t>R. A. Beth, </a:t>
            </a:r>
            <a:r>
              <a:rPr lang="en-US" altLang="zh-TW" sz="1400" i="1" dirty="0"/>
              <a:t>Phys. Rev.</a:t>
            </a:r>
            <a:r>
              <a:rPr lang="en-US" altLang="zh-TW" sz="1400" dirty="0"/>
              <a:t> </a:t>
            </a:r>
            <a:r>
              <a:rPr lang="en-US" altLang="zh-TW" sz="1400" b="1" dirty="0"/>
              <a:t>50</a:t>
            </a:r>
            <a:r>
              <a:rPr lang="en-US" altLang="zh-TW" sz="1400" dirty="0"/>
              <a:t>, 115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1992 Experimental demonstration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orbital angular momentum (OAM) in Laguerre-Gaussian (LG) Beam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----- </a:t>
            </a:r>
            <a:r>
              <a:rPr lang="en-US" altLang="zh-TW" sz="1400" dirty="0"/>
              <a:t>L. Allen </a:t>
            </a:r>
            <a:r>
              <a:rPr lang="en-US" altLang="zh-TW" sz="1400" i="1" dirty="0"/>
              <a:t>et al.</a:t>
            </a:r>
            <a:r>
              <a:rPr lang="en-US" altLang="zh-TW" sz="1400" dirty="0"/>
              <a:t>, </a:t>
            </a:r>
            <a:r>
              <a:rPr lang="en-US" altLang="zh-TW" sz="1400" i="1" dirty="0"/>
              <a:t>Phys. Rev. A</a:t>
            </a:r>
            <a:r>
              <a:rPr lang="en-US" altLang="zh-TW" sz="1400" dirty="0"/>
              <a:t> </a:t>
            </a:r>
            <a:r>
              <a:rPr lang="en-US" altLang="zh-TW" sz="1400" b="1" dirty="0"/>
              <a:t>45</a:t>
            </a:r>
            <a:r>
              <a:rPr lang="en-US" altLang="zh-TW" sz="1400" dirty="0"/>
              <a:t>, 8185 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2A1E837B-E2E1-455A-A5BA-0C41E1445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649" y="1205149"/>
            <a:ext cx="3179276" cy="964602"/>
          </a:xfrm>
          <a:prstGeom prst="rect">
            <a:avLst/>
          </a:prstGeom>
        </p:spPr>
      </p:pic>
      <p:sp>
        <p:nvSpPr>
          <p:cNvPr id="30" name="內容版面配置區 2">
            <a:extLst>
              <a:ext uri="{FF2B5EF4-FFF2-40B4-BE49-F238E27FC236}">
                <a16:creationId xmlns:a16="http://schemas.microsoft.com/office/drawing/2014/main" id="{837B9E7A-B20B-43D2-A2A2-EB357CDE6A66}"/>
              </a:ext>
            </a:extLst>
          </p:cNvPr>
          <p:cNvSpPr txBox="1">
            <a:spLocks/>
          </p:cNvSpPr>
          <p:nvPr/>
        </p:nvSpPr>
        <p:spPr>
          <a:xfrm>
            <a:off x="67821" y="730966"/>
            <a:ext cx="7219118" cy="3813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buClr>
                <a:schemeClr val="accent1">
                  <a:lumMod val="75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momentum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light</a:t>
            </a:r>
          </a:p>
        </p:txBody>
      </p:sp>
      <p:pic>
        <p:nvPicPr>
          <p:cNvPr id="46" name="圖片 45">
            <a:extLst>
              <a:ext uri="{FF2B5EF4-FFF2-40B4-BE49-F238E27FC236}">
                <a16:creationId xmlns:a16="http://schemas.microsoft.com/office/drawing/2014/main" id="{7D95ACD5-17B8-49F8-A0B0-24F79F389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409" y="4676309"/>
            <a:ext cx="3630616" cy="1606994"/>
          </a:xfrm>
          <a:prstGeom prst="rect">
            <a:avLst/>
          </a:prstGeom>
        </p:spPr>
      </p:pic>
      <p:grpSp>
        <p:nvGrpSpPr>
          <p:cNvPr id="51" name="群組 50">
            <a:extLst>
              <a:ext uri="{FF2B5EF4-FFF2-40B4-BE49-F238E27FC236}">
                <a16:creationId xmlns:a16="http://schemas.microsoft.com/office/drawing/2014/main" id="{06207B10-D6F0-4C90-A450-F6255230291C}"/>
              </a:ext>
            </a:extLst>
          </p:cNvPr>
          <p:cNvGrpSpPr/>
          <p:nvPr/>
        </p:nvGrpSpPr>
        <p:grpSpPr>
          <a:xfrm>
            <a:off x="952093" y="2437028"/>
            <a:ext cx="4448582" cy="1013404"/>
            <a:chOff x="85318" y="3045927"/>
            <a:chExt cx="5458232" cy="1243406"/>
          </a:xfrm>
        </p:grpSpPr>
        <p:pic>
          <p:nvPicPr>
            <p:cNvPr id="52" name="圖片 51">
              <a:extLst>
                <a:ext uri="{FF2B5EF4-FFF2-40B4-BE49-F238E27FC236}">
                  <a16:creationId xmlns:a16="http://schemas.microsoft.com/office/drawing/2014/main" id="{570750D6-433A-4041-80CF-D81FCEE317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50711"/>
            <a:stretch/>
          </p:blipFill>
          <p:spPr>
            <a:xfrm>
              <a:off x="85318" y="3141682"/>
              <a:ext cx="2561188" cy="1068489"/>
            </a:xfrm>
            <a:prstGeom prst="rect">
              <a:avLst/>
            </a:prstGeom>
          </p:spPr>
        </p:pic>
        <p:pic>
          <p:nvPicPr>
            <p:cNvPr id="53" name="圖片 52">
              <a:extLst>
                <a:ext uri="{FF2B5EF4-FFF2-40B4-BE49-F238E27FC236}">
                  <a16:creationId xmlns:a16="http://schemas.microsoft.com/office/drawing/2014/main" id="{30ED410F-C6B5-45E4-B136-99FB1E7EA3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52080"/>
            <a:stretch/>
          </p:blipFill>
          <p:spPr>
            <a:xfrm>
              <a:off x="2665683" y="3122080"/>
              <a:ext cx="2877867" cy="1167253"/>
            </a:xfrm>
            <a:prstGeom prst="rect">
              <a:avLst/>
            </a:prstGeom>
          </p:spPr>
        </p:pic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2FB989E3-087E-4600-A923-D55B1F293AB7}"/>
                </a:ext>
              </a:extLst>
            </p:cNvPr>
            <p:cNvSpPr/>
            <p:nvPr/>
          </p:nvSpPr>
          <p:spPr>
            <a:xfrm>
              <a:off x="136109" y="3130223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5FA86E22-4923-4C36-BE0D-11768F7CEE89}"/>
                </a:ext>
              </a:extLst>
            </p:cNvPr>
            <p:cNvSpPr/>
            <p:nvPr/>
          </p:nvSpPr>
          <p:spPr>
            <a:xfrm>
              <a:off x="1296047" y="3130223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B4E2CDDC-55BB-49DC-9283-15B0F6831C6D}"/>
                </a:ext>
              </a:extLst>
            </p:cNvPr>
            <p:cNvSpPr/>
            <p:nvPr/>
          </p:nvSpPr>
          <p:spPr>
            <a:xfrm>
              <a:off x="2727152" y="3045927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FE6FCC39-7FF7-4793-9543-2FAA471CF5BD}"/>
                </a:ext>
              </a:extLst>
            </p:cNvPr>
            <p:cNvSpPr/>
            <p:nvPr/>
          </p:nvSpPr>
          <p:spPr>
            <a:xfrm>
              <a:off x="4053256" y="3054016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58" name="圖片 57">
            <a:extLst>
              <a:ext uri="{FF2B5EF4-FFF2-40B4-BE49-F238E27FC236}">
                <a16:creationId xmlns:a16="http://schemas.microsoft.com/office/drawing/2014/main" id="{6B8D790B-A39E-42EE-9CFC-E4852FC28B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9676" y="4057656"/>
            <a:ext cx="1591924" cy="2212970"/>
          </a:xfrm>
          <a:prstGeom prst="rect">
            <a:avLst/>
          </a:prstGeom>
        </p:spPr>
      </p:pic>
      <p:pic>
        <p:nvPicPr>
          <p:cNvPr id="59" name="圖片 58">
            <a:extLst>
              <a:ext uri="{FF2B5EF4-FFF2-40B4-BE49-F238E27FC236}">
                <a16:creationId xmlns:a16="http://schemas.microsoft.com/office/drawing/2014/main" id="{C9C777EF-6BCA-4F59-A310-7DF9C2A58D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3200" y="4393921"/>
            <a:ext cx="1793238" cy="1892579"/>
          </a:xfrm>
          <a:prstGeom prst="rect">
            <a:avLst/>
          </a:prstGeom>
        </p:spPr>
      </p:pic>
      <p:sp>
        <p:nvSpPr>
          <p:cNvPr id="60" name="內容版面配置區 2">
            <a:extLst>
              <a:ext uri="{FF2B5EF4-FFF2-40B4-BE49-F238E27FC236}">
                <a16:creationId xmlns:a16="http://schemas.microsoft.com/office/drawing/2014/main" id="{A98E8F3E-81DA-43BD-9518-274DBC6A8B04}"/>
              </a:ext>
            </a:extLst>
          </p:cNvPr>
          <p:cNvSpPr txBox="1">
            <a:spLocks/>
          </p:cNvSpPr>
          <p:nvPr/>
        </p:nvSpPr>
        <p:spPr>
          <a:xfrm>
            <a:off x="173870" y="3875749"/>
            <a:ext cx="10217905" cy="3813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buClr>
                <a:schemeClr val="accent1">
                  <a:lumMod val="75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matter interaction</a:t>
            </a:r>
          </a:p>
        </p:txBody>
      </p:sp>
      <p:grpSp>
        <p:nvGrpSpPr>
          <p:cNvPr id="61" name="群組 60">
            <a:extLst>
              <a:ext uri="{FF2B5EF4-FFF2-40B4-BE49-F238E27FC236}">
                <a16:creationId xmlns:a16="http://schemas.microsoft.com/office/drawing/2014/main" id="{9F84BCED-8034-4C8B-ADB8-BC71864CD176}"/>
              </a:ext>
            </a:extLst>
          </p:cNvPr>
          <p:cNvGrpSpPr/>
          <p:nvPr/>
        </p:nvGrpSpPr>
        <p:grpSpPr>
          <a:xfrm>
            <a:off x="6400897" y="838200"/>
            <a:ext cx="4353342" cy="3062689"/>
            <a:chOff x="266736" y="3041685"/>
            <a:chExt cx="4353342" cy="3062689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0AFECD1F-32C6-49F5-B021-D5682D7531EB}"/>
                </a:ext>
              </a:extLst>
            </p:cNvPr>
            <p:cNvSpPr/>
            <p:nvPr/>
          </p:nvSpPr>
          <p:spPr>
            <a:xfrm>
              <a:off x="266736" y="5365710"/>
              <a:ext cx="4353342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LG beams and vector vortex beams</a:t>
              </a:r>
              <a:r>
                <a: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(transverse plane) </a:t>
              </a:r>
            </a:p>
            <a:p>
              <a:pPr algn="ctr"/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Reproduced from Miles J. Padgett, International School on Parametric Nonlinear Optics (2015)</a:t>
              </a:r>
              <a:endParaRPr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63" name="圖片 62">
              <a:extLst>
                <a:ext uri="{FF2B5EF4-FFF2-40B4-BE49-F238E27FC236}">
                  <a16:creationId xmlns:a16="http://schemas.microsoft.com/office/drawing/2014/main" id="{5DDD9EE8-6953-47B7-A42F-2CE727911D2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72059" y="3041685"/>
              <a:ext cx="2713737" cy="232864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409606F2-A68D-4CE3-AB7F-ECBB1EDFF6B6}"/>
                  </a:ext>
                </a:extLst>
              </p:cNvPr>
              <p:cNvSpPr/>
              <p:nvPr/>
            </p:nvSpPr>
            <p:spPr>
              <a:xfrm>
                <a:off x="882296" y="3343909"/>
                <a:ext cx="47470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Polarization of light</a:t>
                </a:r>
                <a:r>
                  <a:rPr lang="en-US" altLang="zh-TW" sz="1400" dirty="0"/>
                  <a:t> / Helical phase fronts for </a:t>
                </a:r>
                <a14:m>
                  <m:oMath xmlns:m="http://schemas.openxmlformats.org/officeDocument/2006/math">
                    <m:r>
                      <a:rPr lang="en-US" altLang="zh-TW" sz="1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ℓ=0, 1, 2, 3</m:t>
                    </m:r>
                  </m:oMath>
                </a14:m>
                <a:r>
                  <a:rPr lang="en-US" altLang="zh-TW" sz="1400" dirty="0"/>
                  <a:t> </a:t>
                </a:r>
                <a:endPara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TW" sz="1400" dirty="0"/>
                  <a:t>A. M. Yao &amp; M. J. Padgett, </a:t>
                </a:r>
                <a:r>
                  <a:rPr lang="en-US" altLang="zh-TW" sz="1400" i="1" dirty="0"/>
                  <a:t>Adv. Opt. Photonics</a:t>
                </a:r>
                <a:r>
                  <a:rPr lang="en-US" altLang="zh-TW" sz="1400" dirty="0"/>
                  <a:t> </a:t>
                </a:r>
                <a:r>
                  <a:rPr lang="en-US" altLang="zh-TW" sz="1400" b="1" dirty="0"/>
                  <a:t>3</a:t>
                </a:r>
                <a:r>
                  <a:rPr lang="en-US" altLang="zh-TW" sz="1400" dirty="0"/>
                  <a:t>, 161 (2011)</a:t>
                </a:r>
                <a:endParaRPr lang="zh-TW" altLang="en-US" sz="1400" dirty="0"/>
              </a:p>
            </p:txBody>
          </p:sp>
        </mc:Choice>
        <mc:Fallback xmlns="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409606F2-A68D-4CE3-AB7F-ECBB1EDFF6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296" y="3343909"/>
                <a:ext cx="4747069" cy="523220"/>
              </a:xfrm>
              <a:prstGeom prst="rect">
                <a:avLst/>
              </a:prstGeom>
              <a:blipFill>
                <a:blip r:embed="rId8"/>
                <a:stretch>
                  <a:fillRect t="-3529" b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矩形 24">
            <a:extLst>
              <a:ext uri="{FF2B5EF4-FFF2-40B4-BE49-F238E27FC236}">
                <a16:creationId xmlns:a16="http://schemas.microsoft.com/office/drawing/2014/main" id="{95452944-1ACA-498B-8344-D06F73E1F8AB}"/>
              </a:ext>
            </a:extLst>
          </p:cNvPr>
          <p:cNvSpPr/>
          <p:nvPr/>
        </p:nvSpPr>
        <p:spPr>
          <a:xfrm>
            <a:off x="5858476" y="6221275"/>
            <a:ext cx="52128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 influence optical transition rate through vector vortex beam</a:t>
            </a:r>
          </a:p>
          <a:p>
            <a:pPr algn="ctr"/>
            <a:r>
              <a:rPr lang="fr-FR" altLang="zh-TW" sz="1400" dirty="0"/>
              <a:t>O. J. G. Sanchez, G.-H. Peng </a:t>
            </a:r>
            <a:r>
              <a:rPr lang="fr-FR" altLang="zh-TW" sz="1400" i="1" dirty="0"/>
              <a:t>et al.</a:t>
            </a:r>
            <a:r>
              <a:rPr lang="fr-FR" altLang="zh-TW" sz="1400" dirty="0"/>
              <a:t>, </a:t>
            </a:r>
            <a:r>
              <a:rPr lang="fr-FR" altLang="zh-TW" sz="1400" i="1" dirty="0"/>
              <a:t>ACS Nano</a:t>
            </a:r>
            <a:r>
              <a:rPr lang="fr-FR" altLang="zh-TW" sz="1400" dirty="0"/>
              <a:t> </a:t>
            </a:r>
            <a:r>
              <a:rPr lang="fr-FR" altLang="zh-TW" sz="1400" b="1" dirty="0"/>
              <a:t>18</a:t>
            </a:r>
            <a:r>
              <a:rPr lang="fr-FR" altLang="zh-TW" sz="1400" dirty="0"/>
              <a:t>, 11425 (2024)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8974746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B99EEC2-809E-4AF1-B22E-26AA648F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20</a:t>
            </a:fld>
            <a:endParaRPr lang="zh-TW" altLang="en-US"/>
          </a:p>
        </p:txBody>
      </p:sp>
      <p:sp>
        <p:nvSpPr>
          <p:cNvPr id="19" name="內容版面配置區 5">
            <a:extLst>
              <a:ext uri="{FF2B5EF4-FFF2-40B4-BE49-F238E27FC236}">
                <a16:creationId xmlns:a16="http://schemas.microsoft.com/office/drawing/2014/main" id="{6C455A4A-01DE-4F45-98BE-B366C987D166}"/>
              </a:ext>
            </a:extLst>
          </p:cNvPr>
          <p:cNvSpPr txBox="1">
            <a:spLocks/>
          </p:cNvSpPr>
          <p:nvPr/>
        </p:nvSpPr>
        <p:spPr>
          <a:xfrm>
            <a:off x="76200" y="7081152"/>
            <a:ext cx="12115800" cy="27956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1909 theoretical work by Poynting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----- </a:t>
            </a:r>
            <a:r>
              <a:rPr lang="en-US" altLang="zh-TW" sz="1400" dirty="0"/>
              <a:t>J. H. Poynting, </a:t>
            </a:r>
            <a:r>
              <a:rPr lang="en-US" altLang="zh-TW" sz="1400" i="1" dirty="0"/>
              <a:t>Proc. R. Soc. </a:t>
            </a:r>
            <a:r>
              <a:rPr lang="en-US" altLang="zh-TW" sz="1400" i="1" dirty="0" err="1"/>
              <a:t>Lond</a:t>
            </a:r>
            <a:r>
              <a:rPr lang="en-US" altLang="zh-TW" sz="1400" i="1" dirty="0"/>
              <a:t>. A</a:t>
            </a:r>
            <a:r>
              <a:rPr lang="en-US" altLang="zh-TW" sz="1400" dirty="0"/>
              <a:t> </a:t>
            </a:r>
            <a:r>
              <a:rPr lang="en-US" altLang="zh-TW" sz="1400" b="1" dirty="0"/>
              <a:t>82</a:t>
            </a:r>
            <a:r>
              <a:rPr lang="en-US" altLang="zh-TW" sz="1400" dirty="0"/>
              <a:t>, 560</a:t>
            </a:r>
            <a:endParaRPr lang="en-US" altLang="zh-T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1936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experimental evidence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spin angular momentum (SAM)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----- </a:t>
            </a:r>
            <a:r>
              <a:rPr lang="en-US" altLang="zh-TW" sz="1400" dirty="0"/>
              <a:t>R. A. Beth, </a:t>
            </a:r>
            <a:r>
              <a:rPr lang="en-US" altLang="zh-TW" sz="1400" i="1" dirty="0"/>
              <a:t>Phys. Rev.</a:t>
            </a:r>
            <a:r>
              <a:rPr lang="en-US" altLang="zh-TW" sz="1400" dirty="0"/>
              <a:t> </a:t>
            </a:r>
            <a:r>
              <a:rPr lang="en-US" altLang="zh-TW" sz="1400" b="1" dirty="0"/>
              <a:t>50</a:t>
            </a:r>
            <a:r>
              <a:rPr lang="en-US" altLang="zh-TW" sz="1400" dirty="0"/>
              <a:t>, 115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1992 Experimental demonstration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orbital angular momentum (OAM) in Laguerre-Gaussian (LG) Beam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----- </a:t>
            </a:r>
            <a:r>
              <a:rPr lang="en-US" altLang="zh-TW" sz="1400" dirty="0"/>
              <a:t>L. Allen </a:t>
            </a:r>
            <a:r>
              <a:rPr lang="en-US" altLang="zh-TW" sz="1400" i="1" dirty="0"/>
              <a:t>et al.</a:t>
            </a:r>
            <a:r>
              <a:rPr lang="en-US" altLang="zh-TW" sz="1400" dirty="0"/>
              <a:t>, </a:t>
            </a:r>
            <a:r>
              <a:rPr lang="en-US" altLang="zh-TW" sz="1400" i="1" dirty="0"/>
              <a:t>Phys. Rev. A</a:t>
            </a:r>
            <a:r>
              <a:rPr lang="en-US" altLang="zh-TW" sz="1400" dirty="0"/>
              <a:t> </a:t>
            </a:r>
            <a:r>
              <a:rPr lang="en-US" altLang="zh-TW" sz="1400" b="1" dirty="0"/>
              <a:t>45</a:t>
            </a:r>
            <a:r>
              <a:rPr lang="en-US" altLang="zh-TW" sz="1400" dirty="0"/>
              <a:t>, 8185 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2A1E837B-E2E1-455A-A5BA-0C41E1445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649" y="1205149"/>
            <a:ext cx="3179276" cy="964602"/>
          </a:xfrm>
          <a:prstGeom prst="rect">
            <a:avLst/>
          </a:prstGeom>
        </p:spPr>
      </p:pic>
      <p:grpSp>
        <p:nvGrpSpPr>
          <p:cNvPr id="31" name="群組 30">
            <a:extLst>
              <a:ext uri="{FF2B5EF4-FFF2-40B4-BE49-F238E27FC236}">
                <a16:creationId xmlns:a16="http://schemas.microsoft.com/office/drawing/2014/main" id="{487384C2-568E-4782-A7B6-6A473B24B8CF}"/>
              </a:ext>
            </a:extLst>
          </p:cNvPr>
          <p:cNvGrpSpPr/>
          <p:nvPr/>
        </p:nvGrpSpPr>
        <p:grpSpPr>
          <a:xfrm>
            <a:off x="952093" y="2437028"/>
            <a:ext cx="4448582" cy="1013404"/>
            <a:chOff x="85318" y="3045927"/>
            <a:chExt cx="5458232" cy="1243406"/>
          </a:xfrm>
        </p:grpSpPr>
        <p:pic>
          <p:nvPicPr>
            <p:cNvPr id="23" name="圖片 22">
              <a:extLst>
                <a:ext uri="{FF2B5EF4-FFF2-40B4-BE49-F238E27FC236}">
                  <a16:creationId xmlns:a16="http://schemas.microsoft.com/office/drawing/2014/main" id="{BB924937-081A-4314-9A81-C1BCBF95FE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50711"/>
            <a:stretch/>
          </p:blipFill>
          <p:spPr>
            <a:xfrm>
              <a:off x="85318" y="3141682"/>
              <a:ext cx="2561188" cy="1068489"/>
            </a:xfrm>
            <a:prstGeom prst="rect">
              <a:avLst/>
            </a:prstGeom>
          </p:spPr>
        </p:pic>
        <p:pic>
          <p:nvPicPr>
            <p:cNvPr id="24" name="圖片 23">
              <a:extLst>
                <a:ext uri="{FF2B5EF4-FFF2-40B4-BE49-F238E27FC236}">
                  <a16:creationId xmlns:a16="http://schemas.microsoft.com/office/drawing/2014/main" id="{4E3DFE44-8A87-491C-A659-AB1985165B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52080"/>
            <a:stretch/>
          </p:blipFill>
          <p:spPr>
            <a:xfrm>
              <a:off x="2665683" y="3122080"/>
              <a:ext cx="2877867" cy="1167253"/>
            </a:xfrm>
            <a:prstGeom prst="rect">
              <a:avLst/>
            </a:prstGeom>
          </p:spPr>
        </p:pic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40DAD5F-0741-405E-8051-4C24DA28D360}"/>
                </a:ext>
              </a:extLst>
            </p:cNvPr>
            <p:cNvSpPr/>
            <p:nvPr/>
          </p:nvSpPr>
          <p:spPr>
            <a:xfrm>
              <a:off x="136109" y="3130223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227AFE30-6584-4E1F-808D-1F5500C5E69A}"/>
                </a:ext>
              </a:extLst>
            </p:cNvPr>
            <p:cNvSpPr/>
            <p:nvPr/>
          </p:nvSpPr>
          <p:spPr>
            <a:xfrm>
              <a:off x="1296047" y="3130223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A643E35F-62BA-4FCB-A9C5-735DEF87AFED}"/>
                </a:ext>
              </a:extLst>
            </p:cNvPr>
            <p:cNvSpPr/>
            <p:nvPr/>
          </p:nvSpPr>
          <p:spPr>
            <a:xfrm>
              <a:off x="2727152" y="3045927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2B345902-86BF-4452-8AEE-89EEC30A5C2E}"/>
                </a:ext>
              </a:extLst>
            </p:cNvPr>
            <p:cNvSpPr/>
            <p:nvPr/>
          </p:nvSpPr>
          <p:spPr>
            <a:xfrm>
              <a:off x="4053256" y="3054016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0" name="內容版面配置區 2">
            <a:extLst>
              <a:ext uri="{FF2B5EF4-FFF2-40B4-BE49-F238E27FC236}">
                <a16:creationId xmlns:a16="http://schemas.microsoft.com/office/drawing/2014/main" id="{837B9E7A-B20B-43D2-A2A2-EB357CDE6A66}"/>
              </a:ext>
            </a:extLst>
          </p:cNvPr>
          <p:cNvSpPr txBox="1">
            <a:spLocks/>
          </p:cNvSpPr>
          <p:nvPr/>
        </p:nvSpPr>
        <p:spPr>
          <a:xfrm>
            <a:off x="67821" y="730966"/>
            <a:ext cx="7219118" cy="3813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buClr>
                <a:schemeClr val="accent1">
                  <a:lumMod val="75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momentum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light</a:t>
            </a:r>
          </a:p>
        </p:txBody>
      </p:sp>
      <p:pic>
        <p:nvPicPr>
          <p:cNvPr id="37" name="圖片 36">
            <a:extLst>
              <a:ext uri="{FF2B5EF4-FFF2-40B4-BE49-F238E27FC236}">
                <a16:creationId xmlns:a16="http://schemas.microsoft.com/office/drawing/2014/main" id="{4F29F1F2-ECDD-4B4E-B059-437E96C0B2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9676" y="4057656"/>
            <a:ext cx="1591924" cy="221297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948E9E7B-8F69-4A4D-8BE9-F8FF02F626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3200" y="4393921"/>
            <a:ext cx="1793238" cy="1892579"/>
          </a:xfrm>
          <a:prstGeom prst="rect">
            <a:avLst/>
          </a:prstGeom>
        </p:spPr>
      </p:pic>
      <p:sp>
        <p:nvSpPr>
          <p:cNvPr id="40" name="內容版面配置區 2">
            <a:extLst>
              <a:ext uri="{FF2B5EF4-FFF2-40B4-BE49-F238E27FC236}">
                <a16:creationId xmlns:a16="http://schemas.microsoft.com/office/drawing/2014/main" id="{FD8EB411-E7F6-4E6B-9367-B7C974D0B06E}"/>
              </a:ext>
            </a:extLst>
          </p:cNvPr>
          <p:cNvSpPr txBox="1">
            <a:spLocks/>
          </p:cNvSpPr>
          <p:nvPr/>
        </p:nvSpPr>
        <p:spPr>
          <a:xfrm>
            <a:off x="173870" y="3875749"/>
            <a:ext cx="10217905" cy="3813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buClr>
                <a:schemeClr val="accent1">
                  <a:lumMod val="75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matter interaction</a:t>
            </a:r>
          </a:p>
        </p:txBody>
      </p: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1A06A0B1-5B27-425B-8730-7D57FE1D0F5A}"/>
              </a:ext>
            </a:extLst>
          </p:cNvPr>
          <p:cNvGrpSpPr/>
          <p:nvPr/>
        </p:nvGrpSpPr>
        <p:grpSpPr>
          <a:xfrm>
            <a:off x="6400897" y="838200"/>
            <a:ext cx="4353342" cy="3062689"/>
            <a:chOff x="266736" y="3041685"/>
            <a:chExt cx="4353342" cy="3062689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8D1E2111-BDBF-4D1D-B1C9-7B6438825830}"/>
                </a:ext>
              </a:extLst>
            </p:cNvPr>
            <p:cNvSpPr/>
            <p:nvPr/>
          </p:nvSpPr>
          <p:spPr>
            <a:xfrm>
              <a:off x="266736" y="5365710"/>
              <a:ext cx="4353342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LG beams and vector vortex beams</a:t>
              </a:r>
              <a:r>
                <a: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(transverse plane) </a:t>
              </a:r>
            </a:p>
            <a:p>
              <a:pPr algn="ctr"/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Reproduced from Miles J. Padgett, International School on Parametric Nonlinear Optics (2015)</a:t>
              </a:r>
              <a:endParaRPr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0913E150-AB24-41EF-85C1-CAC7B236D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72059" y="3041685"/>
              <a:ext cx="2713737" cy="2328648"/>
            </a:xfrm>
            <a:prstGeom prst="rect">
              <a:avLst/>
            </a:prstGeom>
          </p:spPr>
        </p:pic>
      </p:grpSp>
      <p:pic>
        <p:nvPicPr>
          <p:cNvPr id="42" name="圖片 41">
            <a:extLst>
              <a:ext uri="{FF2B5EF4-FFF2-40B4-BE49-F238E27FC236}">
                <a16:creationId xmlns:a16="http://schemas.microsoft.com/office/drawing/2014/main" id="{D76E9C0B-7D7C-4AD9-B3F5-B349CD68533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7840" r="53631" b="63462"/>
          <a:stretch/>
        </p:blipFill>
        <p:spPr>
          <a:xfrm>
            <a:off x="993720" y="5056747"/>
            <a:ext cx="1402824" cy="1325289"/>
          </a:xfrm>
          <a:prstGeom prst="rect">
            <a:avLst/>
          </a:prstGeom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CE166D50-2F86-4639-A74A-451A1048AB2A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5263" t="36113" b="32342"/>
          <a:stretch/>
        </p:blipFill>
        <p:spPr>
          <a:xfrm>
            <a:off x="2785182" y="5035981"/>
            <a:ext cx="1628866" cy="11441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9" name="內容版面配置區 5">
                <a:extLst>
                  <a:ext uri="{FF2B5EF4-FFF2-40B4-BE49-F238E27FC236}">
                    <a16:creationId xmlns:a16="http://schemas.microsoft.com/office/drawing/2014/main" id="{FA96114C-357F-41FF-B308-28A71A34C0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87288" y="5588626"/>
                <a:ext cx="434362" cy="33507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⇒</m:t>
                      </m:r>
                    </m:oMath>
                  </m:oMathPara>
                </a14:m>
                <a:endParaRPr lang="en-US" altLang="zh-TW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內容版面配置區 5">
                <a:extLst>
                  <a:ext uri="{FF2B5EF4-FFF2-40B4-BE49-F238E27FC236}">
                    <a16:creationId xmlns:a16="http://schemas.microsoft.com/office/drawing/2014/main" id="{FA96114C-357F-41FF-B308-28A71A34C0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7288" y="5588626"/>
                <a:ext cx="434362" cy="33507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0" name="圖片 49">
            <a:extLst>
              <a:ext uri="{FF2B5EF4-FFF2-40B4-BE49-F238E27FC236}">
                <a16:creationId xmlns:a16="http://schemas.microsoft.com/office/drawing/2014/main" id="{CD370365-4360-4A1E-A66E-505D5CF10B3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5263" t="72249"/>
          <a:stretch/>
        </p:blipFill>
        <p:spPr>
          <a:xfrm>
            <a:off x="4129185" y="5201605"/>
            <a:ext cx="1628866" cy="1006598"/>
          </a:xfrm>
          <a:prstGeom prst="rect">
            <a:avLst/>
          </a:prstGeom>
        </p:spPr>
      </p:pic>
      <p:pic>
        <p:nvPicPr>
          <p:cNvPr id="51" name="圖片 50">
            <a:extLst>
              <a:ext uri="{FF2B5EF4-FFF2-40B4-BE49-F238E27FC236}">
                <a16:creationId xmlns:a16="http://schemas.microsoft.com/office/drawing/2014/main" id="{A2A18E9D-A2FC-4E83-9C5D-150185A1947B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56460" b="70943"/>
          <a:stretch/>
        </p:blipFill>
        <p:spPr>
          <a:xfrm>
            <a:off x="993721" y="4268143"/>
            <a:ext cx="1329066" cy="987052"/>
          </a:xfrm>
          <a:prstGeom prst="rect">
            <a:avLst/>
          </a:prstGeom>
        </p:spPr>
      </p:pic>
      <p:pic>
        <p:nvPicPr>
          <p:cNvPr id="52" name="圖片 51">
            <a:extLst>
              <a:ext uri="{FF2B5EF4-FFF2-40B4-BE49-F238E27FC236}">
                <a16:creationId xmlns:a16="http://schemas.microsoft.com/office/drawing/2014/main" id="{A2A6AA89-5E2F-467F-9890-B69828DF676B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8163" t="36623" b="33614"/>
          <a:stretch/>
        </p:blipFill>
        <p:spPr>
          <a:xfrm>
            <a:off x="2813819" y="4224411"/>
            <a:ext cx="1277080" cy="1011008"/>
          </a:xfrm>
          <a:prstGeom prst="rect">
            <a:avLst/>
          </a:prstGeom>
        </p:spPr>
      </p:pic>
      <p:pic>
        <p:nvPicPr>
          <p:cNvPr id="53" name="圖片 52">
            <a:extLst>
              <a:ext uri="{FF2B5EF4-FFF2-40B4-BE49-F238E27FC236}">
                <a16:creationId xmlns:a16="http://schemas.microsoft.com/office/drawing/2014/main" id="{A9F29E1B-E4CA-4BE6-BED6-D6E66A403B43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8163" t="71024"/>
          <a:stretch/>
        </p:blipFill>
        <p:spPr>
          <a:xfrm>
            <a:off x="4165655" y="4272951"/>
            <a:ext cx="1277081" cy="9843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4" name="內容版面配置區 5">
                <a:extLst>
                  <a:ext uri="{FF2B5EF4-FFF2-40B4-BE49-F238E27FC236}">
                    <a16:creationId xmlns:a16="http://schemas.microsoft.com/office/drawing/2014/main" id="{BA11783C-55BF-4E85-8287-54F01A487F3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87288" y="4625706"/>
                <a:ext cx="434362" cy="33507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⇒</m:t>
                      </m:r>
                    </m:oMath>
                  </m:oMathPara>
                </a14:m>
                <a:endParaRPr lang="en-US" altLang="zh-TW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4" name="內容版面配置區 5">
                <a:extLst>
                  <a:ext uri="{FF2B5EF4-FFF2-40B4-BE49-F238E27FC236}">
                    <a16:creationId xmlns:a16="http://schemas.microsoft.com/office/drawing/2014/main" id="{BA11783C-55BF-4E85-8287-54F01A487F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7288" y="4625706"/>
                <a:ext cx="434362" cy="33507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矩形 54">
            <a:extLst>
              <a:ext uri="{FF2B5EF4-FFF2-40B4-BE49-F238E27FC236}">
                <a16:creationId xmlns:a16="http://schemas.microsoft.com/office/drawing/2014/main" id="{9065E9A2-2352-4BA9-BF27-DC08B4E715A4}"/>
              </a:ext>
            </a:extLst>
          </p:cNvPr>
          <p:cNvSpPr/>
          <p:nvPr/>
        </p:nvSpPr>
        <p:spPr>
          <a:xfrm>
            <a:off x="1118010" y="6221275"/>
            <a:ext cx="43233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OAM can influence exciton’s wave packet structures</a:t>
            </a:r>
            <a:r>
              <a:rPr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nb-NO" altLang="zh-T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nb-NO" altLang="zh-TW" sz="1400" dirty="0"/>
              <a:t>G.-H. Peng </a:t>
            </a:r>
            <a:r>
              <a:rPr lang="nb-NO" altLang="zh-TW" sz="1400" i="1" dirty="0"/>
              <a:t>et al.</a:t>
            </a:r>
            <a:r>
              <a:rPr lang="nb-NO" altLang="zh-TW" sz="1400" dirty="0"/>
              <a:t>, </a:t>
            </a:r>
            <a:r>
              <a:rPr lang="nb-NO" altLang="zh-TW" sz="1400" i="1" dirty="0"/>
              <a:t>Nano Lett.</a:t>
            </a:r>
            <a:r>
              <a:rPr lang="nb-NO" altLang="zh-TW" sz="1400" dirty="0"/>
              <a:t> </a:t>
            </a:r>
            <a:r>
              <a:rPr lang="nb-NO" altLang="zh-TW" sz="1400" b="1" dirty="0"/>
              <a:t>19</a:t>
            </a:r>
            <a:r>
              <a:rPr lang="nb-NO" altLang="zh-TW" sz="1400" dirty="0"/>
              <a:t>, 2299 (2019)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C43ADDE-5429-49A6-849B-28EA0A7083CB}"/>
              </a:ext>
            </a:extLst>
          </p:cNvPr>
          <p:cNvSpPr/>
          <p:nvPr/>
        </p:nvSpPr>
        <p:spPr>
          <a:xfrm>
            <a:off x="5858476" y="6221275"/>
            <a:ext cx="52128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 influence optical transition rate through vector vortex beam</a:t>
            </a:r>
          </a:p>
          <a:p>
            <a:pPr algn="ctr"/>
            <a:r>
              <a:rPr lang="fr-FR" altLang="zh-TW" sz="1400" dirty="0"/>
              <a:t>O. J. G. Sanchez, G.-H. Peng </a:t>
            </a:r>
            <a:r>
              <a:rPr lang="fr-FR" altLang="zh-TW" sz="1400" i="1" dirty="0"/>
              <a:t>et al.</a:t>
            </a:r>
            <a:r>
              <a:rPr lang="fr-FR" altLang="zh-TW" sz="1400" dirty="0"/>
              <a:t>, </a:t>
            </a:r>
            <a:r>
              <a:rPr lang="fr-FR" altLang="zh-TW" sz="1400" i="1" dirty="0"/>
              <a:t>ACS Nano</a:t>
            </a:r>
            <a:r>
              <a:rPr lang="fr-FR" altLang="zh-TW" sz="1400" dirty="0"/>
              <a:t> </a:t>
            </a:r>
            <a:r>
              <a:rPr lang="fr-FR" altLang="zh-TW" sz="1400" b="1" dirty="0"/>
              <a:t>18</a:t>
            </a:r>
            <a:r>
              <a:rPr lang="fr-FR" altLang="zh-TW" sz="1400" dirty="0"/>
              <a:t>, 11425 (2024)</a:t>
            </a:r>
            <a:endParaRPr lang="zh-TW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32ECE07E-DBDE-46E4-BD3C-B974B9F5EDF4}"/>
                  </a:ext>
                </a:extLst>
              </p:cNvPr>
              <p:cNvSpPr/>
              <p:nvPr/>
            </p:nvSpPr>
            <p:spPr>
              <a:xfrm>
                <a:off x="882296" y="3343909"/>
                <a:ext cx="47470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Polarization of light</a:t>
                </a:r>
                <a:r>
                  <a:rPr lang="en-US" altLang="zh-TW" sz="1400" dirty="0"/>
                  <a:t> / Helical phase fronts for </a:t>
                </a:r>
                <a14:m>
                  <m:oMath xmlns:m="http://schemas.openxmlformats.org/officeDocument/2006/math">
                    <m:r>
                      <a:rPr lang="en-US" altLang="zh-TW" sz="1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ℓ=0, 1, 2, 3</m:t>
                    </m:r>
                  </m:oMath>
                </a14:m>
                <a:r>
                  <a:rPr lang="en-US" altLang="zh-TW" sz="1400" dirty="0"/>
                  <a:t> </a:t>
                </a:r>
                <a:endPara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TW" sz="1400" dirty="0"/>
                  <a:t>A. M. Yao &amp; M. J. Padgett, </a:t>
                </a:r>
                <a:r>
                  <a:rPr lang="en-US" altLang="zh-TW" sz="1400" i="1" dirty="0"/>
                  <a:t>Adv. Opt. Photonics</a:t>
                </a:r>
                <a:r>
                  <a:rPr lang="en-US" altLang="zh-TW" sz="1400" dirty="0"/>
                  <a:t> </a:t>
                </a:r>
                <a:r>
                  <a:rPr lang="en-US" altLang="zh-TW" sz="1400" b="1" dirty="0"/>
                  <a:t>3</a:t>
                </a:r>
                <a:r>
                  <a:rPr lang="en-US" altLang="zh-TW" sz="1400" dirty="0"/>
                  <a:t>, 161 (2011)</a:t>
                </a:r>
                <a:endParaRPr lang="zh-TW" altLang="en-US" sz="1400" dirty="0"/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32ECE07E-DBDE-46E4-BD3C-B974B9F5ED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296" y="3343909"/>
                <a:ext cx="4747069" cy="523220"/>
              </a:xfrm>
              <a:prstGeom prst="rect">
                <a:avLst/>
              </a:prstGeom>
              <a:blipFill>
                <a:blip r:embed="rId11"/>
                <a:stretch>
                  <a:fillRect t="-3529" b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47347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B99EEC2-809E-4AF1-B22E-26AA648F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647D839-0FA8-445E-98CA-BDE75AF193DF}"/>
              </a:ext>
            </a:extLst>
          </p:cNvPr>
          <p:cNvSpPr/>
          <p:nvPr/>
        </p:nvSpPr>
        <p:spPr>
          <a:xfrm>
            <a:off x="977908" y="1900987"/>
            <a:ext cx="19078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Polarization of light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Optical spin</a:t>
            </a:r>
            <a:endParaRPr lang="zh-TW" altLang="en-US" sz="14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3028434-E935-48E4-967C-E3F4FDE21DDE}"/>
              </a:ext>
            </a:extLst>
          </p:cNvPr>
          <p:cNvSpPr/>
          <p:nvPr/>
        </p:nvSpPr>
        <p:spPr>
          <a:xfrm>
            <a:off x="9248775" y="1185315"/>
            <a:ext cx="16193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Spin of electron</a:t>
            </a:r>
            <a:endParaRPr lang="zh-TW" altLang="en-US" sz="1400" dirty="0"/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7AE468D2-ED72-438E-9813-867737FE3827}"/>
              </a:ext>
            </a:extLst>
          </p:cNvPr>
          <p:cNvGrpSpPr/>
          <p:nvPr/>
        </p:nvGrpSpPr>
        <p:grpSpPr>
          <a:xfrm>
            <a:off x="3587116" y="879746"/>
            <a:ext cx="4389118" cy="2179607"/>
            <a:chOff x="747798" y="4818086"/>
            <a:chExt cx="4389118" cy="2179607"/>
          </a:xfrm>
        </p:grpSpPr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920EBB24-EE3D-4462-B5B6-30A515E265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" t="19178" r="50309" b="14375"/>
            <a:stretch/>
          </p:blipFill>
          <p:spPr>
            <a:xfrm>
              <a:off x="747798" y="4818086"/>
              <a:ext cx="4389118" cy="173887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B6653677-844D-45E5-8B21-73EC316EA3EF}"/>
                    </a:ext>
                  </a:extLst>
                </p:cNvPr>
                <p:cNvSpPr/>
                <p:nvPr/>
              </p:nvSpPr>
              <p:spPr>
                <a:xfrm>
                  <a:off x="1288792" y="6489862"/>
                  <a:ext cx="3433376" cy="50783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285750" indent="-285750" algn="ctr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13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300" b="0" i="0" dirty="0" smtClean="0">
                              <a:latin typeface="Cambria Math" panose="02040503050406030204" pitchFamily="18" charset="0"/>
                            </a:rPr>
                            <m:t>WSe</m:t>
                          </m:r>
                        </m:e>
                        <m:sub>
                          <m:r>
                            <a:rPr lang="en-US" altLang="zh-TW" sz="1300" b="0" i="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it-IT" altLang="zh-TW" sz="13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calculated band structure</a:t>
                  </a:r>
                  <a:endParaRPr lang="nb-NO" altLang="zh-TW" sz="13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nb-NO" altLang="zh-TW" sz="1400" dirty="0"/>
                    <a:t>G.-H. Peng </a:t>
                  </a:r>
                  <a:r>
                    <a:rPr lang="nb-NO" altLang="zh-TW" sz="1400" i="1" dirty="0"/>
                    <a:t>et al.</a:t>
                  </a:r>
                  <a:r>
                    <a:rPr lang="nb-NO" altLang="zh-TW" sz="1400" dirty="0"/>
                    <a:t>, </a:t>
                  </a:r>
                  <a:r>
                    <a:rPr lang="nb-NO" altLang="zh-TW" sz="1400" i="1" dirty="0"/>
                    <a:t>Nano Lett.</a:t>
                  </a:r>
                  <a:r>
                    <a:rPr lang="nb-NO" altLang="zh-TW" sz="1400" dirty="0"/>
                    <a:t> </a:t>
                  </a:r>
                  <a:r>
                    <a:rPr lang="nb-NO" altLang="zh-TW" sz="1400" b="1" dirty="0"/>
                    <a:t>19</a:t>
                  </a:r>
                  <a:r>
                    <a:rPr lang="nb-NO" altLang="zh-TW" sz="1400" dirty="0"/>
                    <a:t>, 2299 (2019)</a:t>
                  </a:r>
                  <a:endParaRPr lang="zh-TW" altLang="en-US" sz="13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5B5ADB71-4D90-4C0D-8502-4909F706E4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8792" y="6489862"/>
                  <a:ext cx="3433376" cy="507831"/>
                </a:xfrm>
                <a:prstGeom prst="rect">
                  <a:avLst/>
                </a:prstGeom>
                <a:blipFill>
                  <a:blip r:embed="rId3"/>
                  <a:stretch>
                    <a:fillRect t="-1205" b="-1325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CA942BCC-0439-47AC-A09E-9497D82835AE}"/>
              </a:ext>
            </a:extLst>
          </p:cNvPr>
          <p:cNvSpPr/>
          <p:nvPr/>
        </p:nvSpPr>
        <p:spPr>
          <a:xfrm>
            <a:off x="1422570" y="3387696"/>
            <a:ext cx="8931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OAM</a:t>
            </a:r>
            <a:endParaRPr lang="zh-TW" altLang="en-US" sz="1400" dirty="0"/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A8C0F665-C827-4892-A5E7-52E26C1CA7C9}"/>
              </a:ext>
            </a:extLst>
          </p:cNvPr>
          <p:cNvCxnSpPr>
            <a:cxnSpLocks/>
          </p:cNvCxnSpPr>
          <p:nvPr/>
        </p:nvCxnSpPr>
        <p:spPr>
          <a:xfrm>
            <a:off x="2690903" y="3554257"/>
            <a:ext cx="6557872" cy="685002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770D2473-A606-4079-80EC-BCD4BFEF4099}"/>
              </a:ext>
            </a:extLst>
          </p:cNvPr>
          <p:cNvSpPr/>
          <p:nvPr/>
        </p:nvSpPr>
        <p:spPr>
          <a:xfrm>
            <a:off x="9377438" y="4736956"/>
            <a:ext cx="16514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 of exciton</a:t>
            </a:r>
            <a:endParaRPr lang="zh-TW" altLang="en-US" sz="14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8AB1C77-069C-4ED9-A77B-DCA53190F44B}"/>
              </a:ext>
            </a:extLst>
          </p:cNvPr>
          <p:cNvSpPr/>
          <p:nvPr/>
        </p:nvSpPr>
        <p:spPr>
          <a:xfrm>
            <a:off x="8910995" y="2357012"/>
            <a:ext cx="18485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Exciton with spin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Bright*2/dark/gray</a:t>
            </a:r>
            <a:endParaRPr lang="zh-TW" altLang="en-US" sz="14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E0C1212-1E5E-4896-8749-7D262AACAB80}"/>
              </a:ext>
            </a:extLst>
          </p:cNvPr>
          <p:cNvSpPr/>
          <p:nvPr/>
        </p:nvSpPr>
        <p:spPr>
          <a:xfrm>
            <a:off x="9482815" y="3176189"/>
            <a:ext cx="9220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dipole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61989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B99EEC2-809E-4AF1-B22E-26AA648F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5844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A742B108-2FF9-4EC2-8628-7995F229C770}"/>
              </a:ext>
            </a:extLst>
          </p:cNvPr>
          <p:cNvSpPr txBox="1">
            <a:spLocks/>
          </p:cNvSpPr>
          <p:nvPr/>
        </p:nvSpPr>
        <p:spPr>
          <a:xfrm>
            <a:off x="838200" y="1341174"/>
            <a:ext cx="10515600" cy="52071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Spin-orbital angular momentum interaction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(SOI) in light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Laguerre-Gaussian beams 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 : SOI effect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 : Vector vortex beams 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Light-matter interaction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Exciton wave packet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and outlook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4AA9810-D2AB-4EA5-AA16-19E6AFE40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1747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群組 49">
            <a:extLst>
              <a:ext uri="{FF2B5EF4-FFF2-40B4-BE49-F238E27FC236}">
                <a16:creationId xmlns:a16="http://schemas.microsoft.com/office/drawing/2014/main" id="{AEAAB9B6-6F02-4F50-A3A1-47E74951E4A5}"/>
              </a:ext>
            </a:extLst>
          </p:cNvPr>
          <p:cNvGrpSpPr/>
          <p:nvPr/>
        </p:nvGrpSpPr>
        <p:grpSpPr>
          <a:xfrm>
            <a:off x="1110416" y="1390657"/>
            <a:ext cx="4640566" cy="2425969"/>
            <a:chOff x="1022158" y="2367936"/>
            <a:chExt cx="4640566" cy="2425969"/>
          </a:xfrm>
        </p:grpSpPr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DA885084-20BB-4DFF-8441-5530CE0470F3}"/>
                </a:ext>
              </a:extLst>
            </p:cNvPr>
            <p:cNvSpPr/>
            <p:nvPr/>
          </p:nvSpPr>
          <p:spPr>
            <a:xfrm>
              <a:off x="1022158" y="4165116"/>
              <a:ext cx="2836334" cy="6287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/>
            </a:p>
          </p:txBody>
        </p:sp>
        <p:sp>
          <p:nvSpPr>
            <p:cNvPr id="52" name="梯形 28">
              <a:extLst>
                <a:ext uri="{FF2B5EF4-FFF2-40B4-BE49-F238E27FC236}">
                  <a16:creationId xmlns:a16="http://schemas.microsoft.com/office/drawing/2014/main" id="{A2744EC8-4986-44B7-8E5D-BA1119A23279}"/>
                </a:ext>
              </a:extLst>
            </p:cNvPr>
            <p:cNvSpPr/>
            <p:nvPr/>
          </p:nvSpPr>
          <p:spPr>
            <a:xfrm rot="16200000">
              <a:off x="3543599" y="2670129"/>
              <a:ext cx="2421317" cy="1816932"/>
            </a:xfrm>
            <a:custGeom>
              <a:avLst/>
              <a:gdLst>
                <a:gd name="connsiteX0" fmla="*/ 0 w 5380649"/>
                <a:gd name="connsiteY0" fmla="*/ 1587501 h 1587501"/>
                <a:gd name="connsiteX1" fmla="*/ 1001221 w 5380649"/>
                <a:gd name="connsiteY1" fmla="*/ 0 h 1587501"/>
                <a:gd name="connsiteX2" fmla="*/ 4379428 w 5380649"/>
                <a:gd name="connsiteY2" fmla="*/ 0 h 1587501"/>
                <a:gd name="connsiteX3" fmla="*/ 5380649 w 5380649"/>
                <a:gd name="connsiteY3" fmla="*/ 1587501 h 1587501"/>
                <a:gd name="connsiteX4" fmla="*/ 0 w 5380649"/>
                <a:gd name="connsiteY4" fmla="*/ 1587501 h 1587501"/>
                <a:gd name="connsiteX0" fmla="*/ 0 w 5380649"/>
                <a:gd name="connsiteY0" fmla="*/ 1597026 h 1597026"/>
                <a:gd name="connsiteX1" fmla="*/ 1001221 w 5380649"/>
                <a:gd name="connsiteY1" fmla="*/ 9525 h 1597026"/>
                <a:gd name="connsiteX2" fmla="*/ 2560153 w 5380649"/>
                <a:gd name="connsiteY2" fmla="*/ 0 h 1597026"/>
                <a:gd name="connsiteX3" fmla="*/ 5380649 w 5380649"/>
                <a:gd name="connsiteY3" fmla="*/ 1597026 h 1597026"/>
                <a:gd name="connsiteX4" fmla="*/ 0 w 5380649"/>
                <a:gd name="connsiteY4" fmla="*/ 1597026 h 1597026"/>
                <a:gd name="connsiteX0" fmla="*/ 0 w 5380649"/>
                <a:gd name="connsiteY0" fmla="*/ 1592264 h 1592264"/>
                <a:gd name="connsiteX1" fmla="*/ 1001221 w 5380649"/>
                <a:gd name="connsiteY1" fmla="*/ 4763 h 1592264"/>
                <a:gd name="connsiteX2" fmla="*/ 2579203 w 5380649"/>
                <a:gd name="connsiteY2" fmla="*/ 0 h 1592264"/>
                <a:gd name="connsiteX3" fmla="*/ 5380649 w 5380649"/>
                <a:gd name="connsiteY3" fmla="*/ 1592264 h 1592264"/>
                <a:gd name="connsiteX4" fmla="*/ 0 w 5380649"/>
                <a:gd name="connsiteY4" fmla="*/ 1592264 h 1592264"/>
                <a:gd name="connsiteX0" fmla="*/ 0 w 4204992"/>
                <a:gd name="connsiteY0" fmla="*/ 1592264 h 1592264"/>
                <a:gd name="connsiteX1" fmla="*/ 1001221 w 4204992"/>
                <a:gd name="connsiteY1" fmla="*/ 4763 h 1592264"/>
                <a:gd name="connsiteX2" fmla="*/ 2579203 w 4204992"/>
                <a:gd name="connsiteY2" fmla="*/ 0 h 1592264"/>
                <a:gd name="connsiteX3" fmla="*/ 4204992 w 4204992"/>
                <a:gd name="connsiteY3" fmla="*/ 1572535 h 1592264"/>
                <a:gd name="connsiteX4" fmla="*/ 0 w 4204992"/>
                <a:gd name="connsiteY4" fmla="*/ 1592264 h 1592264"/>
                <a:gd name="connsiteX0" fmla="*/ 0 w 3827621"/>
                <a:gd name="connsiteY0" fmla="*/ 1578852 h 1578852"/>
                <a:gd name="connsiteX1" fmla="*/ 623850 w 3827621"/>
                <a:gd name="connsiteY1" fmla="*/ 4763 h 1578852"/>
                <a:gd name="connsiteX2" fmla="*/ 2201832 w 3827621"/>
                <a:gd name="connsiteY2" fmla="*/ 0 h 1578852"/>
                <a:gd name="connsiteX3" fmla="*/ 3827621 w 3827621"/>
                <a:gd name="connsiteY3" fmla="*/ 1572535 h 1578852"/>
                <a:gd name="connsiteX4" fmla="*/ 0 w 3827621"/>
                <a:gd name="connsiteY4" fmla="*/ 1578852 h 1578852"/>
                <a:gd name="connsiteX0" fmla="*/ 0 w 2898710"/>
                <a:gd name="connsiteY0" fmla="*/ 1578852 h 1578852"/>
                <a:gd name="connsiteX1" fmla="*/ 623850 w 2898710"/>
                <a:gd name="connsiteY1" fmla="*/ 4763 h 1578852"/>
                <a:gd name="connsiteX2" fmla="*/ 2201832 w 2898710"/>
                <a:gd name="connsiteY2" fmla="*/ 0 h 1578852"/>
                <a:gd name="connsiteX3" fmla="*/ 2898710 w 2898710"/>
                <a:gd name="connsiteY3" fmla="*/ 1572537 h 1578852"/>
                <a:gd name="connsiteX4" fmla="*/ 0 w 2898710"/>
                <a:gd name="connsiteY4" fmla="*/ 1578852 h 1578852"/>
                <a:gd name="connsiteX0" fmla="*/ 0 w 3057460"/>
                <a:gd name="connsiteY0" fmla="*/ 1578852 h 1578852"/>
                <a:gd name="connsiteX1" fmla="*/ 623850 w 3057460"/>
                <a:gd name="connsiteY1" fmla="*/ 4763 h 1578852"/>
                <a:gd name="connsiteX2" fmla="*/ 2201832 w 3057460"/>
                <a:gd name="connsiteY2" fmla="*/ 0 h 1578852"/>
                <a:gd name="connsiteX3" fmla="*/ 3057460 w 3057460"/>
                <a:gd name="connsiteY3" fmla="*/ 1578405 h 1578852"/>
                <a:gd name="connsiteX4" fmla="*/ 0 w 3057460"/>
                <a:gd name="connsiteY4" fmla="*/ 1578852 h 1578852"/>
                <a:gd name="connsiteX0" fmla="*/ 0 w 3057460"/>
                <a:gd name="connsiteY0" fmla="*/ 1578852 h 1578852"/>
                <a:gd name="connsiteX1" fmla="*/ 623850 w 3057460"/>
                <a:gd name="connsiteY1" fmla="*/ 4763 h 1578852"/>
                <a:gd name="connsiteX2" fmla="*/ 2087532 w 3057460"/>
                <a:gd name="connsiteY2" fmla="*/ 0 h 1578852"/>
                <a:gd name="connsiteX3" fmla="*/ 3057460 w 3057460"/>
                <a:gd name="connsiteY3" fmla="*/ 1578405 h 1578852"/>
                <a:gd name="connsiteX4" fmla="*/ 0 w 3057460"/>
                <a:gd name="connsiteY4" fmla="*/ 1578852 h 1578852"/>
                <a:gd name="connsiteX0" fmla="*/ 0 w 2924110"/>
                <a:gd name="connsiteY0" fmla="*/ 1578852 h 1578852"/>
                <a:gd name="connsiteX1" fmla="*/ 623850 w 2924110"/>
                <a:gd name="connsiteY1" fmla="*/ 4763 h 1578852"/>
                <a:gd name="connsiteX2" fmla="*/ 2087532 w 2924110"/>
                <a:gd name="connsiteY2" fmla="*/ 0 h 1578852"/>
                <a:gd name="connsiteX3" fmla="*/ 2924110 w 2924110"/>
                <a:gd name="connsiteY3" fmla="*/ 1578405 h 1578852"/>
                <a:gd name="connsiteX4" fmla="*/ 0 w 2924110"/>
                <a:gd name="connsiteY4" fmla="*/ 1578852 h 1578852"/>
                <a:gd name="connsiteX0" fmla="*/ 0 w 2924110"/>
                <a:gd name="connsiteY0" fmla="*/ 1578852 h 1578852"/>
                <a:gd name="connsiteX1" fmla="*/ 623850 w 2924110"/>
                <a:gd name="connsiteY1" fmla="*/ 4763 h 1578852"/>
                <a:gd name="connsiteX2" fmla="*/ 2182782 w 2924110"/>
                <a:gd name="connsiteY2" fmla="*/ 0 h 1578852"/>
                <a:gd name="connsiteX3" fmla="*/ 2924110 w 2924110"/>
                <a:gd name="connsiteY3" fmla="*/ 1578405 h 1578852"/>
                <a:gd name="connsiteX4" fmla="*/ 0 w 2924110"/>
                <a:gd name="connsiteY4" fmla="*/ 1578852 h 1578852"/>
                <a:gd name="connsiteX0" fmla="*/ 0 w 3343210"/>
                <a:gd name="connsiteY0" fmla="*/ 1740810 h 1740810"/>
                <a:gd name="connsiteX1" fmla="*/ 1042950 w 3343210"/>
                <a:gd name="connsiteY1" fmla="*/ 4763 h 1740810"/>
                <a:gd name="connsiteX2" fmla="*/ 2601882 w 3343210"/>
                <a:gd name="connsiteY2" fmla="*/ 0 h 1740810"/>
                <a:gd name="connsiteX3" fmla="*/ 3343210 w 3343210"/>
                <a:gd name="connsiteY3" fmla="*/ 1578405 h 1740810"/>
                <a:gd name="connsiteX4" fmla="*/ 0 w 3343210"/>
                <a:gd name="connsiteY4" fmla="*/ 1740810 h 1740810"/>
                <a:gd name="connsiteX0" fmla="*/ 0 w 3244150"/>
                <a:gd name="connsiteY0" fmla="*/ 1740810 h 1824864"/>
                <a:gd name="connsiteX1" fmla="*/ 1042950 w 3244150"/>
                <a:gd name="connsiteY1" fmla="*/ 4763 h 1824864"/>
                <a:gd name="connsiteX2" fmla="*/ 2601882 w 3244150"/>
                <a:gd name="connsiteY2" fmla="*/ 0 h 1824864"/>
                <a:gd name="connsiteX3" fmla="*/ 3244150 w 3244150"/>
                <a:gd name="connsiteY3" fmla="*/ 1824864 h 1824864"/>
                <a:gd name="connsiteX4" fmla="*/ 0 w 3244150"/>
                <a:gd name="connsiteY4" fmla="*/ 1740810 h 1824864"/>
                <a:gd name="connsiteX0" fmla="*/ 0 w 4415725"/>
                <a:gd name="connsiteY0" fmla="*/ 1740810 h 2062520"/>
                <a:gd name="connsiteX1" fmla="*/ 1042950 w 4415725"/>
                <a:gd name="connsiteY1" fmla="*/ 4763 h 2062520"/>
                <a:gd name="connsiteX2" fmla="*/ 2601882 w 4415725"/>
                <a:gd name="connsiteY2" fmla="*/ 0 h 2062520"/>
                <a:gd name="connsiteX3" fmla="*/ 4415725 w 4415725"/>
                <a:gd name="connsiteY3" fmla="*/ 2062520 h 2062520"/>
                <a:gd name="connsiteX4" fmla="*/ 0 w 4415725"/>
                <a:gd name="connsiteY4" fmla="*/ 1740810 h 2062520"/>
                <a:gd name="connsiteX0" fmla="*/ 1576427 w 3372775"/>
                <a:gd name="connsiteY0" fmla="*/ 2128104 h 2128104"/>
                <a:gd name="connsiteX1" fmla="*/ 0 w 3372775"/>
                <a:gd name="connsiteY1" fmla="*/ 4763 h 2128104"/>
                <a:gd name="connsiteX2" fmla="*/ 1558932 w 3372775"/>
                <a:gd name="connsiteY2" fmla="*/ 0 h 2128104"/>
                <a:gd name="connsiteX3" fmla="*/ 3372775 w 3372775"/>
                <a:gd name="connsiteY3" fmla="*/ 2062520 h 2128104"/>
                <a:gd name="connsiteX4" fmla="*/ 1576427 w 3372775"/>
                <a:gd name="connsiteY4" fmla="*/ 2128104 h 2128104"/>
                <a:gd name="connsiteX0" fmla="*/ 633452 w 2429800"/>
                <a:gd name="connsiteY0" fmla="*/ 2128104 h 2128104"/>
                <a:gd name="connsiteX1" fmla="*/ 0 w 2429800"/>
                <a:gd name="connsiteY1" fmla="*/ 4765 h 2128104"/>
                <a:gd name="connsiteX2" fmla="*/ 615957 w 2429800"/>
                <a:gd name="connsiteY2" fmla="*/ 0 h 2128104"/>
                <a:gd name="connsiteX3" fmla="*/ 2429800 w 2429800"/>
                <a:gd name="connsiteY3" fmla="*/ 2062520 h 2128104"/>
                <a:gd name="connsiteX4" fmla="*/ 633452 w 2429800"/>
                <a:gd name="connsiteY4" fmla="*/ 2128104 h 2128104"/>
                <a:gd name="connsiteX0" fmla="*/ 690602 w 2429800"/>
                <a:gd name="connsiteY0" fmla="*/ 2066489 h 2066489"/>
                <a:gd name="connsiteX1" fmla="*/ 0 w 2429800"/>
                <a:gd name="connsiteY1" fmla="*/ 4765 h 2066489"/>
                <a:gd name="connsiteX2" fmla="*/ 615957 w 2429800"/>
                <a:gd name="connsiteY2" fmla="*/ 0 h 2066489"/>
                <a:gd name="connsiteX3" fmla="*/ 2429800 w 2429800"/>
                <a:gd name="connsiteY3" fmla="*/ 2062520 h 2066489"/>
                <a:gd name="connsiteX4" fmla="*/ 690602 w 2429800"/>
                <a:gd name="connsiteY4" fmla="*/ 2066489 h 2066489"/>
                <a:gd name="connsiteX0" fmla="*/ 352468 w 2429800"/>
                <a:gd name="connsiteY0" fmla="*/ 1560372 h 2062520"/>
                <a:gd name="connsiteX1" fmla="*/ 0 w 2429800"/>
                <a:gd name="connsiteY1" fmla="*/ 4765 h 2062520"/>
                <a:gd name="connsiteX2" fmla="*/ 615957 w 2429800"/>
                <a:gd name="connsiteY2" fmla="*/ 0 h 2062520"/>
                <a:gd name="connsiteX3" fmla="*/ 2429800 w 2429800"/>
                <a:gd name="connsiteY3" fmla="*/ 2062520 h 2062520"/>
                <a:gd name="connsiteX4" fmla="*/ 352468 w 2429800"/>
                <a:gd name="connsiteY4" fmla="*/ 1560372 h 2062520"/>
                <a:gd name="connsiteX0" fmla="*/ 352468 w 2034512"/>
                <a:gd name="connsiteY0" fmla="*/ 1560372 h 1560372"/>
                <a:gd name="connsiteX1" fmla="*/ 0 w 2034512"/>
                <a:gd name="connsiteY1" fmla="*/ 4765 h 1560372"/>
                <a:gd name="connsiteX2" fmla="*/ 615957 w 2034512"/>
                <a:gd name="connsiteY2" fmla="*/ 0 h 1560372"/>
                <a:gd name="connsiteX3" fmla="*/ 2034512 w 2034512"/>
                <a:gd name="connsiteY3" fmla="*/ 1556400 h 1560372"/>
                <a:gd name="connsiteX4" fmla="*/ 352468 w 2034512"/>
                <a:gd name="connsiteY4" fmla="*/ 1560372 h 1560372"/>
                <a:gd name="connsiteX0" fmla="*/ 860468 w 2034512"/>
                <a:gd name="connsiteY0" fmla="*/ 2499261 h 2499261"/>
                <a:gd name="connsiteX1" fmla="*/ 0 w 2034512"/>
                <a:gd name="connsiteY1" fmla="*/ 4765 h 2499261"/>
                <a:gd name="connsiteX2" fmla="*/ 615957 w 2034512"/>
                <a:gd name="connsiteY2" fmla="*/ 0 h 2499261"/>
                <a:gd name="connsiteX3" fmla="*/ 2034512 w 2034512"/>
                <a:gd name="connsiteY3" fmla="*/ 1556400 h 2499261"/>
                <a:gd name="connsiteX4" fmla="*/ 860468 w 2034512"/>
                <a:gd name="connsiteY4" fmla="*/ 2499261 h 2499261"/>
                <a:gd name="connsiteX0" fmla="*/ 860468 w 2832797"/>
                <a:gd name="connsiteY0" fmla="*/ 2499261 h 2642829"/>
                <a:gd name="connsiteX1" fmla="*/ 0 w 2832797"/>
                <a:gd name="connsiteY1" fmla="*/ 4765 h 2642829"/>
                <a:gd name="connsiteX2" fmla="*/ 615957 w 2832797"/>
                <a:gd name="connsiteY2" fmla="*/ 0 h 2642829"/>
                <a:gd name="connsiteX3" fmla="*/ 2832797 w 2832797"/>
                <a:gd name="connsiteY3" fmla="*/ 2642829 h 2642829"/>
                <a:gd name="connsiteX4" fmla="*/ 860468 w 2832797"/>
                <a:gd name="connsiteY4" fmla="*/ 2499261 h 2642829"/>
                <a:gd name="connsiteX0" fmla="*/ 816926 w 2832797"/>
                <a:gd name="connsiteY0" fmla="*/ 2619976 h 2642829"/>
                <a:gd name="connsiteX1" fmla="*/ 0 w 2832797"/>
                <a:gd name="connsiteY1" fmla="*/ 4765 h 2642829"/>
                <a:gd name="connsiteX2" fmla="*/ 615957 w 2832797"/>
                <a:gd name="connsiteY2" fmla="*/ 0 h 2642829"/>
                <a:gd name="connsiteX3" fmla="*/ 2832797 w 2832797"/>
                <a:gd name="connsiteY3" fmla="*/ 2642829 h 2642829"/>
                <a:gd name="connsiteX4" fmla="*/ 816926 w 2832797"/>
                <a:gd name="connsiteY4" fmla="*/ 2619976 h 2642829"/>
                <a:gd name="connsiteX0" fmla="*/ 801686 w 2832797"/>
                <a:gd name="connsiteY0" fmla="*/ 2619976 h 2642829"/>
                <a:gd name="connsiteX1" fmla="*/ 0 w 2832797"/>
                <a:gd name="connsiteY1" fmla="*/ 4765 h 2642829"/>
                <a:gd name="connsiteX2" fmla="*/ 615957 w 2832797"/>
                <a:gd name="connsiteY2" fmla="*/ 0 h 2642829"/>
                <a:gd name="connsiteX3" fmla="*/ 2832797 w 2832797"/>
                <a:gd name="connsiteY3" fmla="*/ 2642829 h 2642829"/>
                <a:gd name="connsiteX4" fmla="*/ 801686 w 2832797"/>
                <a:gd name="connsiteY4" fmla="*/ 2619976 h 2642829"/>
                <a:gd name="connsiteX0" fmla="*/ 801686 w 2527997"/>
                <a:gd name="connsiteY0" fmla="*/ 2619976 h 2619976"/>
                <a:gd name="connsiteX1" fmla="*/ 0 w 2527997"/>
                <a:gd name="connsiteY1" fmla="*/ 4765 h 2619976"/>
                <a:gd name="connsiteX2" fmla="*/ 615957 w 2527997"/>
                <a:gd name="connsiteY2" fmla="*/ 0 h 2619976"/>
                <a:gd name="connsiteX3" fmla="*/ 2527997 w 2527997"/>
                <a:gd name="connsiteY3" fmla="*/ 2614662 h 2619976"/>
                <a:gd name="connsiteX4" fmla="*/ 801686 w 2527997"/>
                <a:gd name="connsiteY4" fmla="*/ 2619976 h 2619976"/>
                <a:gd name="connsiteX0" fmla="*/ 649286 w 2527997"/>
                <a:gd name="connsiteY0" fmla="*/ 2070726 h 2614662"/>
                <a:gd name="connsiteX1" fmla="*/ 0 w 2527997"/>
                <a:gd name="connsiteY1" fmla="*/ 4765 h 2614662"/>
                <a:gd name="connsiteX2" fmla="*/ 615957 w 2527997"/>
                <a:gd name="connsiteY2" fmla="*/ 0 h 2614662"/>
                <a:gd name="connsiteX3" fmla="*/ 2527997 w 2527997"/>
                <a:gd name="connsiteY3" fmla="*/ 2614662 h 2614662"/>
                <a:gd name="connsiteX4" fmla="*/ 649286 w 2527997"/>
                <a:gd name="connsiteY4" fmla="*/ 2070726 h 2614662"/>
                <a:gd name="connsiteX0" fmla="*/ 649286 w 2802317"/>
                <a:gd name="connsiteY0" fmla="*/ 2070726 h 2220329"/>
                <a:gd name="connsiteX1" fmla="*/ 0 w 2802317"/>
                <a:gd name="connsiteY1" fmla="*/ 4765 h 2220329"/>
                <a:gd name="connsiteX2" fmla="*/ 615957 w 2802317"/>
                <a:gd name="connsiteY2" fmla="*/ 0 h 2220329"/>
                <a:gd name="connsiteX3" fmla="*/ 2802317 w 2802317"/>
                <a:gd name="connsiteY3" fmla="*/ 2220329 h 2220329"/>
                <a:gd name="connsiteX4" fmla="*/ 649286 w 2802317"/>
                <a:gd name="connsiteY4" fmla="*/ 2070726 h 2220329"/>
                <a:gd name="connsiteX0" fmla="*/ 130173 w 2802317"/>
                <a:gd name="connsiteY0" fmla="*/ 1679033 h 2220329"/>
                <a:gd name="connsiteX1" fmla="*/ 0 w 2802317"/>
                <a:gd name="connsiteY1" fmla="*/ 4765 h 2220329"/>
                <a:gd name="connsiteX2" fmla="*/ 615957 w 2802317"/>
                <a:gd name="connsiteY2" fmla="*/ 0 h 2220329"/>
                <a:gd name="connsiteX3" fmla="*/ 2802317 w 2802317"/>
                <a:gd name="connsiteY3" fmla="*/ 2220329 h 2220329"/>
                <a:gd name="connsiteX4" fmla="*/ 130173 w 2802317"/>
                <a:gd name="connsiteY4" fmla="*/ 1679033 h 2220329"/>
                <a:gd name="connsiteX0" fmla="*/ 130173 w 2421317"/>
                <a:gd name="connsiteY0" fmla="*/ 1679033 h 1679033"/>
                <a:gd name="connsiteX1" fmla="*/ 0 w 2421317"/>
                <a:gd name="connsiteY1" fmla="*/ 4765 h 1679033"/>
                <a:gd name="connsiteX2" fmla="*/ 615957 w 2421317"/>
                <a:gd name="connsiteY2" fmla="*/ 0 h 1679033"/>
                <a:gd name="connsiteX3" fmla="*/ 2421317 w 2421317"/>
                <a:gd name="connsiteY3" fmla="*/ 1436944 h 1679033"/>
                <a:gd name="connsiteX4" fmla="*/ 130173 w 2421317"/>
                <a:gd name="connsiteY4" fmla="*/ 1679033 h 1679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1317" h="1679033">
                  <a:moveTo>
                    <a:pt x="130173" y="1679033"/>
                  </a:moveTo>
                  <a:lnTo>
                    <a:pt x="0" y="4765"/>
                  </a:lnTo>
                  <a:lnTo>
                    <a:pt x="615957" y="0"/>
                  </a:lnTo>
                  <a:lnTo>
                    <a:pt x="2421317" y="1436944"/>
                  </a:lnTo>
                  <a:lnTo>
                    <a:pt x="130173" y="167903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27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/>
            </a:p>
          </p:txBody>
        </p:sp>
      </p:grp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620C9717-50DD-409A-90BE-82D08BA5518C}"/>
              </a:ext>
            </a:extLst>
          </p:cNvPr>
          <p:cNvGrpSpPr/>
          <p:nvPr/>
        </p:nvGrpSpPr>
        <p:grpSpPr>
          <a:xfrm>
            <a:off x="1130051" y="3795281"/>
            <a:ext cx="4571604" cy="2812565"/>
            <a:chOff x="1022158" y="4092750"/>
            <a:chExt cx="4571604" cy="2812565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748DFC57-A9A0-4E76-9A1C-37A7891E3076}"/>
                </a:ext>
              </a:extLst>
            </p:cNvPr>
            <p:cNvSpPr/>
            <p:nvPr/>
          </p:nvSpPr>
          <p:spPr>
            <a:xfrm>
              <a:off x="1022158" y="4165116"/>
              <a:ext cx="2836334" cy="157734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/>
            </a:p>
          </p:txBody>
        </p:sp>
        <p:sp>
          <p:nvSpPr>
            <p:cNvPr id="29" name="梯形 28">
              <a:extLst>
                <a:ext uri="{FF2B5EF4-FFF2-40B4-BE49-F238E27FC236}">
                  <a16:creationId xmlns:a16="http://schemas.microsoft.com/office/drawing/2014/main" id="{789E37BD-26F9-410D-90A9-245E94B638E1}"/>
                </a:ext>
              </a:extLst>
            </p:cNvPr>
            <p:cNvSpPr/>
            <p:nvPr/>
          </p:nvSpPr>
          <p:spPr>
            <a:xfrm rot="16200000">
              <a:off x="3313495" y="4625049"/>
              <a:ext cx="2812565" cy="1747968"/>
            </a:xfrm>
            <a:custGeom>
              <a:avLst/>
              <a:gdLst>
                <a:gd name="connsiteX0" fmla="*/ 0 w 5380649"/>
                <a:gd name="connsiteY0" fmla="*/ 1587501 h 1587501"/>
                <a:gd name="connsiteX1" fmla="*/ 1001221 w 5380649"/>
                <a:gd name="connsiteY1" fmla="*/ 0 h 1587501"/>
                <a:gd name="connsiteX2" fmla="*/ 4379428 w 5380649"/>
                <a:gd name="connsiteY2" fmla="*/ 0 h 1587501"/>
                <a:gd name="connsiteX3" fmla="*/ 5380649 w 5380649"/>
                <a:gd name="connsiteY3" fmla="*/ 1587501 h 1587501"/>
                <a:gd name="connsiteX4" fmla="*/ 0 w 5380649"/>
                <a:gd name="connsiteY4" fmla="*/ 1587501 h 1587501"/>
                <a:gd name="connsiteX0" fmla="*/ 0 w 5380649"/>
                <a:gd name="connsiteY0" fmla="*/ 1597026 h 1597026"/>
                <a:gd name="connsiteX1" fmla="*/ 1001221 w 5380649"/>
                <a:gd name="connsiteY1" fmla="*/ 9525 h 1597026"/>
                <a:gd name="connsiteX2" fmla="*/ 2560153 w 5380649"/>
                <a:gd name="connsiteY2" fmla="*/ 0 h 1597026"/>
                <a:gd name="connsiteX3" fmla="*/ 5380649 w 5380649"/>
                <a:gd name="connsiteY3" fmla="*/ 1597026 h 1597026"/>
                <a:gd name="connsiteX4" fmla="*/ 0 w 5380649"/>
                <a:gd name="connsiteY4" fmla="*/ 1597026 h 1597026"/>
                <a:gd name="connsiteX0" fmla="*/ 0 w 5380649"/>
                <a:gd name="connsiteY0" fmla="*/ 1592264 h 1592264"/>
                <a:gd name="connsiteX1" fmla="*/ 1001221 w 5380649"/>
                <a:gd name="connsiteY1" fmla="*/ 4763 h 1592264"/>
                <a:gd name="connsiteX2" fmla="*/ 2579203 w 5380649"/>
                <a:gd name="connsiteY2" fmla="*/ 0 h 1592264"/>
                <a:gd name="connsiteX3" fmla="*/ 5380649 w 5380649"/>
                <a:gd name="connsiteY3" fmla="*/ 1592264 h 1592264"/>
                <a:gd name="connsiteX4" fmla="*/ 0 w 5380649"/>
                <a:gd name="connsiteY4" fmla="*/ 1592264 h 1592264"/>
                <a:gd name="connsiteX0" fmla="*/ 0 w 4204992"/>
                <a:gd name="connsiteY0" fmla="*/ 1592264 h 1592264"/>
                <a:gd name="connsiteX1" fmla="*/ 1001221 w 4204992"/>
                <a:gd name="connsiteY1" fmla="*/ 4763 h 1592264"/>
                <a:gd name="connsiteX2" fmla="*/ 2579203 w 4204992"/>
                <a:gd name="connsiteY2" fmla="*/ 0 h 1592264"/>
                <a:gd name="connsiteX3" fmla="*/ 4204992 w 4204992"/>
                <a:gd name="connsiteY3" fmla="*/ 1572535 h 1592264"/>
                <a:gd name="connsiteX4" fmla="*/ 0 w 4204992"/>
                <a:gd name="connsiteY4" fmla="*/ 1592264 h 1592264"/>
                <a:gd name="connsiteX0" fmla="*/ 0 w 3827621"/>
                <a:gd name="connsiteY0" fmla="*/ 1578852 h 1578852"/>
                <a:gd name="connsiteX1" fmla="*/ 623850 w 3827621"/>
                <a:gd name="connsiteY1" fmla="*/ 4763 h 1578852"/>
                <a:gd name="connsiteX2" fmla="*/ 2201832 w 3827621"/>
                <a:gd name="connsiteY2" fmla="*/ 0 h 1578852"/>
                <a:gd name="connsiteX3" fmla="*/ 3827621 w 3827621"/>
                <a:gd name="connsiteY3" fmla="*/ 1572535 h 1578852"/>
                <a:gd name="connsiteX4" fmla="*/ 0 w 3827621"/>
                <a:gd name="connsiteY4" fmla="*/ 1578852 h 1578852"/>
                <a:gd name="connsiteX0" fmla="*/ 0 w 2898710"/>
                <a:gd name="connsiteY0" fmla="*/ 1578852 h 1578852"/>
                <a:gd name="connsiteX1" fmla="*/ 623850 w 2898710"/>
                <a:gd name="connsiteY1" fmla="*/ 4763 h 1578852"/>
                <a:gd name="connsiteX2" fmla="*/ 2201832 w 2898710"/>
                <a:gd name="connsiteY2" fmla="*/ 0 h 1578852"/>
                <a:gd name="connsiteX3" fmla="*/ 2898710 w 2898710"/>
                <a:gd name="connsiteY3" fmla="*/ 1572537 h 1578852"/>
                <a:gd name="connsiteX4" fmla="*/ 0 w 2898710"/>
                <a:gd name="connsiteY4" fmla="*/ 1578852 h 1578852"/>
                <a:gd name="connsiteX0" fmla="*/ 0 w 3057460"/>
                <a:gd name="connsiteY0" fmla="*/ 1578852 h 1578852"/>
                <a:gd name="connsiteX1" fmla="*/ 623850 w 3057460"/>
                <a:gd name="connsiteY1" fmla="*/ 4763 h 1578852"/>
                <a:gd name="connsiteX2" fmla="*/ 2201832 w 3057460"/>
                <a:gd name="connsiteY2" fmla="*/ 0 h 1578852"/>
                <a:gd name="connsiteX3" fmla="*/ 3057460 w 3057460"/>
                <a:gd name="connsiteY3" fmla="*/ 1578405 h 1578852"/>
                <a:gd name="connsiteX4" fmla="*/ 0 w 3057460"/>
                <a:gd name="connsiteY4" fmla="*/ 1578852 h 1578852"/>
                <a:gd name="connsiteX0" fmla="*/ 0 w 3057460"/>
                <a:gd name="connsiteY0" fmla="*/ 1578852 h 1578852"/>
                <a:gd name="connsiteX1" fmla="*/ 623850 w 3057460"/>
                <a:gd name="connsiteY1" fmla="*/ 4763 h 1578852"/>
                <a:gd name="connsiteX2" fmla="*/ 2087532 w 3057460"/>
                <a:gd name="connsiteY2" fmla="*/ 0 h 1578852"/>
                <a:gd name="connsiteX3" fmla="*/ 3057460 w 3057460"/>
                <a:gd name="connsiteY3" fmla="*/ 1578405 h 1578852"/>
                <a:gd name="connsiteX4" fmla="*/ 0 w 3057460"/>
                <a:gd name="connsiteY4" fmla="*/ 1578852 h 1578852"/>
                <a:gd name="connsiteX0" fmla="*/ 0 w 2924110"/>
                <a:gd name="connsiteY0" fmla="*/ 1578852 h 1578852"/>
                <a:gd name="connsiteX1" fmla="*/ 623850 w 2924110"/>
                <a:gd name="connsiteY1" fmla="*/ 4763 h 1578852"/>
                <a:gd name="connsiteX2" fmla="*/ 2087532 w 2924110"/>
                <a:gd name="connsiteY2" fmla="*/ 0 h 1578852"/>
                <a:gd name="connsiteX3" fmla="*/ 2924110 w 2924110"/>
                <a:gd name="connsiteY3" fmla="*/ 1578405 h 1578852"/>
                <a:gd name="connsiteX4" fmla="*/ 0 w 2924110"/>
                <a:gd name="connsiteY4" fmla="*/ 1578852 h 1578852"/>
                <a:gd name="connsiteX0" fmla="*/ 0 w 2924110"/>
                <a:gd name="connsiteY0" fmla="*/ 1578852 h 1578852"/>
                <a:gd name="connsiteX1" fmla="*/ 623850 w 2924110"/>
                <a:gd name="connsiteY1" fmla="*/ 4763 h 1578852"/>
                <a:gd name="connsiteX2" fmla="*/ 2182782 w 2924110"/>
                <a:gd name="connsiteY2" fmla="*/ 0 h 1578852"/>
                <a:gd name="connsiteX3" fmla="*/ 2924110 w 2924110"/>
                <a:gd name="connsiteY3" fmla="*/ 1578405 h 1578852"/>
                <a:gd name="connsiteX4" fmla="*/ 0 w 2924110"/>
                <a:gd name="connsiteY4" fmla="*/ 1578852 h 1578852"/>
                <a:gd name="connsiteX0" fmla="*/ 0 w 3343210"/>
                <a:gd name="connsiteY0" fmla="*/ 1740810 h 1740810"/>
                <a:gd name="connsiteX1" fmla="*/ 1042950 w 3343210"/>
                <a:gd name="connsiteY1" fmla="*/ 4763 h 1740810"/>
                <a:gd name="connsiteX2" fmla="*/ 2601882 w 3343210"/>
                <a:gd name="connsiteY2" fmla="*/ 0 h 1740810"/>
                <a:gd name="connsiteX3" fmla="*/ 3343210 w 3343210"/>
                <a:gd name="connsiteY3" fmla="*/ 1578405 h 1740810"/>
                <a:gd name="connsiteX4" fmla="*/ 0 w 3343210"/>
                <a:gd name="connsiteY4" fmla="*/ 1740810 h 1740810"/>
                <a:gd name="connsiteX0" fmla="*/ 0 w 3244150"/>
                <a:gd name="connsiteY0" fmla="*/ 1740810 h 1824864"/>
                <a:gd name="connsiteX1" fmla="*/ 1042950 w 3244150"/>
                <a:gd name="connsiteY1" fmla="*/ 4763 h 1824864"/>
                <a:gd name="connsiteX2" fmla="*/ 2601882 w 3244150"/>
                <a:gd name="connsiteY2" fmla="*/ 0 h 1824864"/>
                <a:gd name="connsiteX3" fmla="*/ 3244150 w 3244150"/>
                <a:gd name="connsiteY3" fmla="*/ 1824864 h 1824864"/>
                <a:gd name="connsiteX4" fmla="*/ 0 w 3244150"/>
                <a:gd name="connsiteY4" fmla="*/ 1740810 h 1824864"/>
                <a:gd name="connsiteX0" fmla="*/ 0 w 3403177"/>
                <a:gd name="connsiteY0" fmla="*/ 1152987 h 1824864"/>
                <a:gd name="connsiteX1" fmla="*/ 1201977 w 3403177"/>
                <a:gd name="connsiteY1" fmla="*/ 4763 h 1824864"/>
                <a:gd name="connsiteX2" fmla="*/ 2760909 w 3403177"/>
                <a:gd name="connsiteY2" fmla="*/ 0 h 1824864"/>
                <a:gd name="connsiteX3" fmla="*/ 3403177 w 3403177"/>
                <a:gd name="connsiteY3" fmla="*/ 1824864 h 1824864"/>
                <a:gd name="connsiteX4" fmla="*/ 0 w 3403177"/>
                <a:gd name="connsiteY4" fmla="*/ 1152987 h 1824864"/>
                <a:gd name="connsiteX0" fmla="*/ 0 w 2760909"/>
                <a:gd name="connsiteY0" fmla="*/ 1152987 h 1273777"/>
                <a:gd name="connsiteX1" fmla="*/ 1201977 w 2760909"/>
                <a:gd name="connsiteY1" fmla="*/ 4763 h 1273777"/>
                <a:gd name="connsiteX2" fmla="*/ 2760909 w 2760909"/>
                <a:gd name="connsiteY2" fmla="*/ 0 h 1273777"/>
                <a:gd name="connsiteX3" fmla="*/ 2753820 w 2760909"/>
                <a:gd name="connsiteY3" fmla="*/ 1273777 h 1273777"/>
                <a:gd name="connsiteX4" fmla="*/ 0 w 2760909"/>
                <a:gd name="connsiteY4" fmla="*/ 1152987 h 1273777"/>
                <a:gd name="connsiteX0" fmla="*/ 0 w 2760909"/>
                <a:gd name="connsiteY0" fmla="*/ 1152987 h 1273777"/>
                <a:gd name="connsiteX1" fmla="*/ 1201977 w 2760909"/>
                <a:gd name="connsiteY1" fmla="*/ 4763 h 1273777"/>
                <a:gd name="connsiteX2" fmla="*/ 2760909 w 2760909"/>
                <a:gd name="connsiteY2" fmla="*/ 0 h 1273777"/>
                <a:gd name="connsiteX3" fmla="*/ 2753820 w 2760909"/>
                <a:gd name="connsiteY3" fmla="*/ 1273777 h 1273777"/>
                <a:gd name="connsiteX4" fmla="*/ 0 w 2760909"/>
                <a:gd name="connsiteY4" fmla="*/ 1152987 h 1273777"/>
                <a:gd name="connsiteX0" fmla="*/ 0 w 2776784"/>
                <a:gd name="connsiteY0" fmla="*/ 1152987 h 1273777"/>
                <a:gd name="connsiteX1" fmla="*/ 1201977 w 2776784"/>
                <a:gd name="connsiteY1" fmla="*/ 4763 h 1273777"/>
                <a:gd name="connsiteX2" fmla="*/ 2776784 w 2776784"/>
                <a:gd name="connsiteY2" fmla="*/ 0 h 1273777"/>
                <a:gd name="connsiteX3" fmla="*/ 2753820 w 2776784"/>
                <a:gd name="connsiteY3" fmla="*/ 1273777 h 1273777"/>
                <a:gd name="connsiteX4" fmla="*/ 0 w 2776784"/>
                <a:gd name="connsiteY4" fmla="*/ 1152987 h 1273777"/>
                <a:gd name="connsiteX0" fmla="*/ 0 w 2779959"/>
                <a:gd name="connsiteY0" fmla="*/ 1152987 h 1273777"/>
                <a:gd name="connsiteX1" fmla="*/ 1201977 w 2779959"/>
                <a:gd name="connsiteY1" fmla="*/ 4763 h 1273777"/>
                <a:gd name="connsiteX2" fmla="*/ 2779959 w 2779959"/>
                <a:gd name="connsiteY2" fmla="*/ 0 h 1273777"/>
                <a:gd name="connsiteX3" fmla="*/ 2753820 w 2779959"/>
                <a:gd name="connsiteY3" fmla="*/ 1273777 h 1273777"/>
                <a:gd name="connsiteX4" fmla="*/ 0 w 2779959"/>
                <a:gd name="connsiteY4" fmla="*/ 1152987 h 1273777"/>
                <a:gd name="connsiteX0" fmla="*/ 0 w 2882408"/>
                <a:gd name="connsiteY0" fmla="*/ 1152987 h 1185756"/>
                <a:gd name="connsiteX1" fmla="*/ 1201977 w 2882408"/>
                <a:gd name="connsiteY1" fmla="*/ 4763 h 1185756"/>
                <a:gd name="connsiteX2" fmla="*/ 2779959 w 2882408"/>
                <a:gd name="connsiteY2" fmla="*/ 0 h 1185756"/>
                <a:gd name="connsiteX3" fmla="*/ 2882408 w 2882408"/>
                <a:gd name="connsiteY3" fmla="*/ 1185756 h 1185756"/>
                <a:gd name="connsiteX4" fmla="*/ 0 w 2882408"/>
                <a:gd name="connsiteY4" fmla="*/ 1152987 h 1185756"/>
                <a:gd name="connsiteX0" fmla="*/ 0 w 2888759"/>
                <a:gd name="connsiteY0" fmla="*/ 1076705 h 1185756"/>
                <a:gd name="connsiteX1" fmla="*/ 1208328 w 2888759"/>
                <a:gd name="connsiteY1" fmla="*/ 4763 h 1185756"/>
                <a:gd name="connsiteX2" fmla="*/ 2786310 w 2888759"/>
                <a:gd name="connsiteY2" fmla="*/ 0 h 1185756"/>
                <a:gd name="connsiteX3" fmla="*/ 2888759 w 2888759"/>
                <a:gd name="connsiteY3" fmla="*/ 1185756 h 1185756"/>
                <a:gd name="connsiteX4" fmla="*/ 0 w 2888759"/>
                <a:gd name="connsiteY4" fmla="*/ 1076705 h 1185756"/>
                <a:gd name="connsiteX0" fmla="*/ 0 w 2812559"/>
                <a:gd name="connsiteY0" fmla="*/ 1076705 h 1303117"/>
                <a:gd name="connsiteX1" fmla="*/ 1208328 w 2812559"/>
                <a:gd name="connsiteY1" fmla="*/ 4763 h 1303117"/>
                <a:gd name="connsiteX2" fmla="*/ 2786310 w 2812559"/>
                <a:gd name="connsiteY2" fmla="*/ 0 h 1303117"/>
                <a:gd name="connsiteX3" fmla="*/ 2812559 w 2812559"/>
                <a:gd name="connsiteY3" fmla="*/ 1303117 h 1303117"/>
                <a:gd name="connsiteX4" fmla="*/ 0 w 2812559"/>
                <a:gd name="connsiteY4" fmla="*/ 1076705 h 1303117"/>
                <a:gd name="connsiteX0" fmla="*/ 0 w 2907809"/>
                <a:gd name="connsiteY0" fmla="*/ 1563754 h 1563754"/>
                <a:gd name="connsiteX1" fmla="*/ 1303578 w 2907809"/>
                <a:gd name="connsiteY1" fmla="*/ 4763 h 1563754"/>
                <a:gd name="connsiteX2" fmla="*/ 2881560 w 2907809"/>
                <a:gd name="connsiteY2" fmla="*/ 0 h 1563754"/>
                <a:gd name="connsiteX3" fmla="*/ 2907809 w 2907809"/>
                <a:gd name="connsiteY3" fmla="*/ 1303117 h 1563754"/>
                <a:gd name="connsiteX4" fmla="*/ 0 w 2907809"/>
                <a:gd name="connsiteY4" fmla="*/ 1563754 h 1563754"/>
                <a:gd name="connsiteX0" fmla="*/ 0 w 2888762"/>
                <a:gd name="connsiteY0" fmla="*/ 1563754 h 1608258"/>
                <a:gd name="connsiteX1" fmla="*/ 1303578 w 2888762"/>
                <a:gd name="connsiteY1" fmla="*/ 4763 h 1608258"/>
                <a:gd name="connsiteX2" fmla="*/ 2881560 w 2888762"/>
                <a:gd name="connsiteY2" fmla="*/ 0 h 1608258"/>
                <a:gd name="connsiteX3" fmla="*/ 2888762 w 2888762"/>
                <a:gd name="connsiteY3" fmla="*/ 1608258 h 1608258"/>
                <a:gd name="connsiteX4" fmla="*/ 0 w 2888762"/>
                <a:gd name="connsiteY4" fmla="*/ 1563754 h 1608258"/>
                <a:gd name="connsiteX0" fmla="*/ 0 w 2743982"/>
                <a:gd name="connsiteY0" fmla="*/ 1472215 h 1608258"/>
                <a:gd name="connsiteX1" fmla="*/ 1158798 w 2743982"/>
                <a:gd name="connsiteY1" fmla="*/ 4763 h 1608258"/>
                <a:gd name="connsiteX2" fmla="*/ 2736780 w 2743982"/>
                <a:gd name="connsiteY2" fmla="*/ 0 h 1608258"/>
                <a:gd name="connsiteX3" fmla="*/ 2743982 w 2743982"/>
                <a:gd name="connsiteY3" fmla="*/ 1608258 h 1608258"/>
                <a:gd name="connsiteX4" fmla="*/ 0 w 2743982"/>
                <a:gd name="connsiteY4" fmla="*/ 1472215 h 1608258"/>
                <a:gd name="connsiteX0" fmla="*/ 0 w 2812565"/>
                <a:gd name="connsiteY0" fmla="*/ 1472215 h 1615302"/>
                <a:gd name="connsiteX1" fmla="*/ 1158798 w 2812565"/>
                <a:gd name="connsiteY1" fmla="*/ 4763 h 1615302"/>
                <a:gd name="connsiteX2" fmla="*/ 2736780 w 2812565"/>
                <a:gd name="connsiteY2" fmla="*/ 0 h 1615302"/>
                <a:gd name="connsiteX3" fmla="*/ 2812565 w 2812565"/>
                <a:gd name="connsiteY3" fmla="*/ 1615302 h 1615302"/>
                <a:gd name="connsiteX4" fmla="*/ 0 w 2812565"/>
                <a:gd name="connsiteY4" fmla="*/ 1472215 h 1615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2565" h="1615302">
                  <a:moveTo>
                    <a:pt x="0" y="1472215"/>
                  </a:moveTo>
                  <a:lnTo>
                    <a:pt x="1158798" y="4763"/>
                  </a:lnTo>
                  <a:lnTo>
                    <a:pt x="2736780" y="0"/>
                  </a:lnTo>
                  <a:cubicBezTo>
                    <a:pt x="2739181" y="536086"/>
                    <a:pt x="2810164" y="1079216"/>
                    <a:pt x="2812565" y="1615302"/>
                  </a:cubicBezTo>
                  <a:lnTo>
                    <a:pt x="0" y="147221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>
                    <a:lumMod val="20000"/>
                    <a:lumOff val="80000"/>
                  </a:schemeClr>
                </a:gs>
                <a:gs pos="27000">
                  <a:srgbClr val="FFF3D0"/>
                </a:gs>
                <a:gs pos="100000">
                  <a:schemeClr val="bg1"/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/>
            </a:p>
          </p:txBody>
        </p:sp>
      </p:grpSp>
      <p:sp>
        <p:nvSpPr>
          <p:cNvPr id="47" name="矩形: 圓角 46">
            <a:extLst>
              <a:ext uri="{FF2B5EF4-FFF2-40B4-BE49-F238E27FC236}">
                <a16:creationId xmlns:a16="http://schemas.microsoft.com/office/drawing/2014/main" id="{F03C2514-8977-4A48-AEBB-49FA8EFDC57E}"/>
              </a:ext>
            </a:extLst>
          </p:cNvPr>
          <p:cNvSpPr/>
          <p:nvPr/>
        </p:nvSpPr>
        <p:spPr>
          <a:xfrm>
            <a:off x="5380383" y="3809051"/>
            <a:ext cx="6646280" cy="2844801"/>
          </a:xfrm>
          <a:prstGeom prst="roundRect">
            <a:avLst>
              <a:gd name="adj" fmla="val 13721"/>
            </a:avLst>
          </a:prstGeom>
          <a:ln w="57150">
            <a:solidFill>
              <a:srgbClr val="FFC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847E67B7-E039-45CC-886C-5BE4E72DC197}"/>
              </a:ext>
            </a:extLst>
          </p:cNvPr>
          <p:cNvSpPr/>
          <p:nvPr/>
        </p:nvSpPr>
        <p:spPr>
          <a:xfrm>
            <a:off x="5357032" y="1326478"/>
            <a:ext cx="5171268" cy="2351946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Laguerre-Gaussian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(LG) beam : Derivation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58D9020-2C4A-4842-9EF2-46682DD67D3B}"/>
                  </a:ext>
                </a:extLst>
              </p:cNvPr>
              <p:cNvSpPr/>
              <p:nvPr/>
            </p:nvSpPr>
            <p:spPr>
              <a:xfrm>
                <a:off x="1074291" y="2343736"/>
                <a:ext cx="2399393" cy="4061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00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zh-TW" altLang="en-US" sz="200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TW" sz="2000" i="1" smtClean="0">
                          <a:latin typeface="Cambria Math" panose="02040503050406030204" pitchFamily="18" charset="0"/>
                        </a:rPr>
                        <m:t>= 0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58D9020-2C4A-4842-9EF2-46682DD67D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291" y="2343736"/>
                <a:ext cx="2399393" cy="406137"/>
              </a:xfrm>
              <a:prstGeom prst="rect">
                <a:avLst/>
              </a:prstGeom>
              <a:blipFill>
                <a:blip r:embed="rId2"/>
                <a:stretch>
                  <a:fillRect b="-89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F726B3D-C5EA-4F60-9C4D-212526F0C13E}"/>
                  </a:ext>
                </a:extLst>
              </p:cNvPr>
              <p:cNvSpPr/>
              <p:nvPr/>
            </p:nvSpPr>
            <p:spPr>
              <a:xfrm>
                <a:off x="209318" y="5831474"/>
                <a:ext cx="3163043" cy="5529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𝑖</m:t>
                        </m:r>
                        <m:sSubSup>
                          <m:sSub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bSup>
                        <m:f>
                          <m:f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</m:e>
                    </m:d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altLang="zh-TW" sz="2000" i="1" smtClean="0">
                        <a:latin typeface="Cambria Math" panose="02040503050406030204" pitchFamily="18" charset="0"/>
                      </a:rPr>
                      <m:t> 0</m:t>
                    </m:r>
                  </m:oMath>
                </a14:m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F726B3D-C5EA-4F60-9C4D-212526F0C1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318" y="5831474"/>
                <a:ext cx="3163043" cy="5529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B486E36-28C5-4F23-AFE2-1F534A15C9DD}"/>
                  </a:ext>
                </a:extLst>
              </p:cNvPr>
              <p:cNvSpPr/>
              <p:nvPr/>
            </p:nvSpPr>
            <p:spPr>
              <a:xfrm>
                <a:off x="1074291" y="4698729"/>
                <a:ext cx="2946399" cy="5789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d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≪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d>
                      </m:e>
                    </m:d>
                  </m:oMath>
                </a14:m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B486E36-28C5-4F23-AFE2-1F534A15C9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291" y="4698729"/>
                <a:ext cx="2946399" cy="5789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11A73260-E74B-461A-9D7F-F42C525E9176}"/>
              </a:ext>
            </a:extLst>
          </p:cNvPr>
          <p:cNvSpPr/>
          <p:nvPr/>
        </p:nvSpPr>
        <p:spPr>
          <a:xfrm>
            <a:off x="209318" y="5458360"/>
            <a:ext cx="31630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paraxial Helmholtz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</a:t>
            </a:r>
            <a:endParaRPr lang="zh-TW" altLang="en-US" sz="20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6369130-8182-495D-A6DC-A29FAC282A54}"/>
              </a:ext>
            </a:extLst>
          </p:cNvPr>
          <p:cNvSpPr/>
          <p:nvPr/>
        </p:nvSpPr>
        <p:spPr>
          <a:xfrm>
            <a:off x="844482" y="1970621"/>
            <a:ext cx="29354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scalar Helmholtz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</a:t>
            </a:r>
            <a:endParaRPr lang="zh-TW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832905F5-D97F-423C-B774-9D41176262C3}"/>
                  </a:ext>
                </a:extLst>
              </p:cNvPr>
              <p:cNvSpPr/>
              <p:nvPr/>
            </p:nvSpPr>
            <p:spPr>
              <a:xfrm>
                <a:off x="1074291" y="3176069"/>
                <a:ext cx="4063767" cy="5800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+ </m:t>
                        </m:r>
                        <m:f>
                          <m:f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sSubSup>
                          <m:sSub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bSup>
                        <m:f>
                          <m:f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</m:e>
                    </m:d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  <m:r>
                      <a:rPr lang="en-US" altLang="zh-TW" sz="2000" i="1" smtClean="0">
                        <a:latin typeface="Cambria Math" panose="02040503050406030204" pitchFamily="18" charset="0"/>
                      </a:rPr>
                      <m:t>= 0</m:t>
                    </m:r>
                  </m:oMath>
                </a14:m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832905F5-D97F-423C-B774-9D41176262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291" y="3176069"/>
                <a:ext cx="4063767" cy="5800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5659DFB7-24F7-49E7-9525-3402968A239B}"/>
              </a:ext>
            </a:extLst>
          </p:cNvPr>
          <p:cNvCxnSpPr>
            <a:cxnSpLocks/>
          </p:cNvCxnSpPr>
          <p:nvPr/>
        </p:nvCxnSpPr>
        <p:spPr>
          <a:xfrm>
            <a:off x="766853" y="2017486"/>
            <a:ext cx="0" cy="3367314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內容版面配置區 2">
            <a:extLst>
              <a:ext uri="{FF2B5EF4-FFF2-40B4-BE49-F238E27FC236}">
                <a16:creationId xmlns:a16="http://schemas.microsoft.com/office/drawing/2014/main" id="{0B13C1D9-CDE7-41BE-AD8C-6F4D0E41AEA4}"/>
              </a:ext>
            </a:extLst>
          </p:cNvPr>
          <p:cNvSpPr txBox="1">
            <a:spLocks/>
          </p:cNvSpPr>
          <p:nvPr/>
        </p:nvSpPr>
        <p:spPr>
          <a:xfrm>
            <a:off x="844481" y="2722878"/>
            <a:ext cx="2929233" cy="480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paraxial approximation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4697F6B-5EB0-403A-810C-422B401D8463}"/>
              </a:ext>
            </a:extLst>
          </p:cNvPr>
          <p:cNvSpPr/>
          <p:nvPr/>
        </p:nvSpPr>
        <p:spPr>
          <a:xfrm>
            <a:off x="209318" y="1597506"/>
            <a:ext cx="21403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Maxwell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DF091636-A308-4B62-B200-4CD68CFF3B30}"/>
                  </a:ext>
                </a:extLst>
              </p:cNvPr>
              <p:cNvSpPr/>
              <p:nvPr/>
            </p:nvSpPr>
            <p:spPr>
              <a:xfrm>
                <a:off x="1074291" y="3939098"/>
                <a:ext cx="3809361" cy="5789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d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≪</m:t>
                    </m:r>
                    <m:sSubSup>
                      <m:sSub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  <m:d>
                      <m:dPr>
                        <m:begChr m:val="|"/>
                        <m:endChr m:val="|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d>
                      </m:e>
                    </m:d>
                  </m:oMath>
                </a14:m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DF091636-A308-4B62-B200-4CD68CFF3B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291" y="3939098"/>
                <a:ext cx="3809361" cy="57894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矩形 25">
            <a:extLst>
              <a:ext uri="{FF2B5EF4-FFF2-40B4-BE49-F238E27FC236}">
                <a16:creationId xmlns:a16="http://schemas.microsoft.com/office/drawing/2014/main" id="{7D470F9A-C972-4278-AEDD-9C1C747619F5}"/>
              </a:ext>
            </a:extLst>
          </p:cNvPr>
          <p:cNvSpPr/>
          <p:nvPr/>
        </p:nvSpPr>
        <p:spPr>
          <a:xfrm>
            <a:off x="4438018" y="4333848"/>
            <a:ext cx="11363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888D4A24-8A04-41DE-9C19-EE882D56FED9}"/>
                  </a:ext>
                </a:extLst>
              </p:cNvPr>
              <p:cNvSpPr/>
              <p:nvPr/>
            </p:nvSpPr>
            <p:spPr>
              <a:xfrm>
                <a:off x="5469812" y="4361217"/>
                <a:ext cx="2917402" cy="4147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𝛁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TW" sz="20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sz="2000" b="1" i="1" smtClean="0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0">
                              <a:latin typeface="Cambria Math" panose="02040503050406030204" pitchFamily="18" charset="0"/>
                            </a:rPr>
                            <m:t>𝛁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∥</m:t>
                          </m:r>
                        </m:sub>
                      </m:sSub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888D4A24-8A04-41DE-9C19-EE882D56FE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9812" y="4361217"/>
                <a:ext cx="2917402" cy="414729"/>
              </a:xfrm>
              <a:prstGeom prst="rect">
                <a:avLst/>
              </a:prstGeom>
              <a:blipFill>
                <a:blip r:embed="rId7"/>
                <a:stretch>
                  <a:fillRect t="-4412" b="-73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40134526-F49B-4A6D-803D-D92DF04DCF41}"/>
                  </a:ext>
                </a:extLst>
              </p:cNvPr>
              <p:cNvSpPr/>
              <p:nvPr/>
            </p:nvSpPr>
            <p:spPr>
              <a:xfrm>
                <a:off x="5469812" y="6022290"/>
                <a:ext cx="5267852" cy="5797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∥</m:t>
                        </m:r>
                      </m:sub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  <m:r>
                      <a:rPr lang="en-US" altLang="zh-TW" sz="20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f>
                          <m:f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f>
                          <m:f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  <m:r>
                      <a:rPr lang="en-US" altLang="zh-TW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sz="2000" dirty="0"/>
                  <a:t>.</a:t>
                </a:r>
                <a:r>
                  <a:rPr lang="zh-TW" altLang="en-US" sz="2000" dirty="0"/>
                  <a:t> </a:t>
                </a:r>
              </a:p>
            </p:txBody>
          </p:sp>
        </mc:Choice>
        <mc:Fallback xmlns="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40134526-F49B-4A6D-803D-D92DF04DCF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9812" y="6022290"/>
                <a:ext cx="5267852" cy="579710"/>
              </a:xfrm>
              <a:prstGeom prst="rect">
                <a:avLst/>
              </a:prstGeom>
              <a:blipFill>
                <a:blip r:embed="rId8"/>
                <a:stretch>
                  <a:fillRect b="-10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24</a:t>
            </a:fld>
            <a:endParaRPr lang="zh-TW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060E675-1E0F-47F1-907F-126690C9EBA5}"/>
              </a:ext>
            </a:extLst>
          </p:cNvPr>
          <p:cNvSpPr/>
          <p:nvPr/>
        </p:nvSpPr>
        <p:spPr>
          <a:xfrm>
            <a:off x="5469812" y="5533338"/>
            <a:ext cx="50465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eventually constraint the transverse component</a:t>
            </a:r>
            <a:endParaRPr lang="zh-TW" altLang="en-US" sz="2000" dirty="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01315F61-F096-4DAE-98AD-F17E18651ADB}"/>
              </a:ext>
            </a:extLst>
          </p:cNvPr>
          <p:cNvCxnSpPr>
            <a:cxnSpLocks/>
          </p:cNvCxnSpPr>
          <p:nvPr/>
        </p:nvCxnSpPr>
        <p:spPr>
          <a:xfrm>
            <a:off x="3791369" y="5056976"/>
            <a:ext cx="1695031" cy="1171546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06BF3344-9F11-4050-AAF7-3E94CD4BE8A3}"/>
              </a:ext>
            </a:extLst>
          </p:cNvPr>
          <p:cNvSpPr/>
          <p:nvPr/>
        </p:nvSpPr>
        <p:spPr>
          <a:xfrm>
            <a:off x="4406997" y="5437871"/>
            <a:ext cx="7111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Fail</a:t>
            </a:r>
            <a:endParaRPr lang="zh-TW" altLang="en-US" sz="24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內容版面配置區 2">
                <a:extLst>
                  <a:ext uri="{FF2B5EF4-FFF2-40B4-BE49-F238E27FC236}">
                    <a16:creationId xmlns:a16="http://schemas.microsoft.com/office/drawing/2014/main" id="{B9190589-0DF9-45CF-BAF5-18E9ED5B20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60782" y="2074945"/>
                <a:ext cx="2728686" cy="48018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en-US" altLang="zh-TW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內容版面配置區 2">
                <a:extLst>
                  <a:ext uri="{FF2B5EF4-FFF2-40B4-BE49-F238E27FC236}">
                    <a16:creationId xmlns:a16="http://schemas.microsoft.com/office/drawing/2014/main" id="{B9190589-0DF9-45CF-BAF5-18E9ED5B2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782" y="2074945"/>
                <a:ext cx="2728686" cy="4801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內容版面配置區 2">
                <a:extLst>
                  <a:ext uri="{FF2B5EF4-FFF2-40B4-BE49-F238E27FC236}">
                    <a16:creationId xmlns:a16="http://schemas.microsoft.com/office/drawing/2014/main" id="{6F4B933F-8045-466B-920E-31A00E1CDB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61508" y="2608936"/>
                <a:ext cx="2727235" cy="48018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altLang="zh-TW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ave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sub>
                        </m:sSub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≈</m:t>
                        </m:r>
                        <m:r>
                          <a:rPr lang="en-US" altLang="zh-TW" sz="2000" b="1" i="1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TW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內容版面配置區 2">
                <a:extLst>
                  <a:ext uri="{FF2B5EF4-FFF2-40B4-BE49-F238E27FC236}">
                    <a16:creationId xmlns:a16="http://schemas.microsoft.com/office/drawing/2014/main" id="{6F4B933F-8045-466B-920E-31A00E1CD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1508" y="2608936"/>
                <a:ext cx="2727235" cy="480186"/>
              </a:xfrm>
              <a:prstGeom prst="rect">
                <a:avLst/>
              </a:prstGeom>
              <a:blipFill>
                <a:blip r:embed="rId10"/>
                <a:stretch>
                  <a:fillRect b="-25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內容版面配置區 2">
            <a:extLst>
              <a:ext uri="{FF2B5EF4-FFF2-40B4-BE49-F238E27FC236}">
                <a16:creationId xmlns:a16="http://schemas.microsoft.com/office/drawing/2014/main" id="{B0BCB00E-25A9-4557-9C7E-A1DFC55F11FA}"/>
              </a:ext>
            </a:extLst>
          </p:cNvPr>
          <p:cNvSpPr txBox="1">
            <a:spLocks/>
          </p:cNvSpPr>
          <p:nvPr/>
        </p:nvSpPr>
        <p:spPr>
          <a:xfrm>
            <a:off x="4438018" y="2639808"/>
            <a:ext cx="1159026" cy="480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Ansatz 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86EC326F-B691-46D4-BFD3-8C9AFD46E892}"/>
              </a:ext>
            </a:extLst>
          </p:cNvPr>
          <p:cNvSpPr/>
          <p:nvPr/>
        </p:nvSpPr>
        <p:spPr>
          <a:xfrm>
            <a:off x="5474456" y="3872266"/>
            <a:ext cx="293221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Coulomb gauge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7" name="圖片 56">
            <a:extLst>
              <a:ext uri="{FF2B5EF4-FFF2-40B4-BE49-F238E27FC236}">
                <a16:creationId xmlns:a16="http://schemas.microsoft.com/office/drawing/2014/main" id="{FBC69A0F-61F9-4122-9FCD-F1694388DCE3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19099" y="1484951"/>
            <a:ext cx="2612016" cy="2086427"/>
          </a:xfrm>
          <a:prstGeom prst="rect">
            <a:avLst/>
          </a:prstGeom>
        </p:spPr>
      </p:pic>
      <p:grpSp>
        <p:nvGrpSpPr>
          <p:cNvPr id="60" name="群組 59">
            <a:extLst>
              <a:ext uri="{FF2B5EF4-FFF2-40B4-BE49-F238E27FC236}">
                <a16:creationId xmlns:a16="http://schemas.microsoft.com/office/drawing/2014/main" id="{6D356F7B-9627-44E7-9D37-9B998D28AAD6}"/>
              </a:ext>
            </a:extLst>
          </p:cNvPr>
          <p:cNvGrpSpPr/>
          <p:nvPr/>
        </p:nvGrpSpPr>
        <p:grpSpPr>
          <a:xfrm>
            <a:off x="6539419" y="4864787"/>
            <a:ext cx="5386904" cy="860023"/>
            <a:chOff x="6327385" y="4814935"/>
            <a:chExt cx="5386904" cy="8600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DB73E709-6CD1-4CB0-8A66-80162ED8B780}"/>
                    </a:ext>
                  </a:extLst>
                </p:cNvPr>
                <p:cNvSpPr/>
                <p:nvPr/>
              </p:nvSpPr>
              <p:spPr>
                <a:xfrm>
                  <a:off x="6327385" y="4814935"/>
                  <a:ext cx="3134961" cy="5797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𝜎</m:t>
                          </m:r>
                          <m:f>
                            <m:f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r>
                    <a:rPr lang="en-US" altLang="zh-TW" sz="2000" dirty="0"/>
                    <a:t>,</a:t>
                  </a:r>
                  <a:r>
                    <a:rPr lang="zh-TW" altLang="en-U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DB73E709-6CD1-4CB0-8A66-80162ED8B7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7385" y="4814935"/>
                  <a:ext cx="3134961" cy="579710"/>
                </a:xfrm>
                <a:prstGeom prst="rect">
                  <a:avLst/>
                </a:prstGeom>
                <a:blipFill>
                  <a:blip r:embed="rId12"/>
                  <a:stretch>
                    <a:fillRect b="-105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66C545FC-8818-435D-B8E4-EBA3B6F5DDE8}"/>
                    </a:ext>
                  </a:extLst>
                </p:cNvPr>
                <p:cNvSpPr/>
                <p:nvPr/>
              </p:nvSpPr>
              <p:spPr>
                <a:xfrm>
                  <a:off x="9541407" y="4890220"/>
                  <a:ext cx="2100863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TW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for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sz="20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𝜎</m:t>
                      </m:r>
                      <m:acc>
                        <m:accPr>
                          <m:chr m:val="̂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a14:m>
                  <a:endPara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66C545FC-8818-435D-B8E4-EBA3B6F5DDE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41407" y="4890220"/>
                  <a:ext cx="2100863" cy="400110"/>
                </a:xfrm>
                <a:prstGeom prst="rect">
                  <a:avLst/>
                </a:prstGeom>
                <a:blipFill>
                  <a:blip r:embed="rId13"/>
                  <a:stretch>
                    <a:fillRect l="-3188" t="-7576" r="-15072" b="-2575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矩形 58">
                  <a:extLst>
                    <a:ext uri="{FF2B5EF4-FFF2-40B4-BE49-F238E27FC236}">
                      <a16:creationId xmlns:a16="http://schemas.microsoft.com/office/drawing/2014/main" id="{7B3D6EA5-4F23-4B0A-975D-B0F3A6DAD16F}"/>
                    </a:ext>
                  </a:extLst>
                </p:cNvPr>
                <p:cNvSpPr/>
                <p:nvPr/>
              </p:nvSpPr>
              <p:spPr>
                <a:xfrm>
                  <a:off x="10528931" y="5274848"/>
                  <a:ext cx="1185358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200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=±1</m:t>
                        </m:r>
                      </m:oMath>
                    </m:oMathPara>
                  </a14:m>
                  <a:endPara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9" name="矩形 58">
                  <a:extLst>
                    <a:ext uri="{FF2B5EF4-FFF2-40B4-BE49-F238E27FC236}">
                      <a16:creationId xmlns:a16="http://schemas.microsoft.com/office/drawing/2014/main" id="{7B3D6EA5-4F23-4B0A-975D-B0F3A6DAD16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28931" y="5274848"/>
                  <a:ext cx="1185358" cy="400110"/>
                </a:xfrm>
                <a:prstGeom prst="rect">
                  <a:avLst/>
                </a:prstGeom>
                <a:blipFill>
                  <a:blip r:embed="rId14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內容版面配置區 2">
                <a:extLst>
                  <a:ext uri="{FF2B5EF4-FFF2-40B4-BE49-F238E27FC236}">
                    <a16:creationId xmlns:a16="http://schemas.microsoft.com/office/drawing/2014/main" id="{F6D5C497-46DC-4832-A767-99EBB13E396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704" y="721190"/>
                <a:ext cx="12191999" cy="4220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LG beam is solved as vector potential </a:t>
                </a:r>
                <a14:m>
                  <m:oMath xmlns:m="http://schemas.openxmlformats.org/officeDocument/2006/math">
                    <m:r>
                      <a:rPr lang="en-US" altLang="zh-TW" sz="2000" b="1" i="1">
                        <a:latin typeface="Cambria Math" panose="02040503050406030204" pitchFamily="18" charset="0"/>
                      </a:rPr>
                      <m:t>𝑨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from paraxial Helmholtz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equation within 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Lorentz gauge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61" name="內容版面配置區 2">
                <a:extLst>
                  <a:ext uri="{FF2B5EF4-FFF2-40B4-BE49-F238E27FC236}">
                    <a16:creationId xmlns:a16="http://schemas.microsoft.com/office/drawing/2014/main" id="{F6D5C497-46DC-4832-A767-99EBB13E3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04" y="721190"/>
                <a:ext cx="12191999" cy="422075"/>
              </a:xfrm>
              <a:prstGeom prst="rect">
                <a:avLst/>
              </a:prstGeom>
              <a:blipFill>
                <a:blip r:embed="rId15"/>
                <a:stretch>
                  <a:fillRect l="-500" t="-24286" b="-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內容版面配置區 2">
            <a:extLst>
              <a:ext uri="{FF2B5EF4-FFF2-40B4-BE49-F238E27FC236}">
                <a16:creationId xmlns:a16="http://schemas.microsoft.com/office/drawing/2014/main" id="{D3B38635-1BE7-4AFD-8E91-312BC6F85A0D}"/>
              </a:ext>
            </a:extLst>
          </p:cNvPr>
          <p:cNvSpPr txBox="1">
            <a:spLocks/>
          </p:cNvSpPr>
          <p:nvPr/>
        </p:nvSpPr>
        <p:spPr>
          <a:xfrm>
            <a:off x="5752701" y="1604789"/>
            <a:ext cx="1744849" cy="480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Paraxial w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</a:t>
            </a:r>
          </a:p>
        </p:txBody>
      </p:sp>
    </p:spTree>
    <p:extLst>
      <p:ext uri="{BB962C8B-B14F-4D97-AF65-F5344CB8AC3E}">
        <p14:creationId xmlns:p14="http://schemas.microsoft.com/office/powerpoint/2010/main" val="18978765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Laguerre-Gaussian (LG) beam : Distribution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25</a:t>
            </a:fld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823DCD-5681-4C39-923D-87B2C2C25C3B}"/>
              </a:ext>
            </a:extLst>
          </p:cNvPr>
          <p:cNvSpPr/>
          <p:nvPr/>
        </p:nvSpPr>
        <p:spPr>
          <a:xfrm>
            <a:off x="75704" y="1108452"/>
            <a:ext cx="47591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long Rayleigh range approximation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內容版面配置區 2">
                <a:extLst>
                  <a:ext uri="{FF2B5EF4-FFF2-40B4-BE49-F238E27FC236}">
                    <a16:creationId xmlns:a16="http://schemas.microsoft.com/office/drawing/2014/main" id="{81E73D33-20C3-4D9C-9377-A26D9F81AA5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704" y="721190"/>
                <a:ext cx="12191999" cy="71349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LG beam is solved as vector potential </a:t>
                </a:r>
                <a14:m>
                  <m:oMath xmlns:m="http://schemas.openxmlformats.org/officeDocument/2006/math">
                    <m:r>
                      <a:rPr lang="en-US" altLang="zh-TW" sz="2000" b="1" i="1">
                        <a:latin typeface="Cambria Math" panose="02040503050406030204" pitchFamily="18" charset="0"/>
                      </a:rPr>
                      <m:t>𝑨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from paraxial Helmholtz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equation within Lorentz gauge.</a:t>
                </a:r>
              </a:p>
            </p:txBody>
          </p:sp>
        </mc:Choice>
        <mc:Fallback xmlns="">
          <p:sp>
            <p:nvSpPr>
              <p:cNvPr id="67" name="內容版面配置區 2">
                <a:extLst>
                  <a:ext uri="{FF2B5EF4-FFF2-40B4-BE49-F238E27FC236}">
                    <a16:creationId xmlns:a16="http://schemas.microsoft.com/office/drawing/2014/main" id="{81E73D33-20C3-4D9C-9377-A26D9F81A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04" y="721190"/>
                <a:ext cx="12191999" cy="713498"/>
              </a:xfrm>
              <a:prstGeom prst="rect">
                <a:avLst/>
              </a:prstGeom>
              <a:blipFill>
                <a:blip r:embed="rId2"/>
                <a:stretch>
                  <a:fillRect l="-500" t="-145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矩形: 圓角 67">
            <a:extLst>
              <a:ext uri="{FF2B5EF4-FFF2-40B4-BE49-F238E27FC236}">
                <a16:creationId xmlns:a16="http://schemas.microsoft.com/office/drawing/2014/main" id="{61DDD4A6-BD9C-4B47-937E-89DD5991519A}"/>
              </a:ext>
            </a:extLst>
          </p:cNvPr>
          <p:cNvSpPr/>
          <p:nvPr/>
        </p:nvSpPr>
        <p:spPr>
          <a:xfrm>
            <a:off x="145774" y="1553028"/>
            <a:ext cx="5420140" cy="1988458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11">
                <a:extLst>
                  <a:ext uri="{FF2B5EF4-FFF2-40B4-BE49-F238E27FC236}">
                    <a16:creationId xmlns:a16="http://schemas.microsoft.com/office/drawing/2014/main" id="{819326A7-C075-40C2-A5C5-86E37288AD9D}"/>
                  </a:ext>
                </a:extLst>
              </p:cNvPr>
              <p:cNvSpPr txBox="1"/>
              <p:nvPr/>
            </p:nvSpPr>
            <p:spPr>
              <a:xfrm>
                <a:off x="123374" y="2443007"/>
                <a:ext cx="5495548" cy="9562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US" altLang="zh-TW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9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LG</m:t>
                          </m:r>
                        </m:sup>
                      </m:sSubSup>
                      <m:rad>
                        <m:radPr>
                          <m:degHide m:val="on"/>
                          <m:ctrlPr>
                            <a:rPr lang="en-US" altLang="zh-TW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rad>
                      <m:sSubSup>
                        <m:sSub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sup>
                      </m:sSup>
                    </m:oMath>
                  </m:oMathPara>
                </a14:m>
                <a:endParaRPr lang="en-US" sz="1900" dirty="0"/>
              </a:p>
            </p:txBody>
          </p:sp>
        </mc:Choice>
        <mc:Fallback xmlns="">
          <p:sp>
            <p:nvSpPr>
              <p:cNvPr id="70" name="TextBox 11">
                <a:extLst>
                  <a:ext uri="{FF2B5EF4-FFF2-40B4-BE49-F238E27FC236}">
                    <a16:creationId xmlns:a16="http://schemas.microsoft.com/office/drawing/2014/main" id="{819326A7-C075-40C2-A5C5-86E37288A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74" y="2443007"/>
                <a:ext cx="5495548" cy="9562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11">
                <a:extLst>
                  <a:ext uri="{FF2B5EF4-FFF2-40B4-BE49-F238E27FC236}">
                    <a16:creationId xmlns:a16="http://schemas.microsoft.com/office/drawing/2014/main" id="{52CA15C8-10FC-403D-89FE-0C42C3467BD8}"/>
                  </a:ext>
                </a:extLst>
              </p:cNvPr>
              <p:cNvSpPr txBox="1"/>
              <p:nvPr/>
            </p:nvSpPr>
            <p:spPr>
              <a:xfrm>
                <a:off x="123374" y="1631153"/>
                <a:ext cx="5324926" cy="452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9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sz="19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1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TW" sz="1900" b="1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TW" sz="1900" b="1" i="1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TW" sz="19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sSup>
                        <m:sSupPr>
                          <m:ctrlPr>
                            <a:rPr lang="en-US" altLang="zh-TW" sz="19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1" name="TextBox 11">
                <a:extLst>
                  <a:ext uri="{FF2B5EF4-FFF2-40B4-BE49-F238E27FC236}">
                    <a16:creationId xmlns:a16="http://schemas.microsoft.com/office/drawing/2014/main" id="{52CA15C8-10FC-403D-89FE-0C42C3467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74" y="1631153"/>
                <a:ext cx="5324926" cy="452303"/>
              </a:xfrm>
              <a:prstGeom prst="rect">
                <a:avLst/>
              </a:prstGeom>
              <a:blipFill>
                <a:blip r:embed="rId5"/>
                <a:stretch>
                  <a:fillRect t="-2703" b="-13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7">
                <a:extLst>
                  <a:ext uri="{FF2B5EF4-FFF2-40B4-BE49-F238E27FC236}">
                    <a16:creationId xmlns:a16="http://schemas.microsoft.com/office/drawing/2014/main" id="{533DF55B-1F33-4721-84EC-DCB3E613DAD4}"/>
                  </a:ext>
                </a:extLst>
              </p:cNvPr>
              <p:cNvSpPr txBox="1"/>
              <p:nvPr/>
            </p:nvSpPr>
            <p:spPr>
              <a:xfrm>
                <a:off x="5927641" y="4920330"/>
                <a:ext cx="6225049" cy="23243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Beam waist 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</m:oMath>
                </a14:m>
                <a:endParaRPr lang="en-US" altLang="zh-TW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Rayleigh range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altLang="zh-TW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Sup>
                      <m:sSubSup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altLang="zh-TW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Radial mode index: integer </a:t>
                </a:r>
                <a14:m>
                  <m:oMath xmlns:m="http://schemas.openxmlformats.org/officeDocument/2006/math">
                    <m:r>
                      <a:rPr lang="en-US" altLang="zh-TW" sz="16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sz="1600" i="1" dirty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altLang="zh-TW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Constant amplitude 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sz="1600">
                            <a:latin typeface="Cambria Math" panose="02040503050406030204" pitchFamily="18" charset="0"/>
                          </a:rPr>
                          <m:t>LG</m:t>
                        </m:r>
                      </m:sup>
                    </m:sSubSup>
                  </m:oMath>
                </a14:m>
                <a:endParaRPr lang="en-US" altLang="zh-TW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Generalized Laguerre polynomial : </a:t>
                </a:r>
              </a:p>
              <a:p>
                <a:r>
                  <a:rPr lang="zh-TW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d>
                          <m:dPr>
                            <m:begChr m:val="|"/>
                            <m:endChr m:val="|"/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bSup>
                    <m:d>
                      <m:d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sz="1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  <m:e>
                            <m:d>
                              <m:dPr>
                                <m:ctrlPr>
                                  <a:rPr lang="en-US" altLang="zh-TW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6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nary>
                      </m:e>
                      <m:sup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f>
                      <m:f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600" i="1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d>
                          <m:dPr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600" i="1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zh-TW" altLang="en-US" sz="1600" dirty="0"/>
                  <a:t> </a:t>
                </a:r>
                <a:endParaRPr lang="en-US" altLang="zh-TW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TW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TW" sz="1600" dirty="0"/>
              </a:p>
            </p:txBody>
          </p:sp>
        </mc:Choice>
        <mc:Fallback xmlns="">
          <p:sp>
            <p:nvSpPr>
              <p:cNvPr id="20" name="TextBox 17">
                <a:extLst>
                  <a:ext uri="{FF2B5EF4-FFF2-40B4-BE49-F238E27FC236}">
                    <a16:creationId xmlns:a16="http://schemas.microsoft.com/office/drawing/2014/main" id="{533DF55B-1F33-4721-84EC-DCB3E613DA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7641" y="4920330"/>
                <a:ext cx="6225049" cy="2324354"/>
              </a:xfrm>
              <a:prstGeom prst="rect">
                <a:avLst/>
              </a:prstGeom>
              <a:blipFill>
                <a:blip r:embed="rId6"/>
                <a:stretch>
                  <a:fillRect l="-391" t="-7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7">
                <a:extLst>
                  <a:ext uri="{FF2B5EF4-FFF2-40B4-BE49-F238E27FC236}">
                    <a16:creationId xmlns:a16="http://schemas.microsoft.com/office/drawing/2014/main" id="{5368CA13-ECF4-4613-9270-6CA7F9672DA5}"/>
                  </a:ext>
                </a:extLst>
              </p:cNvPr>
              <p:cNvSpPr txBox="1"/>
              <p:nvPr/>
            </p:nvSpPr>
            <p:spPr>
              <a:xfrm>
                <a:off x="5927641" y="1509583"/>
                <a:ext cx="6225049" cy="31085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2800" dirty="0"/>
                  <a:t>Polarization unit vector :</a:t>
                </a:r>
              </a:p>
              <a:p>
                <a:pPr algn="ctr"/>
                <a:r>
                  <a:rPr lang="en-US" altLang="zh-TW" sz="2800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TW" sz="28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en-US" sz="2800" b="1" i="1">
                                <a:latin typeface="Cambria Math" panose="02040503050406030204" pitchFamily="18" charset="0"/>
                              </a:rPr>
                              <m:t>𝜺</m:t>
                            </m:r>
                          </m:e>
                        </m:acc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𝜎</m:t>
                        </m:r>
                      </m:sub>
                    </m:sSub>
                    <m:r>
                      <a:rPr lang="en-US" altLang="zh-TW" sz="28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altLang="zh-TW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8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2800" i="1">
                        <a:latin typeface="Cambria Math" panose="02040503050406030204" pitchFamily="18" charset="0"/>
                      </a:rPr>
                      <m:t>𝜎</m:t>
                    </m:r>
                    <m:acc>
                      <m:accPr>
                        <m:chr m:val="̂"/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8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  <m:r>
                      <a:rPr lang="en-US" altLang="zh-TW" sz="28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TW" altLang="en-US" sz="28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sz="28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8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TW" sz="2800" i="1">
                        <a:latin typeface="Cambria Math" panose="02040503050406030204" pitchFamily="18" charset="0"/>
                      </a:rPr>
                      <m:t>=±1</m:t>
                    </m:r>
                  </m:oMath>
                </a14:m>
                <a:endParaRPr lang="en-US" altLang="zh-TW" sz="2800" dirty="0"/>
              </a:p>
              <a:p>
                <a:pPr algn="ctr"/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(LG beam carries SAM of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TW" sz="2800" i="1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ℏ</m:t>
                    </m:r>
                  </m:oMath>
                </a14:m>
                <a:r>
                  <a:rPr lang="en-US" altLang="zh-TW" sz="2800" dirty="0"/>
                  <a:t>)</a:t>
                </a:r>
              </a:p>
              <a:p>
                <a:pPr algn="ctr"/>
                <a:endParaRPr lang="en-US" altLang="zh-TW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Topological charge: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 dirty="0">
                          <a:latin typeface="Cambria Math" panose="02040503050406030204" pitchFamily="18" charset="0"/>
                        </a:rPr>
                        <m:t>ℓ</m:t>
                      </m:r>
                      <m:r>
                        <a:rPr lang="en-US" altLang="zh-TW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altLang="zh-TW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zh-TW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(LG beam carries OAM of </a:t>
                </a:r>
                <a14:m>
                  <m:oMath xmlns:m="http://schemas.openxmlformats.org/officeDocument/2006/math">
                    <m:r>
                      <a:rPr lang="en-US" altLang="zh-TW" sz="2800" i="1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ℓℏ</m:t>
                    </m:r>
                  </m:oMath>
                </a14:m>
                <a:r>
                  <a:rPr lang="en-US" altLang="zh-TW" sz="2800" dirty="0"/>
                  <a:t>)</a:t>
                </a:r>
              </a:p>
            </p:txBody>
          </p:sp>
        </mc:Choice>
        <mc:Fallback xmlns="">
          <p:sp>
            <p:nvSpPr>
              <p:cNvPr id="16" name="TextBox 17">
                <a:extLst>
                  <a:ext uri="{FF2B5EF4-FFF2-40B4-BE49-F238E27FC236}">
                    <a16:creationId xmlns:a16="http://schemas.microsoft.com/office/drawing/2014/main" id="{5368CA13-ECF4-4613-9270-6CA7F9672D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7641" y="1509583"/>
                <a:ext cx="6225049" cy="3108543"/>
              </a:xfrm>
              <a:prstGeom prst="rect">
                <a:avLst/>
              </a:prstGeom>
              <a:blipFill>
                <a:blip r:embed="rId7"/>
                <a:stretch>
                  <a:fillRect l="-1761" t="-1961" b="-47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圖片 16">
            <a:extLst>
              <a:ext uri="{FF2B5EF4-FFF2-40B4-BE49-F238E27FC236}">
                <a16:creationId xmlns:a16="http://schemas.microsoft.com/office/drawing/2014/main" id="{7BDB192D-96E0-4D19-9302-47B4F64EADC7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541" y="3581635"/>
            <a:ext cx="5420140" cy="3068186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3FEF27B-2586-4D95-A33F-CF340FB65F5A}"/>
              </a:ext>
            </a:extLst>
          </p:cNvPr>
          <p:cNvSpPr/>
          <p:nvPr/>
        </p:nvSpPr>
        <p:spPr>
          <a:xfrm>
            <a:off x="2824772" y="5444609"/>
            <a:ext cx="16466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Rayleigh range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026072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Laguerre-Gaussian (LG) beam : Distribution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26</a:t>
            </a:fld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823DCD-5681-4C39-923D-87B2C2C25C3B}"/>
              </a:ext>
            </a:extLst>
          </p:cNvPr>
          <p:cNvSpPr/>
          <p:nvPr/>
        </p:nvSpPr>
        <p:spPr>
          <a:xfrm>
            <a:off x="75704" y="1108452"/>
            <a:ext cx="47591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long Rayleigh range approximation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內容版面配置區 2">
                <a:extLst>
                  <a:ext uri="{FF2B5EF4-FFF2-40B4-BE49-F238E27FC236}">
                    <a16:creationId xmlns:a16="http://schemas.microsoft.com/office/drawing/2014/main" id="{81E73D33-20C3-4D9C-9377-A26D9F81AA5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704" y="721190"/>
                <a:ext cx="12191999" cy="71349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LG beam is solved as vector potential </a:t>
                </a:r>
                <a14:m>
                  <m:oMath xmlns:m="http://schemas.openxmlformats.org/officeDocument/2006/math">
                    <m:r>
                      <a:rPr lang="en-US" altLang="zh-TW" sz="2000" b="1" i="1">
                        <a:latin typeface="Cambria Math" panose="02040503050406030204" pitchFamily="18" charset="0"/>
                      </a:rPr>
                      <m:t>𝑨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from paraxial Helmholtz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equation within Lorentz gauge.</a:t>
                </a:r>
              </a:p>
            </p:txBody>
          </p:sp>
        </mc:Choice>
        <mc:Fallback xmlns="">
          <p:sp>
            <p:nvSpPr>
              <p:cNvPr id="67" name="內容版面配置區 2">
                <a:extLst>
                  <a:ext uri="{FF2B5EF4-FFF2-40B4-BE49-F238E27FC236}">
                    <a16:creationId xmlns:a16="http://schemas.microsoft.com/office/drawing/2014/main" id="{81E73D33-20C3-4D9C-9377-A26D9F81A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04" y="721190"/>
                <a:ext cx="12191999" cy="713498"/>
              </a:xfrm>
              <a:prstGeom prst="rect">
                <a:avLst/>
              </a:prstGeom>
              <a:blipFill>
                <a:blip r:embed="rId2"/>
                <a:stretch>
                  <a:fillRect l="-500" t="-145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矩形: 圓角 67">
            <a:extLst>
              <a:ext uri="{FF2B5EF4-FFF2-40B4-BE49-F238E27FC236}">
                <a16:creationId xmlns:a16="http://schemas.microsoft.com/office/drawing/2014/main" id="{61DDD4A6-BD9C-4B47-937E-89DD5991519A}"/>
              </a:ext>
            </a:extLst>
          </p:cNvPr>
          <p:cNvSpPr/>
          <p:nvPr/>
        </p:nvSpPr>
        <p:spPr>
          <a:xfrm>
            <a:off x="145774" y="1553028"/>
            <a:ext cx="5420140" cy="1988458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11">
                <a:extLst>
                  <a:ext uri="{FF2B5EF4-FFF2-40B4-BE49-F238E27FC236}">
                    <a16:creationId xmlns:a16="http://schemas.microsoft.com/office/drawing/2014/main" id="{819326A7-C075-40C2-A5C5-86E37288AD9D}"/>
                  </a:ext>
                </a:extLst>
              </p:cNvPr>
              <p:cNvSpPr txBox="1"/>
              <p:nvPr/>
            </p:nvSpPr>
            <p:spPr>
              <a:xfrm>
                <a:off x="123374" y="2443007"/>
                <a:ext cx="5495548" cy="9562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US" altLang="zh-TW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9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LG</m:t>
                          </m:r>
                        </m:sup>
                      </m:sSubSup>
                      <m:rad>
                        <m:radPr>
                          <m:degHide m:val="on"/>
                          <m:ctrlPr>
                            <a:rPr lang="en-US" altLang="zh-TW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rad>
                      <m:sSubSup>
                        <m:sSub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sup>
                      </m:sSup>
                    </m:oMath>
                  </m:oMathPara>
                </a14:m>
                <a:endParaRPr lang="en-US" sz="1900" dirty="0"/>
              </a:p>
            </p:txBody>
          </p:sp>
        </mc:Choice>
        <mc:Fallback xmlns="">
          <p:sp>
            <p:nvSpPr>
              <p:cNvPr id="70" name="TextBox 11">
                <a:extLst>
                  <a:ext uri="{FF2B5EF4-FFF2-40B4-BE49-F238E27FC236}">
                    <a16:creationId xmlns:a16="http://schemas.microsoft.com/office/drawing/2014/main" id="{819326A7-C075-40C2-A5C5-86E37288A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74" y="2443007"/>
                <a:ext cx="5495548" cy="9562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11">
                <a:extLst>
                  <a:ext uri="{FF2B5EF4-FFF2-40B4-BE49-F238E27FC236}">
                    <a16:creationId xmlns:a16="http://schemas.microsoft.com/office/drawing/2014/main" id="{52CA15C8-10FC-403D-89FE-0C42C3467BD8}"/>
                  </a:ext>
                </a:extLst>
              </p:cNvPr>
              <p:cNvSpPr txBox="1"/>
              <p:nvPr/>
            </p:nvSpPr>
            <p:spPr>
              <a:xfrm>
                <a:off x="123374" y="1631153"/>
                <a:ext cx="5324926" cy="452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9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sz="19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1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TW" sz="1900" b="1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TW" sz="1900" b="1" i="1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TW" sz="19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sSup>
                        <m:sSupPr>
                          <m:ctrlPr>
                            <a:rPr lang="en-US" altLang="zh-TW" sz="19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1" name="TextBox 11">
                <a:extLst>
                  <a:ext uri="{FF2B5EF4-FFF2-40B4-BE49-F238E27FC236}">
                    <a16:creationId xmlns:a16="http://schemas.microsoft.com/office/drawing/2014/main" id="{52CA15C8-10FC-403D-89FE-0C42C3467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74" y="1631153"/>
                <a:ext cx="5324926" cy="452303"/>
              </a:xfrm>
              <a:prstGeom prst="rect">
                <a:avLst/>
              </a:prstGeom>
              <a:blipFill>
                <a:blip r:embed="rId5"/>
                <a:stretch>
                  <a:fillRect t="-2703" b="-13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5" name="圖片 74">
            <a:extLst>
              <a:ext uri="{FF2B5EF4-FFF2-40B4-BE49-F238E27FC236}">
                <a16:creationId xmlns:a16="http://schemas.microsoft.com/office/drawing/2014/main" id="{C7A9B0C1-E4F3-49D1-B0CF-E80234897D40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24096" y="1415029"/>
            <a:ext cx="6559671" cy="3244150"/>
          </a:xfrm>
          <a:prstGeom prst="rect">
            <a:avLst/>
          </a:prstGeom>
        </p:spPr>
      </p:pic>
      <p:pic>
        <p:nvPicPr>
          <p:cNvPr id="76" name="圖片 75">
            <a:extLst>
              <a:ext uri="{FF2B5EF4-FFF2-40B4-BE49-F238E27FC236}">
                <a16:creationId xmlns:a16="http://schemas.microsoft.com/office/drawing/2014/main" id="{525F55CF-76AC-4E2A-B9A9-88CAA7D61F77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18922" y="4536323"/>
            <a:ext cx="6579136" cy="1998396"/>
          </a:xfrm>
          <a:prstGeom prst="rect">
            <a:avLst/>
          </a:prstGeom>
        </p:spPr>
      </p:pic>
      <p:sp>
        <p:nvSpPr>
          <p:cNvPr id="77" name="矩形 76">
            <a:extLst>
              <a:ext uri="{FF2B5EF4-FFF2-40B4-BE49-F238E27FC236}">
                <a16:creationId xmlns:a16="http://schemas.microsoft.com/office/drawing/2014/main" id="{387EE245-11B6-4D8F-804D-D05D4E28F033}"/>
              </a:ext>
            </a:extLst>
          </p:cNvPr>
          <p:cNvSpPr/>
          <p:nvPr/>
        </p:nvSpPr>
        <p:spPr>
          <a:xfrm>
            <a:off x="6978955" y="4583513"/>
            <a:ext cx="38573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Helical wave front carrying OAM</a:t>
            </a:r>
            <a:endParaRPr lang="zh-TW" altLang="en-US" sz="2000" b="1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11D01EE9-EF4C-4564-AAFB-852A95B65B06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541" y="3581635"/>
            <a:ext cx="5420140" cy="3068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8962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CDADAB3C-5C2D-44C4-AC0A-F15B01A97150}"/>
              </a:ext>
            </a:extLst>
          </p:cNvPr>
          <p:cNvSpPr/>
          <p:nvPr/>
        </p:nvSpPr>
        <p:spPr>
          <a:xfrm>
            <a:off x="4572622" y="4760685"/>
            <a:ext cx="4310312" cy="1888681"/>
          </a:xfrm>
          <a:prstGeom prst="roundRect">
            <a:avLst/>
          </a:prstGeom>
          <a:ln w="57150">
            <a:solidFill>
              <a:srgbClr val="7030A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Laguerre-Gaussian (LG) beam : Requirement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27</a:t>
            </a:fld>
            <a:endParaRPr lang="zh-TW" altLang="en-US"/>
          </a:p>
        </p:txBody>
      </p:sp>
      <p:sp>
        <p:nvSpPr>
          <p:cNvPr id="67" name="內容版面配置區 2">
            <a:extLst>
              <a:ext uri="{FF2B5EF4-FFF2-40B4-BE49-F238E27FC236}">
                <a16:creationId xmlns:a16="http://schemas.microsoft.com/office/drawing/2014/main" id="{81E73D33-20C3-4D9C-9377-A26D9F81AA56}"/>
              </a:ext>
            </a:extLst>
          </p:cNvPr>
          <p:cNvSpPr txBox="1">
            <a:spLocks/>
          </p:cNvSpPr>
          <p:nvPr/>
        </p:nvSpPr>
        <p:spPr>
          <a:xfrm>
            <a:off x="7748203" y="2931106"/>
            <a:ext cx="3306126" cy="3673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What we really need</a:t>
            </a:r>
          </a:p>
        </p:txBody>
      </p:sp>
      <p:sp>
        <p:nvSpPr>
          <p:cNvPr id="4" name="箭號: 向右 3">
            <a:extLst>
              <a:ext uri="{FF2B5EF4-FFF2-40B4-BE49-F238E27FC236}">
                <a16:creationId xmlns:a16="http://schemas.microsoft.com/office/drawing/2014/main" id="{4941A5BC-A2BB-4747-B880-95D52A934BFB}"/>
              </a:ext>
            </a:extLst>
          </p:cNvPr>
          <p:cNvSpPr/>
          <p:nvPr/>
        </p:nvSpPr>
        <p:spPr>
          <a:xfrm rot="5400000">
            <a:off x="6358027" y="1991901"/>
            <a:ext cx="739502" cy="606574"/>
          </a:xfrm>
          <a:prstGeom prst="righ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11">
                <a:extLst>
                  <a:ext uri="{FF2B5EF4-FFF2-40B4-BE49-F238E27FC236}">
                    <a16:creationId xmlns:a16="http://schemas.microsoft.com/office/drawing/2014/main" id="{52CA15C8-10FC-403D-89FE-0C42C3467BD8}"/>
                  </a:ext>
                </a:extLst>
              </p:cNvPr>
              <p:cNvSpPr txBox="1"/>
              <p:nvPr/>
            </p:nvSpPr>
            <p:spPr>
              <a:xfrm>
                <a:off x="5934607" y="1025586"/>
                <a:ext cx="1901293" cy="739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36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36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3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</m:oMath>
                  </m:oMathPara>
                </a14:m>
                <a:endParaRPr lang="en-US" sz="3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1" name="TextBox 11">
                <a:extLst>
                  <a:ext uri="{FF2B5EF4-FFF2-40B4-BE49-F238E27FC236}">
                    <a16:creationId xmlns:a16="http://schemas.microsoft.com/office/drawing/2014/main" id="{52CA15C8-10FC-403D-89FE-0C42C3467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4607" y="1025586"/>
                <a:ext cx="1901293" cy="7394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內容版面配置區 2">
            <a:extLst>
              <a:ext uri="{FF2B5EF4-FFF2-40B4-BE49-F238E27FC236}">
                <a16:creationId xmlns:a16="http://schemas.microsoft.com/office/drawing/2014/main" id="{4247365D-85E0-448F-B61C-0B813096419B}"/>
              </a:ext>
            </a:extLst>
          </p:cNvPr>
          <p:cNvSpPr txBox="1">
            <a:spLocks/>
          </p:cNvSpPr>
          <p:nvPr/>
        </p:nvSpPr>
        <p:spPr>
          <a:xfrm>
            <a:off x="782551" y="1241457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 beam in real space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Lorentz gauge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2" name="內容版面配置區 2">
            <a:extLst>
              <a:ext uri="{FF2B5EF4-FFF2-40B4-BE49-F238E27FC236}">
                <a16:creationId xmlns:a16="http://schemas.microsoft.com/office/drawing/2014/main" id="{2423609C-F1F0-44A1-B1A9-A490076EEF69}"/>
              </a:ext>
            </a:extLst>
          </p:cNvPr>
          <p:cNvSpPr txBox="1">
            <a:spLocks/>
          </p:cNvSpPr>
          <p:nvPr/>
        </p:nvSpPr>
        <p:spPr>
          <a:xfrm>
            <a:off x="376567" y="2907370"/>
            <a:ext cx="5453821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 beam in angular spectrum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Coulomb gauge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4" name="內容版面配置區 2">
            <a:extLst>
              <a:ext uri="{FF2B5EF4-FFF2-40B4-BE49-F238E27FC236}">
                <a16:creationId xmlns:a16="http://schemas.microsoft.com/office/drawing/2014/main" id="{CCA0DBC3-3859-4DCF-B456-AB477796E715}"/>
              </a:ext>
            </a:extLst>
          </p:cNvPr>
          <p:cNvSpPr txBox="1">
            <a:spLocks/>
          </p:cNvSpPr>
          <p:nvPr/>
        </p:nvSpPr>
        <p:spPr>
          <a:xfrm>
            <a:off x="4572622" y="4346858"/>
            <a:ext cx="4310312" cy="3673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Theory of light matter interaction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6">
                <a:extLst>
                  <a:ext uri="{FF2B5EF4-FFF2-40B4-BE49-F238E27FC236}">
                    <a16:creationId xmlns:a16="http://schemas.microsoft.com/office/drawing/2014/main" id="{9A3EB0A8-FE82-4FA2-8150-1307E823EB39}"/>
                  </a:ext>
                </a:extLst>
              </p:cNvPr>
              <p:cNvSpPr txBox="1"/>
              <p:nvPr/>
            </p:nvSpPr>
            <p:spPr>
              <a:xfrm>
                <a:off x="4336468" y="4910054"/>
                <a:ext cx="4782620" cy="6705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sSup>
                        <m:sSup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p>
                      <m:d>
                        <m:d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>
                              <m:r>
                                <a:rPr lang="en-US" altLang="zh-TW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altLang="zh-TW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6">
                <a:extLst>
                  <a:ext uri="{FF2B5EF4-FFF2-40B4-BE49-F238E27FC236}">
                    <a16:creationId xmlns:a16="http://schemas.microsoft.com/office/drawing/2014/main" id="{9A3EB0A8-FE82-4FA2-8150-1307E823E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468" y="4910054"/>
                <a:ext cx="4782620" cy="6705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箭號: 向右 33">
            <a:extLst>
              <a:ext uri="{FF2B5EF4-FFF2-40B4-BE49-F238E27FC236}">
                <a16:creationId xmlns:a16="http://schemas.microsoft.com/office/drawing/2014/main" id="{9CFC62B8-2835-4A46-85C8-46EA82E355DC}"/>
              </a:ext>
            </a:extLst>
          </p:cNvPr>
          <p:cNvSpPr/>
          <p:nvPr/>
        </p:nvSpPr>
        <p:spPr>
          <a:xfrm rot="5400000">
            <a:off x="6358027" y="3595730"/>
            <a:ext cx="739502" cy="606574"/>
          </a:xfrm>
          <a:prstGeom prst="righ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D8E24BA4-EDFF-445F-96E8-AE8F4C6C972B}"/>
              </a:ext>
            </a:extLst>
          </p:cNvPr>
          <p:cNvGrpSpPr/>
          <p:nvPr/>
        </p:nvGrpSpPr>
        <p:grpSpPr>
          <a:xfrm>
            <a:off x="4652147" y="5631919"/>
            <a:ext cx="4036963" cy="739851"/>
            <a:chOff x="4695690" y="5631919"/>
            <a:chExt cx="4036963" cy="7398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3">
                  <a:extLst>
                    <a:ext uri="{FF2B5EF4-FFF2-40B4-BE49-F238E27FC236}">
                      <a16:creationId xmlns:a16="http://schemas.microsoft.com/office/drawing/2014/main" id="{1C1B7730-F81F-4456-BA67-E89C8C279F3B}"/>
                    </a:ext>
                  </a:extLst>
                </p:cNvPr>
                <p:cNvSpPr txBox="1"/>
                <p:nvPr/>
              </p:nvSpPr>
              <p:spPr>
                <a:xfrm>
                  <a:off x="4695690" y="5631919"/>
                  <a:ext cx="4036963" cy="6776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</m:sup>
                        </m:sSub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≈</m:t>
                        </m:r>
                        <m:f>
                          <m:f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ℏ</m:t>
                            </m:r>
                          </m:den>
                        </m:f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𝑸</m:t>
                            </m:r>
                          </m:sub>
                        </m:sSub>
                        <m:r>
                          <a:rPr lang="zh-TW" altLang="en-US" sz="20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sz="20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sz="20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sz="20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           </m:t>
                        </m:r>
                        <m:r>
                          <a:rPr lang="zh-TW" altLang="en-US" sz="20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bSup>
                          <m:sSubSupPr>
                            <m:ctrlP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𝑫</m:t>
                            </m:r>
                          </m:e>
                          <m:sub>
                            <m:r>
                              <a:rPr lang="zh-TW" altLang="en-US" sz="2000" b="1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3">
                  <a:extLst>
                    <a:ext uri="{FF2B5EF4-FFF2-40B4-BE49-F238E27FC236}">
                      <a16:creationId xmlns:a16="http://schemas.microsoft.com/office/drawing/2014/main" id="{1C1B7730-F81F-4456-BA67-E89C8C279F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5690" y="5631919"/>
                  <a:ext cx="4036963" cy="67768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矩形: 圓角 34">
              <a:extLst>
                <a:ext uri="{FF2B5EF4-FFF2-40B4-BE49-F238E27FC236}">
                  <a16:creationId xmlns:a16="http://schemas.microsoft.com/office/drawing/2014/main" id="{23A8948F-D361-4DD0-9F15-D7BA8520990F}"/>
                </a:ext>
              </a:extLst>
            </p:cNvPr>
            <p:cNvSpPr/>
            <p:nvPr/>
          </p:nvSpPr>
          <p:spPr>
            <a:xfrm>
              <a:off x="6751320" y="5654039"/>
              <a:ext cx="943974" cy="717731"/>
            </a:xfrm>
            <a:prstGeom prst="roundRect">
              <a:avLst/>
            </a:prstGeom>
            <a:noFill/>
            <a:ln w="57150">
              <a:solidFill>
                <a:srgbClr val="7030A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000" dirty="0"/>
            </a:p>
          </p:txBody>
        </p:sp>
      </p:grp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83B4444D-4871-4489-9B27-2323957C9105}"/>
              </a:ext>
            </a:extLst>
          </p:cNvPr>
          <p:cNvGrpSpPr/>
          <p:nvPr/>
        </p:nvGrpSpPr>
        <p:grpSpPr>
          <a:xfrm>
            <a:off x="6780830" y="5822956"/>
            <a:ext cx="318154" cy="419526"/>
            <a:chOff x="5855923" y="2714244"/>
            <a:chExt cx="438444" cy="578144"/>
          </a:xfrm>
        </p:grpSpPr>
        <p:pic>
          <p:nvPicPr>
            <p:cNvPr id="44" name="圖形 43">
              <a:extLst>
                <a:ext uri="{FF2B5EF4-FFF2-40B4-BE49-F238E27FC236}">
                  <a16:creationId xmlns:a16="http://schemas.microsoft.com/office/drawing/2014/main" id="{7923549C-C46F-4023-93D1-3315201472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r="75558"/>
            <a:stretch/>
          </p:blipFill>
          <p:spPr>
            <a:xfrm>
              <a:off x="5855923" y="2760076"/>
              <a:ext cx="407287" cy="532312"/>
            </a:xfrm>
            <a:prstGeom prst="rect">
              <a:avLst/>
            </a:prstGeom>
          </p:spPr>
        </p:pic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F0F6A3C7-BD08-416F-8C00-86CA68C68CEC}"/>
                </a:ext>
              </a:extLst>
            </p:cNvPr>
            <p:cNvSpPr/>
            <p:nvPr/>
          </p:nvSpPr>
          <p:spPr>
            <a:xfrm>
              <a:off x="6210832" y="3127234"/>
              <a:ext cx="83535" cy="10877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CE5427B2-7FEE-4A2B-8D65-8D76D0C16D43}"/>
                </a:ext>
              </a:extLst>
            </p:cNvPr>
            <p:cNvSpPr/>
            <p:nvPr/>
          </p:nvSpPr>
          <p:spPr>
            <a:xfrm>
              <a:off x="6179488" y="2714244"/>
              <a:ext cx="107950" cy="2691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11">
                <a:extLst>
                  <a:ext uri="{FF2B5EF4-FFF2-40B4-BE49-F238E27FC236}">
                    <a16:creationId xmlns:a16="http://schemas.microsoft.com/office/drawing/2014/main" id="{F4A30627-46C2-4E52-B12C-E531922B04A0}"/>
                  </a:ext>
                </a:extLst>
              </p:cNvPr>
              <p:cNvSpPr txBox="1"/>
              <p:nvPr/>
            </p:nvSpPr>
            <p:spPr>
              <a:xfrm>
                <a:off x="6872584" y="5781022"/>
                <a:ext cx="802839" cy="4147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d>
                        <m:d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7" name="TextBox 11">
                <a:extLst>
                  <a:ext uri="{FF2B5EF4-FFF2-40B4-BE49-F238E27FC236}">
                    <a16:creationId xmlns:a16="http://schemas.microsoft.com/office/drawing/2014/main" id="{F4A30627-46C2-4E52-B12C-E531922B04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2584" y="5781022"/>
                <a:ext cx="802839" cy="414729"/>
              </a:xfrm>
              <a:prstGeom prst="rect">
                <a:avLst/>
              </a:prstGeom>
              <a:blipFill>
                <a:blip r:embed="rId7"/>
                <a:stretch>
                  <a:fillRect b="-73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11">
                <a:extLst>
                  <a:ext uri="{FF2B5EF4-FFF2-40B4-BE49-F238E27FC236}">
                    <a16:creationId xmlns:a16="http://schemas.microsoft.com/office/drawing/2014/main" id="{6F5CF501-4956-44AE-A2F9-5AB2BA79B050}"/>
                  </a:ext>
                </a:extLst>
              </p:cNvPr>
              <p:cNvSpPr txBox="1"/>
              <p:nvPr/>
            </p:nvSpPr>
            <p:spPr>
              <a:xfrm>
                <a:off x="6098976" y="2670723"/>
                <a:ext cx="1901293" cy="755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36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36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36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d>
                        <m:dPr>
                          <m:ctrlPr>
                            <a:rPr lang="en-US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sz="3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3" name="TextBox 11">
                <a:extLst>
                  <a:ext uri="{FF2B5EF4-FFF2-40B4-BE49-F238E27FC236}">
                    <a16:creationId xmlns:a16="http://schemas.microsoft.com/office/drawing/2014/main" id="{6F5CF501-4956-44AE-A2F9-5AB2BA79B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8976" y="2670723"/>
                <a:ext cx="1901293" cy="75584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4" name="圖形 53">
            <a:extLst>
              <a:ext uri="{FF2B5EF4-FFF2-40B4-BE49-F238E27FC236}">
                <a16:creationId xmlns:a16="http://schemas.microsoft.com/office/drawing/2014/main" id="{310EF15E-29B7-45BA-97CE-4B559F792EBF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t="1" r="53142" b="-1"/>
          <a:stretch/>
        </p:blipFill>
        <p:spPr>
          <a:xfrm>
            <a:off x="5826625" y="2852738"/>
            <a:ext cx="509767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8930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矩形: 圓角 95">
            <a:extLst>
              <a:ext uri="{FF2B5EF4-FFF2-40B4-BE49-F238E27FC236}">
                <a16:creationId xmlns:a16="http://schemas.microsoft.com/office/drawing/2014/main" id="{5E25A816-DAB1-4091-89F4-6912F7BC7FDB}"/>
              </a:ext>
            </a:extLst>
          </p:cNvPr>
          <p:cNvSpPr/>
          <p:nvPr/>
        </p:nvSpPr>
        <p:spPr>
          <a:xfrm>
            <a:off x="145774" y="1059542"/>
            <a:ext cx="5529600" cy="1988458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Laguerre-Gaussian (LG) beam : Angular spectrum 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28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11">
                <a:extLst>
                  <a:ext uri="{FF2B5EF4-FFF2-40B4-BE49-F238E27FC236}">
                    <a16:creationId xmlns:a16="http://schemas.microsoft.com/office/drawing/2014/main" id="{E1768FCD-402C-49DA-91BC-23B6D2F070A5}"/>
                  </a:ext>
                </a:extLst>
              </p:cNvPr>
              <p:cNvSpPr txBox="1"/>
              <p:nvPr/>
            </p:nvSpPr>
            <p:spPr>
              <a:xfrm>
                <a:off x="1139109" y="7076993"/>
                <a:ext cx="4142014" cy="11552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𝐿𝐺</m:t>
                              </m:r>
                            </m:sup>
                          </m:sSub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9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  <m: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900" i="1" smtClean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190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TW" sz="1900" i="0" smtClean="0">
                              <a:latin typeface="Cambria Math" panose="02040503050406030204" pitchFamily="18" charset="0"/>
                            </a:rPr>
                            <m:t>Ω</m:t>
                          </m:r>
                          <m:rad>
                            <m:radPr>
                              <m:degHide m:val="on"/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9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TW" sz="1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900" i="1" smtClean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sz="1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00" i="1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altLang="zh-TW" sz="19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TW" sz="19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TW" sz="19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d>
                        </m:e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900" i="1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zh-TW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  <m:sup>
                                  <m:r>
                                    <a:rPr lang="en-US" altLang="zh-TW" sz="19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TW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lang="en-US" altLang="zh-TW" sz="1900" dirty="0"/>
              </a:p>
              <a:p>
                <a:pPr algn="just"/>
                <a:endParaRPr lang="en-US" sz="1900" dirty="0"/>
              </a:p>
            </p:txBody>
          </p:sp>
        </mc:Choice>
        <mc:Fallback xmlns="">
          <p:sp>
            <p:nvSpPr>
              <p:cNvPr id="80" name="TextBox 11">
                <a:extLst>
                  <a:ext uri="{FF2B5EF4-FFF2-40B4-BE49-F238E27FC236}">
                    <a16:creationId xmlns:a16="http://schemas.microsoft.com/office/drawing/2014/main" id="{E1768FCD-402C-49DA-91BC-23B6D2F07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109" y="7076993"/>
                <a:ext cx="4142014" cy="115525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11">
                <a:extLst>
                  <a:ext uri="{FF2B5EF4-FFF2-40B4-BE49-F238E27FC236}">
                    <a16:creationId xmlns:a16="http://schemas.microsoft.com/office/drawing/2014/main" id="{70041782-8C8A-4DD1-B2AB-FFBBB3C59E71}"/>
                  </a:ext>
                </a:extLst>
              </p:cNvPr>
              <p:cNvSpPr txBox="1"/>
              <p:nvPr/>
            </p:nvSpPr>
            <p:spPr>
              <a:xfrm>
                <a:off x="123374" y="1949521"/>
                <a:ext cx="5495548" cy="9562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US" altLang="zh-TW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9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LG</m:t>
                          </m:r>
                        </m:sup>
                      </m:sSubSup>
                      <m:rad>
                        <m:radPr>
                          <m:degHide m:val="on"/>
                          <m:ctrlPr>
                            <a:rPr lang="en-US" altLang="zh-TW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rad>
                      <m:sSubSup>
                        <m:sSub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sup>
                      </m:sSup>
                    </m:oMath>
                  </m:oMathPara>
                </a14:m>
                <a:endParaRPr lang="en-US" sz="1900" dirty="0"/>
              </a:p>
            </p:txBody>
          </p:sp>
        </mc:Choice>
        <mc:Fallback xmlns="">
          <p:sp>
            <p:nvSpPr>
              <p:cNvPr id="92" name="TextBox 11">
                <a:extLst>
                  <a:ext uri="{FF2B5EF4-FFF2-40B4-BE49-F238E27FC236}">
                    <a16:creationId xmlns:a16="http://schemas.microsoft.com/office/drawing/2014/main" id="{70041782-8C8A-4DD1-B2AB-FFBBB3C59E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74" y="1949521"/>
                <a:ext cx="5495548" cy="95622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11">
                <a:extLst>
                  <a:ext uri="{FF2B5EF4-FFF2-40B4-BE49-F238E27FC236}">
                    <a16:creationId xmlns:a16="http://schemas.microsoft.com/office/drawing/2014/main" id="{E03F676C-75F5-45C0-AC7D-17F7AD0C3C02}"/>
                  </a:ext>
                </a:extLst>
              </p:cNvPr>
              <p:cNvSpPr txBox="1"/>
              <p:nvPr/>
            </p:nvSpPr>
            <p:spPr>
              <a:xfrm>
                <a:off x="123374" y="1137667"/>
                <a:ext cx="5324926" cy="452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9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sz="19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1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TW" sz="1900" b="1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TW" sz="1900" b="1" i="1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TW" sz="19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sSup>
                        <m:sSupPr>
                          <m:ctrlPr>
                            <a:rPr lang="en-US" altLang="zh-TW" sz="19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7" name="TextBox 11">
                <a:extLst>
                  <a:ext uri="{FF2B5EF4-FFF2-40B4-BE49-F238E27FC236}">
                    <a16:creationId xmlns:a16="http://schemas.microsoft.com/office/drawing/2014/main" id="{E03F676C-75F5-45C0-AC7D-17F7AD0C3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74" y="1137667"/>
                <a:ext cx="5324926" cy="452303"/>
              </a:xfrm>
              <a:prstGeom prst="rect">
                <a:avLst/>
              </a:prstGeom>
              <a:blipFill>
                <a:blip r:embed="rId16"/>
                <a:stretch>
                  <a:fillRect t="-2703" b="-13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內容版面配置區 2">
            <a:extLst>
              <a:ext uri="{FF2B5EF4-FFF2-40B4-BE49-F238E27FC236}">
                <a16:creationId xmlns:a16="http://schemas.microsoft.com/office/drawing/2014/main" id="{0C431AFC-93B5-444E-9CC7-0A4A7A50FFB0}"/>
              </a:ext>
            </a:extLst>
          </p:cNvPr>
          <p:cNvSpPr txBox="1">
            <a:spLocks/>
          </p:cNvSpPr>
          <p:nvPr/>
        </p:nvSpPr>
        <p:spPr>
          <a:xfrm>
            <a:off x="336962" y="706126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 beam in Lorentz gauge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 space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6077534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矩形: 圓角 95">
            <a:extLst>
              <a:ext uri="{FF2B5EF4-FFF2-40B4-BE49-F238E27FC236}">
                <a16:creationId xmlns:a16="http://schemas.microsoft.com/office/drawing/2014/main" id="{5E25A816-DAB1-4091-89F4-6912F7BC7FDB}"/>
              </a:ext>
            </a:extLst>
          </p:cNvPr>
          <p:cNvSpPr/>
          <p:nvPr/>
        </p:nvSpPr>
        <p:spPr>
          <a:xfrm>
            <a:off x="145774" y="1059542"/>
            <a:ext cx="5529600" cy="1988458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Laguerre-Gaussian (LG) beam : Angular spectrum 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29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11">
                <a:extLst>
                  <a:ext uri="{FF2B5EF4-FFF2-40B4-BE49-F238E27FC236}">
                    <a16:creationId xmlns:a16="http://schemas.microsoft.com/office/drawing/2014/main" id="{E1768FCD-402C-49DA-91BC-23B6D2F070A5}"/>
                  </a:ext>
                </a:extLst>
              </p:cNvPr>
              <p:cNvSpPr txBox="1"/>
              <p:nvPr/>
            </p:nvSpPr>
            <p:spPr>
              <a:xfrm>
                <a:off x="1139109" y="7076993"/>
                <a:ext cx="4142014" cy="11552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𝐿𝐺</m:t>
                              </m:r>
                            </m:sup>
                          </m:sSub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9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  <m: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900" i="1" smtClean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190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TW" sz="1900" i="0" smtClean="0">
                              <a:latin typeface="Cambria Math" panose="02040503050406030204" pitchFamily="18" charset="0"/>
                            </a:rPr>
                            <m:t>Ω</m:t>
                          </m:r>
                          <m:rad>
                            <m:radPr>
                              <m:degHide m:val="on"/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9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TW" sz="1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900" i="1" smtClean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sz="1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00" i="1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altLang="zh-TW" sz="19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TW" sz="19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TW" sz="19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d>
                        </m:e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900" i="1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zh-TW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  <m:sup>
                                  <m:r>
                                    <a:rPr lang="en-US" altLang="zh-TW" sz="19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TW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lang="en-US" altLang="zh-TW" sz="1900" dirty="0"/>
              </a:p>
              <a:p>
                <a:pPr algn="just"/>
                <a:endParaRPr lang="en-US" sz="1900" dirty="0"/>
              </a:p>
            </p:txBody>
          </p:sp>
        </mc:Choice>
        <mc:Fallback xmlns="">
          <p:sp>
            <p:nvSpPr>
              <p:cNvPr id="80" name="TextBox 11">
                <a:extLst>
                  <a:ext uri="{FF2B5EF4-FFF2-40B4-BE49-F238E27FC236}">
                    <a16:creationId xmlns:a16="http://schemas.microsoft.com/office/drawing/2014/main" id="{E1768FCD-402C-49DA-91BC-23B6D2F07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109" y="7076993"/>
                <a:ext cx="4142014" cy="115525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11">
                <a:extLst>
                  <a:ext uri="{FF2B5EF4-FFF2-40B4-BE49-F238E27FC236}">
                    <a16:creationId xmlns:a16="http://schemas.microsoft.com/office/drawing/2014/main" id="{70041782-8C8A-4DD1-B2AB-FFBBB3C59E71}"/>
                  </a:ext>
                </a:extLst>
              </p:cNvPr>
              <p:cNvSpPr txBox="1"/>
              <p:nvPr/>
            </p:nvSpPr>
            <p:spPr>
              <a:xfrm>
                <a:off x="123374" y="1949521"/>
                <a:ext cx="5495548" cy="9562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US" altLang="zh-TW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9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LG</m:t>
                          </m:r>
                        </m:sup>
                      </m:sSubSup>
                      <m:rad>
                        <m:radPr>
                          <m:degHide m:val="on"/>
                          <m:ctrlPr>
                            <a:rPr lang="en-US" altLang="zh-TW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rad>
                      <m:sSubSup>
                        <m:sSub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sup>
                      </m:sSup>
                    </m:oMath>
                  </m:oMathPara>
                </a14:m>
                <a:endParaRPr lang="en-US" sz="1900" dirty="0"/>
              </a:p>
            </p:txBody>
          </p:sp>
        </mc:Choice>
        <mc:Fallback xmlns="">
          <p:sp>
            <p:nvSpPr>
              <p:cNvPr id="92" name="TextBox 11">
                <a:extLst>
                  <a:ext uri="{FF2B5EF4-FFF2-40B4-BE49-F238E27FC236}">
                    <a16:creationId xmlns:a16="http://schemas.microsoft.com/office/drawing/2014/main" id="{70041782-8C8A-4DD1-B2AB-FFBBB3C59E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74" y="1949521"/>
                <a:ext cx="5495548" cy="95622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11">
                <a:extLst>
                  <a:ext uri="{FF2B5EF4-FFF2-40B4-BE49-F238E27FC236}">
                    <a16:creationId xmlns:a16="http://schemas.microsoft.com/office/drawing/2014/main" id="{E03F676C-75F5-45C0-AC7D-17F7AD0C3C02}"/>
                  </a:ext>
                </a:extLst>
              </p:cNvPr>
              <p:cNvSpPr txBox="1"/>
              <p:nvPr/>
            </p:nvSpPr>
            <p:spPr>
              <a:xfrm>
                <a:off x="123374" y="1137667"/>
                <a:ext cx="5324926" cy="452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9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sz="19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1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TW" sz="1900" b="1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TW" sz="1900" b="1" i="1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TW" sz="19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sSup>
                        <m:sSupPr>
                          <m:ctrlPr>
                            <a:rPr lang="en-US" altLang="zh-TW" sz="19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7" name="TextBox 11">
                <a:extLst>
                  <a:ext uri="{FF2B5EF4-FFF2-40B4-BE49-F238E27FC236}">
                    <a16:creationId xmlns:a16="http://schemas.microsoft.com/office/drawing/2014/main" id="{E03F676C-75F5-45C0-AC7D-17F7AD0C3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74" y="1137667"/>
                <a:ext cx="5324926" cy="452303"/>
              </a:xfrm>
              <a:prstGeom prst="rect">
                <a:avLst/>
              </a:prstGeom>
              <a:blipFill>
                <a:blip r:embed="rId16"/>
                <a:stretch>
                  <a:fillRect t="-2703" b="-13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矩形: 圓角 51">
            <a:extLst>
              <a:ext uri="{FF2B5EF4-FFF2-40B4-BE49-F238E27FC236}">
                <a16:creationId xmlns:a16="http://schemas.microsoft.com/office/drawing/2014/main" id="{47F644E0-63F1-4BA3-B286-DD588DA84212}"/>
              </a:ext>
            </a:extLst>
          </p:cNvPr>
          <p:cNvSpPr/>
          <p:nvPr/>
        </p:nvSpPr>
        <p:spPr>
          <a:xfrm>
            <a:off x="6328228" y="1034933"/>
            <a:ext cx="5655471" cy="5554553"/>
          </a:xfrm>
          <a:prstGeom prst="roundRect">
            <a:avLst>
              <a:gd name="adj" fmla="val 7949"/>
            </a:avLst>
          </a:prstGeom>
          <a:ln w="57150">
            <a:solidFill>
              <a:srgbClr val="00B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11">
                <a:extLst>
                  <a:ext uri="{FF2B5EF4-FFF2-40B4-BE49-F238E27FC236}">
                    <a16:creationId xmlns:a16="http://schemas.microsoft.com/office/drawing/2014/main" id="{B1574A24-722C-4849-AF29-189CE2485423}"/>
                  </a:ext>
                </a:extLst>
              </p:cNvPr>
              <p:cNvSpPr txBox="1"/>
              <p:nvPr/>
            </p:nvSpPr>
            <p:spPr>
              <a:xfrm>
                <a:off x="7051620" y="4068824"/>
                <a:ext cx="3955563" cy="4373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9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𝐿𝐺</m:t>
                          </m:r>
                        </m:sup>
                      </m:sSubSup>
                      <m:d>
                        <m:d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sz="19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900" i="1" smtClean="0">
                          <a:latin typeface="Cambria Math" panose="02040503050406030204" pitchFamily="18" charset="0"/>
                        </a:rPr>
                        <m:t>∫</m:t>
                      </m:r>
                      <m:sSup>
                        <m:sSup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∥</m:t>
                          </m:r>
                        </m:sub>
                      </m:sSub>
                      <m:r>
                        <a:rPr lang="en-US" altLang="zh-TW" sz="190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 · </m:t>
                          </m:r>
                          <m:sSub>
                            <m:sSub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p>
                      </m:sSup>
                      <m:r>
                        <a:rPr lang="en-US" altLang="zh-TW" sz="19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900" dirty="0"/>
              </a:p>
            </p:txBody>
          </p:sp>
        </mc:Choice>
        <mc:Fallback xmlns="">
          <p:sp>
            <p:nvSpPr>
              <p:cNvPr id="53" name="TextBox 11">
                <a:extLst>
                  <a:ext uri="{FF2B5EF4-FFF2-40B4-BE49-F238E27FC236}">
                    <a16:creationId xmlns:a16="http://schemas.microsoft.com/office/drawing/2014/main" id="{B1574A24-722C-4849-AF29-189CE2485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1620" y="4068824"/>
                <a:ext cx="3955563" cy="437364"/>
              </a:xfrm>
              <a:prstGeom prst="rect">
                <a:avLst/>
              </a:prstGeom>
              <a:blipFill>
                <a:blip r:embed="rId17"/>
                <a:stretch>
                  <a:fillRect b="-97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11">
                <a:extLst>
                  <a:ext uri="{FF2B5EF4-FFF2-40B4-BE49-F238E27FC236}">
                    <a16:creationId xmlns:a16="http://schemas.microsoft.com/office/drawing/2014/main" id="{46BAEE07-B6B8-41F4-8325-B5BA7D83F4CE}"/>
                  </a:ext>
                </a:extLst>
              </p:cNvPr>
              <p:cNvSpPr txBox="1"/>
              <p:nvPr/>
            </p:nvSpPr>
            <p:spPr>
              <a:xfrm>
                <a:off x="6331165" y="3392821"/>
                <a:ext cx="5860928" cy="6830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sSup>
                        <m:sSup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r>
                        <a:rPr lang="en-US" altLang="zh-TW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TW" sz="19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sz="19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l-GR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l-GR" altLang="zh-TW" sz="19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l-GR" altLang="zh-TW" sz="19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l-GR" altLang="zh-TW" sz="1900" i="1" smtClean="0">
                          <a:latin typeface="Cambria Math" panose="02040503050406030204" pitchFamily="18" charset="0"/>
                        </a:rPr>
                        <m:t>∫</m:t>
                      </m:r>
                      <m:sSup>
                        <m:sSup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∥</m:t>
                          </m:r>
                        </m:sub>
                      </m:sSub>
                      <m:r>
                        <a:rPr lang="en-US" altLang="zh-TW" sz="1900" i="1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𝐿𝐺</m:t>
                          </m:r>
                        </m:sup>
                      </m:sSubSup>
                      <m:d>
                        <m:d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 · </m:t>
                          </m:r>
                          <m:sSub>
                            <m:sSub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sz="1900" dirty="0"/>
              </a:p>
            </p:txBody>
          </p:sp>
        </mc:Choice>
        <mc:Fallback xmlns="">
          <p:sp>
            <p:nvSpPr>
              <p:cNvPr id="54" name="TextBox 11">
                <a:extLst>
                  <a:ext uri="{FF2B5EF4-FFF2-40B4-BE49-F238E27FC236}">
                    <a16:creationId xmlns:a16="http://schemas.microsoft.com/office/drawing/2014/main" id="{46BAEE07-B6B8-41F4-8325-B5BA7D83F4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1165" y="3392821"/>
                <a:ext cx="5860928" cy="68300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矩形 54">
            <a:extLst>
              <a:ext uri="{FF2B5EF4-FFF2-40B4-BE49-F238E27FC236}">
                <a16:creationId xmlns:a16="http://schemas.microsoft.com/office/drawing/2014/main" id="{DDFB3C8E-A3C7-4530-A7B3-AB9966810135}"/>
              </a:ext>
            </a:extLst>
          </p:cNvPr>
          <p:cNvSpPr/>
          <p:nvPr/>
        </p:nvSpPr>
        <p:spPr>
          <a:xfrm>
            <a:off x="6507398" y="1189569"/>
            <a:ext cx="50440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Expanded </a:t>
            </a:r>
            <a:r>
              <a:rPr lang="en-US" altLang="zh-TW" sz="20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 plane-wave basis</a:t>
            </a:r>
            <a:endParaRPr lang="zh-TW" altLang="en-US" sz="2000" b="1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322D278-BE57-4652-B2EE-6336A294EDEC}"/>
              </a:ext>
            </a:extLst>
          </p:cNvPr>
          <p:cNvSpPr/>
          <p:nvPr/>
        </p:nvSpPr>
        <p:spPr>
          <a:xfrm>
            <a:off x="6942653" y="3052724"/>
            <a:ext cx="41734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Fourier transformation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7" name="群組 56">
            <a:extLst>
              <a:ext uri="{FF2B5EF4-FFF2-40B4-BE49-F238E27FC236}">
                <a16:creationId xmlns:a16="http://schemas.microsoft.com/office/drawing/2014/main" id="{8A31F9EC-FA2A-48AC-9804-6BE740D88536}"/>
              </a:ext>
            </a:extLst>
          </p:cNvPr>
          <p:cNvGrpSpPr/>
          <p:nvPr/>
        </p:nvGrpSpPr>
        <p:grpSpPr>
          <a:xfrm>
            <a:off x="7604217" y="1515153"/>
            <a:ext cx="2850369" cy="837793"/>
            <a:chOff x="997731" y="5951181"/>
            <a:chExt cx="2850369" cy="8377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11">
                  <a:extLst>
                    <a:ext uri="{FF2B5EF4-FFF2-40B4-BE49-F238E27FC236}">
                      <a16:creationId xmlns:a16="http://schemas.microsoft.com/office/drawing/2014/main" id="{63122EE7-D699-4D56-8058-741905DDE797}"/>
                    </a:ext>
                  </a:extLst>
                </p:cNvPr>
                <p:cNvSpPr txBox="1"/>
                <p:nvPr/>
              </p:nvSpPr>
              <p:spPr>
                <a:xfrm>
                  <a:off x="997731" y="5951181"/>
                  <a:ext cx="2850369" cy="8377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19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d>
                          <m:dPr>
                            <m:ctrlPr>
                              <a:rPr lang="en-US" sz="19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9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d>
                        <m:r>
                          <a:rPr lang="en-US" sz="19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pt-BR" sz="1900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pt-BR" sz="190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sub>
                          <m:sup/>
                          <m:e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</a:rPr>
                              <m:t>            </m:t>
                            </m:r>
                            <m:sSup>
                              <m:sSupPr>
                                <m:ctrlPr>
                                  <a:rPr lang="pt-BR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altLang="zh-TW" sz="1900" b="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pt-BR" altLang="zh-TW" sz="1900" b="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pt-BR" altLang="zh-TW" sz="1900" b="1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  <m:r>
                                  <a:rPr lang="pt-BR" altLang="zh-TW" sz="1900" b="1" i="1">
                                    <a:latin typeface="Cambria Math" panose="02040503050406030204" pitchFamily="18" charset="0"/>
                                  </a:rPr>
                                  <m:t> · </m:t>
                                </m:r>
                                <m:r>
                                  <a:rPr lang="pt-BR" altLang="zh-TW" sz="1900" b="1" i="1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8" name="TextBox 11">
                  <a:extLst>
                    <a:ext uri="{FF2B5EF4-FFF2-40B4-BE49-F238E27FC236}">
                      <a16:creationId xmlns:a16="http://schemas.microsoft.com/office/drawing/2014/main" id="{63122EE7-D699-4D56-8058-741905DDE7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731" y="5951181"/>
                  <a:ext cx="2850369" cy="837793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9" name="圖形 58">
              <a:extLst>
                <a:ext uri="{FF2B5EF4-FFF2-40B4-BE49-F238E27FC236}">
                  <a16:creationId xmlns:a16="http://schemas.microsoft.com/office/drawing/2014/main" id="{CCBF5734-5AD8-440D-811C-A19D55D17F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265547" y="6191646"/>
              <a:ext cx="563078" cy="266721"/>
            </a:xfrm>
            <a:prstGeom prst="rect">
              <a:avLst/>
            </a:prstGeom>
          </p:spPr>
        </p:pic>
      </p:grpSp>
      <p:sp>
        <p:nvSpPr>
          <p:cNvPr id="60" name="矩形 59">
            <a:extLst>
              <a:ext uri="{FF2B5EF4-FFF2-40B4-BE49-F238E27FC236}">
                <a16:creationId xmlns:a16="http://schemas.microsoft.com/office/drawing/2014/main" id="{95BD3D13-46D7-4CB1-98A5-FAC2F6291F14}"/>
              </a:ext>
            </a:extLst>
          </p:cNvPr>
          <p:cNvSpPr/>
          <p:nvPr/>
        </p:nvSpPr>
        <p:spPr>
          <a:xfrm>
            <a:off x="6942653" y="5111837"/>
            <a:ext cx="41734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2" name="圖形 61">
            <a:extLst>
              <a:ext uri="{FF2B5EF4-FFF2-40B4-BE49-F238E27FC236}">
                <a16:creationId xmlns:a16="http://schemas.microsoft.com/office/drawing/2014/main" id="{89A7E85F-E2CF-4D33-81A9-11FA0B8ED684}"/>
              </a:ext>
            </a:extLst>
          </p:cNvPr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rcRect l="5587" r="56027"/>
          <a:stretch/>
        </p:blipFill>
        <p:spPr>
          <a:xfrm>
            <a:off x="7346950" y="5544458"/>
            <a:ext cx="1454150" cy="624114"/>
          </a:xfrm>
          <a:prstGeom prst="rect">
            <a:avLst/>
          </a:prstGeom>
        </p:spPr>
      </p:pic>
      <p:sp>
        <p:nvSpPr>
          <p:cNvPr id="63" name="矩形 62">
            <a:extLst>
              <a:ext uri="{FF2B5EF4-FFF2-40B4-BE49-F238E27FC236}">
                <a16:creationId xmlns:a16="http://schemas.microsoft.com/office/drawing/2014/main" id="{763F4A1D-6B42-4427-8AAC-4B8F32D572B0}"/>
              </a:ext>
            </a:extLst>
          </p:cNvPr>
          <p:cNvSpPr/>
          <p:nvPr/>
        </p:nvSpPr>
        <p:spPr>
          <a:xfrm>
            <a:off x="6426181" y="633555"/>
            <a:ext cx="13259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內容版面配置區 2">
            <a:extLst>
              <a:ext uri="{FF2B5EF4-FFF2-40B4-BE49-F238E27FC236}">
                <a16:creationId xmlns:a16="http://schemas.microsoft.com/office/drawing/2014/main" id="{0C431AFC-93B5-444E-9CC7-0A4A7A50FFB0}"/>
              </a:ext>
            </a:extLst>
          </p:cNvPr>
          <p:cNvSpPr txBox="1">
            <a:spLocks/>
          </p:cNvSpPr>
          <p:nvPr/>
        </p:nvSpPr>
        <p:spPr>
          <a:xfrm>
            <a:off x="336962" y="706126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 beam in Lorentz gauge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 space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2" name="矩形: 圓角 71">
            <a:extLst>
              <a:ext uri="{FF2B5EF4-FFF2-40B4-BE49-F238E27FC236}">
                <a16:creationId xmlns:a16="http://schemas.microsoft.com/office/drawing/2014/main" id="{621E5C21-81C3-4EC4-9278-AAB1C295D448}"/>
              </a:ext>
            </a:extLst>
          </p:cNvPr>
          <p:cNvSpPr/>
          <p:nvPr/>
        </p:nvSpPr>
        <p:spPr>
          <a:xfrm>
            <a:off x="145773" y="4165600"/>
            <a:ext cx="6022797" cy="2452914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grpSp>
        <p:nvGrpSpPr>
          <p:cNvPr id="74" name="群組 73">
            <a:extLst>
              <a:ext uri="{FF2B5EF4-FFF2-40B4-BE49-F238E27FC236}">
                <a16:creationId xmlns:a16="http://schemas.microsoft.com/office/drawing/2014/main" id="{05E02332-DF6F-4DC4-A3C0-BAABEFF46184}"/>
              </a:ext>
            </a:extLst>
          </p:cNvPr>
          <p:cNvGrpSpPr/>
          <p:nvPr/>
        </p:nvGrpSpPr>
        <p:grpSpPr>
          <a:xfrm>
            <a:off x="291839" y="4516192"/>
            <a:ext cx="4608075" cy="458202"/>
            <a:chOff x="230625" y="4237344"/>
            <a:chExt cx="4608075" cy="4582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11">
                  <a:extLst>
                    <a:ext uri="{FF2B5EF4-FFF2-40B4-BE49-F238E27FC236}">
                      <a16:creationId xmlns:a16="http://schemas.microsoft.com/office/drawing/2014/main" id="{ADF600F8-0EC1-498E-A65A-F68FA50251A9}"/>
                    </a:ext>
                  </a:extLst>
                </p:cNvPr>
                <p:cNvSpPr txBox="1"/>
                <p:nvPr/>
              </p:nvSpPr>
              <p:spPr>
                <a:xfrm>
                  <a:off x="2534601" y="4237344"/>
                  <a:ext cx="2304099" cy="4582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1900" b="1" i="1">
                            <a:latin typeface="Cambria Math" panose="02040503050406030204" pitchFamily="18" charset="0"/>
                          </a:rPr>
                          <m:t>≈</m:t>
                        </m:r>
                        <m:sSub>
                          <m:sSubPr>
                            <m:ctrlPr>
                              <a:rPr lang="en-US" altLang="zh-TW" sz="19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19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𝜺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19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b>
                        </m:sSub>
                        <m:sSub>
                          <m:sSubPr>
                            <m:ctrlPr>
                              <a:rPr lang="en-US" sz="19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9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  <m:r>
                              <a:rPr lang="en-US" sz="19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9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d>
                          <m:dPr>
                            <m:ctrlPr>
                              <a:rPr lang="en-US" sz="1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altLang="zh-TW" sz="19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19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  <m:sSub>
                              <m:sSubPr>
                                <m:ctrlPr>
                                  <a:rPr lang="en-US" altLang="zh-TW" sz="19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TW" sz="19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19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</m:sub>
                            </m:sSub>
                          </m:sup>
                        </m:sSup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0" name="TextBox 11">
                  <a:extLst>
                    <a:ext uri="{FF2B5EF4-FFF2-40B4-BE49-F238E27FC236}">
                      <a16:creationId xmlns:a16="http://schemas.microsoft.com/office/drawing/2014/main" id="{5B0A5375-7C63-4259-8624-534E7230FB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4601" y="4237344"/>
                  <a:ext cx="2304099" cy="458202"/>
                </a:xfrm>
                <a:prstGeom prst="rect">
                  <a:avLst/>
                </a:prstGeom>
                <a:blipFill>
                  <a:blip r:embed="rId7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11">
                  <a:extLst>
                    <a:ext uri="{FF2B5EF4-FFF2-40B4-BE49-F238E27FC236}">
                      <a16:creationId xmlns:a16="http://schemas.microsoft.com/office/drawing/2014/main" id="{96D12F34-8B2B-482D-93FB-8A75566B058B}"/>
                    </a:ext>
                  </a:extLst>
                </p:cNvPr>
                <p:cNvSpPr txBox="1"/>
                <p:nvPr/>
              </p:nvSpPr>
              <p:spPr>
                <a:xfrm>
                  <a:off x="1139109" y="4279215"/>
                  <a:ext cx="718137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19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𝜺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b>
                        </m:sSub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1" name="TextBox 11">
                  <a:extLst>
                    <a:ext uri="{FF2B5EF4-FFF2-40B4-BE49-F238E27FC236}">
                      <a16:creationId xmlns:a16="http://schemas.microsoft.com/office/drawing/2014/main" id="{ADE9BA00-7841-4C72-8634-E30B86FFE0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109" y="4279215"/>
                  <a:ext cx="718137" cy="384721"/>
                </a:xfrm>
                <a:prstGeom prst="rect">
                  <a:avLst/>
                </a:prstGeom>
                <a:blipFill>
                  <a:blip r:embed="rId8"/>
                  <a:stretch>
                    <a:fillRect t="-6349" r="-2118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8" name="圖形 77">
              <a:extLst>
                <a:ext uri="{FF2B5EF4-FFF2-40B4-BE49-F238E27FC236}">
                  <a16:creationId xmlns:a16="http://schemas.microsoft.com/office/drawing/2014/main" id="{F81BBD90-348E-4ADD-9476-6CA58027C2C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rcRect r="75099"/>
            <a:stretch/>
          </p:blipFill>
          <p:spPr>
            <a:xfrm>
              <a:off x="230625" y="4318623"/>
              <a:ext cx="969526" cy="325552"/>
            </a:xfrm>
            <a:prstGeom prst="rect">
              <a:avLst/>
            </a:prstGeom>
          </p:spPr>
        </p:pic>
        <p:pic>
          <p:nvPicPr>
            <p:cNvPr id="81" name="圖形 80">
              <a:extLst>
                <a:ext uri="{FF2B5EF4-FFF2-40B4-BE49-F238E27FC236}">
                  <a16:creationId xmlns:a16="http://schemas.microsoft.com/office/drawing/2014/main" id="{0D91E6E2-56EB-4C57-BDD4-3D538B0A51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rcRect l="35665" r="43419"/>
            <a:stretch/>
          </p:blipFill>
          <p:spPr>
            <a:xfrm>
              <a:off x="1762125" y="4321614"/>
              <a:ext cx="814388" cy="325552"/>
            </a:xfrm>
            <a:prstGeom prst="rect">
              <a:avLst/>
            </a:prstGeom>
          </p:spPr>
        </p:pic>
      </p:grpSp>
      <p:grpSp>
        <p:nvGrpSpPr>
          <p:cNvPr id="82" name="群組 81">
            <a:extLst>
              <a:ext uri="{FF2B5EF4-FFF2-40B4-BE49-F238E27FC236}">
                <a16:creationId xmlns:a16="http://schemas.microsoft.com/office/drawing/2014/main" id="{0E5B80E5-DDFD-4546-8819-D89F0D84F5B5}"/>
              </a:ext>
            </a:extLst>
          </p:cNvPr>
          <p:cNvGrpSpPr/>
          <p:nvPr/>
        </p:nvGrpSpPr>
        <p:grpSpPr>
          <a:xfrm>
            <a:off x="179612" y="5226872"/>
            <a:ext cx="3790993" cy="696216"/>
            <a:chOff x="118398" y="4983915"/>
            <a:chExt cx="3790993" cy="6962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11">
                  <a:extLst>
                    <a:ext uri="{FF2B5EF4-FFF2-40B4-BE49-F238E27FC236}">
                      <a16:creationId xmlns:a16="http://schemas.microsoft.com/office/drawing/2014/main" id="{7746A314-E135-44A6-BD9F-3984D587E05C}"/>
                    </a:ext>
                  </a:extLst>
                </p:cNvPr>
                <p:cNvSpPr txBox="1"/>
                <p:nvPr/>
              </p:nvSpPr>
              <p:spPr>
                <a:xfrm>
                  <a:off x="118398" y="4983915"/>
                  <a:ext cx="3790993" cy="6962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9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p>
                              <m:sSup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  <m:sup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ℓ</m:t>
                                    </m:r>
                                  </m:e>
                                </m:d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zh-TW" sz="1900">
                                <a:latin typeface="Cambria Math" panose="02040503050406030204" pitchFamily="18" charset="0"/>
                              </a:rPr>
                              <m:t>Ω</m:t>
                            </m:r>
                          </m:den>
                        </m:f>
                        <m:r>
                          <a:rPr lang="en-US" altLang="zh-TW" sz="19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ℓ,</m:t>
                                </m:r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1900" dirty="0"/>
                </a:p>
              </p:txBody>
            </p:sp>
          </mc:Choice>
          <mc:Fallback xmlns="">
            <p:sp>
              <p:nvSpPr>
                <p:cNvPr id="39" name="TextBox 11">
                  <a:extLst>
                    <a:ext uri="{FF2B5EF4-FFF2-40B4-BE49-F238E27FC236}">
                      <a16:creationId xmlns:a16="http://schemas.microsoft.com/office/drawing/2014/main" id="{5C86E199-369A-4CED-AB63-D8DB0039AA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398" y="4983915"/>
                  <a:ext cx="3790993" cy="696216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84" name="圖形 83">
              <a:extLst>
                <a:ext uri="{FF2B5EF4-FFF2-40B4-BE49-F238E27FC236}">
                  <a16:creationId xmlns:a16="http://schemas.microsoft.com/office/drawing/2014/main" id="{2F73AA00-5344-4429-9FA6-414BE431B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2461281" y="5276850"/>
              <a:ext cx="401462" cy="258082"/>
            </a:xfrm>
            <a:prstGeom prst="rect">
              <a:avLst/>
            </a:prstGeom>
          </p:spPr>
        </p:pic>
      </p:grpSp>
      <p:cxnSp>
        <p:nvCxnSpPr>
          <p:cNvPr id="85" name="直線單箭頭接點 84">
            <a:extLst>
              <a:ext uri="{FF2B5EF4-FFF2-40B4-BE49-F238E27FC236}">
                <a16:creationId xmlns:a16="http://schemas.microsoft.com/office/drawing/2014/main" id="{04EC9569-5429-42EC-B544-9A743AE4FE03}"/>
              </a:ext>
            </a:extLst>
          </p:cNvPr>
          <p:cNvCxnSpPr>
            <a:cxnSpLocks/>
          </p:cNvCxnSpPr>
          <p:nvPr/>
        </p:nvCxnSpPr>
        <p:spPr>
          <a:xfrm>
            <a:off x="2785503" y="5815013"/>
            <a:ext cx="166687" cy="3286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6249864F-4B2A-4B21-A499-60442975834A}"/>
                  </a:ext>
                </a:extLst>
              </p:cNvPr>
              <p:cNvSpPr/>
              <p:nvPr/>
            </p:nvSpPr>
            <p:spPr>
              <a:xfrm>
                <a:off x="2942295" y="6062138"/>
                <a:ext cx="292599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Hankel transform of order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</m:e>
                    </m:d>
                  </m:oMath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6249864F-4B2A-4B21-A499-6044297583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2295" y="6062138"/>
                <a:ext cx="2925994" cy="369332"/>
              </a:xfrm>
              <a:prstGeom prst="rect">
                <a:avLst/>
              </a:prstGeom>
              <a:blipFill>
                <a:blip r:embed="rId28"/>
                <a:stretch>
                  <a:fillRect l="-1875" t="-81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內容版面配置區 2">
            <a:extLst>
              <a:ext uri="{FF2B5EF4-FFF2-40B4-BE49-F238E27FC236}">
                <a16:creationId xmlns:a16="http://schemas.microsoft.com/office/drawing/2014/main" id="{7ECA3754-3184-47F2-BFC6-0F7D35910E7F}"/>
              </a:ext>
            </a:extLst>
          </p:cNvPr>
          <p:cNvSpPr txBox="1">
            <a:spLocks/>
          </p:cNvSpPr>
          <p:nvPr/>
        </p:nvSpPr>
        <p:spPr>
          <a:xfrm>
            <a:off x="336962" y="3793117"/>
            <a:ext cx="5352638" cy="3567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 beam in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Lorentz gauge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spectrum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5" name="箭號: 弧形左彎 4">
            <a:extLst>
              <a:ext uri="{FF2B5EF4-FFF2-40B4-BE49-F238E27FC236}">
                <a16:creationId xmlns:a16="http://schemas.microsoft.com/office/drawing/2014/main" id="{F442E053-1647-489B-B061-0035639B9CF5}"/>
              </a:ext>
            </a:extLst>
          </p:cNvPr>
          <p:cNvSpPr/>
          <p:nvPr/>
        </p:nvSpPr>
        <p:spPr>
          <a:xfrm>
            <a:off x="5268522" y="2758290"/>
            <a:ext cx="1016314" cy="1703038"/>
          </a:xfrm>
          <a:prstGeom prst="curvedLeftArrow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pic>
        <p:nvPicPr>
          <p:cNvPr id="33" name="圖形 32">
            <a:extLst>
              <a:ext uri="{FF2B5EF4-FFF2-40B4-BE49-F238E27FC236}">
                <a16:creationId xmlns:a16="http://schemas.microsoft.com/office/drawing/2014/main" id="{9EEBE661-26A3-41C1-8273-F7D89BBE96C1}"/>
              </a:ext>
            </a:extLst>
          </p:cNvPr>
          <p:cNvPicPr>
            <a:picLocks noChangeAspect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rcRect l="-87" r="63139"/>
          <a:stretch/>
        </p:blipFill>
        <p:spPr>
          <a:xfrm>
            <a:off x="7132245" y="5614566"/>
            <a:ext cx="233363" cy="210531"/>
          </a:xfrm>
          <a:prstGeom prst="rect">
            <a:avLst/>
          </a:prstGeom>
        </p:spPr>
      </p:pic>
      <p:pic>
        <p:nvPicPr>
          <p:cNvPr id="35" name="圖形 34">
            <a:extLst>
              <a:ext uri="{FF2B5EF4-FFF2-40B4-BE49-F238E27FC236}">
                <a16:creationId xmlns:a16="http://schemas.microsoft.com/office/drawing/2014/main" id="{C4C507DC-9630-473F-9C71-8621F749DDE8}"/>
              </a:ext>
            </a:extLst>
          </p:cNvPr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rcRect l="49923" r="1"/>
          <a:stretch/>
        </p:blipFill>
        <p:spPr>
          <a:xfrm>
            <a:off x="9026524" y="5544458"/>
            <a:ext cx="1896991" cy="624114"/>
          </a:xfrm>
          <a:prstGeom prst="rect">
            <a:avLst/>
          </a:prstGeom>
        </p:spPr>
      </p:pic>
      <p:pic>
        <p:nvPicPr>
          <p:cNvPr id="36" name="圖形 35">
            <a:extLst>
              <a:ext uri="{FF2B5EF4-FFF2-40B4-BE49-F238E27FC236}">
                <a16:creationId xmlns:a16="http://schemas.microsoft.com/office/drawing/2014/main" id="{400678DE-7FC8-467C-8C16-43BCB3B72322}"/>
              </a:ext>
            </a:extLst>
          </p:cNvPr>
          <p:cNvPicPr>
            <a:picLocks noChangeAspect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rcRect l="-87" r="63139"/>
          <a:stretch/>
        </p:blipFill>
        <p:spPr>
          <a:xfrm>
            <a:off x="8793161" y="5605181"/>
            <a:ext cx="233363" cy="210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222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CF72C5D3-8934-4276-9205-FE818E99C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219" y="654405"/>
            <a:ext cx="5714982" cy="3066696"/>
          </a:xfrm>
          <a:prstGeom prst="rect">
            <a:avLst/>
          </a:prstGeom>
        </p:spPr>
      </p:pic>
      <p:sp>
        <p:nvSpPr>
          <p:cNvPr id="51" name="矩形: 圓角 50">
            <a:extLst>
              <a:ext uri="{FF2B5EF4-FFF2-40B4-BE49-F238E27FC236}">
                <a16:creationId xmlns:a16="http://schemas.microsoft.com/office/drawing/2014/main" id="{65EE1D4F-BAD3-491A-913A-93A4DA61F5AC}"/>
              </a:ext>
            </a:extLst>
          </p:cNvPr>
          <p:cNvSpPr/>
          <p:nvPr/>
        </p:nvSpPr>
        <p:spPr>
          <a:xfrm>
            <a:off x="145773" y="4165600"/>
            <a:ext cx="6022797" cy="2452914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Laguerre-Gaussian (LG) beam : Angular spectrum 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30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11">
                <a:extLst>
                  <a:ext uri="{FF2B5EF4-FFF2-40B4-BE49-F238E27FC236}">
                    <a16:creationId xmlns:a16="http://schemas.microsoft.com/office/drawing/2014/main" id="{E1768FCD-402C-49DA-91BC-23B6D2F070A5}"/>
                  </a:ext>
                </a:extLst>
              </p:cNvPr>
              <p:cNvSpPr txBox="1"/>
              <p:nvPr/>
            </p:nvSpPr>
            <p:spPr>
              <a:xfrm>
                <a:off x="1139109" y="7076993"/>
                <a:ext cx="4142014" cy="11552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𝐿𝐺</m:t>
                              </m:r>
                            </m:sup>
                          </m:sSub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9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  <m: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900" i="1" smtClean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190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TW" sz="1900" i="0" smtClean="0">
                              <a:latin typeface="Cambria Math" panose="02040503050406030204" pitchFamily="18" charset="0"/>
                            </a:rPr>
                            <m:t>Ω</m:t>
                          </m:r>
                          <m:rad>
                            <m:radPr>
                              <m:degHide m:val="on"/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9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TW" sz="1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900" i="1" smtClean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sz="1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00" i="1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altLang="zh-TW" sz="19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TW" sz="19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TW" sz="19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d>
                        </m:e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900" i="1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zh-TW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  <m:sup>
                                  <m:r>
                                    <a:rPr lang="en-US" altLang="zh-TW" sz="19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TW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lang="en-US" altLang="zh-TW" sz="1900" dirty="0"/>
              </a:p>
              <a:p>
                <a:pPr algn="just"/>
                <a:endParaRPr lang="en-US" sz="1900" dirty="0"/>
              </a:p>
            </p:txBody>
          </p:sp>
        </mc:Choice>
        <mc:Fallback xmlns="">
          <p:sp>
            <p:nvSpPr>
              <p:cNvPr id="80" name="TextBox 11">
                <a:extLst>
                  <a:ext uri="{FF2B5EF4-FFF2-40B4-BE49-F238E27FC236}">
                    <a16:creationId xmlns:a16="http://schemas.microsoft.com/office/drawing/2014/main" id="{E1768FCD-402C-49DA-91BC-23B6D2F07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109" y="7076993"/>
                <a:ext cx="4142014" cy="115525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6402AF03-AF37-4274-926C-61D91E50A055}"/>
              </a:ext>
            </a:extLst>
          </p:cNvPr>
          <p:cNvGrpSpPr/>
          <p:nvPr/>
        </p:nvGrpSpPr>
        <p:grpSpPr>
          <a:xfrm>
            <a:off x="291839" y="4516192"/>
            <a:ext cx="4608075" cy="458202"/>
            <a:chOff x="230625" y="4237344"/>
            <a:chExt cx="4608075" cy="4582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11">
                  <a:extLst>
                    <a:ext uri="{FF2B5EF4-FFF2-40B4-BE49-F238E27FC236}">
                      <a16:creationId xmlns:a16="http://schemas.microsoft.com/office/drawing/2014/main" id="{353CFA71-6B6F-4F08-AA0E-26B62DA0E6ED}"/>
                    </a:ext>
                  </a:extLst>
                </p:cNvPr>
                <p:cNvSpPr txBox="1"/>
                <p:nvPr/>
              </p:nvSpPr>
              <p:spPr>
                <a:xfrm>
                  <a:off x="2534601" y="4237344"/>
                  <a:ext cx="2304099" cy="4582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1900" b="1" i="1">
                            <a:latin typeface="Cambria Math" panose="02040503050406030204" pitchFamily="18" charset="0"/>
                          </a:rPr>
                          <m:t>≈</m:t>
                        </m:r>
                        <m:sSub>
                          <m:sSubPr>
                            <m:ctrlPr>
                              <a:rPr lang="en-US" altLang="zh-TW" sz="19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19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𝜺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19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b>
                        </m:sSub>
                        <m:sSub>
                          <m:sSubPr>
                            <m:ctrlPr>
                              <a:rPr lang="en-US" sz="19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9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  <m:r>
                              <a:rPr lang="en-US" sz="19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9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d>
                          <m:dPr>
                            <m:ctrlPr>
                              <a:rPr lang="en-US" sz="1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altLang="zh-TW" sz="19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19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  <m:sSub>
                              <m:sSubPr>
                                <m:ctrlPr>
                                  <a:rPr lang="en-US" altLang="zh-TW" sz="19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TW" sz="19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19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</m:sub>
                            </m:sSub>
                          </m:sup>
                        </m:sSup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0" name="TextBox 11">
                  <a:extLst>
                    <a:ext uri="{FF2B5EF4-FFF2-40B4-BE49-F238E27FC236}">
                      <a16:creationId xmlns:a16="http://schemas.microsoft.com/office/drawing/2014/main" id="{5B0A5375-7C63-4259-8624-534E7230FB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4601" y="4237344"/>
                  <a:ext cx="2304099" cy="458202"/>
                </a:xfrm>
                <a:prstGeom prst="rect">
                  <a:avLst/>
                </a:prstGeom>
                <a:blipFill>
                  <a:blip r:embed="rId7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11">
                  <a:extLst>
                    <a:ext uri="{FF2B5EF4-FFF2-40B4-BE49-F238E27FC236}">
                      <a16:creationId xmlns:a16="http://schemas.microsoft.com/office/drawing/2014/main" id="{214BE845-2A0C-4225-B6E5-FAAB0B469FE7}"/>
                    </a:ext>
                  </a:extLst>
                </p:cNvPr>
                <p:cNvSpPr txBox="1"/>
                <p:nvPr/>
              </p:nvSpPr>
              <p:spPr>
                <a:xfrm>
                  <a:off x="1139109" y="4279215"/>
                  <a:ext cx="718137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19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𝜺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b>
                        </m:sSub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1" name="TextBox 11">
                  <a:extLst>
                    <a:ext uri="{FF2B5EF4-FFF2-40B4-BE49-F238E27FC236}">
                      <a16:creationId xmlns:a16="http://schemas.microsoft.com/office/drawing/2014/main" id="{ADE9BA00-7841-4C72-8634-E30B86FFE0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109" y="4279215"/>
                  <a:ext cx="718137" cy="384721"/>
                </a:xfrm>
                <a:prstGeom prst="rect">
                  <a:avLst/>
                </a:prstGeom>
                <a:blipFill>
                  <a:blip r:embed="rId8"/>
                  <a:stretch>
                    <a:fillRect t="-6349" r="-2118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1" name="圖形 30">
              <a:extLst>
                <a:ext uri="{FF2B5EF4-FFF2-40B4-BE49-F238E27FC236}">
                  <a16:creationId xmlns:a16="http://schemas.microsoft.com/office/drawing/2014/main" id="{C7CA0DFE-93B1-4204-9F16-E7AACD7017E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 r="75099"/>
            <a:stretch/>
          </p:blipFill>
          <p:spPr>
            <a:xfrm>
              <a:off x="230625" y="4318623"/>
              <a:ext cx="969526" cy="325552"/>
            </a:xfrm>
            <a:prstGeom prst="rect">
              <a:avLst/>
            </a:prstGeom>
          </p:spPr>
        </p:pic>
        <p:pic>
          <p:nvPicPr>
            <p:cNvPr id="32" name="圖形 31">
              <a:extLst>
                <a:ext uri="{FF2B5EF4-FFF2-40B4-BE49-F238E27FC236}">
                  <a16:creationId xmlns:a16="http://schemas.microsoft.com/office/drawing/2014/main" id="{4B39B452-C5BF-4208-961B-6F8D1D3572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 l="35665" r="43419"/>
            <a:stretch/>
          </p:blipFill>
          <p:spPr>
            <a:xfrm>
              <a:off x="1762125" y="4321614"/>
              <a:ext cx="814388" cy="325552"/>
            </a:xfrm>
            <a:prstGeom prst="rect">
              <a:avLst/>
            </a:prstGeom>
          </p:spPr>
        </p:pic>
      </p:grp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4891F3B2-C193-4960-B8CD-61A6860108CC}"/>
              </a:ext>
            </a:extLst>
          </p:cNvPr>
          <p:cNvGrpSpPr/>
          <p:nvPr/>
        </p:nvGrpSpPr>
        <p:grpSpPr>
          <a:xfrm>
            <a:off x="179612" y="5226872"/>
            <a:ext cx="3790993" cy="696216"/>
            <a:chOff x="118398" y="4983915"/>
            <a:chExt cx="3790993" cy="6962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11">
                  <a:extLst>
                    <a:ext uri="{FF2B5EF4-FFF2-40B4-BE49-F238E27FC236}">
                      <a16:creationId xmlns:a16="http://schemas.microsoft.com/office/drawing/2014/main" id="{842037E1-CE93-49C9-A5FE-F85BFE92D0E5}"/>
                    </a:ext>
                  </a:extLst>
                </p:cNvPr>
                <p:cNvSpPr txBox="1"/>
                <p:nvPr/>
              </p:nvSpPr>
              <p:spPr>
                <a:xfrm>
                  <a:off x="118398" y="4983915"/>
                  <a:ext cx="3790993" cy="6962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9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p>
                              <m:sSup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  <m:sup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ℓ</m:t>
                                    </m:r>
                                  </m:e>
                                </m:d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zh-TW" sz="1900">
                                <a:latin typeface="Cambria Math" panose="02040503050406030204" pitchFamily="18" charset="0"/>
                              </a:rPr>
                              <m:t>Ω</m:t>
                            </m:r>
                          </m:den>
                        </m:f>
                        <m:r>
                          <a:rPr lang="en-US" altLang="zh-TW" sz="19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ℓ,</m:t>
                                </m:r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1900" dirty="0"/>
                </a:p>
              </p:txBody>
            </p:sp>
          </mc:Choice>
          <mc:Fallback xmlns="">
            <p:sp>
              <p:nvSpPr>
                <p:cNvPr id="39" name="TextBox 11">
                  <a:extLst>
                    <a:ext uri="{FF2B5EF4-FFF2-40B4-BE49-F238E27FC236}">
                      <a16:creationId xmlns:a16="http://schemas.microsoft.com/office/drawing/2014/main" id="{5C86E199-369A-4CED-AB63-D8DB0039AA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398" y="4983915"/>
                  <a:ext cx="3790993" cy="696216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5" name="圖形 34">
              <a:extLst>
                <a:ext uri="{FF2B5EF4-FFF2-40B4-BE49-F238E27FC236}">
                  <a16:creationId xmlns:a16="http://schemas.microsoft.com/office/drawing/2014/main" id="{28F54CEF-97D1-456B-8BDD-EFFDF08A7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461281" y="5276850"/>
              <a:ext cx="401462" cy="258082"/>
            </a:xfrm>
            <a:prstGeom prst="rect">
              <a:avLst/>
            </a:prstGeom>
          </p:spPr>
        </p:pic>
      </p:grp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830A37D0-4A48-46AF-8903-557BAF86A07C}"/>
              </a:ext>
            </a:extLst>
          </p:cNvPr>
          <p:cNvCxnSpPr>
            <a:cxnSpLocks/>
          </p:cNvCxnSpPr>
          <p:nvPr/>
        </p:nvCxnSpPr>
        <p:spPr>
          <a:xfrm>
            <a:off x="2785503" y="5815013"/>
            <a:ext cx="166687" cy="3286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136CC445-4A56-4CDB-AAF9-FCE58D2BC8F7}"/>
              </a:ext>
            </a:extLst>
          </p:cNvPr>
          <p:cNvCxnSpPr>
            <a:cxnSpLocks/>
          </p:cNvCxnSpPr>
          <p:nvPr/>
        </p:nvCxnSpPr>
        <p:spPr>
          <a:xfrm flipH="1">
            <a:off x="5892800" y="3743107"/>
            <a:ext cx="6299200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ADD92E8F-6E5D-4E5A-8542-C95CA2F57B28}"/>
                  </a:ext>
                </a:extLst>
              </p:cNvPr>
              <p:cNvSpPr/>
              <p:nvPr/>
            </p:nvSpPr>
            <p:spPr>
              <a:xfrm>
                <a:off x="2942295" y="6062138"/>
                <a:ext cx="292599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Hankel transform of order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</m:e>
                    </m:d>
                  </m:oMath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ADD92E8F-6E5D-4E5A-8542-C95CA2F57B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2295" y="6062138"/>
                <a:ext cx="2925994" cy="369332"/>
              </a:xfrm>
              <a:prstGeom prst="rect">
                <a:avLst/>
              </a:prstGeom>
              <a:blipFill>
                <a:blip r:embed="rId15"/>
                <a:stretch>
                  <a:fillRect l="-1875" t="-81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矩形: 圓角 58">
            <a:extLst>
              <a:ext uri="{FF2B5EF4-FFF2-40B4-BE49-F238E27FC236}">
                <a16:creationId xmlns:a16="http://schemas.microsoft.com/office/drawing/2014/main" id="{45C5C374-04C0-413F-A44A-09786A9700C5}"/>
              </a:ext>
            </a:extLst>
          </p:cNvPr>
          <p:cNvSpPr/>
          <p:nvPr/>
        </p:nvSpPr>
        <p:spPr>
          <a:xfrm>
            <a:off x="145774" y="1059542"/>
            <a:ext cx="5529600" cy="1988458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11">
                <a:extLst>
                  <a:ext uri="{FF2B5EF4-FFF2-40B4-BE49-F238E27FC236}">
                    <a16:creationId xmlns:a16="http://schemas.microsoft.com/office/drawing/2014/main" id="{B1CCB6D8-5684-48AB-98BE-19AC3FFA3838}"/>
                  </a:ext>
                </a:extLst>
              </p:cNvPr>
              <p:cNvSpPr txBox="1"/>
              <p:nvPr/>
            </p:nvSpPr>
            <p:spPr>
              <a:xfrm>
                <a:off x="123374" y="1949521"/>
                <a:ext cx="5495548" cy="9562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US" altLang="zh-TW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9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LG</m:t>
                          </m:r>
                        </m:sup>
                      </m:sSubSup>
                      <m:rad>
                        <m:radPr>
                          <m:degHide m:val="on"/>
                          <m:ctrlPr>
                            <a:rPr lang="en-US" altLang="zh-TW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rad>
                      <m:sSubSup>
                        <m:sSub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sup>
                      </m:sSup>
                    </m:oMath>
                  </m:oMathPara>
                </a14:m>
                <a:endParaRPr lang="en-US" sz="1900" dirty="0"/>
              </a:p>
            </p:txBody>
          </p:sp>
        </mc:Choice>
        <mc:Fallback xmlns="">
          <p:sp>
            <p:nvSpPr>
              <p:cNvPr id="60" name="TextBox 11">
                <a:extLst>
                  <a:ext uri="{FF2B5EF4-FFF2-40B4-BE49-F238E27FC236}">
                    <a16:creationId xmlns:a16="http://schemas.microsoft.com/office/drawing/2014/main" id="{B1CCB6D8-5684-48AB-98BE-19AC3FFA3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74" y="1949521"/>
                <a:ext cx="5495548" cy="95622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11">
                <a:extLst>
                  <a:ext uri="{FF2B5EF4-FFF2-40B4-BE49-F238E27FC236}">
                    <a16:creationId xmlns:a16="http://schemas.microsoft.com/office/drawing/2014/main" id="{E67888D8-36E6-455B-B85D-7A75E4C58C2C}"/>
                  </a:ext>
                </a:extLst>
              </p:cNvPr>
              <p:cNvSpPr txBox="1"/>
              <p:nvPr/>
            </p:nvSpPr>
            <p:spPr>
              <a:xfrm>
                <a:off x="123374" y="1137667"/>
                <a:ext cx="5324926" cy="452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9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sz="19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1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TW" sz="1900" b="1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TW" sz="1900" b="1" i="1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TW" sz="19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sSup>
                        <m:sSupPr>
                          <m:ctrlPr>
                            <a:rPr lang="en-US" altLang="zh-TW" sz="19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2" name="TextBox 11">
                <a:extLst>
                  <a:ext uri="{FF2B5EF4-FFF2-40B4-BE49-F238E27FC236}">
                    <a16:creationId xmlns:a16="http://schemas.microsoft.com/office/drawing/2014/main" id="{E67888D8-36E6-455B-B85D-7A75E4C58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74" y="1137667"/>
                <a:ext cx="5324926" cy="452303"/>
              </a:xfrm>
              <a:prstGeom prst="rect">
                <a:avLst/>
              </a:prstGeom>
              <a:blipFill>
                <a:blip r:embed="rId17"/>
                <a:stretch>
                  <a:fillRect t="-2703" b="-13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內容版面配置區 2">
            <a:extLst>
              <a:ext uri="{FF2B5EF4-FFF2-40B4-BE49-F238E27FC236}">
                <a16:creationId xmlns:a16="http://schemas.microsoft.com/office/drawing/2014/main" id="{522076F3-7EAC-4D41-98D0-F8327C0F930C}"/>
              </a:ext>
            </a:extLst>
          </p:cNvPr>
          <p:cNvSpPr txBox="1">
            <a:spLocks/>
          </p:cNvSpPr>
          <p:nvPr/>
        </p:nvSpPr>
        <p:spPr>
          <a:xfrm>
            <a:off x="7969432" y="3718506"/>
            <a:ext cx="2533468" cy="3673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Similar structure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92BE52-A184-4BF5-8ED6-AE9C1F36C6EB}"/>
              </a:ext>
            </a:extLst>
          </p:cNvPr>
          <p:cNvPicPr>
            <a:picLocks noChangeAspect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73800" y="3771444"/>
            <a:ext cx="5753100" cy="3091734"/>
          </a:xfrm>
          <a:prstGeom prst="rect">
            <a:avLst/>
          </a:prstGeom>
        </p:spPr>
      </p:pic>
      <p:sp>
        <p:nvSpPr>
          <p:cNvPr id="91" name="內容版面配置區 2">
            <a:extLst>
              <a:ext uri="{FF2B5EF4-FFF2-40B4-BE49-F238E27FC236}">
                <a16:creationId xmlns:a16="http://schemas.microsoft.com/office/drawing/2014/main" id="{C844828E-CCE5-434F-89D9-2CF4F99D3917}"/>
              </a:ext>
            </a:extLst>
          </p:cNvPr>
          <p:cNvSpPr txBox="1">
            <a:spLocks/>
          </p:cNvSpPr>
          <p:nvPr/>
        </p:nvSpPr>
        <p:spPr>
          <a:xfrm>
            <a:off x="336962" y="706126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 beam in Lorentz gauge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 space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94" name="內容版面配置區 2">
            <a:extLst>
              <a:ext uri="{FF2B5EF4-FFF2-40B4-BE49-F238E27FC236}">
                <a16:creationId xmlns:a16="http://schemas.microsoft.com/office/drawing/2014/main" id="{3FF29AC2-FFAF-4401-8175-E6DB453BFBE3}"/>
              </a:ext>
            </a:extLst>
          </p:cNvPr>
          <p:cNvSpPr txBox="1">
            <a:spLocks/>
          </p:cNvSpPr>
          <p:nvPr/>
        </p:nvSpPr>
        <p:spPr>
          <a:xfrm>
            <a:off x="336962" y="3793117"/>
            <a:ext cx="5352638" cy="3567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 beam in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Lorentz gauge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spectrum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26408083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Laguerre-Gaussian (LG) beam : Coulomb gauge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31</a:t>
            </a:fld>
            <a:endParaRPr lang="zh-TW" altLang="en-US"/>
          </a:p>
        </p:txBody>
      </p:sp>
      <p:sp>
        <p:nvSpPr>
          <p:cNvPr id="69" name="矩形: 圓角 68">
            <a:extLst>
              <a:ext uri="{FF2B5EF4-FFF2-40B4-BE49-F238E27FC236}">
                <a16:creationId xmlns:a16="http://schemas.microsoft.com/office/drawing/2014/main" id="{8A277EBC-87DE-49DD-9BD9-3C2843C3CFC4}"/>
              </a:ext>
            </a:extLst>
          </p:cNvPr>
          <p:cNvSpPr/>
          <p:nvPr/>
        </p:nvSpPr>
        <p:spPr>
          <a:xfrm>
            <a:off x="145774" y="1059542"/>
            <a:ext cx="5529600" cy="1988458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11">
                <a:extLst>
                  <a:ext uri="{FF2B5EF4-FFF2-40B4-BE49-F238E27FC236}">
                    <a16:creationId xmlns:a16="http://schemas.microsoft.com/office/drawing/2014/main" id="{E12B59F1-D203-4170-B4BC-AB687EDC2CF4}"/>
                  </a:ext>
                </a:extLst>
              </p:cNvPr>
              <p:cNvSpPr txBox="1"/>
              <p:nvPr/>
            </p:nvSpPr>
            <p:spPr>
              <a:xfrm>
                <a:off x="123374" y="1949521"/>
                <a:ext cx="5495548" cy="9562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US" altLang="zh-TW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9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LG</m:t>
                          </m:r>
                        </m:sup>
                      </m:sSubSup>
                      <m:rad>
                        <m:radPr>
                          <m:degHide m:val="on"/>
                          <m:ctrlPr>
                            <a:rPr lang="en-US" altLang="zh-TW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rad>
                      <m:sSubSup>
                        <m:sSub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sup>
                      </m:sSup>
                    </m:oMath>
                  </m:oMathPara>
                </a14:m>
                <a:endParaRPr lang="en-US" sz="1900" dirty="0"/>
              </a:p>
            </p:txBody>
          </p:sp>
        </mc:Choice>
        <mc:Fallback xmlns="">
          <p:sp>
            <p:nvSpPr>
              <p:cNvPr id="70" name="TextBox 11">
                <a:extLst>
                  <a:ext uri="{FF2B5EF4-FFF2-40B4-BE49-F238E27FC236}">
                    <a16:creationId xmlns:a16="http://schemas.microsoft.com/office/drawing/2014/main" id="{E12B59F1-D203-4170-B4BC-AB687EDC2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74" y="1949521"/>
                <a:ext cx="5495548" cy="9562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11">
                <a:extLst>
                  <a:ext uri="{FF2B5EF4-FFF2-40B4-BE49-F238E27FC236}">
                    <a16:creationId xmlns:a16="http://schemas.microsoft.com/office/drawing/2014/main" id="{2955B062-7CD5-41AA-80C9-523ED55865AD}"/>
                  </a:ext>
                </a:extLst>
              </p:cNvPr>
              <p:cNvSpPr txBox="1"/>
              <p:nvPr/>
            </p:nvSpPr>
            <p:spPr>
              <a:xfrm>
                <a:off x="123374" y="1137667"/>
                <a:ext cx="5324926" cy="452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9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sz="19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1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TW" sz="1900" b="1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TW" sz="1900" b="1" i="1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TW" sz="19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sSup>
                        <m:sSupPr>
                          <m:ctrlPr>
                            <a:rPr lang="en-US" altLang="zh-TW" sz="19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1" name="TextBox 11">
                <a:extLst>
                  <a:ext uri="{FF2B5EF4-FFF2-40B4-BE49-F238E27FC236}">
                    <a16:creationId xmlns:a16="http://schemas.microsoft.com/office/drawing/2014/main" id="{2955B062-7CD5-41AA-80C9-523ED5586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74" y="1137667"/>
                <a:ext cx="5324926" cy="452303"/>
              </a:xfrm>
              <a:prstGeom prst="rect">
                <a:avLst/>
              </a:prstGeom>
              <a:blipFill>
                <a:blip r:embed="rId6"/>
                <a:stretch>
                  <a:fillRect t="-2703" b="-13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內容版面配置區 2">
            <a:extLst>
              <a:ext uri="{FF2B5EF4-FFF2-40B4-BE49-F238E27FC236}">
                <a16:creationId xmlns:a16="http://schemas.microsoft.com/office/drawing/2014/main" id="{C9373A8B-F465-4B45-A349-99B0B54EAE89}"/>
              </a:ext>
            </a:extLst>
          </p:cNvPr>
          <p:cNvSpPr txBox="1">
            <a:spLocks/>
          </p:cNvSpPr>
          <p:nvPr/>
        </p:nvSpPr>
        <p:spPr>
          <a:xfrm>
            <a:off x="336962" y="706126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 beam in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Lorentz gauge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real space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1962472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矩形: 圓角 105">
            <a:extLst>
              <a:ext uri="{FF2B5EF4-FFF2-40B4-BE49-F238E27FC236}">
                <a16:creationId xmlns:a16="http://schemas.microsoft.com/office/drawing/2014/main" id="{75D006F5-E7C4-4966-AF3C-591A8753C563}"/>
              </a:ext>
            </a:extLst>
          </p:cNvPr>
          <p:cNvSpPr/>
          <p:nvPr/>
        </p:nvSpPr>
        <p:spPr>
          <a:xfrm>
            <a:off x="5769487" y="1028699"/>
            <a:ext cx="6347220" cy="2367644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1">
                <a:extLst>
                  <a:ext uri="{FF2B5EF4-FFF2-40B4-BE49-F238E27FC236}">
                    <a16:creationId xmlns:a16="http://schemas.microsoft.com/office/drawing/2014/main" id="{953EF02A-4859-4A93-B940-65485C9C9FE1}"/>
                  </a:ext>
                </a:extLst>
              </p:cNvPr>
              <p:cNvSpPr txBox="1"/>
              <p:nvPr/>
            </p:nvSpPr>
            <p:spPr>
              <a:xfrm>
                <a:off x="6078352" y="1885942"/>
                <a:ext cx="5324926" cy="4573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∥</m:t>
                          </m:r>
                        </m:sup>
                      </m:sSubSup>
                      <m:d>
                        <m:d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sSup>
                        <m:sSupPr>
                          <m:ctrlPr>
                            <a:rPr lang="en-US" altLang="zh-TW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sSup>
                        <m:sSupPr>
                          <m:ctrlP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altLang="zh-TW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8" name="TextBox 11">
                <a:extLst>
                  <a:ext uri="{FF2B5EF4-FFF2-40B4-BE49-F238E27FC236}">
                    <a16:creationId xmlns:a16="http://schemas.microsoft.com/office/drawing/2014/main" id="{953EF02A-4859-4A93-B940-65485C9C9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8352" y="1885942"/>
                <a:ext cx="5324926" cy="457305"/>
              </a:xfrm>
              <a:prstGeom prst="rect">
                <a:avLst/>
              </a:prstGeom>
              <a:blipFill>
                <a:blip r:embed="rId2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1">
                <a:extLst>
                  <a:ext uri="{FF2B5EF4-FFF2-40B4-BE49-F238E27FC236}">
                    <a16:creationId xmlns:a16="http://schemas.microsoft.com/office/drawing/2014/main" id="{97D23508-44DA-43C9-A59E-639DCF2FC298}"/>
                  </a:ext>
                </a:extLst>
              </p:cNvPr>
              <p:cNvSpPr txBox="1"/>
              <p:nvPr/>
            </p:nvSpPr>
            <p:spPr>
              <a:xfrm>
                <a:off x="6078352" y="2606120"/>
                <a:ext cx="6307011" cy="766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bSup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)≈</m:t>
                      </m:r>
                      <m:f>
                        <m:fPr>
                          <m:ctrlP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  <m:sSub>
                            <m:sSubPr>
                              <m:ctrlP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TW" sz="19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TW" sz="19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9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9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9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19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sz="19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  <m:r>
                            <a:rPr lang="en-US" altLang="zh-TW" sz="19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TW" sz="19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9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zh-TW" sz="19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9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altLang="zh-TW" sz="19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altLang="zh-TW" sz="19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9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zh-TW" sz="19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sSup>
                        <m:sSupPr>
                          <m:ctrlP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+ℓ</m:t>
                              </m:r>
                            </m:e>
                          </m:d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sSup>
                        <m:sSupPr>
                          <m:ctrlP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altLang="zh-TW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9" name="TextBox 11">
                <a:extLst>
                  <a:ext uri="{FF2B5EF4-FFF2-40B4-BE49-F238E27FC236}">
                    <a16:creationId xmlns:a16="http://schemas.microsoft.com/office/drawing/2014/main" id="{97D23508-44DA-43C9-A59E-639DCF2FC2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8352" y="2606120"/>
                <a:ext cx="6307011" cy="7661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TextBox 11">
            <a:extLst>
              <a:ext uri="{FF2B5EF4-FFF2-40B4-BE49-F238E27FC236}">
                <a16:creationId xmlns:a16="http://schemas.microsoft.com/office/drawing/2014/main" id="{B77B4F4D-5DFF-4010-9902-7D96EE38AC1D}"/>
              </a:ext>
            </a:extLst>
          </p:cNvPr>
          <p:cNvSpPr txBox="1"/>
          <p:nvPr/>
        </p:nvSpPr>
        <p:spPr>
          <a:xfrm>
            <a:off x="5788067" y="1554451"/>
            <a:ext cx="5324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component :</a:t>
            </a:r>
          </a:p>
        </p:txBody>
      </p:sp>
      <p:sp>
        <p:nvSpPr>
          <p:cNvPr id="111" name="TextBox 11">
            <a:extLst>
              <a:ext uri="{FF2B5EF4-FFF2-40B4-BE49-F238E27FC236}">
                <a16:creationId xmlns:a16="http://schemas.microsoft.com/office/drawing/2014/main" id="{8D053529-8779-4646-BE9E-F76399E58DCB}"/>
              </a:ext>
            </a:extLst>
          </p:cNvPr>
          <p:cNvSpPr txBox="1"/>
          <p:nvPr/>
        </p:nvSpPr>
        <p:spPr>
          <a:xfrm>
            <a:off x="5788067" y="2274628"/>
            <a:ext cx="5324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 :</a:t>
            </a:r>
          </a:p>
        </p:txBody>
      </p:sp>
      <p:sp>
        <p:nvSpPr>
          <p:cNvPr id="112" name="內容版面配置區 2">
            <a:extLst>
              <a:ext uri="{FF2B5EF4-FFF2-40B4-BE49-F238E27FC236}">
                <a16:creationId xmlns:a16="http://schemas.microsoft.com/office/drawing/2014/main" id="{F68C7127-BF40-491F-94FF-F3091B172FAE}"/>
              </a:ext>
            </a:extLst>
          </p:cNvPr>
          <p:cNvSpPr txBox="1">
            <a:spLocks/>
          </p:cNvSpPr>
          <p:nvPr/>
        </p:nvSpPr>
        <p:spPr>
          <a:xfrm>
            <a:off x="5960676" y="693052"/>
            <a:ext cx="4945193" cy="3567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 beam in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Coulomb gauge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 space: </a:t>
            </a:r>
          </a:p>
        </p:txBody>
      </p:sp>
      <p:sp>
        <p:nvSpPr>
          <p:cNvPr id="94" name="矩形: 圓角 93">
            <a:extLst>
              <a:ext uri="{FF2B5EF4-FFF2-40B4-BE49-F238E27FC236}">
                <a16:creationId xmlns:a16="http://schemas.microsoft.com/office/drawing/2014/main" id="{AB4A814D-471E-4A7B-9548-4B6E2275DE95}"/>
              </a:ext>
            </a:extLst>
          </p:cNvPr>
          <p:cNvSpPr/>
          <p:nvPr/>
        </p:nvSpPr>
        <p:spPr>
          <a:xfrm>
            <a:off x="2594428" y="4586514"/>
            <a:ext cx="5655471" cy="1908510"/>
          </a:xfrm>
          <a:prstGeom prst="roundRect">
            <a:avLst>
              <a:gd name="adj" fmla="val 18092"/>
            </a:avLst>
          </a:prstGeom>
          <a:ln w="57150">
            <a:solidFill>
              <a:srgbClr val="0070C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>
              <a:solidFill>
                <a:srgbClr val="00B050"/>
              </a:solidFill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Laguerre-Gaussian (LG) beam : Coulomb gauge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32</a:t>
            </a:fld>
            <a:endParaRPr lang="zh-TW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19549506-D6E8-47A6-A551-777DE6A27C0A}"/>
              </a:ext>
            </a:extLst>
          </p:cNvPr>
          <p:cNvSpPr/>
          <p:nvPr/>
        </p:nvSpPr>
        <p:spPr>
          <a:xfrm>
            <a:off x="2603481" y="4186832"/>
            <a:ext cx="13259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23D8AEAE-EFCC-46F0-8909-69731EFC7BDB}"/>
              </a:ext>
            </a:extLst>
          </p:cNvPr>
          <p:cNvSpPr/>
          <p:nvPr/>
        </p:nvSpPr>
        <p:spPr>
          <a:xfrm>
            <a:off x="3135232" y="4878530"/>
            <a:ext cx="457386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 from Maxwell’s equations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11">
                <a:extLst>
                  <a:ext uri="{FF2B5EF4-FFF2-40B4-BE49-F238E27FC236}">
                    <a16:creationId xmlns:a16="http://schemas.microsoft.com/office/drawing/2014/main" id="{23A68734-0C0E-498A-941B-F4A4F9C99E78}"/>
                  </a:ext>
                </a:extLst>
              </p:cNvPr>
              <p:cNvSpPr txBox="1"/>
              <p:nvPr/>
            </p:nvSpPr>
            <p:spPr>
              <a:xfrm>
                <a:off x="3252194" y="5248992"/>
                <a:ext cx="4339939" cy="875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9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smtClean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190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d>
                        <m:dPr>
                          <m:ctrlPr>
                            <a:rPr lang="en-US" altLang="zh-TW" sz="19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TW" sz="190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TW" sz="190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sz="19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TW" sz="190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d>
                            <m:dPr>
                              <m:ctrlPr>
                                <a:rPr lang="en-US" altLang="zh-TW" sz="19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900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altLang="zh-TW" sz="190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Sup>
                                <m:sSubSupPr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,ℓ,</m:t>
                                  </m:r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  <m:sup>
                                  <m:r>
                                    <a:rPr lang="en-US" altLang="zh-TW" sz="19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sSubSup>
                            <m:sSubSupPr>
                              <m:ctrlPr>
                                <a:rPr lang="en-US" altLang="zh-TW" sz="19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90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9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TW" sz="19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sz="1900" dirty="0"/>
              </a:p>
            </p:txBody>
          </p:sp>
        </mc:Choice>
        <mc:Fallback xmlns="">
          <p:sp>
            <p:nvSpPr>
              <p:cNvPr id="56" name="TextBox 11">
                <a:extLst>
                  <a:ext uri="{FF2B5EF4-FFF2-40B4-BE49-F238E27FC236}">
                    <a16:creationId xmlns:a16="http://schemas.microsoft.com/office/drawing/2014/main" id="{23A68734-0C0E-498A-941B-F4A4F9C99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2194" y="5248992"/>
                <a:ext cx="4339939" cy="8753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矩形: 圓角 68">
            <a:extLst>
              <a:ext uri="{FF2B5EF4-FFF2-40B4-BE49-F238E27FC236}">
                <a16:creationId xmlns:a16="http://schemas.microsoft.com/office/drawing/2014/main" id="{8A277EBC-87DE-49DD-9BD9-3C2843C3CFC4}"/>
              </a:ext>
            </a:extLst>
          </p:cNvPr>
          <p:cNvSpPr/>
          <p:nvPr/>
        </p:nvSpPr>
        <p:spPr>
          <a:xfrm>
            <a:off x="145774" y="1059542"/>
            <a:ext cx="5529600" cy="1988458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11">
                <a:extLst>
                  <a:ext uri="{FF2B5EF4-FFF2-40B4-BE49-F238E27FC236}">
                    <a16:creationId xmlns:a16="http://schemas.microsoft.com/office/drawing/2014/main" id="{E12B59F1-D203-4170-B4BC-AB687EDC2CF4}"/>
                  </a:ext>
                </a:extLst>
              </p:cNvPr>
              <p:cNvSpPr txBox="1"/>
              <p:nvPr/>
            </p:nvSpPr>
            <p:spPr>
              <a:xfrm>
                <a:off x="123374" y="1949521"/>
                <a:ext cx="5495548" cy="9562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US" altLang="zh-TW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9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LG</m:t>
                          </m:r>
                        </m:sup>
                      </m:sSubSup>
                      <m:rad>
                        <m:radPr>
                          <m:degHide m:val="on"/>
                          <m:ctrlPr>
                            <a:rPr lang="en-US" altLang="zh-TW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rad>
                      <m:sSubSup>
                        <m:sSub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sup>
                      </m:sSup>
                    </m:oMath>
                  </m:oMathPara>
                </a14:m>
                <a:endParaRPr lang="en-US" sz="1900" dirty="0"/>
              </a:p>
            </p:txBody>
          </p:sp>
        </mc:Choice>
        <mc:Fallback xmlns="">
          <p:sp>
            <p:nvSpPr>
              <p:cNvPr id="70" name="TextBox 11">
                <a:extLst>
                  <a:ext uri="{FF2B5EF4-FFF2-40B4-BE49-F238E27FC236}">
                    <a16:creationId xmlns:a16="http://schemas.microsoft.com/office/drawing/2014/main" id="{E12B59F1-D203-4170-B4BC-AB687EDC2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74" y="1949521"/>
                <a:ext cx="5495548" cy="9562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11">
                <a:extLst>
                  <a:ext uri="{FF2B5EF4-FFF2-40B4-BE49-F238E27FC236}">
                    <a16:creationId xmlns:a16="http://schemas.microsoft.com/office/drawing/2014/main" id="{2955B062-7CD5-41AA-80C9-523ED55865AD}"/>
                  </a:ext>
                </a:extLst>
              </p:cNvPr>
              <p:cNvSpPr txBox="1"/>
              <p:nvPr/>
            </p:nvSpPr>
            <p:spPr>
              <a:xfrm>
                <a:off x="123374" y="1137667"/>
                <a:ext cx="5324926" cy="452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9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sz="19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1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TW" sz="1900" b="1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TW" sz="1900" b="1" i="1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TW" sz="19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sSup>
                        <m:sSupPr>
                          <m:ctrlPr>
                            <a:rPr lang="en-US" altLang="zh-TW" sz="19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1" name="TextBox 11">
                <a:extLst>
                  <a:ext uri="{FF2B5EF4-FFF2-40B4-BE49-F238E27FC236}">
                    <a16:creationId xmlns:a16="http://schemas.microsoft.com/office/drawing/2014/main" id="{2955B062-7CD5-41AA-80C9-523ED5586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74" y="1137667"/>
                <a:ext cx="5324926" cy="452303"/>
              </a:xfrm>
              <a:prstGeom prst="rect">
                <a:avLst/>
              </a:prstGeom>
              <a:blipFill>
                <a:blip r:embed="rId6"/>
                <a:stretch>
                  <a:fillRect t="-2703" b="-13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箭號: 弧形左彎 56">
            <a:extLst>
              <a:ext uri="{FF2B5EF4-FFF2-40B4-BE49-F238E27FC236}">
                <a16:creationId xmlns:a16="http://schemas.microsoft.com/office/drawing/2014/main" id="{440C7588-C3EC-4338-BD54-E5F4200E3E74}"/>
              </a:ext>
            </a:extLst>
          </p:cNvPr>
          <p:cNvSpPr/>
          <p:nvPr/>
        </p:nvSpPr>
        <p:spPr>
          <a:xfrm rot="17266193" flipH="1">
            <a:off x="4935173" y="2991492"/>
            <a:ext cx="1015200" cy="1703038"/>
          </a:xfrm>
          <a:prstGeom prst="curvedLeft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D3F1AF64-E5A6-4890-914E-E4BB7968272A}"/>
              </a:ext>
            </a:extLst>
          </p:cNvPr>
          <p:cNvSpPr/>
          <p:nvPr/>
        </p:nvSpPr>
        <p:spPr>
          <a:xfrm>
            <a:off x="7008686" y="3374687"/>
            <a:ext cx="3925544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Additional component </a:t>
            </a:r>
            <a:endParaRPr lang="zh-TW" altLang="en-US" sz="2400" b="1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">
                <a:extLst>
                  <a:ext uri="{FF2B5EF4-FFF2-40B4-BE49-F238E27FC236}">
                    <a16:creationId xmlns:a16="http://schemas.microsoft.com/office/drawing/2014/main" id="{6D70999D-BC9B-469D-AFE3-B2A27AA57EB5}"/>
                  </a:ext>
                </a:extLst>
              </p:cNvPr>
              <p:cNvSpPr txBox="1"/>
              <p:nvPr/>
            </p:nvSpPr>
            <p:spPr>
              <a:xfrm>
                <a:off x="5773552" y="1165765"/>
                <a:ext cx="5324926" cy="4573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1" i="1" dirty="0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sSubSup>
                        <m:sSubSupPr>
                          <m:ctrlP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1" i="1" dirty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d>
                        <m:dPr>
                          <m:ctrlP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TW" sz="1900" i="1" dirty="0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∥</m:t>
                          </m:r>
                        </m:sup>
                      </m:sSubSup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bSup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̂"/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9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4" name="TextBox 11">
                <a:extLst>
                  <a:ext uri="{FF2B5EF4-FFF2-40B4-BE49-F238E27FC236}">
                    <a16:creationId xmlns:a16="http://schemas.microsoft.com/office/drawing/2014/main" id="{6D70999D-BC9B-469D-AFE3-B2A27AA57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3552" y="1165765"/>
                <a:ext cx="5324926" cy="457305"/>
              </a:xfrm>
              <a:prstGeom prst="rect">
                <a:avLst/>
              </a:prstGeom>
              <a:blipFill>
                <a:blip r:embed="rId7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內容版面配置區 2">
            <a:extLst>
              <a:ext uri="{FF2B5EF4-FFF2-40B4-BE49-F238E27FC236}">
                <a16:creationId xmlns:a16="http://schemas.microsoft.com/office/drawing/2014/main" id="{C9373A8B-F465-4B45-A349-99B0B54EAE89}"/>
              </a:ext>
            </a:extLst>
          </p:cNvPr>
          <p:cNvSpPr txBox="1">
            <a:spLocks/>
          </p:cNvSpPr>
          <p:nvPr/>
        </p:nvSpPr>
        <p:spPr>
          <a:xfrm>
            <a:off x="336962" y="706126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 beam in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Lorentz gauge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real space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7342642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矩形: 圓角 105">
            <a:extLst>
              <a:ext uri="{FF2B5EF4-FFF2-40B4-BE49-F238E27FC236}">
                <a16:creationId xmlns:a16="http://schemas.microsoft.com/office/drawing/2014/main" id="{75D006F5-E7C4-4966-AF3C-591A8753C563}"/>
              </a:ext>
            </a:extLst>
          </p:cNvPr>
          <p:cNvSpPr/>
          <p:nvPr/>
        </p:nvSpPr>
        <p:spPr>
          <a:xfrm>
            <a:off x="5769487" y="1028699"/>
            <a:ext cx="6347220" cy="2367644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1">
                <a:extLst>
                  <a:ext uri="{FF2B5EF4-FFF2-40B4-BE49-F238E27FC236}">
                    <a16:creationId xmlns:a16="http://schemas.microsoft.com/office/drawing/2014/main" id="{953EF02A-4859-4A93-B940-65485C9C9FE1}"/>
                  </a:ext>
                </a:extLst>
              </p:cNvPr>
              <p:cNvSpPr txBox="1"/>
              <p:nvPr/>
            </p:nvSpPr>
            <p:spPr>
              <a:xfrm>
                <a:off x="6078352" y="1885942"/>
                <a:ext cx="5324926" cy="4573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∥</m:t>
                          </m:r>
                        </m:sup>
                      </m:sSubSup>
                      <m:d>
                        <m:d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sSup>
                        <m:sSupPr>
                          <m:ctrlPr>
                            <a:rPr lang="en-US" altLang="zh-TW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sSup>
                        <m:sSupPr>
                          <m:ctrlP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altLang="zh-TW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8" name="TextBox 11">
                <a:extLst>
                  <a:ext uri="{FF2B5EF4-FFF2-40B4-BE49-F238E27FC236}">
                    <a16:creationId xmlns:a16="http://schemas.microsoft.com/office/drawing/2014/main" id="{953EF02A-4859-4A93-B940-65485C9C9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8352" y="1885942"/>
                <a:ext cx="5324926" cy="457305"/>
              </a:xfrm>
              <a:prstGeom prst="rect">
                <a:avLst/>
              </a:prstGeom>
              <a:blipFill>
                <a:blip r:embed="rId2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TextBox 11">
            <a:extLst>
              <a:ext uri="{FF2B5EF4-FFF2-40B4-BE49-F238E27FC236}">
                <a16:creationId xmlns:a16="http://schemas.microsoft.com/office/drawing/2014/main" id="{B77B4F4D-5DFF-4010-9902-7D96EE38AC1D}"/>
              </a:ext>
            </a:extLst>
          </p:cNvPr>
          <p:cNvSpPr txBox="1"/>
          <p:nvPr/>
        </p:nvSpPr>
        <p:spPr>
          <a:xfrm>
            <a:off x="5788067" y="1554451"/>
            <a:ext cx="5324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component :</a:t>
            </a:r>
          </a:p>
        </p:txBody>
      </p:sp>
      <p:sp>
        <p:nvSpPr>
          <p:cNvPr id="111" name="TextBox 11">
            <a:extLst>
              <a:ext uri="{FF2B5EF4-FFF2-40B4-BE49-F238E27FC236}">
                <a16:creationId xmlns:a16="http://schemas.microsoft.com/office/drawing/2014/main" id="{8D053529-8779-4646-BE9E-F76399E58DCB}"/>
              </a:ext>
            </a:extLst>
          </p:cNvPr>
          <p:cNvSpPr txBox="1"/>
          <p:nvPr/>
        </p:nvSpPr>
        <p:spPr>
          <a:xfrm>
            <a:off x="5788067" y="2274628"/>
            <a:ext cx="5324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 :</a:t>
            </a:r>
          </a:p>
        </p:txBody>
      </p:sp>
      <p:sp>
        <p:nvSpPr>
          <p:cNvPr id="112" name="內容版面配置區 2">
            <a:extLst>
              <a:ext uri="{FF2B5EF4-FFF2-40B4-BE49-F238E27FC236}">
                <a16:creationId xmlns:a16="http://schemas.microsoft.com/office/drawing/2014/main" id="{F68C7127-BF40-491F-94FF-F3091B172FAE}"/>
              </a:ext>
            </a:extLst>
          </p:cNvPr>
          <p:cNvSpPr txBox="1">
            <a:spLocks/>
          </p:cNvSpPr>
          <p:nvPr/>
        </p:nvSpPr>
        <p:spPr>
          <a:xfrm>
            <a:off x="5960676" y="693052"/>
            <a:ext cx="4945193" cy="3567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 beam in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Coulomb gauge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 space: </a:t>
            </a: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Laguerre-Gaussian (LG) beam : Coulomb gauge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33</a:t>
            </a:fld>
            <a:endParaRPr lang="zh-TW" altLang="en-US"/>
          </a:p>
        </p:txBody>
      </p:sp>
      <p:sp>
        <p:nvSpPr>
          <p:cNvPr id="69" name="矩形: 圓角 68">
            <a:extLst>
              <a:ext uri="{FF2B5EF4-FFF2-40B4-BE49-F238E27FC236}">
                <a16:creationId xmlns:a16="http://schemas.microsoft.com/office/drawing/2014/main" id="{8A277EBC-87DE-49DD-9BD9-3C2843C3CFC4}"/>
              </a:ext>
            </a:extLst>
          </p:cNvPr>
          <p:cNvSpPr/>
          <p:nvPr/>
        </p:nvSpPr>
        <p:spPr>
          <a:xfrm>
            <a:off x="145774" y="1059542"/>
            <a:ext cx="5529600" cy="1988458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11">
                <a:extLst>
                  <a:ext uri="{FF2B5EF4-FFF2-40B4-BE49-F238E27FC236}">
                    <a16:creationId xmlns:a16="http://schemas.microsoft.com/office/drawing/2014/main" id="{E12B59F1-D203-4170-B4BC-AB687EDC2CF4}"/>
                  </a:ext>
                </a:extLst>
              </p:cNvPr>
              <p:cNvSpPr txBox="1"/>
              <p:nvPr/>
            </p:nvSpPr>
            <p:spPr>
              <a:xfrm>
                <a:off x="123374" y="1949521"/>
                <a:ext cx="5495548" cy="9562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US" altLang="zh-TW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9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LG</m:t>
                          </m:r>
                        </m:sup>
                      </m:sSubSup>
                      <m:rad>
                        <m:radPr>
                          <m:degHide m:val="on"/>
                          <m:ctrlPr>
                            <a:rPr lang="en-US" altLang="zh-TW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rad>
                      <m:sSubSup>
                        <m:sSub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sup>
                      </m:sSup>
                    </m:oMath>
                  </m:oMathPara>
                </a14:m>
                <a:endParaRPr lang="en-US" sz="1900" dirty="0"/>
              </a:p>
            </p:txBody>
          </p:sp>
        </mc:Choice>
        <mc:Fallback xmlns="">
          <p:sp>
            <p:nvSpPr>
              <p:cNvPr id="70" name="TextBox 11">
                <a:extLst>
                  <a:ext uri="{FF2B5EF4-FFF2-40B4-BE49-F238E27FC236}">
                    <a16:creationId xmlns:a16="http://schemas.microsoft.com/office/drawing/2014/main" id="{E12B59F1-D203-4170-B4BC-AB687EDC2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74" y="1949521"/>
                <a:ext cx="5495548" cy="9562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11">
                <a:extLst>
                  <a:ext uri="{FF2B5EF4-FFF2-40B4-BE49-F238E27FC236}">
                    <a16:creationId xmlns:a16="http://schemas.microsoft.com/office/drawing/2014/main" id="{2955B062-7CD5-41AA-80C9-523ED55865AD}"/>
                  </a:ext>
                </a:extLst>
              </p:cNvPr>
              <p:cNvSpPr txBox="1"/>
              <p:nvPr/>
            </p:nvSpPr>
            <p:spPr>
              <a:xfrm>
                <a:off x="123374" y="1137667"/>
                <a:ext cx="5324926" cy="452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9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sz="19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1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TW" sz="1900" b="1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TW" sz="1900" b="1" i="1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TW" sz="19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sSup>
                        <m:sSupPr>
                          <m:ctrlPr>
                            <a:rPr lang="en-US" altLang="zh-TW" sz="19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1" name="TextBox 11">
                <a:extLst>
                  <a:ext uri="{FF2B5EF4-FFF2-40B4-BE49-F238E27FC236}">
                    <a16:creationId xmlns:a16="http://schemas.microsoft.com/office/drawing/2014/main" id="{2955B062-7CD5-41AA-80C9-523ED5586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74" y="1137667"/>
                <a:ext cx="5324926" cy="452303"/>
              </a:xfrm>
              <a:prstGeom prst="rect">
                <a:avLst/>
              </a:prstGeom>
              <a:blipFill>
                <a:blip r:embed="rId6"/>
                <a:stretch>
                  <a:fillRect t="-2703" b="-13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">
                <a:extLst>
                  <a:ext uri="{FF2B5EF4-FFF2-40B4-BE49-F238E27FC236}">
                    <a16:creationId xmlns:a16="http://schemas.microsoft.com/office/drawing/2014/main" id="{6D70999D-BC9B-469D-AFE3-B2A27AA57EB5}"/>
                  </a:ext>
                </a:extLst>
              </p:cNvPr>
              <p:cNvSpPr txBox="1"/>
              <p:nvPr/>
            </p:nvSpPr>
            <p:spPr>
              <a:xfrm>
                <a:off x="5773552" y="1165765"/>
                <a:ext cx="5324926" cy="4573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1" i="1" dirty="0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sSubSup>
                        <m:sSubSupPr>
                          <m:ctrlP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1" i="1" dirty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d>
                        <m:dPr>
                          <m:ctrlP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TW" sz="1900" i="1" dirty="0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∥</m:t>
                          </m:r>
                        </m:sup>
                      </m:sSubSup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bSup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̂"/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9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4" name="TextBox 11">
                <a:extLst>
                  <a:ext uri="{FF2B5EF4-FFF2-40B4-BE49-F238E27FC236}">
                    <a16:creationId xmlns:a16="http://schemas.microsoft.com/office/drawing/2014/main" id="{6D70999D-BC9B-469D-AFE3-B2A27AA57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3552" y="1165765"/>
                <a:ext cx="5324926" cy="457305"/>
              </a:xfrm>
              <a:prstGeom prst="rect">
                <a:avLst/>
              </a:prstGeom>
              <a:blipFill>
                <a:blip r:embed="rId7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內容版面配置區 2">
            <a:extLst>
              <a:ext uri="{FF2B5EF4-FFF2-40B4-BE49-F238E27FC236}">
                <a16:creationId xmlns:a16="http://schemas.microsoft.com/office/drawing/2014/main" id="{C9373A8B-F465-4B45-A349-99B0B54EAE89}"/>
              </a:ext>
            </a:extLst>
          </p:cNvPr>
          <p:cNvSpPr txBox="1">
            <a:spLocks/>
          </p:cNvSpPr>
          <p:nvPr/>
        </p:nvSpPr>
        <p:spPr>
          <a:xfrm>
            <a:off x="336962" y="706126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 beam in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Lorentz gauge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real space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11">
                <a:extLst>
                  <a:ext uri="{FF2B5EF4-FFF2-40B4-BE49-F238E27FC236}">
                    <a16:creationId xmlns:a16="http://schemas.microsoft.com/office/drawing/2014/main" id="{5F8D58B0-F3E6-4788-A283-C514321FACCA}"/>
                  </a:ext>
                </a:extLst>
              </p:cNvPr>
              <p:cNvSpPr txBox="1"/>
              <p:nvPr/>
            </p:nvSpPr>
            <p:spPr>
              <a:xfrm>
                <a:off x="6078352" y="2606120"/>
                <a:ext cx="6307011" cy="766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bSup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)≈</m:t>
                      </m:r>
                      <m:f>
                        <m:fPr>
                          <m:ctrlP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  <m:sSub>
                            <m:sSubPr>
                              <m:ctrlP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9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900" b="0" i="1" dirty="0" smtClean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19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sz="19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  <m: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zh-TW" sz="19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900" b="0" i="1" dirty="0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altLang="zh-TW" sz="19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altLang="zh-TW" sz="1900" b="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900" b="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zh-TW" sz="1900" b="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sSup>
                        <m:sSupPr>
                          <m:ctrlP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9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9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sz="19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+ℓ</m:t>
                              </m:r>
                            </m:e>
                          </m:d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sSup>
                        <m:sSup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TextBox 11">
                <a:extLst>
                  <a:ext uri="{FF2B5EF4-FFF2-40B4-BE49-F238E27FC236}">
                    <a16:creationId xmlns:a16="http://schemas.microsoft.com/office/drawing/2014/main" id="{5F8D58B0-F3E6-4788-A283-C514321FA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8352" y="2606120"/>
                <a:ext cx="6307011" cy="76610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 21">
            <a:extLst>
              <a:ext uri="{FF2B5EF4-FFF2-40B4-BE49-F238E27FC236}">
                <a16:creationId xmlns:a16="http://schemas.microsoft.com/office/drawing/2014/main" id="{2F53F66E-0528-4478-89B3-02361F5B1731}"/>
              </a:ext>
            </a:extLst>
          </p:cNvPr>
          <p:cNvSpPr/>
          <p:nvPr/>
        </p:nvSpPr>
        <p:spPr>
          <a:xfrm>
            <a:off x="8501165" y="2445469"/>
            <a:ext cx="1053486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SOI</a:t>
            </a:r>
            <a:endParaRPr lang="zh-TW" altLang="en-US" sz="2400" b="1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8816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矩形: 圓角 89">
            <a:extLst>
              <a:ext uri="{FF2B5EF4-FFF2-40B4-BE49-F238E27FC236}">
                <a16:creationId xmlns:a16="http://schemas.microsoft.com/office/drawing/2014/main" id="{E321ABD4-C91E-4729-BEEF-17A859EC535F}"/>
              </a:ext>
            </a:extLst>
          </p:cNvPr>
          <p:cNvSpPr/>
          <p:nvPr/>
        </p:nvSpPr>
        <p:spPr>
          <a:xfrm>
            <a:off x="145774" y="1059542"/>
            <a:ext cx="5529600" cy="1988458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11">
                <a:extLst>
                  <a:ext uri="{FF2B5EF4-FFF2-40B4-BE49-F238E27FC236}">
                    <a16:creationId xmlns:a16="http://schemas.microsoft.com/office/drawing/2014/main" id="{689B0DE0-CA98-43B1-9976-D659316AE0F6}"/>
                  </a:ext>
                </a:extLst>
              </p:cNvPr>
              <p:cNvSpPr txBox="1"/>
              <p:nvPr/>
            </p:nvSpPr>
            <p:spPr>
              <a:xfrm>
                <a:off x="123374" y="1949521"/>
                <a:ext cx="5495548" cy="9562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US" altLang="zh-TW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9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LG</m:t>
                          </m:r>
                        </m:sup>
                      </m:sSubSup>
                      <m:rad>
                        <m:radPr>
                          <m:degHide m:val="on"/>
                          <m:ctrlPr>
                            <a:rPr lang="en-US" altLang="zh-TW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rad>
                      <m:sSubSup>
                        <m:sSub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sup>
                      </m:sSup>
                    </m:oMath>
                  </m:oMathPara>
                </a14:m>
                <a:endParaRPr lang="en-US" sz="1900" dirty="0"/>
              </a:p>
            </p:txBody>
          </p:sp>
        </mc:Choice>
        <mc:Fallback xmlns="">
          <p:sp>
            <p:nvSpPr>
              <p:cNvPr id="91" name="TextBox 11">
                <a:extLst>
                  <a:ext uri="{FF2B5EF4-FFF2-40B4-BE49-F238E27FC236}">
                    <a16:creationId xmlns:a16="http://schemas.microsoft.com/office/drawing/2014/main" id="{689B0DE0-CA98-43B1-9976-D659316AE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74" y="1949521"/>
                <a:ext cx="5495548" cy="95622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11">
                <a:extLst>
                  <a:ext uri="{FF2B5EF4-FFF2-40B4-BE49-F238E27FC236}">
                    <a16:creationId xmlns:a16="http://schemas.microsoft.com/office/drawing/2014/main" id="{5BBA8089-64A1-4D00-82FF-6E54A5E3A5E5}"/>
                  </a:ext>
                </a:extLst>
              </p:cNvPr>
              <p:cNvSpPr txBox="1"/>
              <p:nvPr/>
            </p:nvSpPr>
            <p:spPr>
              <a:xfrm>
                <a:off x="123374" y="1137667"/>
                <a:ext cx="5324926" cy="452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9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sz="19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1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TW" sz="1900" b="1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TW" sz="1900" b="1" i="1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TW" sz="19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sSup>
                        <m:sSupPr>
                          <m:ctrlPr>
                            <a:rPr lang="en-US" altLang="zh-TW" sz="19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3" name="TextBox 11">
                <a:extLst>
                  <a:ext uri="{FF2B5EF4-FFF2-40B4-BE49-F238E27FC236}">
                    <a16:creationId xmlns:a16="http://schemas.microsoft.com/office/drawing/2014/main" id="{5BBA8089-64A1-4D00-82FF-6E54A5E3A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74" y="1137667"/>
                <a:ext cx="5324926" cy="452303"/>
              </a:xfrm>
              <a:prstGeom prst="rect">
                <a:avLst/>
              </a:prstGeom>
              <a:blipFill>
                <a:blip r:embed="rId3"/>
                <a:stretch>
                  <a:fillRect t="-2703" b="-13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Laguerre-Gaussian (LG) beam : SOI appear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34</a:t>
            </a:fld>
            <a:endParaRPr lang="zh-TW" altLang="en-US"/>
          </a:p>
        </p:txBody>
      </p:sp>
      <p:grpSp>
        <p:nvGrpSpPr>
          <p:cNvPr id="66" name="群組 65">
            <a:extLst>
              <a:ext uri="{FF2B5EF4-FFF2-40B4-BE49-F238E27FC236}">
                <a16:creationId xmlns:a16="http://schemas.microsoft.com/office/drawing/2014/main" id="{F2F3E939-60D8-4065-917D-C7B7FB5AD2C6}"/>
              </a:ext>
            </a:extLst>
          </p:cNvPr>
          <p:cNvGrpSpPr/>
          <p:nvPr/>
        </p:nvGrpSpPr>
        <p:grpSpPr>
          <a:xfrm>
            <a:off x="241669" y="3311692"/>
            <a:ext cx="2445204" cy="1127530"/>
            <a:chOff x="6759573" y="-18665"/>
            <a:chExt cx="2445204" cy="1127530"/>
          </a:xfrm>
        </p:grpSpPr>
        <p:grpSp>
          <p:nvGrpSpPr>
            <p:cNvPr id="67" name="群組 66">
              <a:extLst>
                <a:ext uri="{FF2B5EF4-FFF2-40B4-BE49-F238E27FC236}">
                  <a16:creationId xmlns:a16="http://schemas.microsoft.com/office/drawing/2014/main" id="{3C57F2F9-6173-42F1-B2FD-D3EF237EBD9C}"/>
                </a:ext>
              </a:extLst>
            </p:cNvPr>
            <p:cNvGrpSpPr/>
            <p:nvPr/>
          </p:nvGrpSpPr>
          <p:grpSpPr>
            <a:xfrm>
              <a:off x="6759573" y="-18665"/>
              <a:ext cx="2445204" cy="1127530"/>
              <a:chOff x="6067325" y="-300721"/>
              <a:chExt cx="2400583" cy="115350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文字方塊 68">
                    <a:extLst>
                      <a:ext uri="{FF2B5EF4-FFF2-40B4-BE49-F238E27FC236}">
                        <a16:creationId xmlns:a16="http://schemas.microsoft.com/office/drawing/2014/main" id="{6ACA89A7-DC0F-4C88-97E3-EEAA45999042}"/>
                      </a:ext>
                    </a:extLst>
                  </p:cNvPr>
                  <p:cNvSpPr txBox="1"/>
                  <p:nvPr/>
                </p:nvSpPr>
                <p:spPr>
                  <a:xfrm>
                    <a:off x="6645248" y="-300721"/>
                    <a:ext cx="1822660" cy="11191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ℓ, 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e>
                          </m:d>
                        </m:oMath>
                      </m:oMathPara>
                    </a14:m>
                    <a:endParaRPr lang="en-US" altLang="zh-TW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=1,ℓ, 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e>
                          </m:d>
                        </m:oMath>
                      </m:oMathPara>
                    </a14:m>
                    <a:endParaRPr lang="en-US" altLang="zh-TW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=−1,ℓ, 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e>
                          </m:d>
                        </m:oMath>
                      </m:oMathPara>
                    </a14:m>
                    <a:endParaRPr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4" name="文字方塊 43">
                    <a:extLst>
                      <a:ext uri="{FF2B5EF4-FFF2-40B4-BE49-F238E27FC236}">
                        <a16:creationId xmlns:a16="http://schemas.microsoft.com/office/drawing/2014/main" id="{0EECDBE0-B06E-400E-ACE6-C5E5DE9C003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45248" y="-300721"/>
                    <a:ext cx="1822660" cy="1119155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b="-559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0" name="矩形: 圓角 69">
                <a:extLst>
                  <a:ext uri="{FF2B5EF4-FFF2-40B4-BE49-F238E27FC236}">
                    <a16:creationId xmlns:a16="http://schemas.microsoft.com/office/drawing/2014/main" id="{9137BE1E-97D6-47CA-9525-9DEE185BD7DA}"/>
                  </a:ext>
                </a:extLst>
              </p:cNvPr>
              <p:cNvSpPr/>
              <p:nvPr/>
            </p:nvSpPr>
            <p:spPr>
              <a:xfrm>
                <a:off x="6067325" y="-268451"/>
                <a:ext cx="2258421" cy="1121234"/>
              </a:xfrm>
              <a:prstGeom prst="roundRect">
                <a:avLst>
                  <a:gd name="adj" fmla="val 7976"/>
                </a:avLst>
              </a:prstGeom>
              <a:noFill/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0998" tIns="40499" rIns="80998" bIns="4049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68" name="圖片 67">
              <a:extLst>
                <a:ext uri="{FF2B5EF4-FFF2-40B4-BE49-F238E27FC236}">
                  <a16:creationId xmlns:a16="http://schemas.microsoft.com/office/drawing/2014/main" id="{91CF68A2-DFEA-4E60-A771-9070F777CC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855681" y="153447"/>
              <a:ext cx="567470" cy="787419"/>
            </a:xfrm>
            <a:prstGeom prst="rect">
              <a:avLst/>
            </a:prstGeom>
          </p:spPr>
        </p:pic>
      </p:grpSp>
      <p:pic>
        <p:nvPicPr>
          <p:cNvPr id="87" name="圖片 86">
            <a:extLst>
              <a:ext uri="{FF2B5EF4-FFF2-40B4-BE49-F238E27FC236}">
                <a16:creationId xmlns:a16="http://schemas.microsoft.com/office/drawing/2014/main" id="{ED02C526-056E-4902-A8FC-FA30D49D9A9B}"/>
              </a:ext>
            </a:extLst>
          </p:cNvPr>
          <p:cNvPicPr>
            <a:picLocks noChangeAspect="1"/>
          </p:cNvPicPr>
          <p:nvPr/>
        </p:nvPicPr>
        <p:blipFill rotWithShape="1"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58257" b="1"/>
          <a:stretch/>
        </p:blipFill>
        <p:spPr>
          <a:xfrm>
            <a:off x="6420802" y="5189219"/>
            <a:ext cx="5650738" cy="1565365"/>
          </a:xfrm>
          <a:prstGeom prst="rect">
            <a:avLst/>
          </a:prstGeom>
        </p:spPr>
      </p:pic>
      <p:grpSp>
        <p:nvGrpSpPr>
          <p:cNvPr id="6" name="群組 5">
            <a:extLst>
              <a:ext uri="{FF2B5EF4-FFF2-40B4-BE49-F238E27FC236}">
                <a16:creationId xmlns:a16="http://schemas.microsoft.com/office/drawing/2014/main" id="{278FC905-B775-4C40-A97A-65B184E6FC83}"/>
              </a:ext>
            </a:extLst>
          </p:cNvPr>
          <p:cNvGrpSpPr/>
          <p:nvPr/>
        </p:nvGrpSpPr>
        <p:grpSpPr>
          <a:xfrm>
            <a:off x="6287548" y="3467099"/>
            <a:ext cx="5783992" cy="1748971"/>
            <a:chOff x="-76784" y="3200399"/>
            <a:chExt cx="5783992" cy="1748971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3A5A0A1D-F189-4232-B59D-1914F8FB75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5224" b="48139"/>
            <a:stretch/>
          </p:blipFill>
          <p:spPr>
            <a:xfrm>
              <a:off x="56470" y="3200399"/>
              <a:ext cx="5650738" cy="1748971"/>
            </a:xfrm>
            <a:prstGeom prst="rect">
              <a:avLst/>
            </a:prstGeom>
          </p:spPr>
        </p:pic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B526869F-D821-4C26-9E49-228DD79BFFD6}"/>
                </a:ext>
              </a:extLst>
            </p:cNvPr>
            <p:cNvSpPr/>
            <p:nvPr/>
          </p:nvSpPr>
          <p:spPr>
            <a:xfrm rot="16200000">
              <a:off x="-235828" y="3735794"/>
              <a:ext cx="68742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a.u.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3161E8B7-CDA4-45A3-AFCC-39019FCB6849}"/>
                  </a:ext>
                </a:extLst>
              </p:cNvPr>
              <p:cNvSpPr/>
              <p:nvPr/>
            </p:nvSpPr>
            <p:spPr>
              <a:xfrm>
                <a:off x="4792932" y="3462024"/>
                <a:ext cx="178352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=1.5</m:t>
                      </m:r>
                      <m:r>
                        <m:rPr>
                          <m:sty m:val="p"/>
                        </m:rPr>
                        <a:rPr lang="en-US" altLang="zh-TW" sz="20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μm</m:t>
                      </m:r>
                    </m:oMath>
                  </m:oMathPara>
                </a14:m>
                <a:endParaRPr lang="en-US" altLang="zh-TW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3161E8B7-CDA4-45A3-AFCC-39019FCB68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2932" y="3462024"/>
                <a:ext cx="1783523" cy="400110"/>
              </a:xfrm>
              <a:prstGeom prst="rect">
                <a:avLst/>
              </a:prstGeom>
              <a:blipFill>
                <a:blip r:embed="rId20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B994F3AE-BB81-4DF6-97C9-94C70F986D58}"/>
                  </a:ext>
                </a:extLst>
              </p:cNvPr>
              <p:cNvSpPr/>
              <p:nvPr/>
            </p:nvSpPr>
            <p:spPr>
              <a:xfrm>
                <a:off x="4742132" y="5144774"/>
                <a:ext cx="178352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=0.5</m:t>
                      </m:r>
                      <m:r>
                        <m:rPr>
                          <m:sty m:val="p"/>
                        </m:rPr>
                        <a:rPr lang="en-US" altLang="zh-TW" sz="20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μm</m:t>
                      </m:r>
                    </m:oMath>
                  </m:oMathPara>
                </a14:m>
                <a:endParaRPr lang="en-US" altLang="zh-TW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B994F3AE-BB81-4DF6-97C9-94C70F986D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2132" y="5144774"/>
                <a:ext cx="1783523" cy="400110"/>
              </a:xfrm>
              <a:prstGeom prst="rect">
                <a:avLst/>
              </a:prstGeom>
              <a:blipFill>
                <a:blip r:embed="rId21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0FAB962E-E756-4911-AF27-B92ED547EE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4494654"/>
                  </p:ext>
                </p:extLst>
              </p:nvPr>
            </p:nvGraphicFramePr>
            <p:xfrm>
              <a:off x="253212" y="4528991"/>
              <a:ext cx="4551633" cy="21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17211">
                      <a:extLst>
                        <a:ext uri="{9D8B030D-6E8A-4147-A177-3AD203B41FA5}">
                          <a16:colId xmlns:a16="http://schemas.microsoft.com/office/drawing/2014/main" val="1840542363"/>
                        </a:ext>
                      </a:extLst>
                    </a:gridCol>
                    <a:gridCol w="1517211">
                      <a:extLst>
                        <a:ext uri="{9D8B030D-6E8A-4147-A177-3AD203B41FA5}">
                          <a16:colId xmlns:a16="http://schemas.microsoft.com/office/drawing/2014/main" val="3699236128"/>
                        </a:ext>
                      </a:extLst>
                    </a:gridCol>
                    <a:gridCol w="1517211">
                      <a:extLst>
                        <a:ext uri="{9D8B030D-6E8A-4147-A177-3AD203B41FA5}">
                          <a16:colId xmlns:a16="http://schemas.microsoft.com/office/drawing/2014/main" val="40891399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Transverse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Longitudinal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4161695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±ℓ</m:t>
                                </m:r>
                              </m:oMath>
                            </m:oMathPara>
                          </a14:m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symmetric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Asymmetric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33459230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altLang="zh-TW" sz="18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↓</m:t>
                                </m:r>
                              </m:oMath>
                            </m:oMathPara>
                          </a14:m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merely changed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Larger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007196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0FAB962E-E756-4911-AF27-B92ED547EE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4494654"/>
                  </p:ext>
                </p:extLst>
              </p:nvPr>
            </p:nvGraphicFramePr>
            <p:xfrm>
              <a:off x="253212" y="4528991"/>
              <a:ext cx="4551633" cy="21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17211">
                      <a:extLst>
                        <a:ext uri="{9D8B030D-6E8A-4147-A177-3AD203B41FA5}">
                          <a16:colId xmlns:a16="http://schemas.microsoft.com/office/drawing/2014/main" val="1840542363"/>
                        </a:ext>
                      </a:extLst>
                    </a:gridCol>
                    <a:gridCol w="1517211">
                      <a:extLst>
                        <a:ext uri="{9D8B030D-6E8A-4147-A177-3AD203B41FA5}">
                          <a16:colId xmlns:a16="http://schemas.microsoft.com/office/drawing/2014/main" val="3699236128"/>
                        </a:ext>
                      </a:extLst>
                    </a:gridCol>
                    <a:gridCol w="1517211">
                      <a:extLst>
                        <a:ext uri="{9D8B030D-6E8A-4147-A177-3AD203B41FA5}">
                          <a16:colId xmlns:a16="http://schemas.microsoft.com/office/drawing/2014/main" val="40891399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Transverse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Longitudinal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4161695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402" t="-44966" r="-201205" b="-1006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symmetric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Asymmetric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33459230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402" t="-145946" r="-201205" b="-1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merely changed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Larger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0071968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2" name="矩形 101">
            <a:extLst>
              <a:ext uri="{FF2B5EF4-FFF2-40B4-BE49-F238E27FC236}">
                <a16:creationId xmlns:a16="http://schemas.microsoft.com/office/drawing/2014/main" id="{DD171EE9-EAD6-4163-9729-96C554E615D8}"/>
              </a:ext>
            </a:extLst>
          </p:cNvPr>
          <p:cNvSpPr/>
          <p:nvPr/>
        </p:nvSpPr>
        <p:spPr>
          <a:xfrm>
            <a:off x="3493283" y="5391869"/>
            <a:ext cx="1053486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SOI</a:t>
            </a:r>
            <a:endParaRPr lang="zh-TW" altLang="en-US" sz="2400" b="1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矩形: 圓角 111">
            <a:extLst>
              <a:ext uri="{FF2B5EF4-FFF2-40B4-BE49-F238E27FC236}">
                <a16:creationId xmlns:a16="http://schemas.microsoft.com/office/drawing/2014/main" id="{B6EEA13D-E03E-49B7-A7AF-A3A43B132B8E}"/>
              </a:ext>
            </a:extLst>
          </p:cNvPr>
          <p:cNvSpPr/>
          <p:nvPr/>
        </p:nvSpPr>
        <p:spPr>
          <a:xfrm>
            <a:off x="5769487" y="1028699"/>
            <a:ext cx="6347220" cy="2367644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">
                <a:extLst>
                  <a:ext uri="{FF2B5EF4-FFF2-40B4-BE49-F238E27FC236}">
                    <a16:creationId xmlns:a16="http://schemas.microsoft.com/office/drawing/2014/main" id="{6978EFA4-C9D1-47E8-A15D-87BA0D13B0A1}"/>
                  </a:ext>
                </a:extLst>
              </p:cNvPr>
              <p:cNvSpPr txBox="1"/>
              <p:nvPr/>
            </p:nvSpPr>
            <p:spPr>
              <a:xfrm>
                <a:off x="6078352" y="1885942"/>
                <a:ext cx="5324926" cy="4573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∥</m:t>
                          </m:r>
                        </m:sup>
                      </m:sSubSup>
                      <m:d>
                        <m:d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sSup>
                        <m:sSupPr>
                          <m:ctrlPr>
                            <a:rPr lang="en-US" altLang="zh-TW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sSup>
                        <m:sSupPr>
                          <m:ctrlP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altLang="zh-TW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4" name="TextBox 11">
                <a:extLst>
                  <a:ext uri="{FF2B5EF4-FFF2-40B4-BE49-F238E27FC236}">
                    <a16:creationId xmlns:a16="http://schemas.microsoft.com/office/drawing/2014/main" id="{6978EFA4-C9D1-47E8-A15D-87BA0D13B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8352" y="1885942"/>
                <a:ext cx="5324926" cy="457305"/>
              </a:xfrm>
              <a:prstGeom prst="rect">
                <a:avLst/>
              </a:prstGeom>
              <a:blipFill>
                <a:blip r:embed="rId2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">
                <a:extLst>
                  <a:ext uri="{FF2B5EF4-FFF2-40B4-BE49-F238E27FC236}">
                    <a16:creationId xmlns:a16="http://schemas.microsoft.com/office/drawing/2014/main" id="{ABA2F799-4092-4589-B72C-7A699F39FC38}"/>
                  </a:ext>
                </a:extLst>
              </p:cNvPr>
              <p:cNvSpPr txBox="1"/>
              <p:nvPr/>
            </p:nvSpPr>
            <p:spPr>
              <a:xfrm>
                <a:off x="6078352" y="2606120"/>
                <a:ext cx="6307011" cy="766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bSup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)≈</m:t>
                      </m:r>
                      <m:f>
                        <m:fPr>
                          <m:ctrlP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  <m:sSub>
                            <m:sSubPr>
                              <m:ctrlP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9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900" b="0" i="1" dirty="0" smtClean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19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sz="19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  <m: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zh-TW" sz="19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900" b="0" i="1" dirty="0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altLang="zh-TW" sz="19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altLang="zh-TW" sz="1900" b="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900" b="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zh-TW" sz="1900" b="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sSup>
                        <m:sSupPr>
                          <m:ctrlP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9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9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sz="19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+ℓ</m:t>
                              </m:r>
                            </m:e>
                          </m:d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sSup>
                        <m:sSup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5" name="TextBox 11">
                <a:extLst>
                  <a:ext uri="{FF2B5EF4-FFF2-40B4-BE49-F238E27FC236}">
                    <a16:creationId xmlns:a16="http://schemas.microsoft.com/office/drawing/2014/main" id="{ABA2F799-4092-4589-B72C-7A699F39F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8352" y="2606120"/>
                <a:ext cx="6307011" cy="76610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TextBox 11">
            <a:extLst>
              <a:ext uri="{FF2B5EF4-FFF2-40B4-BE49-F238E27FC236}">
                <a16:creationId xmlns:a16="http://schemas.microsoft.com/office/drawing/2014/main" id="{1D272875-353B-4A7E-9415-B4B26AB75C90}"/>
              </a:ext>
            </a:extLst>
          </p:cNvPr>
          <p:cNvSpPr txBox="1"/>
          <p:nvPr/>
        </p:nvSpPr>
        <p:spPr>
          <a:xfrm>
            <a:off x="5788067" y="1554451"/>
            <a:ext cx="5324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component :</a:t>
            </a:r>
          </a:p>
        </p:txBody>
      </p:sp>
      <p:sp>
        <p:nvSpPr>
          <p:cNvPr id="117" name="TextBox 11">
            <a:extLst>
              <a:ext uri="{FF2B5EF4-FFF2-40B4-BE49-F238E27FC236}">
                <a16:creationId xmlns:a16="http://schemas.microsoft.com/office/drawing/2014/main" id="{55244A07-91F8-407D-B93D-B337B00034DC}"/>
              </a:ext>
            </a:extLst>
          </p:cNvPr>
          <p:cNvSpPr txBox="1"/>
          <p:nvPr/>
        </p:nvSpPr>
        <p:spPr>
          <a:xfrm>
            <a:off x="5788067" y="2274628"/>
            <a:ext cx="5324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 :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C27398B9-B846-4266-974D-E2D608335188}"/>
              </a:ext>
            </a:extLst>
          </p:cNvPr>
          <p:cNvSpPr/>
          <p:nvPr/>
        </p:nvSpPr>
        <p:spPr>
          <a:xfrm>
            <a:off x="8501165" y="2445469"/>
            <a:ext cx="1053486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SOI</a:t>
            </a:r>
            <a:endParaRPr lang="zh-TW" altLang="en-US" sz="2400" b="1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">
                <a:extLst>
                  <a:ext uri="{FF2B5EF4-FFF2-40B4-BE49-F238E27FC236}">
                    <a16:creationId xmlns:a16="http://schemas.microsoft.com/office/drawing/2014/main" id="{0469EEBD-045E-45B5-868B-085F1224D554}"/>
                  </a:ext>
                </a:extLst>
              </p:cNvPr>
              <p:cNvSpPr txBox="1"/>
              <p:nvPr/>
            </p:nvSpPr>
            <p:spPr>
              <a:xfrm>
                <a:off x="5773552" y="1165765"/>
                <a:ext cx="5324926" cy="4573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1" i="1" dirty="0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sSubSup>
                        <m:sSubSupPr>
                          <m:ctrlP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1" i="1" dirty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d>
                        <m:dPr>
                          <m:ctrlP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TW" sz="1900" i="1" dirty="0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∥</m:t>
                          </m:r>
                        </m:sup>
                      </m:sSubSup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bSup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̂"/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9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0" name="TextBox 11">
                <a:extLst>
                  <a:ext uri="{FF2B5EF4-FFF2-40B4-BE49-F238E27FC236}">
                    <a16:creationId xmlns:a16="http://schemas.microsoft.com/office/drawing/2014/main" id="{0469EEBD-045E-45B5-868B-085F1224D5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3552" y="1165765"/>
                <a:ext cx="5324926" cy="457305"/>
              </a:xfrm>
              <a:prstGeom prst="rect">
                <a:avLst/>
              </a:prstGeom>
              <a:blipFill>
                <a:blip r:embed="rId25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內容版面配置區 2">
            <a:extLst>
              <a:ext uri="{FF2B5EF4-FFF2-40B4-BE49-F238E27FC236}">
                <a16:creationId xmlns:a16="http://schemas.microsoft.com/office/drawing/2014/main" id="{C3F9DAEC-9F39-4FB5-A5E5-421D687794A5}"/>
              </a:ext>
            </a:extLst>
          </p:cNvPr>
          <p:cNvSpPr txBox="1">
            <a:spLocks/>
          </p:cNvSpPr>
          <p:nvPr/>
        </p:nvSpPr>
        <p:spPr>
          <a:xfrm>
            <a:off x="5960676" y="693052"/>
            <a:ext cx="4945193" cy="3567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 beam in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Coulomb gauge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 space: </a:t>
            </a:r>
          </a:p>
        </p:txBody>
      </p:sp>
      <p:sp>
        <p:nvSpPr>
          <p:cNvPr id="122" name="內容版面配置區 2">
            <a:extLst>
              <a:ext uri="{FF2B5EF4-FFF2-40B4-BE49-F238E27FC236}">
                <a16:creationId xmlns:a16="http://schemas.microsoft.com/office/drawing/2014/main" id="{29AA728F-46A9-4F82-8251-9F29A82EE69D}"/>
              </a:ext>
            </a:extLst>
          </p:cNvPr>
          <p:cNvSpPr txBox="1">
            <a:spLocks/>
          </p:cNvSpPr>
          <p:nvPr/>
        </p:nvSpPr>
        <p:spPr>
          <a:xfrm>
            <a:off x="336962" y="706126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 beam in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Lorentz gauge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real space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005426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Longitudinal component : SOI effect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35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sp>
        <p:nvSpPr>
          <p:cNvPr id="111" name="矩形: 圓角 110">
            <a:extLst>
              <a:ext uri="{FF2B5EF4-FFF2-40B4-BE49-F238E27FC236}">
                <a16:creationId xmlns:a16="http://schemas.microsoft.com/office/drawing/2014/main" id="{436FBC56-B1B9-4F94-A9D6-57EC654686C8}"/>
              </a:ext>
            </a:extLst>
          </p:cNvPr>
          <p:cNvSpPr/>
          <p:nvPr/>
        </p:nvSpPr>
        <p:spPr>
          <a:xfrm>
            <a:off x="145774" y="1059541"/>
            <a:ext cx="5529600" cy="2786745"/>
          </a:xfrm>
          <a:prstGeom prst="roundRect">
            <a:avLst>
              <a:gd name="adj" fmla="val 10061"/>
            </a:avLst>
          </a:prstGeom>
          <a:ln w="57150"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">
                <a:extLst>
                  <a:ext uri="{FF2B5EF4-FFF2-40B4-BE49-F238E27FC236}">
                    <a16:creationId xmlns:a16="http://schemas.microsoft.com/office/drawing/2014/main" id="{63DBBEF2-393E-470C-BB38-5B7753EDB3BE}"/>
                  </a:ext>
                </a:extLst>
              </p:cNvPr>
              <p:cNvSpPr txBox="1"/>
              <p:nvPr/>
            </p:nvSpPr>
            <p:spPr>
              <a:xfrm>
                <a:off x="377374" y="1486044"/>
                <a:ext cx="4689926" cy="452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9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sz="19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1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TW" sz="1900" b="1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TW" sz="1900" b="1" i="1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TW" sz="19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sSup>
                        <m:sSupPr>
                          <m:ctrlPr>
                            <a:rPr lang="en-US" altLang="zh-TW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3" name="TextBox 11">
                <a:extLst>
                  <a:ext uri="{FF2B5EF4-FFF2-40B4-BE49-F238E27FC236}">
                    <a16:creationId xmlns:a16="http://schemas.microsoft.com/office/drawing/2014/main" id="{63DBBEF2-393E-470C-BB38-5B7753EDB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74" y="1486044"/>
                <a:ext cx="4689926" cy="452303"/>
              </a:xfrm>
              <a:prstGeom prst="rect">
                <a:avLst/>
              </a:prstGeom>
              <a:blipFill>
                <a:blip r:embed="rId10"/>
                <a:stretch>
                  <a:fillRect t="-2703" b="-13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內容版面配置區 2">
            <a:extLst>
              <a:ext uri="{FF2B5EF4-FFF2-40B4-BE49-F238E27FC236}">
                <a16:creationId xmlns:a16="http://schemas.microsoft.com/office/drawing/2014/main" id="{6B06B26E-6431-4A71-B841-72A8E538992D}"/>
              </a:ext>
            </a:extLst>
          </p:cNvPr>
          <p:cNvSpPr txBox="1">
            <a:spLocks/>
          </p:cNvSpPr>
          <p:nvPr/>
        </p:nvSpPr>
        <p:spPr>
          <a:xfrm>
            <a:off x="336962" y="709212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 beam solutions: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1">
                <a:extLst>
                  <a:ext uri="{FF2B5EF4-FFF2-40B4-BE49-F238E27FC236}">
                    <a16:creationId xmlns:a16="http://schemas.microsoft.com/office/drawing/2014/main" id="{90E7DD10-64B8-4BB4-BA98-D242ECEEA907}"/>
                  </a:ext>
                </a:extLst>
              </p:cNvPr>
              <p:cNvSpPr txBox="1"/>
              <p:nvPr/>
            </p:nvSpPr>
            <p:spPr>
              <a:xfrm>
                <a:off x="439552" y="3077095"/>
                <a:ext cx="4923023" cy="4573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1" i="1" dirty="0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sSubSup>
                        <m:sSubSupPr>
                          <m:ctrlP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1" i="1" dirty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d>
                        <m:dPr>
                          <m:ctrlP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TW" sz="1900" i="1" dirty="0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∥</m:t>
                          </m:r>
                        </m:sup>
                      </m:sSubSup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bSup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̂"/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9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1" name="TextBox 11">
                <a:extLst>
                  <a:ext uri="{FF2B5EF4-FFF2-40B4-BE49-F238E27FC236}">
                    <a16:creationId xmlns:a16="http://schemas.microsoft.com/office/drawing/2014/main" id="{90E7DD10-64B8-4BB4-BA98-D242ECEEA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552" y="3077095"/>
                <a:ext cx="4923023" cy="457305"/>
              </a:xfrm>
              <a:prstGeom prst="rect">
                <a:avLst/>
              </a:prstGeom>
              <a:blipFill>
                <a:blip r:embed="rId11"/>
                <a:stretch>
                  <a:fillRect r="-6064" b="-4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群組 38">
            <a:extLst>
              <a:ext uri="{FF2B5EF4-FFF2-40B4-BE49-F238E27FC236}">
                <a16:creationId xmlns:a16="http://schemas.microsoft.com/office/drawing/2014/main" id="{8E100277-6390-4AA3-9C56-59870D24E711}"/>
              </a:ext>
            </a:extLst>
          </p:cNvPr>
          <p:cNvGrpSpPr/>
          <p:nvPr/>
        </p:nvGrpSpPr>
        <p:grpSpPr>
          <a:xfrm>
            <a:off x="452952" y="2278620"/>
            <a:ext cx="4608075" cy="458202"/>
            <a:chOff x="230625" y="4237344"/>
            <a:chExt cx="4608075" cy="4582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11">
                  <a:extLst>
                    <a:ext uri="{FF2B5EF4-FFF2-40B4-BE49-F238E27FC236}">
                      <a16:creationId xmlns:a16="http://schemas.microsoft.com/office/drawing/2014/main" id="{BE440DC1-DD93-40DF-B666-AC8FFD4C5F73}"/>
                    </a:ext>
                  </a:extLst>
                </p:cNvPr>
                <p:cNvSpPr txBox="1"/>
                <p:nvPr/>
              </p:nvSpPr>
              <p:spPr>
                <a:xfrm>
                  <a:off x="2534601" y="4237344"/>
                  <a:ext cx="2304099" cy="4582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1900" b="1" i="1">
                            <a:latin typeface="Cambria Math" panose="02040503050406030204" pitchFamily="18" charset="0"/>
                          </a:rPr>
                          <m:t>≈</m:t>
                        </m:r>
                        <m:sSub>
                          <m:sSubPr>
                            <m:ctrlPr>
                              <a:rPr lang="en-US" altLang="zh-TW" sz="19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19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𝜺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1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b>
                        </m:sSub>
                        <m:sSub>
                          <m:sSubPr>
                            <m:ctrlPr>
                              <a:rPr lang="en-US" sz="19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sz="19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9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  <m:r>
                              <a:rPr lang="en-US" sz="19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9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d>
                          <m:dPr>
                            <m:ctrlPr>
                              <a:rPr lang="en-US" sz="1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altLang="zh-TW" sz="19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1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  <m:sSub>
                              <m:sSubPr>
                                <m:ctrlPr>
                                  <a:rPr lang="en-US" altLang="zh-TW" sz="19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TW" sz="1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1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</m:sub>
                            </m:sSub>
                          </m:sup>
                        </m:sSup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0" name="TextBox 11">
                  <a:extLst>
                    <a:ext uri="{FF2B5EF4-FFF2-40B4-BE49-F238E27FC236}">
                      <a16:creationId xmlns:a16="http://schemas.microsoft.com/office/drawing/2014/main" id="{BE440DC1-DD93-40DF-B666-AC8FFD4C5F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4601" y="4237344"/>
                  <a:ext cx="2304099" cy="458202"/>
                </a:xfrm>
                <a:prstGeom prst="rect">
                  <a:avLst/>
                </a:prstGeom>
                <a:blipFill>
                  <a:blip r:embed="rId12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11">
                  <a:extLst>
                    <a:ext uri="{FF2B5EF4-FFF2-40B4-BE49-F238E27FC236}">
                      <a16:creationId xmlns:a16="http://schemas.microsoft.com/office/drawing/2014/main" id="{C142566C-C4D8-40DD-89DA-A677273C894B}"/>
                    </a:ext>
                  </a:extLst>
                </p:cNvPr>
                <p:cNvSpPr txBox="1"/>
                <p:nvPr/>
              </p:nvSpPr>
              <p:spPr>
                <a:xfrm>
                  <a:off x="1139109" y="4279215"/>
                  <a:ext cx="718137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19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𝜺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b>
                        </m:sSub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1" name="TextBox 11">
                  <a:extLst>
                    <a:ext uri="{FF2B5EF4-FFF2-40B4-BE49-F238E27FC236}">
                      <a16:creationId xmlns:a16="http://schemas.microsoft.com/office/drawing/2014/main" id="{ADE9BA00-7841-4C72-8634-E30B86FFE0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109" y="4279215"/>
                  <a:ext cx="718137" cy="384721"/>
                </a:xfrm>
                <a:prstGeom prst="rect">
                  <a:avLst/>
                </a:prstGeom>
                <a:blipFill>
                  <a:blip r:embed="rId13"/>
                  <a:stretch>
                    <a:fillRect t="-6349" r="-2118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3" name="圖形 42">
              <a:extLst>
                <a:ext uri="{FF2B5EF4-FFF2-40B4-BE49-F238E27FC236}">
                  <a16:creationId xmlns:a16="http://schemas.microsoft.com/office/drawing/2014/main" id="{FA33AAE8-FD45-4AFE-8762-FE8AA0E585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 r="75099"/>
            <a:stretch/>
          </p:blipFill>
          <p:spPr>
            <a:xfrm>
              <a:off x="230625" y="4318623"/>
              <a:ext cx="969526" cy="325552"/>
            </a:xfrm>
            <a:prstGeom prst="rect">
              <a:avLst/>
            </a:prstGeom>
          </p:spPr>
        </p:pic>
        <p:pic>
          <p:nvPicPr>
            <p:cNvPr id="44" name="圖形 43">
              <a:extLst>
                <a:ext uri="{FF2B5EF4-FFF2-40B4-BE49-F238E27FC236}">
                  <a16:creationId xmlns:a16="http://schemas.microsoft.com/office/drawing/2014/main" id="{A1B85B82-B796-40CB-8241-9D6C95F4E8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 l="35665" r="43419"/>
            <a:stretch/>
          </p:blipFill>
          <p:spPr>
            <a:xfrm>
              <a:off x="1762125" y="4321614"/>
              <a:ext cx="814388" cy="325552"/>
            </a:xfrm>
            <a:prstGeom prst="rect">
              <a:avLst/>
            </a:prstGeom>
          </p:spPr>
        </p:pic>
      </p:grpSp>
      <p:sp>
        <p:nvSpPr>
          <p:cNvPr id="142" name="內容版面配置區 2">
            <a:extLst>
              <a:ext uri="{FF2B5EF4-FFF2-40B4-BE49-F238E27FC236}">
                <a16:creationId xmlns:a16="http://schemas.microsoft.com/office/drawing/2014/main" id="{ED0C90CB-641A-4B9E-939B-00741F9ECEB7}"/>
              </a:ext>
            </a:extLst>
          </p:cNvPr>
          <p:cNvSpPr txBox="1">
            <a:spLocks/>
          </p:cNvSpPr>
          <p:nvPr/>
        </p:nvSpPr>
        <p:spPr>
          <a:xfrm>
            <a:off x="225906" y="1217212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/ Lorentz :</a:t>
            </a:r>
          </a:p>
        </p:txBody>
      </p:sp>
      <p:sp>
        <p:nvSpPr>
          <p:cNvPr id="143" name="內容版面配置區 2">
            <a:extLst>
              <a:ext uri="{FF2B5EF4-FFF2-40B4-BE49-F238E27FC236}">
                <a16:creationId xmlns:a16="http://schemas.microsoft.com/office/drawing/2014/main" id="{A035F166-E418-466C-92EC-0BAFBB9A4C4E}"/>
              </a:ext>
            </a:extLst>
          </p:cNvPr>
          <p:cNvSpPr txBox="1">
            <a:spLocks/>
          </p:cNvSpPr>
          <p:nvPr/>
        </p:nvSpPr>
        <p:spPr>
          <a:xfrm>
            <a:off x="225906" y="2009788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/ Lorentz :</a:t>
            </a:r>
          </a:p>
        </p:txBody>
      </p:sp>
      <p:sp>
        <p:nvSpPr>
          <p:cNvPr id="144" name="內容版面配置區 2">
            <a:extLst>
              <a:ext uri="{FF2B5EF4-FFF2-40B4-BE49-F238E27FC236}">
                <a16:creationId xmlns:a16="http://schemas.microsoft.com/office/drawing/2014/main" id="{347A7B95-C8DA-487E-BB37-F7D73A2286B1}"/>
              </a:ext>
            </a:extLst>
          </p:cNvPr>
          <p:cNvSpPr txBox="1">
            <a:spLocks/>
          </p:cNvSpPr>
          <p:nvPr/>
        </p:nvSpPr>
        <p:spPr>
          <a:xfrm>
            <a:off x="225906" y="2808263"/>
            <a:ext cx="5374468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/ Coulomb :</a:t>
            </a:r>
          </a:p>
        </p:txBody>
      </p:sp>
    </p:spTree>
    <p:extLst>
      <p:ext uri="{BB962C8B-B14F-4D97-AF65-F5344CB8AC3E}">
        <p14:creationId xmlns:p14="http://schemas.microsoft.com/office/powerpoint/2010/main" val="16497902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內容版面配置區 2">
            <a:extLst>
              <a:ext uri="{FF2B5EF4-FFF2-40B4-BE49-F238E27FC236}">
                <a16:creationId xmlns:a16="http://schemas.microsoft.com/office/drawing/2014/main" id="{F8AD3186-4895-4741-931D-80EC548C42A3}"/>
              </a:ext>
            </a:extLst>
          </p:cNvPr>
          <p:cNvSpPr txBox="1">
            <a:spLocks/>
          </p:cNvSpPr>
          <p:nvPr/>
        </p:nvSpPr>
        <p:spPr>
          <a:xfrm>
            <a:off x="6258791" y="1946554"/>
            <a:ext cx="5374468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 beam in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spectrum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Coulomb gauge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95" name="內容版面配置區 2">
            <a:extLst>
              <a:ext uri="{FF2B5EF4-FFF2-40B4-BE49-F238E27FC236}">
                <a16:creationId xmlns:a16="http://schemas.microsoft.com/office/drawing/2014/main" id="{7219055C-DB29-4348-8A73-2E9C69AA40E7}"/>
              </a:ext>
            </a:extLst>
          </p:cNvPr>
          <p:cNvSpPr txBox="1">
            <a:spLocks/>
          </p:cNvSpPr>
          <p:nvPr/>
        </p:nvSpPr>
        <p:spPr>
          <a:xfrm>
            <a:off x="8637203" y="1437948"/>
            <a:ext cx="3306126" cy="3673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What we really need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11">
                <a:extLst>
                  <a:ext uri="{FF2B5EF4-FFF2-40B4-BE49-F238E27FC236}">
                    <a16:creationId xmlns:a16="http://schemas.microsoft.com/office/drawing/2014/main" id="{C4146DBB-899A-4BB2-BF32-171D754052D2}"/>
                  </a:ext>
                </a:extLst>
              </p:cNvPr>
              <p:cNvSpPr txBox="1"/>
              <p:nvPr/>
            </p:nvSpPr>
            <p:spPr>
              <a:xfrm>
                <a:off x="6984801" y="1146723"/>
                <a:ext cx="1901293" cy="755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36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36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36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d>
                        <m:dPr>
                          <m:ctrlPr>
                            <a:rPr lang="en-US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sz="3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6" name="TextBox 11">
                <a:extLst>
                  <a:ext uri="{FF2B5EF4-FFF2-40B4-BE49-F238E27FC236}">
                    <a16:creationId xmlns:a16="http://schemas.microsoft.com/office/drawing/2014/main" id="{C4146DBB-899A-4BB2-BF32-171D75405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4801" y="1146723"/>
                <a:ext cx="1901293" cy="7558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矩形: 圓角 96">
            <a:extLst>
              <a:ext uri="{FF2B5EF4-FFF2-40B4-BE49-F238E27FC236}">
                <a16:creationId xmlns:a16="http://schemas.microsoft.com/office/drawing/2014/main" id="{61E1DED0-D11C-468D-A22D-30BD9036386F}"/>
              </a:ext>
            </a:extLst>
          </p:cNvPr>
          <p:cNvSpPr/>
          <p:nvPr/>
        </p:nvSpPr>
        <p:spPr>
          <a:xfrm>
            <a:off x="6039395" y="2369458"/>
            <a:ext cx="5917474" cy="3526972"/>
          </a:xfrm>
          <a:prstGeom prst="roundRect">
            <a:avLst>
              <a:gd name="adj" fmla="val 9818"/>
            </a:avLst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11">
                <a:extLst>
                  <a:ext uri="{FF2B5EF4-FFF2-40B4-BE49-F238E27FC236}">
                    <a16:creationId xmlns:a16="http://schemas.microsoft.com/office/drawing/2014/main" id="{2E720949-CA1E-481A-BBD4-D438065111A9}"/>
                  </a:ext>
                </a:extLst>
              </p:cNvPr>
              <p:cNvSpPr txBox="1"/>
              <p:nvPr/>
            </p:nvSpPr>
            <p:spPr>
              <a:xfrm>
                <a:off x="6230754" y="2526247"/>
                <a:ext cx="5304475" cy="468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,ℓ</m:t>
                          </m:r>
                        </m:sub>
                      </m:sSub>
                      <m:d>
                        <m:d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≡   </m:t>
                      </m:r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d>
                        <m:dPr>
                          <m:ctrlP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sz="1900" i="1" dirty="0" smtClean="0">
                          <a:latin typeface="Cambria Math" panose="02040503050406030204" pitchFamily="18" charset="0"/>
                        </a:rPr>
                        <m:t>≈</m:t>
                      </m:r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19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TW" altLang="en-US" sz="190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TW" altLang="en-US" sz="19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∥</m:t>
                          </m:r>
                        </m:sup>
                      </m:sSubSup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∥</m:t>
                          </m:r>
                        </m:sub>
                      </m:sSub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zh-TW" sz="19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bSup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∥</m:t>
                          </m:r>
                        </m:sub>
                      </m:sSub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̂"/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9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8" name="TextBox 11">
                <a:extLst>
                  <a:ext uri="{FF2B5EF4-FFF2-40B4-BE49-F238E27FC236}">
                    <a16:creationId xmlns:a16="http://schemas.microsoft.com/office/drawing/2014/main" id="{2E720949-CA1E-481A-BBD4-D43806511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0754" y="2526247"/>
                <a:ext cx="5304475" cy="468205"/>
              </a:xfrm>
              <a:prstGeom prst="rect">
                <a:avLst/>
              </a:prstGeom>
              <a:blipFill>
                <a:blip r:embed="rId3"/>
                <a:stretch>
                  <a:fillRect r="-5977" b="-25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TextBox 11">
            <a:extLst>
              <a:ext uri="{FF2B5EF4-FFF2-40B4-BE49-F238E27FC236}">
                <a16:creationId xmlns:a16="http://schemas.microsoft.com/office/drawing/2014/main" id="{6B56D46C-54D4-4A98-947A-1C3554FF0299}"/>
              </a:ext>
            </a:extLst>
          </p:cNvPr>
          <p:cNvSpPr txBox="1"/>
          <p:nvPr/>
        </p:nvSpPr>
        <p:spPr>
          <a:xfrm>
            <a:off x="6089239" y="3250808"/>
            <a:ext cx="5324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component :</a:t>
            </a:r>
          </a:p>
        </p:txBody>
      </p:sp>
      <p:sp>
        <p:nvSpPr>
          <p:cNvPr id="100" name="TextBox 11">
            <a:extLst>
              <a:ext uri="{FF2B5EF4-FFF2-40B4-BE49-F238E27FC236}">
                <a16:creationId xmlns:a16="http://schemas.microsoft.com/office/drawing/2014/main" id="{2853BB71-E3DC-45D3-BD2B-E92A3D1B1EB8}"/>
              </a:ext>
            </a:extLst>
          </p:cNvPr>
          <p:cNvSpPr txBox="1"/>
          <p:nvPr/>
        </p:nvSpPr>
        <p:spPr>
          <a:xfrm>
            <a:off x="6089239" y="4435442"/>
            <a:ext cx="5324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 :</a:t>
            </a:r>
          </a:p>
        </p:txBody>
      </p:sp>
      <p:pic>
        <p:nvPicPr>
          <p:cNvPr id="101" name="圖形 100">
            <a:extLst>
              <a:ext uri="{FF2B5EF4-FFF2-40B4-BE49-F238E27FC236}">
                <a16:creationId xmlns:a16="http://schemas.microsoft.com/office/drawing/2014/main" id="{DAC84C1E-E257-4F75-823F-C758A2D4EC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r="53142" b="-1"/>
          <a:stretch/>
        </p:blipFill>
        <p:spPr>
          <a:xfrm>
            <a:off x="7344813" y="2678339"/>
            <a:ext cx="224841" cy="172247"/>
          </a:xfrm>
          <a:prstGeom prst="rect">
            <a:avLst/>
          </a:prstGeom>
        </p:spPr>
      </p:pic>
      <p:pic>
        <p:nvPicPr>
          <p:cNvPr id="102" name="圖形 101">
            <a:extLst>
              <a:ext uri="{FF2B5EF4-FFF2-40B4-BE49-F238E27FC236}">
                <a16:creationId xmlns:a16="http://schemas.microsoft.com/office/drawing/2014/main" id="{691395E9-910A-45A1-9B16-0C21C7E176A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r="53142" b="-1"/>
          <a:stretch/>
        </p:blipFill>
        <p:spPr>
          <a:xfrm>
            <a:off x="6165661" y="2682333"/>
            <a:ext cx="224841" cy="172247"/>
          </a:xfrm>
          <a:prstGeom prst="rect">
            <a:avLst/>
          </a:prstGeom>
        </p:spPr>
      </p:pic>
      <p:pic>
        <p:nvPicPr>
          <p:cNvPr id="104" name="圖形 103">
            <a:extLst>
              <a:ext uri="{FF2B5EF4-FFF2-40B4-BE49-F238E27FC236}">
                <a16:creationId xmlns:a16="http://schemas.microsoft.com/office/drawing/2014/main" id="{C31FC7F3-56D4-44B4-ADF3-1A616E6B440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69419"/>
          <a:stretch/>
        </p:blipFill>
        <p:spPr>
          <a:xfrm>
            <a:off x="8887279" y="2652939"/>
            <a:ext cx="193146" cy="210531"/>
          </a:xfrm>
          <a:prstGeom prst="rect">
            <a:avLst/>
          </a:prstGeom>
        </p:spPr>
      </p:pic>
      <p:pic>
        <p:nvPicPr>
          <p:cNvPr id="105" name="圖形 104">
            <a:extLst>
              <a:ext uri="{FF2B5EF4-FFF2-40B4-BE49-F238E27FC236}">
                <a16:creationId xmlns:a16="http://schemas.microsoft.com/office/drawing/2014/main" id="{6BC44DA0-C071-4341-B862-D239EC13621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68163"/>
          <a:stretch/>
        </p:blipFill>
        <p:spPr>
          <a:xfrm>
            <a:off x="10248560" y="2648176"/>
            <a:ext cx="201083" cy="210531"/>
          </a:xfrm>
          <a:prstGeom prst="rect">
            <a:avLst/>
          </a:prstGeom>
        </p:spPr>
      </p:pic>
      <p:sp>
        <p:nvSpPr>
          <p:cNvPr id="106" name="矩形 105">
            <a:extLst>
              <a:ext uri="{FF2B5EF4-FFF2-40B4-BE49-F238E27FC236}">
                <a16:creationId xmlns:a16="http://schemas.microsoft.com/office/drawing/2014/main" id="{0641A8E0-A88A-4F7F-A572-6D0AA898EC3D}"/>
              </a:ext>
            </a:extLst>
          </p:cNvPr>
          <p:cNvSpPr/>
          <p:nvPr/>
        </p:nvSpPr>
        <p:spPr>
          <a:xfrm>
            <a:off x="10587471" y="5300614"/>
            <a:ext cx="1053486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SOI</a:t>
            </a:r>
            <a:endParaRPr lang="zh-TW" altLang="en-US" sz="2400" b="1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7" name="群組 106">
            <a:extLst>
              <a:ext uri="{FF2B5EF4-FFF2-40B4-BE49-F238E27FC236}">
                <a16:creationId xmlns:a16="http://schemas.microsoft.com/office/drawing/2014/main" id="{50C86663-EA1E-4D10-B470-E9DAF06D9698}"/>
              </a:ext>
            </a:extLst>
          </p:cNvPr>
          <p:cNvGrpSpPr/>
          <p:nvPr/>
        </p:nvGrpSpPr>
        <p:grpSpPr>
          <a:xfrm>
            <a:off x="6112329" y="3620399"/>
            <a:ext cx="4743450" cy="477118"/>
            <a:chOff x="6591300" y="4855928"/>
            <a:chExt cx="4743450" cy="4771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1">
                  <a:extLst>
                    <a:ext uri="{FF2B5EF4-FFF2-40B4-BE49-F238E27FC236}">
                      <a16:creationId xmlns:a16="http://schemas.microsoft.com/office/drawing/2014/main" id="{DE2D95C3-EA89-44B1-B5C7-EE0DBBCEFF42}"/>
                    </a:ext>
                  </a:extLst>
                </p:cNvPr>
                <p:cNvSpPr txBox="1"/>
                <p:nvPr/>
              </p:nvSpPr>
              <p:spPr>
                <a:xfrm>
                  <a:off x="6591300" y="4855928"/>
                  <a:ext cx="4743450" cy="4771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TW" altLang="en-US" sz="1900" i="1" dirty="0">
                            <a:latin typeface="Cambria Math" panose="02040503050406030204" pitchFamily="18" charset="0"/>
                          </a:rPr>
                          <m:t>    </m:t>
                        </m:r>
                        <m:sSubSup>
                          <m:sSubSup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sub>
                          <m:sup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900" i="1" dirty="0" smtClean="0">
                            <a:latin typeface="Cambria Math" panose="02040503050406030204" pitchFamily="18" charset="0"/>
                          </a:rPr>
                          <m:t>≡</m:t>
                        </m:r>
                        <m:r>
                          <a:rPr lang="zh-TW" altLang="en-US" sz="19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sz="190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sz="1900" i="1" dirty="0"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ℓ,</m:t>
                            </m:r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≈</m:t>
                        </m:r>
                        <m:sSub>
                          <m:sSub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b>
                        </m:sSub>
                        <m:d>
                          <m:d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</m:sub>
                            </m:sSub>
                          </m:sup>
                        </m:sSup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08" name="TextBox 11">
                  <a:extLst>
                    <a:ext uri="{FF2B5EF4-FFF2-40B4-BE49-F238E27FC236}">
                      <a16:creationId xmlns:a16="http://schemas.microsoft.com/office/drawing/2014/main" id="{DE2D95C3-EA89-44B1-B5C7-EE0DBBCEFF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1300" y="4855928"/>
                  <a:ext cx="4743450" cy="477118"/>
                </a:xfrm>
                <a:prstGeom prst="rect">
                  <a:avLst/>
                </a:prstGeom>
                <a:blipFill>
                  <a:blip r:embed="rId8"/>
                  <a:stretch>
                    <a:fillRect b="-384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09" name="圖形 108">
              <a:extLst>
                <a:ext uri="{FF2B5EF4-FFF2-40B4-BE49-F238E27FC236}">
                  <a16:creationId xmlns:a16="http://schemas.microsoft.com/office/drawing/2014/main" id="{AC10A9F6-03BC-4140-B2CC-9C5E310A09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69419"/>
            <a:stretch/>
          </p:blipFill>
          <p:spPr>
            <a:xfrm>
              <a:off x="7759701" y="4983571"/>
              <a:ext cx="193146" cy="210531"/>
            </a:xfrm>
            <a:prstGeom prst="rect">
              <a:avLst/>
            </a:prstGeom>
          </p:spPr>
        </p:pic>
        <p:pic>
          <p:nvPicPr>
            <p:cNvPr id="110" name="圖形 109">
              <a:extLst>
                <a:ext uri="{FF2B5EF4-FFF2-40B4-BE49-F238E27FC236}">
                  <a16:creationId xmlns:a16="http://schemas.microsoft.com/office/drawing/2014/main" id="{5581029C-88A4-4C23-AC8C-EE9BBE8404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69419"/>
            <a:stretch/>
          </p:blipFill>
          <p:spPr>
            <a:xfrm>
              <a:off x="6743701" y="4983571"/>
              <a:ext cx="193146" cy="210531"/>
            </a:xfrm>
            <a:prstGeom prst="rect">
              <a:avLst/>
            </a:prstGeom>
          </p:spPr>
        </p:pic>
      </p:grpSp>
      <p:grpSp>
        <p:nvGrpSpPr>
          <p:cNvPr id="112" name="群組 111">
            <a:extLst>
              <a:ext uri="{FF2B5EF4-FFF2-40B4-BE49-F238E27FC236}">
                <a16:creationId xmlns:a16="http://schemas.microsoft.com/office/drawing/2014/main" id="{4F86032B-B8AF-488E-9D35-4F22DD8E7011}"/>
              </a:ext>
            </a:extLst>
          </p:cNvPr>
          <p:cNvGrpSpPr/>
          <p:nvPr/>
        </p:nvGrpSpPr>
        <p:grpSpPr>
          <a:xfrm>
            <a:off x="6264730" y="4856564"/>
            <a:ext cx="5680527" cy="710003"/>
            <a:chOff x="6743701" y="5665736"/>
            <a:chExt cx="5680527" cy="7100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TextBox 11">
                  <a:extLst>
                    <a:ext uri="{FF2B5EF4-FFF2-40B4-BE49-F238E27FC236}">
                      <a16:creationId xmlns:a16="http://schemas.microsoft.com/office/drawing/2014/main" id="{A2186DD2-B95F-4AF1-AC97-E98C5E6FD93C}"/>
                    </a:ext>
                  </a:extLst>
                </p:cNvPr>
                <p:cNvSpPr txBox="1"/>
                <p:nvPr/>
              </p:nvSpPr>
              <p:spPr>
                <a:xfrm>
                  <a:off x="6800850" y="5665736"/>
                  <a:ext cx="5623378" cy="7100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,ℓ</m:t>
                            </m:r>
                          </m:sub>
                          <m:sup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900" i="1" dirty="0">
                            <a:latin typeface="Cambria Math" panose="02040503050406030204" pitchFamily="18" charset="0"/>
                          </a:rPr>
                          <m:t>≡</m:t>
                        </m:r>
                        <m:r>
                          <a:rPr lang="zh-TW" altLang="en-US" sz="1900" i="1" dirty="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zh-TW" altLang="en-US" sz="1900" i="1" dirty="0"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TW" sz="1900" b="0" i="1" dirty="0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bSup>
                        <m:d>
                          <m:d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≈−</m:t>
                        </m:r>
                        <m:f>
                          <m:fPr>
                            <m:ctrlPr>
                              <a:rPr lang="en-US" altLang="zh-TW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altLang="zh-TW" sz="19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sz="1900" b="0" i="0" dirty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altLang="zh-TW" sz="19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0" i="1" dirty="0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TW" sz="1900" b="1" i="1" dirty="0" smtClean="0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sub>
                                </m:sSub>
                              </m:e>
                            </m:func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b>
                        </m:sSub>
                        <m:d>
                          <m:d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altLang="zh-TW" sz="19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d>
                              <m:dPr>
                                <m:ctrlPr>
                                  <a:rPr lang="en-US" altLang="zh-TW" sz="19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en-US" altLang="zh-TW" sz="19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+ℓ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altLang="zh-TW" sz="19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TW" sz="19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19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</m:sub>
                            </m:sSub>
                          </m:sup>
                        </m:sSup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14" name="TextBox 11">
                  <a:extLst>
                    <a:ext uri="{FF2B5EF4-FFF2-40B4-BE49-F238E27FC236}">
                      <a16:creationId xmlns:a16="http://schemas.microsoft.com/office/drawing/2014/main" id="{A2186DD2-B95F-4AF1-AC97-E98C5E6FD9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0850" y="5665736"/>
                  <a:ext cx="5623378" cy="71000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16" name="圖形 115">
              <a:extLst>
                <a:ext uri="{FF2B5EF4-FFF2-40B4-BE49-F238E27FC236}">
                  <a16:creationId xmlns:a16="http://schemas.microsoft.com/office/drawing/2014/main" id="{3687E4D9-BF7D-4B8E-A8A8-6952830495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69419"/>
            <a:stretch/>
          </p:blipFill>
          <p:spPr>
            <a:xfrm>
              <a:off x="7912101" y="5920860"/>
              <a:ext cx="193146" cy="210531"/>
            </a:xfrm>
            <a:prstGeom prst="rect">
              <a:avLst/>
            </a:prstGeom>
          </p:spPr>
        </p:pic>
        <p:pic>
          <p:nvPicPr>
            <p:cNvPr id="118" name="圖形 117">
              <a:extLst>
                <a:ext uri="{FF2B5EF4-FFF2-40B4-BE49-F238E27FC236}">
                  <a16:creationId xmlns:a16="http://schemas.microsoft.com/office/drawing/2014/main" id="{EB4EE8B5-076A-4EB6-B164-5A9BEDCF71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69419"/>
            <a:stretch/>
          </p:blipFill>
          <p:spPr>
            <a:xfrm>
              <a:off x="6743701" y="5920860"/>
              <a:ext cx="193146" cy="210531"/>
            </a:xfrm>
            <a:prstGeom prst="rect">
              <a:avLst/>
            </a:prstGeom>
          </p:spPr>
        </p:pic>
      </p:grp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Longitudinal component : SOI effect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36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sp>
        <p:nvSpPr>
          <p:cNvPr id="111" name="矩形: 圓角 110">
            <a:extLst>
              <a:ext uri="{FF2B5EF4-FFF2-40B4-BE49-F238E27FC236}">
                <a16:creationId xmlns:a16="http://schemas.microsoft.com/office/drawing/2014/main" id="{436FBC56-B1B9-4F94-A9D6-57EC654686C8}"/>
              </a:ext>
            </a:extLst>
          </p:cNvPr>
          <p:cNvSpPr/>
          <p:nvPr/>
        </p:nvSpPr>
        <p:spPr>
          <a:xfrm>
            <a:off x="145774" y="1059541"/>
            <a:ext cx="5529600" cy="2786745"/>
          </a:xfrm>
          <a:prstGeom prst="roundRect">
            <a:avLst>
              <a:gd name="adj" fmla="val 10061"/>
            </a:avLst>
          </a:prstGeom>
          <a:ln w="57150"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">
                <a:extLst>
                  <a:ext uri="{FF2B5EF4-FFF2-40B4-BE49-F238E27FC236}">
                    <a16:creationId xmlns:a16="http://schemas.microsoft.com/office/drawing/2014/main" id="{63DBBEF2-393E-470C-BB38-5B7753EDB3BE}"/>
                  </a:ext>
                </a:extLst>
              </p:cNvPr>
              <p:cNvSpPr txBox="1"/>
              <p:nvPr/>
            </p:nvSpPr>
            <p:spPr>
              <a:xfrm>
                <a:off x="377374" y="1486044"/>
                <a:ext cx="4689926" cy="452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9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sz="19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1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TW" sz="1900" b="1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TW" sz="1900" b="1" i="1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TW" sz="19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sSup>
                        <m:sSupPr>
                          <m:ctrlPr>
                            <a:rPr lang="en-US" altLang="zh-TW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3" name="TextBox 11">
                <a:extLst>
                  <a:ext uri="{FF2B5EF4-FFF2-40B4-BE49-F238E27FC236}">
                    <a16:creationId xmlns:a16="http://schemas.microsoft.com/office/drawing/2014/main" id="{63DBBEF2-393E-470C-BB38-5B7753EDB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74" y="1486044"/>
                <a:ext cx="4689926" cy="452303"/>
              </a:xfrm>
              <a:prstGeom prst="rect">
                <a:avLst/>
              </a:prstGeom>
              <a:blipFill>
                <a:blip r:embed="rId10"/>
                <a:stretch>
                  <a:fillRect t="-2703" b="-13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內容版面配置區 2">
            <a:extLst>
              <a:ext uri="{FF2B5EF4-FFF2-40B4-BE49-F238E27FC236}">
                <a16:creationId xmlns:a16="http://schemas.microsoft.com/office/drawing/2014/main" id="{6B06B26E-6431-4A71-B841-72A8E538992D}"/>
              </a:ext>
            </a:extLst>
          </p:cNvPr>
          <p:cNvSpPr txBox="1">
            <a:spLocks/>
          </p:cNvSpPr>
          <p:nvPr/>
        </p:nvSpPr>
        <p:spPr>
          <a:xfrm>
            <a:off x="336962" y="709212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 beam solutions: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1">
                <a:extLst>
                  <a:ext uri="{FF2B5EF4-FFF2-40B4-BE49-F238E27FC236}">
                    <a16:creationId xmlns:a16="http://schemas.microsoft.com/office/drawing/2014/main" id="{90E7DD10-64B8-4BB4-BA98-D242ECEEA907}"/>
                  </a:ext>
                </a:extLst>
              </p:cNvPr>
              <p:cNvSpPr txBox="1"/>
              <p:nvPr/>
            </p:nvSpPr>
            <p:spPr>
              <a:xfrm>
                <a:off x="439552" y="3077095"/>
                <a:ext cx="4923023" cy="4573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1" i="1" dirty="0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sSubSup>
                        <m:sSubSupPr>
                          <m:ctrlP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1" i="1" dirty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d>
                        <m:dPr>
                          <m:ctrlP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TW" sz="1900" i="1" dirty="0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∥</m:t>
                          </m:r>
                        </m:sup>
                      </m:sSubSup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bSup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̂"/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9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1" name="TextBox 11">
                <a:extLst>
                  <a:ext uri="{FF2B5EF4-FFF2-40B4-BE49-F238E27FC236}">
                    <a16:creationId xmlns:a16="http://schemas.microsoft.com/office/drawing/2014/main" id="{90E7DD10-64B8-4BB4-BA98-D242ECEEA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552" y="3077095"/>
                <a:ext cx="4923023" cy="457305"/>
              </a:xfrm>
              <a:prstGeom prst="rect">
                <a:avLst/>
              </a:prstGeom>
              <a:blipFill>
                <a:blip r:embed="rId11"/>
                <a:stretch>
                  <a:fillRect r="-6064" b="-4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群組 38">
            <a:extLst>
              <a:ext uri="{FF2B5EF4-FFF2-40B4-BE49-F238E27FC236}">
                <a16:creationId xmlns:a16="http://schemas.microsoft.com/office/drawing/2014/main" id="{8E100277-6390-4AA3-9C56-59870D24E711}"/>
              </a:ext>
            </a:extLst>
          </p:cNvPr>
          <p:cNvGrpSpPr/>
          <p:nvPr/>
        </p:nvGrpSpPr>
        <p:grpSpPr>
          <a:xfrm>
            <a:off x="452952" y="2278620"/>
            <a:ext cx="4608075" cy="458202"/>
            <a:chOff x="230625" y="4237344"/>
            <a:chExt cx="4608075" cy="4582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11">
                  <a:extLst>
                    <a:ext uri="{FF2B5EF4-FFF2-40B4-BE49-F238E27FC236}">
                      <a16:creationId xmlns:a16="http://schemas.microsoft.com/office/drawing/2014/main" id="{BE440DC1-DD93-40DF-B666-AC8FFD4C5F73}"/>
                    </a:ext>
                  </a:extLst>
                </p:cNvPr>
                <p:cNvSpPr txBox="1"/>
                <p:nvPr/>
              </p:nvSpPr>
              <p:spPr>
                <a:xfrm>
                  <a:off x="2534601" y="4237344"/>
                  <a:ext cx="2304099" cy="4582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1900" b="1" i="1">
                            <a:latin typeface="Cambria Math" panose="02040503050406030204" pitchFamily="18" charset="0"/>
                          </a:rPr>
                          <m:t>≈</m:t>
                        </m:r>
                        <m:sSub>
                          <m:sSubPr>
                            <m:ctrlPr>
                              <a:rPr lang="en-US" altLang="zh-TW" sz="19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19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𝜺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1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b>
                        </m:sSub>
                        <m:sSub>
                          <m:sSubPr>
                            <m:ctrlPr>
                              <a:rPr lang="en-US" sz="19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sz="19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9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  <m:r>
                              <a:rPr lang="en-US" sz="19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9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d>
                          <m:dPr>
                            <m:ctrlPr>
                              <a:rPr lang="en-US" sz="1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altLang="zh-TW" sz="19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1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  <m:sSub>
                              <m:sSubPr>
                                <m:ctrlPr>
                                  <a:rPr lang="en-US" altLang="zh-TW" sz="19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TW" sz="1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1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</m:sub>
                            </m:sSub>
                          </m:sup>
                        </m:sSup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0" name="TextBox 11">
                  <a:extLst>
                    <a:ext uri="{FF2B5EF4-FFF2-40B4-BE49-F238E27FC236}">
                      <a16:creationId xmlns:a16="http://schemas.microsoft.com/office/drawing/2014/main" id="{BE440DC1-DD93-40DF-B666-AC8FFD4C5F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4601" y="4237344"/>
                  <a:ext cx="2304099" cy="458202"/>
                </a:xfrm>
                <a:prstGeom prst="rect">
                  <a:avLst/>
                </a:prstGeom>
                <a:blipFill>
                  <a:blip r:embed="rId12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11">
                  <a:extLst>
                    <a:ext uri="{FF2B5EF4-FFF2-40B4-BE49-F238E27FC236}">
                      <a16:creationId xmlns:a16="http://schemas.microsoft.com/office/drawing/2014/main" id="{C142566C-C4D8-40DD-89DA-A677273C894B}"/>
                    </a:ext>
                  </a:extLst>
                </p:cNvPr>
                <p:cNvSpPr txBox="1"/>
                <p:nvPr/>
              </p:nvSpPr>
              <p:spPr>
                <a:xfrm>
                  <a:off x="1139109" y="4279215"/>
                  <a:ext cx="718137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19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𝜺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b>
                        </m:sSub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1" name="TextBox 11">
                  <a:extLst>
                    <a:ext uri="{FF2B5EF4-FFF2-40B4-BE49-F238E27FC236}">
                      <a16:creationId xmlns:a16="http://schemas.microsoft.com/office/drawing/2014/main" id="{ADE9BA00-7841-4C72-8634-E30B86FFE0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109" y="4279215"/>
                  <a:ext cx="718137" cy="384721"/>
                </a:xfrm>
                <a:prstGeom prst="rect">
                  <a:avLst/>
                </a:prstGeom>
                <a:blipFill>
                  <a:blip r:embed="rId13"/>
                  <a:stretch>
                    <a:fillRect t="-6349" r="-2118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3" name="圖形 42">
              <a:extLst>
                <a:ext uri="{FF2B5EF4-FFF2-40B4-BE49-F238E27FC236}">
                  <a16:creationId xmlns:a16="http://schemas.microsoft.com/office/drawing/2014/main" id="{FA33AAE8-FD45-4AFE-8762-FE8AA0E585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 r="75099"/>
            <a:stretch/>
          </p:blipFill>
          <p:spPr>
            <a:xfrm>
              <a:off x="230625" y="4318623"/>
              <a:ext cx="969526" cy="325552"/>
            </a:xfrm>
            <a:prstGeom prst="rect">
              <a:avLst/>
            </a:prstGeom>
          </p:spPr>
        </p:pic>
        <p:pic>
          <p:nvPicPr>
            <p:cNvPr id="44" name="圖形 43">
              <a:extLst>
                <a:ext uri="{FF2B5EF4-FFF2-40B4-BE49-F238E27FC236}">
                  <a16:creationId xmlns:a16="http://schemas.microsoft.com/office/drawing/2014/main" id="{A1B85B82-B796-40CB-8241-9D6C95F4E8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 l="35665" r="43419"/>
            <a:stretch/>
          </p:blipFill>
          <p:spPr>
            <a:xfrm>
              <a:off x="1762125" y="4321614"/>
              <a:ext cx="814388" cy="325552"/>
            </a:xfrm>
            <a:prstGeom prst="rect">
              <a:avLst/>
            </a:prstGeom>
          </p:spPr>
        </p:pic>
      </p:grpSp>
      <p:sp>
        <p:nvSpPr>
          <p:cNvPr id="122" name="矩形: 圓角 121">
            <a:extLst>
              <a:ext uri="{FF2B5EF4-FFF2-40B4-BE49-F238E27FC236}">
                <a16:creationId xmlns:a16="http://schemas.microsoft.com/office/drawing/2014/main" id="{27CF90DD-6DEF-470F-A683-1FA0709793AA}"/>
              </a:ext>
            </a:extLst>
          </p:cNvPr>
          <p:cNvSpPr/>
          <p:nvPr/>
        </p:nvSpPr>
        <p:spPr>
          <a:xfrm>
            <a:off x="566557" y="5007429"/>
            <a:ext cx="4586014" cy="1514212"/>
          </a:xfrm>
          <a:prstGeom prst="roundRect">
            <a:avLst>
              <a:gd name="adj" fmla="val 18092"/>
            </a:avLst>
          </a:prstGeom>
          <a:ln w="57150">
            <a:solidFill>
              <a:srgbClr val="7030A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>
              <a:solidFill>
                <a:srgbClr val="00B050"/>
              </a:solidFill>
            </a:endParaRP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C1503F33-B4F5-4072-B4B9-4C2F6E3DA0D1}"/>
              </a:ext>
            </a:extLst>
          </p:cNvPr>
          <p:cNvSpPr/>
          <p:nvPr/>
        </p:nvSpPr>
        <p:spPr>
          <a:xfrm>
            <a:off x="447281" y="4598079"/>
            <a:ext cx="13259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E42104CE-4C9C-4979-A2F1-BCADD6AB81E6}"/>
              </a:ext>
            </a:extLst>
          </p:cNvPr>
          <p:cNvSpPr/>
          <p:nvPr/>
        </p:nvSpPr>
        <p:spPr>
          <a:xfrm>
            <a:off x="1144827" y="5238459"/>
            <a:ext cx="34557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Expanded in plane-wave basis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內容版面配置區 2">
            <a:extLst>
              <a:ext uri="{FF2B5EF4-FFF2-40B4-BE49-F238E27FC236}">
                <a16:creationId xmlns:a16="http://schemas.microsoft.com/office/drawing/2014/main" id="{ED0C90CB-641A-4B9E-939B-00741F9ECEB7}"/>
              </a:ext>
            </a:extLst>
          </p:cNvPr>
          <p:cNvSpPr txBox="1">
            <a:spLocks/>
          </p:cNvSpPr>
          <p:nvPr/>
        </p:nvSpPr>
        <p:spPr>
          <a:xfrm>
            <a:off x="225906" y="1217212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/ Lorentz :</a:t>
            </a:r>
          </a:p>
        </p:txBody>
      </p:sp>
      <p:sp>
        <p:nvSpPr>
          <p:cNvPr id="143" name="內容版面配置區 2">
            <a:extLst>
              <a:ext uri="{FF2B5EF4-FFF2-40B4-BE49-F238E27FC236}">
                <a16:creationId xmlns:a16="http://schemas.microsoft.com/office/drawing/2014/main" id="{A035F166-E418-466C-92EC-0BAFBB9A4C4E}"/>
              </a:ext>
            </a:extLst>
          </p:cNvPr>
          <p:cNvSpPr txBox="1">
            <a:spLocks/>
          </p:cNvSpPr>
          <p:nvPr/>
        </p:nvSpPr>
        <p:spPr>
          <a:xfrm>
            <a:off x="225906" y="2009788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/ Lorentz :</a:t>
            </a:r>
          </a:p>
        </p:txBody>
      </p:sp>
      <p:sp>
        <p:nvSpPr>
          <p:cNvPr id="144" name="內容版面配置區 2">
            <a:extLst>
              <a:ext uri="{FF2B5EF4-FFF2-40B4-BE49-F238E27FC236}">
                <a16:creationId xmlns:a16="http://schemas.microsoft.com/office/drawing/2014/main" id="{347A7B95-C8DA-487E-BB37-F7D73A2286B1}"/>
              </a:ext>
            </a:extLst>
          </p:cNvPr>
          <p:cNvSpPr txBox="1">
            <a:spLocks/>
          </p:cNvSpPr>
          <p:nvPr/>
        </p:nvSpPr>
        <p:spPr>
          <a:xfrm>
            <a:off x="225906" y="2808263"/>
            <a:ext cx="5374468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/ Coulomb :</a:t>
            </a:r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E8FBD04F-DFA0-41F0-90A7-2B127EACBA67}"/>
              </a:ext>
            </a:extLst>
          </p:cNvPr>
          <p:cNvGrpSpPr/>
          <p:nvPr/>
        </p:nvGrpSpPr>
        <p:grpSpPr>
          <a:xfrm>
            <a:off x="755934" y="5607586"/>
            <a:ext cx="4396638" cy="707373"/>
            <a:chOff x="6347562" y="1937285"/>
            <a:chExt cx="4396638" cy="7073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1">
                  <a:extLst>
                    <a:ext uri="{FF2B5EF4-FFF2-40B4-BE49-F238E27FC236}">
                      <a16:creationId xmlns:a16="http://schemas.microsoft.com/office/drawing/2014/main" id="{15D34607-12DF-4BD3-B1DB-88E3ADFBE9AD}"/>
                    </a:ext>
                  </a:extLst>
                </p:cNvPr>
                <p:cNvSpPr txBox="1"/>
                <p:nvPr/>
              </p:nvSpPr>
              <p:spPr>
                <a:xfrm>
                  <a:off x="6347562" y="1937285"/>
                  <a:ext cx="4396638" cy="7073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900" b="1" i="1" dirty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zh-TW" sz="1900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r>
                          <a:rPr lang="en-US" altLang="zh-TW" sz="1900" b="1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TW" sz="190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9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TW" sz="19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TW" sz="19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9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TW" sz="1900" b="0" i="1" dirty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TW" sz="19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nary>
                          <m:naryPr>
                            <m:ctrlPr>
                              <a:rPr lang="en-US" altLang="zh-TW" sz="19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sz="19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altLang="zh-TW" sz="19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 altLang="zh-TW" sz="19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sSubSup>
                              <m:sSubSupPr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19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sub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,ℓ,</m:t>
                                </m:r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  <m:sup>
                                <m:r>
                                  <a:rPr lang="en-US" altLang="zh-TW" sz="1900" b="0" i="1" dirty="0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</m:e>
                            </m:d>
                            <m:sSup>
                              <m:sSupPr>
                                <m:ctrlPr>
                                  <a:rPr lang="pt-BR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altLang="zh-TW" sz="1900" b="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pt-BR" altLang="zh-TW" sz="1900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pt-BR" altLang="zh-TW" sz="1900" b="1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  <m:r>
                                  <a:rPr lang="pt-BR" altLang="zh-TW" sz="1900" b="1" i="1">
                                    <a:latin typeface="Cambria Math" panose="02040503050406030204" pitchFamily="18" charset="0"/>
                                  </a:rPr>
                                  <m:t> · </m:t>
                                </m:r>
                                <m:r>
                                  <a:rPr lang="pt-BR" altLang="zh-TW" sz="1900" b="1" i="1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26" name="TextBox 11">
                  <a:extLst>
                    <a:ext uri="{FF2B5EF4-FFF2-40B4-BE49-F238E27FC236}">
                      <a16:creationId xmlns:a16="http://schemas.microsoft.com/office/drawing/2014/main" id="{15D34607-12DF-4BD3-B1DB-88E3ADFBE9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47562" y="1937285"/>
                  <a:ext cx="4396638" cy="707373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51" name="圖形 150">
              <a:extLst>
                <a:ext uri="{FF2B5EF4-FFF2-40B4-BE49-F238E27FC236}">
                  <a16:creationId xmlns:a16="http://schemas.microsoft.com/office/drawing/2014/main" id="{2F4855D1-BB15-4886-AD03-C59A94B60F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1" r="53142" b="-1"/>
            <a:stretch/>
          </p:blipFill>
          <p:spPr>
            <a:xfrm>
              <a:off x="8922651" y="2215923"/>
              <a:ext cx="224841" cy="172247"/>
            </a:xfrm>
            <a:prstGeom prst="rect">
              <a:avLst/>
            </a:prstGeom>
          </p:spPr>
        </p:pic>
      </p:grpSp>
      <p:sp>
        <p:nvSpPr>
          <p:cNvPr id="67" name="箭號: 弧形左彎 66">
            <a:extLst>
              <a:ext uri="{FF2B5EF4-FFF2-40B4-BE49-F238E27FC236}">
                <a16:creationId xmlns:a16="http://schemas.microsoft.com/office/drawing/2014/main" id="{BADC73C7-1290-4075-B983-BC67DAD7AA5B}"/>
              </a:ext>
            </a:extLst>
          </p:cNvPr>
          <p:cNvSpPr/>
          <p:nvPr/>
        </p:nvSpPr>
        <p:spPr>
          <a:xfrm rot="19288798" flipH="1">
            <a:off x="4791736" y="3745730"/>
            <a:ext cx="1015200" cy="1703038"/>
          </a:xfrm>
          <a:prstGeom prst="curvedLef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pic>
        <p:nvPicPr>
          <p:cNvPr id="119" name="圖形 118">
            <a:extLst>
              <a:ext uri="{FF2B5EF4-FFF2-40B4-BE49-F238E27FC236}">
                <a16:creationId xmlns:a16="http://schemas.microsoft.com/office/drawing/2014/main" id="{84AC5802-D529-485E-99BB-7A3F4F5FC60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r="53142" b="-1"/>
          <a:stretch/>
        </p:blipFill>
        <p:spPr>
          <a:xfrm>
            <a:off x="6712450" y="1328738"/>
            <a:ext cx="509767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0319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Longitudinal component : SOI effect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37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sp>
        <p:nvSpPr>
          <p:cNvPr id="74" name="內容版面配置區 2">
            <a:extLst>
              <a:ext uri="{FF2B5EF4-FFF2-40B4-BE49-F238E27FC236}">
                <a16:creationId xmlns:a16="http://schemas.microsoft.com/office/drawing/2014/main" id="{DE9DEF2D-9F08-4552-AE86-EBAA87096021}"/>
              </a:ext>
            </a:extLst>
          </p:cNvPr>
          <p:cNvSpPr txBox="1">
            <a:spLocks/>
          </p:cNvSpPr>
          <p:nvPr/>
        </p:nvSpPr>
        <p:spPr>
          <a:xfrm>
            <a:off x="6258791" y="1946554"/>
            <a:ext cx="5374468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 beam in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spectrum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Coulomb gauge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11">
                <a:extLst>
                  <a:ext uri="{FF2B5EF4-FFF2-40B4-BE49-F238E27FC236}">
                    <a16:creationId xmlns:a16="http://schemas.microsoft.com/office/drawing/2014/main" id="{44CEAE4C-43C9-4DCA-8614-F958E0C43A61}"/>
                  </a:ext>
                </a:extLst>
              </p:cNvPr>
              <p:cNvSpPr txBox="1"/>
              <p:nvPr/>
            </p:nvSpPr>
            <p:spPr>
              <a:xfrm>
                <a:off x="6984801" y="1146723"/>
                <a:ext cx="1901293" cy="755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36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36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36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d>
                        <m:dPr>
                          <m:ctrlPr>
                            <a:rPr lang="en-US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sz="3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0" name="TextBox 11">
                <a:extLst>
                  <a:ext uri="{FF2B5EF4-FFF2-40B4-BE49-F238E27FC236}">
                    <a16:creationId xmlns:a16="http://schemas.microsoft.com/office/drawing/2014/main" id="{44CEAE4C-43C9-4DCA-8614-F958E0C43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4801" y="1146723"/>
                <a:ext cx="1901293" cy="7558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矩形: 圓角 80">
            <a:extLst>
              <a:ext uri="{FF2B5EF4-FFF2-40B4-BE49-F238E27FC236}">
                <a16:creationId xmlns:a16="http://schemas.microsoft.com/office/drawing/2014/main" id="{6C4EBC36-C5FD-4E2E-BA6B-ACDF9D0A04FC}"/>
              </a:ext>
            </a:extLst>
          </p:cNvPr>
          <p:cNvSpPr/>
          <p:nvPr/>
        </p:nvSpPr>
        <p:spPr>
          <a:xfrm>
            <a:off x="6039395" y="2369458"/>
            <a:ext cx="5917474" cy="3526972"/>
          </a:xfrm>
          <a:prstGeom prst="roundRect">
            <a:avLst>
              <a:gd name="adj" fmla="val 9818"/>
            </a:avLst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11">
                <a:extLst>
                  <a:ext uri="{FF2B5EF4-FFF2-40B4-BE49-F238E27FC236}">
                    <a16:creationId xmlns:a16="http://schemas.microsoft.com/office/drawing/2014/main" id="{65D7ADE3-6F8D-4292-9C19-72AAF02928CE}"/>
                  </a:ext>
                </a:extLst>
              </p:cNvPr>
              <p:cNvSpPr txBox="1"/>
              <p:nvPr/>
            </p:nvSpPr>
            <p:spPr>
              <a:xfrm>
                <a:off x="6230754" y="2526247"/>
                <a:ext cx="5304475" cy="468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,ℓ</m:t>
                          </m:r>
                        </m:sub>
                      </m:sSub>
                      <m:d>
                        <m:d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≡   </m:t>
                      </m:r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d>
                        <m:dPr>
                          <m:ctrlP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sz="1900" i="1" dirty="0" smtClean="0">
                          <a:latin typeface="Cambria Math" panose="02040503050406030204" pitchFamily="18" charset="0"/>
                        </a:rPr>
                        <m:t>≈</m:t>
                      </m:r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19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TW" altLang="en-US" sz="190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TW" altLang="en-US" sz="19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∥</m:t>
                          </m:r>
                        </m:sup>
                      </m:sSubSup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∥</m:t>
                          </m:r>
                        </m:sub>
                      </m:sSub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zh-TW" sz="19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bSup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∥</m:t>
                          </m:r>
                        </m:sub>
                      </m:sSub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̂"/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9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2" name="TextBox 11">
                <a:extLst>
                  <a:ext uri="{FF2B5EF4-FFF2-40B4-BE49-F238E27FC236}">
                    <a16:creationId xmlns:a16="http://schemas.microsoft.com/office/drawing/2014/main" id="{65D7ADE3-6F8D-4292-9C19-72AAF0292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0754" y="2526247"/>
                <a:ext cx="5304475" cy="468205"/>
              </a:xfrm>
              <a:prstGeom prst="rect">
                <a:avLst/>
              </a:prstGeom>
              <a:blipFill>
                <a:blip r:embed="rId5"/>
                <a:stretch>
                  <a:fillRect r="-5977" b="-25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TextBox 11">
            <a:extLst>
              <a:ext uri="{FF2B5EF4-FFF2-40B4-BE49-F238E27FC236}">
                <a16:creationId xmlns:a16="http://schemas.microsoft.com/office/drawing/2014/main" id="{3C6A2C24-E7B8-470D-8A7F-4AB6062EEF0E}"/>
              </a:ext>
            </a:extLst>
          </p:cNvPr>
          <p:cNvSpPr txBox="1"/>
          <p:nvPr/>
        </p:nvSpPr>
        <p:spPr>
          <a:xfrm>
            <a:off x="6089239" y="3250808"/>
            <a:ext cx="5324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component :</a:t>
            </a:r>
          </a:p>
        </p:txBody>
      </p:sp>
      <p:sp>
        <p:nvSpPr>
          <p:cNvPr id="84" name="TextBox 11">
            <a:extLst>
              <a:ext uri="{FF2B5EF4-FFF2-40B4-BE49-F238E27FC236}">
                <a16:creationId xmlns:a16="http://schemas.microsoft.com/office/drawing/2014/main" id="{25FC2CD4-EF42-489D-982E-64D4DA568B48}"/>
              </a:ext>
            </a:extLst>
          </p:cNvPr>
          <p:cNvSpPr txBox="1"/>
          <p:nvPr/>
        </p:nvSpPr>
        <p:spPr>
          <a:xfrm>
            <a:off x="6089239" y="4435442"/>
            <a:ext cx="5324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 :</a:t>
            </a:r>
          </a:p>
        </p:txBody>
      </p:sp>
      <p:pic>
        <p:nvPicPr>
          <p:cNvPr id="85" name="圖形 84">
            <a:extLst>
              <a:ext uri="{FF2B5EF4-FFF2-40B4-BE49-F238E27FC236}">
                <a16:creationId xmlns:a16="http://schemas.microsoft.com/office/drawing/2014/main" id="{93C92BA4-E78A-4AC9-B03A-1ADBE39E7D4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" r="53142" b="-1"/>
          <a:stretch/>
        </p:blipFill>
        <p:spPr>
          <a:xfrm>
            <a:off x="7344813" y="2678339"/>
            <a:ext cx="224841" cy="172247"/>
          </a:xfrm>
          <a:prstGeom prst="rect">
            <a:avLst/>
          </a:prstGeom>
        </p:spPr>
      </p:pic>
      <p:pic>
        <p:nvPicPr>
          <p:cNvPr id="86" name="圖形 85">
            <a:extLst>
              <a:ext uri="{FF2B5EF4-FFF2-40B4-BE49-F238E27FC236}">
                <a16:creationId xmlns:a16="http://schemas.microsoft.com/office/drawing/2014/main" id="{71712854-DBB8-406B-A388-D762901EF50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" r="53142" b="-1"/>
          <a:stretch/>
        </p:blipFill>
        <p:spPr>
          <a:xfrm>
            <a:off x="6165661" y="2682333"/>
            <a:ext cx="224841" cy="172247"/>
          </a:xfrm>
          <a:prstGeom prst="rect">
            <a:avLst/>
          </a:prstGeom>
        </p:spPr>
      </p:pic>
      <p:pic>
        <p:nvPicPr>
          <p:cNvPr id="87" name="圖形 86">
            <a:extLst>
              <a:ext uri="{FF2B5EF4-FFF2-40B4-BE49-F238E27FC236}">
                <a16:creationId xmlns:a16="http://schemas.microsoft.com/office/drawing/2014/main" id="{43E82ADB-4CCF-4B94-A128-47BBE591AD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9419"/>
          <a:stretch/>
        </p:blipFill>
        <p:spPr>
          <a:xfrm>
            <a:off x="8887279" y="2652939"/>
            <a:ext cx="193146" cy="210531"/>
          </a:xfrm>
          <a:prstGeom prst="rect">
            <a:avLst/>
          </a:prstGeom>
        </p:spPr>
      </p:pic>
      <p:pic>
        <p:nvPicPr>
          <p:cNvPr id="88" name="圖形 87">
            <a:extLst>
              <a:ext uri="{FF2B5EF4-FFF2-40B4-BE49-F238E27FC236}">
                <a16:creationId xmlns:a16="http://schemas.microsoft.com/office/drawing/2014/main" id="{E309D085-6DFD-4B74-82F2-03E8778C65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163"/>
          <a:stretch/>
        </p:blipFill>
        <p:spPr>
          <a:xfrm>
            <a:off x="10248560" y="2648176"/>
            <a:ext cx="201083" cy="210531"/>
          </a:xfrm>
          <a:prstGeom prst="rect">
            <a:avLst/>
          </a:prstGeom>
        </p:spPr>
      </p:pic>
      <p:grpSp>
        <p:nvGrpSpPr>
          <p:cNvPr id="94" name="群組 93">
            <a:extLst>
              <a:ext uri="{FF2B5EF4-FFF2-40B4-BE49-F238E27FC236}">
                <a16:creationId xmlns:a16="http://schemas.microsoft.com/office/drawing/2014/main" id="{A6489FEE-5993-4FB2-B4A2-B5E45B7C8BD1}"/>
              </a:ext>
            </a:extLst>
          </p:cNvPr>
          <p:cNvGrpSpPr/>
          <p:nvPr/>
        </p:nvGrpSpPr>
        <p:grpSpPr>
          <a:xfrm>
            <a:off x="6264730" y="4856564"/>
            <a:ext cx="5680527" cy="710003"/>
            <a:chOff x="6743701" y="5665736"/>
            <a:chExt cx="5680527" cy="7100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11">
                  <a:extLst>
                    <a:ext uri="{FF2B5EF4-FFF2-40B4-BE49-F238E27FC236}">
                      <a16:creationId xmlns:a16="http://schemas.microsoft.com/office/drawing/2014/main" id="{4EDCF4FE-7978-4DC5-9608-20AB5DD56D4E}"/>
                    </a:ext>
                  </a:extLst>
                </p:cNvPr>
                <p:cNvSpPr txBox="1"/>
                <p:nvPr/>
              </p:nvSpPr>
              <p:spPr>
                <a:xfrm>
                  <a:off x="6800850" y="5665736"/>
                  <a:ext cx="5623378" cy="7100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,ℓ</m:t>
                            </m:r>
                          </m:sub>
                          <m:sup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900" i="1" dirty="0">
                            <a:latin typeface="Cambria Math" panose="02040503050406030204" pitchFamily="18" charset="0"/>
                          </a:rPr>
                          <m:t>≡</m:t>
                        </m:r>
                        <m:r>
                          <a:rPr lang="zh-TW" altLang="en-US" sz="1900" i="1" dirty="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zh-TW" altLang="en-US" sz="1900" i="1" dirty="0"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TW" sz="1900" b="0" i="1" dirty="0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bSup>
                        <m:d>
                          <m:d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≈−</m:t>
                        </m:r>
                        <m:f>
                          <m:fPr>
                            <m:ctrlPr>
                              <a:rPr lang="en-US" altLang="zh-TW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altLang="zh-TW" sz="19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sz="1900" b="0" i="0" dirty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altLang="zh-TW" sz="19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0" i="1" dirty="0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TW" sz="1900" b="1" i="1" dirty="0" smtClean="0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sub>
                                </m:sSub>
                              </m:e>
                            </m:func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b>
                        </m:sSub>
                        <m:d>
                          <m:d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altLang="zh-TW" sz="19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d>
                              <m:dPr>
                                <m:ctrlPr>
                                  <a:rPr lang="en-US" altLang="zh-TW" sz="19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en-US" altLang="zh-TW" sz="19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+ℓ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altLang="zh-TW" sz="19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TW" sz="19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19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</m:sub>
                            </m:sSub>
                          </m:sup>
                        </m:sSup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95" name="TextBox 11">
                  <a:extLst>
                    <a:ext uri="{FF2B5EF4-FFF2-40B4-BE49-F238E27FC236}">
                      <a16:creationId xmlns:a16="http://schemas.microsoft.com/office/drawing/2014/main" id="{4EDCF4FE-7978-4DC5-9608-20AB5DD56D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0850" y="5665736"/>
                  <a:ext cx="5623378" cy="71000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6" name="圖形 95">
              <a:extLst>
                <a:ext uri="{FF2B5EF4-FFF2-40B4-BE49-F238E27FC236}">
                  <a16:creationId xmlns:a16="http://schemas.microsoft.com/office/drawing/2014/main" id="{8FB92DD1-EBDF-418E-82EB-0A3A340BD9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69419"/>
            <a:stretch/>
          </p:blipFill>
          <p:spPr>
            <a:xfrm>
              <a:off x="7912101" y="5920860"/>
              <a:ext cx="193146" cy="210531"/>
            </a:xfrm>
            <a:prstGeom prst="rect">
              <a:avLst/>
            </a:prstGeom>
          </p:spPr>
        </p:pic>
        <p:pic>
          <p:nvPicPr>
            <p:cNvPr id="97" name="圖形 96">
              <a:extLst>
                <a:ext uri="{FF2B5EF4-FFF2-40B4-BE49-F238E27FC236}">
                  <a16:creationId xmlns:a16="http://schemas.microsoft.com/office/drawing/2014/main" id="{42DF1246-F49D-4656-AADD-733C1E663D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69419"/>
            <a:stretch/>
          </p:blipFill>
          <p:spPr>
            <a:xfrm>
              <a:off x="6743701" y="5920860"/>
              <a:ext cx="193146" cy="210531"/>
            </a:xfrm>
            <a:prstGeom prst="rect">
              <a:avLst/>
            </a:prstGeom>
          </p:spPr>
        </p:pic>
      </p:grpSp>
      <p:sp>
        <p:nvSpPr>
          <p:cNvPr id="98" name="TextBox 11">
            <a:extLst>
              <a:ext uri="{FF2B5EF4-FFF2-40B4-BE49-F238E27FC236}">
                <a16:creationId xmlns:a16="http://schemas.microsoft.com/office/drawing/2014/main" id="{0165B2E0-3B2E-4496-9403-C58831292EB7}"/>
              </a:ext>
            </a:extLst>
          </p:cNvPr>
          <p:cNvSpPr txBox="1"/>
          <p:nvPr/>
        </p:nvSpPr>
        <p:spPr>
          <a:xfrm>
            <a:off x="29525" y="1068223"/>
            <a:ext cx="5324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component :</a:t>
            </a:r>
          </a:p>
        </p:txBody>
      </p:sp>
      <p:sp>
        <p:nvSpPr>
          <p:cNvPr id="99" name="TextBox 11">
            <a:extLst>
              <a:ext uri="{FF2B5EF4-FFF2-40B4-BE49-F238E27FC236}">
                <a16:creationId xmlns:a16="http://schemas.microsoft.com/office/drawing/2014/main" id="{FA9859C0-2248-4CEA-BE29-F9E9F05D213C}"/>
              </a:ext>
            </a:extLst>
          </p:cNvPr>
          <p:cNvSpPr txBox="1"/>
          <p:nvPr/>
        </p:nvSpPr>
        <p:spPr>
          <a:xfrm>
            <a:off x="29525" y="3127342"/>
            <a:ext cx="5324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 :</a:t>
            </a:r>
          </a:p>
        </p:txBody>
      </p:sp>
      <p:pic>
        <p:nvPicPr>
          <p:cNvPr id="35" name="圖片 34">
            <a:extLst>
              <a:ext uri="{FF2B5EF4-FFF2-40B4-BE49-F238E27FC236}">
                <a16:creationId xmlns:a16="http://schemas.microsoft.com/office/drawing/2014/main" id="{63D0EB82-33A7-4E3D-A075-2CF77F68DF8B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50063"/>
          <a:stretch/>
        </p:blipFill>
        <p:spPr>
          <a:xfrm>
            <a:off x="86769" y="1479550"/>
            <a:ext cx="5777001" cy="1527134"/>
          </a:xfrm>
          <a:prstGeom prst="rect">
            <a:avLst/>
          </a:prstGeom>
        </p:spPr>
      </p:pic>
      <p:grpSp>
        <p:nvGrpSpPr>
          <p:cNvPr id="7" name="群組 6">
            <a:extLst>
              <a:ext uri="{FF2B5EF4-FFF2-40B4-BE49-F238E27FC236}">
                <a16:creationId xmlns:a16="http://schemas.microsoft.com/office/drawing/2014/main" id="{3D464BB0-4C19-4CEE-A8EB-55A63F3E95B4}"/>
              </a:ext>
            </a:extLst>
          </p:cNvPr>
          <p:cNvGrpSpPr/>
          <p:nvPr/>
        </p:nvGrpSpPr>
        <p:grpSpPr>
          <a:xfrm>
            <a:off x="9239" y="3437346"/>
            <a:ext cx="5921026" cy="3049932"/>
            <a:chOff x="9239" y="3437346"/>
            <a:chExt cx="5921026" cy="3049932"/>
          </a:xfrm>
        </p:grpSpPr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66AE6D31-5CEC-4359-8AED-A33A7685C3A0}"/>
                </a:ext>
              </a:extLst>
            </p:cNvPr>
            <p:cNvGrpSpPr/>
            <p:nvPr/>
          </p:nvGrpSpPr>
          <p:grpSpPr>
            <a:xfrm>
              <a:off x="9239" y="3437346"/>
              <a:ext cx="5921026" cy="3049932"/>
              <a:chOff x="-286" y="4281896"/>
              <a:chExt cx="5921026" cy="3049932"/>
            </a:xfrm>
          </p:grpSpPr>
          <p:pic>
            <p:nvPicPr>
              <p:cNvPr id="36" name="圖片 35">
                <a:extLst>
                  <a:ext uri="{FF2B5EF4-FFF2-40B4-BE49-F238E27FC236}">
                    <a16:creationId xmlns:a16="http://schemas.microsoft.com/office/drawing/2014/main" id="{809170DC-3198-4924-98B6-BDFF6260144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t="34634"/>
              <a:stretch/>
            </p:blipFill>
            <p:spPr>
              <a:xfrm>
                <a:off x="-286" y="4358639"/>
                <a:ext cx="5861971" cy="2973189"/>
              </a:xfrm>
              <a:prstGeom prst="rect">
                <a:avLst/>
              </a:prstGeom>
            </p:spPr>
          </p:pic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AA51EA9D-0FCF-4787-B5DD-F01745904030}"/>
                  </a:ext>
                </a:extLst>
              </p:cNvPr>
              <p:cNvSpPr/>
              <p:nvPr/>
            </p:nvSpPr>
            <p:spPr>
              <a:xfrm>
                <a:off x="5006340" y="4281896"/>
                <a:ext cx="914400" cy="13851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658D2276-6B96-4045-9497-9C57524DD73A}"/>
                </a:ext>
              </a:extLst>
            </p:cNvPr>
            <p:cNvSpPr/>
            <p:nvPr/>
          </p:nvSpPr>
          <p:spPr>
            <a:xfrm>
              <a:off x="4882243" y="3477078"/>
              <a:ext cx="914400" cy="1385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pic>
        <p:nvPicPr>
          <p:cNvPr id="42" name="圖形 41">
            <a:extLst>
              <a:ext uri="{FF2B5EF4-FFF2-40B4-BE49-F238E27FC236}">
                <a16:creationId xmlns:a16="http://schemas.microsoft.com/office/drawing/2014/main" id="{4EC1D1F5-CC51-4903-BA6A-D59868999DE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" r="53142" b="-1"/>
          <a:stretch/>
        </p:blipFill>
        <p:spPr>
          <a:xfrm>
            <a:off x="6712450" y="1328738"/>
            <a:ext cx="509767" cy="390525"/>
          </a:xfrm>
          <a:prstGeom prst="rect">
            <a:avLst/>
          </a:prstGeom>
        </p:spPr>
      </p:pic>
      <p:grpSp>
        <p:nvGrpSpPr>
          <p:cNvPr id="34" name="群組 33">
            <a:extLst>
              <a:ext uri="{FF2B5EF4-FFF2-40B4-BE49-F238E27FC236}">
                <a16:creationId xmlns:a16="http://schemas.microsoft.com/office/drawing/2014/main" id="{D7AA0813-AC5F-4A42-BA50-FC40167A58AE}"/>
              </a:ext>
            </a:extLst>
          </p:cNvPr>
          <p:cNvGrpSpPr/>
          <p:nvPr/>
        </p:nvGrpSpPr>
        <p:grpSpPr>
          <a:xfrm>
            <a:off x="6112329" y="3620399"/>
            <a:ext cx="4743450" cy="477118"/>
            <a:chOff x="6591300" y="4855928"/>
            <a:chExt cx="4743450" cy="4771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11">
                  <a:extLst>
                    <a:ext uri="{FF2B5EF4-FFF2-40B4-BE49-F238E27FC236}">
                      <a16:creationId xmlns:a16="http://schemas.microsoft.com/office/drawing/2014/main" id="{230C35ED-AEB7-42F5-962A-777EDDD1D4F9}"/>
                    </a:ext>
                  </a:extLst>
                </p:cNvPr>
                <p:cNvSpPr txBox="1"/>
                <p:nvPr/>
              </p:nvSpPr>
              <p:spPr>
                <a:xfrm>
                  <a:off x="6591300" y="4855928"/>
                  <a:ext cx="4743450" cy="4771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TW" altLang="en-US" sz="1900" i="1" dirty="0">
                            <a:latin typeface="Cambria Math" panose="02040503050406030204" pitchFamily="18" charset="0"/>
                          </a:rPr>
                          <m:t>    </m:t>
                        </m:r>
                        <m:sSubSup>
                          <m:sSubSup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sub>
                          <m:sup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900" i="1" dirty="0" smtClean="0">
                            <a:latin typeface="Cambria Math" panose="02040503050406030204" pitchFamily="18" charset="0"/>
                          </a:rPr>
                          <m:t>≡</m:t>
                        </m:r>
                        <m:r>
                          <a:rPr lang="zh-TW" altLang="en-US" sz="19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sz="190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sz="1900" i="1" dirty="0"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ℓ,</m:t>
                            </m:r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≈</m:t>
                        </m:r>
                        <m:sSub>
                          <m:sSub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b>
                        </m:sSub>
                        <m:d>
                          <m:d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</m:sub>
                            </m:sSub>
                          </m:sup>
                        </m:sSup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08" name="TextBox 11">
                  <a:extLst>
                    <a:ext uri="{FF2B5EF4-FFF2-40B4-BE49-F238E27FC236}">
                      <a16:creationId xmlns:a16="http://schemas.microsoft.com/office/drawing/2014/main" id="{DE2D95C3-EA89-44B1-B5C7-EE0DBBCEFF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1300" y="4855928"/>
                  <a:ext cx="4743450" cy="477118"/>
                </a:xfrm>
                <a:prstGeom prst="rect">
                  <a:avLst/>
                </a:prstGeom>
                <a:blipFill>
                  <a:blip r:embed="rId8"/>
                  <a:stretch>
                    <a:fillRect b="-384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9" name="圖形 38">
              <a:extLst>
                <a:ext uri="{FF2B5EF4-FFF2-40B4-BE49-F238E27FC236}">
                  <a16:creationId xmlns:a16="http://schemas.microsoft.com/office/drawing/2014/main" id="{3A08D2E6-BCA9-43FA-BDD1-72F134674AC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69419"/>
            <a:stretch/>
          </p:blipFill>
          <p:spPr>
            <a:xfrm>
              <a:off x="7759701" y="4983571"/>
              <a:ext cx="193146" cy="210531"/>
            </a:xfrm>
            <a:prstGeom prst="rect">
              <a:avLst/>
            </a:prstGeom>
          </p:spPr>
        </p:pic>
        <p:pic>
          <p:nvPicPr>
            <p:cNvPr id="43" name="圖形 42">
              <a:extLst>
                <a:ext uri="{FF2B5EF4-FFF2-40B4-BE49-F238E27FC236}">
                  <a16:creationId xmlns:a16="http://schemas.microsoft.com/office/drawing/2014/main" id="{A0D20D6A-675E-4F37-A7EA-85BD2203AE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69419"/>
            <a:stretch/>
          </p:blipFill>
          <p:spPr>
            <a:xfrm>
              <a:off x="6743701" y="4983571"/>
              <a:ext cx="193146" cy="210531"/>
            </a:xfrm>
            <a:prstGeom prst="rect">
              <a:avLst/>
            </a:prstGeom>
          </p:spPr>
        </p:pic>
      </p:grpSp>
      <p:sp>
        <p:nvSpPr>
          <p:cNvPr id="45" name="矩形 44">
            <a:extLst>
              <a:ext uri="{FF2B5EF4-FFF2-40B4-BE49-F238E27FC236}">
                <a16:creationId xmlns:a16="http://schemas.microsoft.com/office/drawing/2014/main" id="{DE8B0F2F-AC5B-45A6-A853-DE61F5C5F9A1}"/>
              </a:ext>
            </a:extLst>
          </p:cNvPr>
          <p:cNvSpPr/>
          <p:nvPr/>
        </p:nvSpPr>
        <p:spPr>
          <a:xfrm>
            <a:off x="10587471" y="5300614"/>
            <a:ext cx="1053486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SOI</a:t>
            </a:r>
            <a:endParaRPr lang="zh-TW" altLang="en-US" sz="2400" b="1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2576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Longitudinal component : SOI effect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38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539CED67-5E6A-4DA4-886B-0B31B24825A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0248"/>
          <a:stretch/>
        </p:blipFill>
        <p:spPr>
          <a:xfrm>
            <a:off x="86769" y="1442177"/>
            <a:ext cx="5777001" cy="1521460"/>
          </a:xfrm>
          <a:prstGeom prst="rect">
            <a:avLst/>
          </a:prstGeom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A2A7E459-1098-485B-A0E8-8C6FD5A66116}"/>
              </a:ext>
            </a:extLst>
          </p:cNvPr>
          <p:cNvGrpSpPr/>
          <p:nvPr/>
        </p:nvGrpSpPr>
        <p:grpSpPr>
          <a:xfrm>
            <a:off x="14954" y="3472395"/>
            <a:ext cx="5861971" cy="1725255"/>
            <a:chOff x="14954" y="3766309"/>
            <a:chExt cx="5861971" cy="1725255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72AEDFB6-E51D-4AF6-BE77-65DF0BBF5EB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63524"/>
            <a:stretch/>
          </p:blipFill>
          <p:spPr>
            <a:xfrm>
              <a:off x="14954" y="3766309"/>
              <a:ext cx="5861971" cy="1659131"/>
            </a:xfrm>
            <a:prstGeom prst="rect">
              <a:avLst/>
            </a:prstGeom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F34758D6-1C14-4399-97C6-55AFDEDAEA45}"/>
                </a:ext>
              </a:extLst>
            </p:cNvPr>
            <p:cNvSpPr/>
            <p:nvPr/>
          </p:nvSpPr>
          <p:spPr>
            <a:xfrm>
              <a:off x="266700" y="5353050"/>
              <a:ext cx="914400" cy="1385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74" name="內容版面配置區 2">
            <a:extLst>
              <a:ext uri="{FF2B5EF4-FFF2-40B4-BE49-F238E27FC236}">
                <a16:creationId xmlns:a16="http://schemas.microsoft.com/office/drawing/2014/main" id="{DE9DEF2D-9F08-4552-AE86-EBAA87096021}"/>
              </a:ext>
            </a:extLst>
          </p:cNvPr>
          <p:cNvSpPr txBox="1">
            <a:spLocks/>
          </p:cNvSpPr>
          <p:nvPr/>
        </p:nvSpPr>
        <p:spPr>
          <a:xfrm>
            <a:off x="6258791" y="1946554"/>
            <a:ext cx="5374468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 beam in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spectrum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Coulomb gauge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11">
                <a:extLst>
                  <a:ext uri="{FF2B5EF4-FFF2-40B4-BE49-F238E27FC236}">
                    <a16:creationId xmlns:a16="http://schemas.microsoft.com/office/drawing/2014/main" id="{44CEAE4C-43C9-4DCA-8614-F958E0C43A61}"/>
                  </a:ext>
                </a:extLst>
              </p:cNvPr>
              <p:cNvSpPr txBox="1"/>
              <p:nvPr/>
            </p:nvSpPr>
            <p:spPr>
              <a:xfrm>
                <a:off x="6984801" y="1146723"/>
                <a:ext cx="1901293" cy="755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36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36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36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d>
                        <m:dPr>
                          <m:ctrlPr>
                            <a:rPr lang="en-US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sz="3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0" name="TextBox 11">
                <a:extLst>
                  <a:ext uri="{FF2B5EF4-FFF2-40B4-BE49-F238E27FC236}">
                    <a16:creationId xmlns:a16="http://schemas.microsoft.com/office/drawing/2014/main" id="{44CEAE4C-43C9-4DCA-8614-F958E0C43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4801" y="1146723"/>
                <a:ext cx="1901293" cy="75584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矩形: 圓角 80">
            <a:extLst>
              <a:ext uri="{FF2B5EF4-FFF2-40B4-BE49-F238E27FC236}">
                <a16:creationId xmlns:a16="http://schemas.microsoft.com/office/drawing/2014/main" id="{6C4EBC36-C5FD-4E2E-BA6B-ACDF9D0A04FC}"/>
              </a:ext>
            </a:extLst>
          </p:cNvPr>
          <p:cNvSpPr/>
          <p:nvPr/>
        </p:nvSpPr>
        <p:spPr>
          <a:xfrm>
            <a:off x="6039395" y="2369458"/>
            <a:ext cx="5917474" cy="3526972"/>
          </a:xfrm>
          <a:prstGeom prst="roundRect">
            <a:avLst>
              <a:gd name="adj" fmla="val 9818"/>
            </a:avLst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11">
                <a:extLst>
                  <a:ext uri="{FF2B5EF4-FFF2-40B4-BE49-F238E27FC236}">
                    <a16:creationId xmlns:a16="http://schemas.microsoft.com/office/drawing/2014/main" id="{65D7ADE3-6F8D-4292-9C19-72AAF02928CE}"/>
                  </a:ext>
                </a:extLst>
              </p:cNvPr>
              <p:cNvSpPr txBox="1"/>
              <p:nvPr/>
            </p:nvSpPr>
            <p:spPr>
              <a:xfrm>
                <a:off x="6230754" y="2526247"/>
                <a:ext cx="5304475" cy="468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,ℓ</m:t>
                          </m:r>
                        </m:sub>
                      </m:sSub>
                      <m:d>
                        <m:d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≡   </m:t>
                      </m:r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d>
                        <m:dPr>
                          <m:ctrlP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sz="1900" i="1" dirty="0" smtClean="0">
                          <a:latin typeface="Cambria Math" panose="02040503050406030204" pitchFamily="18" charset="0"/>
                        </a:rPr>
                        <m:t>≈</m:t>
                      </m:r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19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TW" altLang="en-US" sz="190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TW" altLang="en-US" sz="19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∥</m:t>
                          </m:r>
                        </m:sup>
                      </m:sSubSup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∥</m:t>
                          </m:r>
                        </m:sub>
                      </m:sSub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zh-TW" sz="19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bSup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∥</m:t>
                          </m:r>
                        </m:sub>
                      </m:sSub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̂"/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9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2" name="TextBox 11">
                <a:extLst>
                  <a:ext uri="{FF2B5EF4-FFF2-40B4-BE49-F238E27FC236}">
                    <a16:creationId xmlns:a16="http://schemas.microsoft.com/office/drawing/2014/main" id="{65D7ADE3-6F8D-4292-9C19-72AAF0292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0754" y="2526247"/>
                <a:ext cx="5304475" cy="468205"/>
              </a:xfrm>
              <a:prstGeom prst="rect">
                <a:avLst/>
              </a:prstGeom>
              <a:blipFill>
                <a:blip r:embed="rId7"/>
                <a:stretch>
                  <a:fillRect r="-5977" b="-25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TextBox 11">
            <a:extLst>
              <a:ext uri="{FF2B5EF4-FFF2-40B4-BE49-F238E27FC236}">
                <a16:creationId xmlns:a16="http://schemas.microsoft.com/office/drawing/2014/main" id="{3C6A2C24-E7B8-470D-8A7F-4AB6062EEF0E}"/>
              </a:ext>
            </a:extLst>
          </p:cNvPr>
          <p:cNvSpPr txBox="1"/>
          <p:nvPr/>
        </p:nvSpPr>
        <p:spPr>
          <a:xfrm>
            <a:off x="6089239" y="3250808"/>
            <a:ext cx="5324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component :</a:t>
            </a:r>
          </a:p>
        </p:txBody>
      </p:sp>
      <p:sp>
        <p:nvSpPr>
          <p:cNvPr id="84" name="TextBox 11">
            <a:extLst>
              <a:ext uri="{FF2B5EF4-FFF2-40B4-BE49-F238E27FC236}">
                <a16:creationId xmlns:a16="http://schemas.microsoft.com/office/drawing/2014/main" id="{25FC2CD4-EF42-489D-982E-64D4DA568B48}"/>
              </a:ext>
            </a:extLst>
          </p:cNvPr>
          <p:cNvSpPr txBox="1"/>
          <p:nvPr/>
        </p:nvSpPr>
        <p:spPr>
          <a:xfrm>
            <a:off x="6089239" y="4435442"/>
            <a:ext cx="5324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 :</a:t>
            </a:r>
          </a:p>
        </p:txBody>
      </p:sp>
      <p:pic>
        <p:nvPicPr>
          <p:cNvPr id="85" name="圖形 84">
            <a:extLst>
              <a:ext uri="{FF2B5EF4-FFF2-40B4-BE49-F238E27FC236}">
                <a16:creationId xmlns:a16="http://schemas.microsoft.com/office/drawing/2014/main" id="{93C92BA4-E78A-4AC9-B03A-1ADBE39E7D4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t="1" r="53142" b="-1"/>
          <a:stretch/>
        </p:blipFill>
        <p:spPr>
          <a:xfrm>
            <a:off x="7344813" y="2678339"/>
            <a:ext cx="224841" cy="172247"/>
          </a:xfrm>
          <a:prstGeom prst="rect">
            <a:avLst/>
          </a:prstGeom>
        </p:spPr>
      </p:pic>
      <p:pic>
        <p:nvPicPr>
          <p:cNvPr id="86" name="圖形 85">
            <a:extLst>
              <a:ext uri="{FF2B5EF4-FFF2-40B4-BE49-F238E27FC236}">
                <a16:creationId xmlns:a16="http://schemas.microsoft.com/office/drawing/2014/main" id="{71712854-DBB8-406B-A388-D762901EF50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t="1" r="53142" b="-1"/>
          <a:stretch/>
        </p:blipFill>
        <p:spPr>
          <a:xfrm>
            <a:off x="6165661" y="2682333"/>
            <a:ext cx="224841" cy="172247"/>
          </a:xfrm>
          <a:prstGeom prst="rect">
            <a:avLst/>
          </a:prstGeom>
        </p:spPr>
      </p:pic>
      <p:pic>
        <p:nvPicPr>
          <p:cNvPr id="87" name="圖形 86">
            <a:extLst>
              <a:ext uri="{FF2B5EF4-FFF2-40B4-BE49-F238E27FC236}">
                <a16:creationId xmlns:a16="http://schemas.microsoft.com/office/drawing/2014/main" id="{43E82ADB-4CCF-4B94-A128-47BBE591AD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9419"/>
          <a:stretch/>
        </p:blipFill>
        <p:spPr>
          <a:xfrm>
            <a:off x="8887279" y="2652939"/>
            <a:ext cx="193146" cy="210531"/>
          </a:xfrm>
          <a:prstGeom prst="rect">
            <a:avLst/>
          </a:prstGeom>
        </p:spPr>
      </p:pic>
      <p:pic>
        <p:nvPicPr>
          <p:cNvPr id="88" name="圖形 87">
            <a:extLst>
              <a:ext uri="{FF2B5EF4-FFF2-40B4-BE49-F238E27FC236}">
                <a16:creationId xmlns:a16="http://schemas.microsoft.com/office/drawing/2014/main" id="{E309D085-6DFD-4B74-82F2-03E8778C65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163"/>
          <a:stretch/>
        </p:blipFill>
        <p:spPr>
          <a:xfrm>
            <a:off x="10248560" y="2648176"/>
            <a:ext cx="201083" cy="210531"/>
          </a:xfrm>
          <a:prstGeom prst="rect">
            <a:avLst/>
          </a:prstGeom>
        </p:spPr>
      </p:pic>
      <p:grpSp>
        <p:nvGrpSpPr>
          <p:cNvPr id="94" name="群組 93">
            <a:extLst>
              <a:ext uri="{FF2B5EF4-FFF2-40B4-BE49-F238E27FC236}">
                <a16:creationId xmlns:a16="http://schemas.microsoft.com/office/drawing/2014/main" id="{A6489FEE-5993-4FB2-B4A2-B5E45B7C8BD1}"/>
              </a:ext>
            </a:extLst>
          </p:cNvPr>
          <p:cNvGrpSpPr/>
          <p:nvPr/>
        </p:nvGrpSpPr>
        <p:grpSpPr>
          <a:xfrm>
            <a:off x="6264730" y="4856564"/>
            <a:ext cx="5680527" cy="710003"/>
            <a:chOff x="6743701" y="5665736"/>
            <a:chExt cx="5680527" cy="7100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11">
                  <a:extLst>
                    <a:ext uri="{FF2B5EF4-FFF2-40B4-BE49-F238E27FC236}">
                      <a16:creationId xmlns:a16="http://schemas.microsoft.com/office/drawing/2014/main" id="{4EDCF4FE-7978-4DC5-9608-20AB5DD56D4E}"/>
                    </a:ext>
                  </a:extLst>
                </p:cNvPr>
                <p:cNvSpPr txBox="1"/>
                <p:nvPr/>
              </p:nvSpPr>
              <p:spPr>
                <a:xfrm>
                  <a:off x="6800850" y="5665736"/>
                  <a:ext cx="5623378" cy="7100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,ℓ</m:t>
                            </m:r>
                          </m:sub>
                          <m:sup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900" i="1" dirty="0">
                            <a:latin typeface="Cambria Math" panose="02040503050406030204" pitchFamily="18" charset="0"/>
                          </a:rPr>
                          <m:t>≡</m:t>
                        </m:r>
                        <m:r>
                          <a:rPr lang="zh-TW" altLang="en-US" sz="1900" i="1" dirty="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zh-TW" altLang="en-US" sz="1900" i="1" dirty="0"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TW" sz="1900" b="0" i="1" dirty="0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bSup>
                        <m:d>
                          <m:d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≈−</m:t>
                        </m:r>
                        <m:f>
                          <m:fPr>
                            <m:ctrlPr>
                              <a:rPr lang="en-US" altLang="zh-TW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altLang="zh-TW" sz="19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sz="1900" b="0" i="0" dirty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altLang="zh-TW" sz="19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0" i="1" dirty="0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TW" sz="1900" b="1" i="1" dirty="0" smtClean="0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sub>
                                </m:sSub>
                              </m:e>
                            </m:func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b>
                        </m:sSub>
                        <m:d>
                          <m:d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altLang="zh-TW" sz="19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d>
                              <m:dPr>
                                <m:ctrlPr>
                                  <a:rPr lang="en-US" altLang="zh-TW" sz="19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en-US" altLang="zh-TW" sz="19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+ℓ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altLang="zh-TW" sz="19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TW" sz="19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19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</m:sub>
                            </m:sSub>
                          </m:sup>
                        </m:sSup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95" name="TextBox 11">
                  <a:extLst>
                    <a:ext uri="{FF2B5EF4-FFF2-40B4-BE49-F238E27FC236}">
                      <a16:creationId xmlns:a16="http://schemas.microsoft.com/office/drawing/2014/main" id="{4EDCF4FE-7978-4DC5-9608-20AB5DD56D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0850" y="5665736"/>
                  <a:ext cx="5623378" cy="71000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6" name="圖形 95">
              <a:extLst>
                <a:ext uri="{FF2B5EF4-FFF2-40B4-BE49-F238E27FC236}">
                  <a16:creationId xmlns:a16="http://schemas.microsoft.com/office/drawing/2014/main" id="{8FB92DD1-EBDF-418E-82EB-0A3A340BD9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69419"/>
            <a:stretch/>
          </p:blipFill>
          <p:spPr>
            <a:xfrm>
              <a:off x="7912101" y="5920860"/>
              <a:ext cx="193146" cy="210531"/>
            </a:xfrm>
            <a:prstGeom prst="rect">
              <a:avLst/>
            </a:prstGeom>
          </p:spPr>
        </p:pic>
        <p:pic>
          <p:nvPicPr>
            <p:cNvPr id="97" name="圖形 96">
              <a:extLst>
                <a:ext uri="{FF2B5EF4-FFF2-40B4-BE49-F238E27FC236}">
                  <a16:creationId xmlns:a16="http://schemas.microsoft.com/office/drawing/2014/main" id="{42DF1246-F49D-4656-AADD-733C1E663D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69419"/>
            <a:stretch/>
          </p:blipFill>
          <p:spPr>
            <a:xfrm>
              <a:off x="6743701" y="5920860"/>
              <a:ext cx="193146" cy="210531"/>
            </a:xfrm>
            <a:prstGeom prst="rect">
              <a:avLst/>
            </a:prstGeom>
          </p:spPr>
        </p:pic>
      </p:grpSp>
      <p:sp>
        <p:nvSpPr>
          <p:cNvPr id="100" name="TextBox 11">
            <a:extLst>
              <a:ext uri="{FF2B5EF4-FFF2-40B4-BE49-F238E27FC236}">
                <a16:creationId xmlns:a16="http://schemas.microsoft.com/office/drawing/2014/main" id="{42C0CE8A-6C9C-419C-AEF6-98FDEF3916B9}"/>
              </a:ext>
            </a:extLst>
          </p:cNvPr>
          <p:cNvSpPr txBox="1"/>
          <p:nvPr/>
        </p:nvSpPr>
        <p:spPr>
          <a:xfrm>
            <a:off x="29525" y="1068223"/>
            <a:ext cx="5324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component :</a:t>
            </a:r>
          </a:p>
        </p:txBody>
      </p:sp>
      <p:sp>
        <p:nvSpPr>
          <p:cNvPr id="101" name="TextBox 11">
            <a:extLst>
              <a:ext uri="{FF2B5EF4-FFF2-40B4-BE49-F238E27FC236}">
                <a16:creationId xmlns:a16="http://schemas.microsoft.com/office/drawing/2014/main" id="{1D5408FA-3398-4A22-AA07-9C02B2E105CC}"/>
              </a:ext>
            </a:extLst>
          </p:cNvPr>
          <p:cNvSpPr txBox="1"/>
          <p:nvPr/>
        </p:nvSpPr>
        <p:spPr>
          <a:xfrm>
            <a:off x="29525" y="3127342"/>
            <a:ext cx="5324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 :</a:t>
            </a:r>
          </a:p>
        </p:txBody>
      </p:sp>
      <p:pic>
        <p:nvPicPr>
          <p:cNvPr id="104" name="圖形 103">
            <a:extLst>
              <a:ext uri="{FF2B5EF4-FFF2-40B4-BE49-F238E27FC236}">
                <a16:creationId xmlns:a16="http://schemas.microsoft.com/office/drawing/2014/main" id="{5DD9D76C-B69C-4E8F-BCC3-1FEACA52BE13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t="1" r="53142" b="-1"/>
          <a:stretch/>
        </p:blipFill>
        <p:spPr>
          <a:xfrm>
            <a:off x="6712450" y="1328738"/>
            <a:ext cx="509767" cy="390525"/>
          </a:xfrm>
          <a:prstGeom prst="rect">
            <a:avLst/>
          </a:prstGeom>
        </p:spPr>
      </p:pic>
      <p:grpSp>
        <p:nvGrpSpPr>
          <p:cNvPr id="32" name="群組 31">
            <a:extLst>
              <a:ext uri="{FF2B5EF4-FFF2-40B4-BE49-F238E27FC236}">
                <a16:creationId xmlns:a16="http://schemas.microsoft.com/office/drawing/2014/main" id="{E8FBEB2D-AC6D-4C1D-8860-E65E9ED2736E}"/>
              </a:ext>
            </a:extLst>
          </p:cNvPr>
          <p:cNvGrpSpPr/>
          <p:nvPr/>
        </p:nvGrpSpPr>
        <p:grpSpPr>
          <a:xfrm>
            <a:off x="6112329" y="3620399"/>
            <a:ext cx="4743450" cy="477118"/>
            <a:chOff x="6591300" y="4855928"/>
            <a:chExt cx="4743450" cy="4771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11">
                  <a:extLst>
                    <a:ext uri="{FF2B5EF4-FFF2-40B4-BE49-F238E27FC236}">
                      <a16:creationId xmlns:a16="http://schemas.microsoft.com/office/drawing/2014/main" id="{9AFF5531-7B9C-4776-8540-7055DB73C3B2}"/>
                    </a:ext>
                  </a:extLst>
                </p:cNvPr>
                <p:cNvSpPr txBox="1"/>
                <p:nvPr/>
              </p:nvSpPr>
              <p:spPr>
                <a:xfrm>
                  <a:off x="6591300" y="4855928"/>
                  <a:ext cx="4743450" cy="4771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TW" altLang="en-US" sz="1900" i="1" dirty="0">
                            <a:latin typeface="Cambria Math" panose="02040503050406030204" pitchFamily="18" charset="0"/>
                          </a:rPr>
                          <m:t>    </m:t>
                        </m:r>
                        <m:sSubSup>
                          <m:sSubSup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sub>
                          <m:sup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900" i="1" dirty="0" smtClean="0">
                            <a:latin typeface="Cambria Math" panose="02040503050406030204" pitchFamily="18" charset="0"/>
                          </a:rPr>
                          <m:t>≡</m:t>
                        </m:r>
                        <m:r>
                          <a:rPr lang="zh-TW" altLang="en-US" sz="19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sz="190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sz="1900" i="1" dirty="0"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ℓ,</m:t>
                            </m:r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≈</m:t>
                        </m:r>
                        <m:sSub>
                          <m:sSub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b>
                        </m:sSub>
                        <m:d>
                          <m:d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</m:sub>
                            </m:sSub>
                          </m:sup>
                        </m:sSup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08" name="TextBox 11">
                  <a:extLst>
                    <a:ext uri="{FF2B5EF4-FFF2-40B4-BE49-F238E27FC236}">
                      <a16:creationId xmlns:a16="http://schemas.microsoft.com/office/drawing/2014/main" id="{DE2D95C3-EA89-44B1-B5C7-EE0DBBCEFF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1300" y="4855928"/>
                  <a:ext cx="4743450" cy="477118"/>
                </a:xfrm>
                <a:prstGeom prst="rect">
                  <a:avLst/>
                </a:prstGeom>
                <a:blipFill>
                  <a:blip r:embed="rId12"/>
                  <a:stretch>
                    <a:fillRect b="-384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4" name="圖形 33">
              <a:extLst>
                <a:ext uri="{FF2B5EF4-FFF2-40B4-BE49-F238E27FC236}">
                  <a16:creationId xmlns:a16="http://schemas.microsoft.com/office/drawing/2014/main" id="{2F58C304-7195-41CC-BFF5-F6EDC82A70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69419"/>
            <a:stretch/>
          </p:blipFill>
          <p:spPr>
            <a:xfrm>
              <a:off x="7759701" y="4983571"/>
              <a:ext cx="193146" cy="210531"/>
            </a:xfrm>
            <a:prstGeom prst="rect">
              <a:avLst/>
            </a:prstGeom>
          </p:spPr>
        </p:pic>
        <p:pic>
          <p:nvPicPr>
            <p:cNvPr id="35" name="圖形 34">
              <a:extLst>
                <a:ext uri="{FF2B5EF4-FFF2-40B4-BE49-F238E27FC236}">
                  <a16:creationId xmlns:a16="http://schemas.microsoft.com/office/drawing/2014/main" id="{5A401488-1833-4762-B3E6-7D4B50326D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69419"/>
            <a:stretch/>
          </p:blipFill>
          <p:spPr>
            <a:xfrm>
              <a:off x="6743701" y="4983571"/>
              <a:ext cx="193146" cy="210531"/>
            </a:xfrm>
            <a:prstGeom prst="rect">
              <a:avLst/>
            </a:prstGeom>
          </p:spPr>
        </p:pic>
      </p:grpSp>
      <p:sp>
        <p:nvSpPr>
          <p:cNvPr id="36" name="矩形 35">
            <a:extLst>
              <a:ext uri="{FF2B5EF4-FFF2-40B4-BE49-F238E27FC236}">
                <a16:creationId xmlns:a16="http://schemas.microsoft.com/office/drawing/2014/main" id="{EA6D21AF-97AD-47AE-BE81-CA6D0BDD483F}"/>
              </a:ext>
            </a:extLst>
          </p:cNvPr>
          <p:cNvSpPr/>
          <p:nvPr/>
        </p:nvSpPr>
        <p:spPr>
          <a:xfrm>
            <a:off x="10587471" y="5300614"/>
            <a:ext cx="1053486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SOI</a:t>
            </a:r>
            <a:endParaRPr lang="zh-TW" altLang="en-US" sz="2400" b="1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6584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39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sp>
        <p:nvSpPr>
          <p:cNvPr id="31" name="內容版面配置區 2">
            <a:extLst>
              <a:ext uri="{FF2B5EF4-FFF2-40B4-BE49-F238E27FC236}">
                <a16:creationId xmlns:a16="http://schemas.microsoft.com/office/drawing/2014/main" id="{3B99BFFE-B9AA-4553-B351-C6514DE3F6EA}"/>
              </a:ext>
            </a:extLst>
          </p:cNvPr>
          <p:cNvSpPr txBox="1">
            <a:spLocks/>
          </p:cNvSpPr>
          <p:nvPr/>
        </p:nvSpPr>
        <p:spPr>
          <a:xfrm>
            <a:off x="-39317" y="810577"/>
            <a:ext cx="8173667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Forming vector vortex beams (VVB) by Superimposing LG beams </a:t>
            </a: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AF1C69EA-7DE6-41A4-B386-7D8C8AE58E84}"/>
              </a:ext>
            </a:extLst>
          </p:cNvPr>
          <p:cNvGrpSpPr/>
          <p:nvPr/>
        </p:nvGrpSpPr>
        <p:grpSpPr>
          <a:xfrm>
            <a:off x="-3747445" y="2142821"/>
            <a:ext cx="3528017" cy="2628707"/>
            <a:chOff x="7076912" y="1223436"/>
            <a:chExt cx="3528017" cy="2628707"/>
          </a:xfrm>
        </p:grpSpPr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C7FC6CD9-789E-4F5C-809B-D9C439E96E43}"/>
                </a:ext>
              </a:extLst>
            </p:cNvPr>
            <p:cNvGrpSpPr/>
            <p:nvPr/>
          </p:nvGrpSpPr>
          <p:grpSpPr>
            <a:xfrm>
              <a:off x="7475055" y="1223436"/>
              <a:ext cx="2800113" cy="1986490"/>
              <a:chOff x="7874871" y="437623"/>
              <a:chExt cx="4686499" cy="3324753"/>
            </a:xfrm>
          </p:grpSpPr>
          <p:pic>
            <p:nvPicPr>
              <p:cNvPr id="7" name="圖片 6">
                <a:extLst>
                  <a:ext uri="{FF2B5EF4-FFF2-40B4-BE49-F238E27FC236}">
                    <a16:creationId xmlns:a16="http://schemas.microsoft.com/office/drawing/2014/main" id="{FBF12F45-F66B-494A-9F1D-D26E6398348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b="66320"/>
              <a:stretch/>
            </p:blipFill>
            <p:spPr>
              <a:xfrm>
                <a:off x="7915586" y="437623"/>
                <a:ext cx="3070556" cy="1591202"/>
              </a:xfrm>
              <a:prstGeom prst="rect">
                <a:avLst/>
              </a:prstGeom>
            </p:spPr>
          </p:pic>
          <p:pic>
            <p:nvPicPr>
              <p:cNvPr id="151" name="圖片 150">
                <a:extLst>
                  <a:ext uri="{FF2B5EF4-FFF2-40B4-BE49-F238E27FC236}">
                    <a16:creationId xmlns:a16="http://schemas.microsoft.com/office/drawing/2014/main" id="{0EEBBF34-620E-4EAC-B588-535B063F614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t="33595" r="55451" b="33139"/>
              <a:stretch/>
            </p:blipFill>
            <p:spPr>
              <a:xfrm>
                <a:off x="11138461" y="437623"/>
                <a:ext cx="1367885" cy="1571626"/>
              </a:xfrm>
              <a:prstGeom prst="rect">
                <a:avLst/>
              </a:prstGeom>
            </p:spPr>
          </p:pic>
          <p:pic>
            <p:nvPicPr>
              <p:cNvPr id="153" name="圖片 152">
                <a:extLst>
                  <a:ext uri="{FF2B5EF4-FFF2-40B4-BE49-F238E27FC236}">
                    <a16:creationId xmlns:a16="http://schemas.microsoft.com/office/drawing/2014/main" id="{CA8CC689-57C6-46A5-95E1-0FF50F4A7C3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t="66458"/>
              <a:stretch/>
            </p:blipFill>
            <p:spPr>
              <a:xfrm>
                <a:off x="7874871" y="2177580"/>
                <a:ext cx="3070557" cy="1584671"/>
              </a:xfrm>
              <a:prstGeom prst="rect">
                <a:avLst/>
              </a:prstGeom>
            </p:spPr>
          </p:pic>
          <p:pic>
            <p:nvPicPr>
              <p:cNvPr id="154" name="圖片 153">
                <a:extLst>
                  <a:ext uri="{FF2B5EF4-FFF2-40B4-BE49-F238E27FC236}">
                    <a16:creationId xmlns:a16="http://schemas.microsoft.com/office/drawing/2014/main" id="{89D96370-D3D5-4F47-8825-38D2EC26694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52614" t="33192" b="33139"/>
              <a:stretch/>
            </p:blipFill>
            <p:spPr>
              <a:xfrm>
                <a:off x="11106349" y="2171700"/>
                <a:ext cx="1455021" cy="1590676"/>
              </a:xfrm>
              <a:prstGeom prst="rect">
                <a:avLst/>
              </a:prstGeom>
            </p:spPr>
          </p:pic>
        </p:grpSp>
        <p:sp>
          <p:nvSpPr>
            <p:cNvPr id="155" name="矩形 154">
              <a:extLst>
                <a:ext uri="{FF2B5EF4-FFF2-40B4-BE49-F238E27FC236}">
                  <a16:creationId xmlns:a16="http://schemas.microsoft.com/office/drawing/2014/main" id="{315A0471-03CC-4B52-A2C8-F9AA515E798A}"/>
                </a:ext>
              </a:extLst>
            </p:cNvPr>
            <p:cNvSpPr/>
            <p:nvPr/>
          </p:nvSpPr>
          <p:spPr>
            <a:xfrm>
              <a:off x="7076912" y="3328923"/>
              <a:ext cx="352801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LG beams and vector vortex beams </a:t>
              </a:r>
              <a:endParaRPr lang="en-US" altLang="zh-TW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de-DE" altLang="zh-TW" sz="1400" dirty="0"/>
                <a:t>F. Steinlechner </a:t>
              </a:r>
              <a:r>
                <a:rPr lang="de-DE" altLang="zh-TW" sz="1400" i="1" dirty="0"/>
                <a:t>et al.</a:t>
              </a:r>
              <a:r>
                <a:rPr lang="de-DE" altLang="zh-TW" sz="1400" dirty="0"/>
                <a:t>, </a:t>
              </a:r>
              <a:r>
                <a:rPr lang="de-DE" altLang="zh-TW" sz="1400" i="1" dirty="0"/>
                <a:t>Sci. Rep.</a:t>
              </a:r>
              <a:r>
                <a:rPr lang="de-DE" altLang="zh-TW" sz="1400" dirty="0"/>
                <a:t> </a:t>
              </a:r>
              <a:r>
                <a:rPr lang="de-DE" altLang="zh-TW" sz="1400" b="1" dirty="0"/>
                <a:t>6</a:t>
              </a:r>
              <a:r>
                <a:rPr lang="de-DE" altLang="zh-TW" sz="1400" dirty="0"/>
                <a:t>, 21390 (2016)</a:t>
              </a:r>
              <a:endParaRPr lang="zh-TW" altLang="en-US" sz="1400" dirty="0"/>
            </a:p>
          </p:txBody>
        </p:sp>
      </p:grp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B2B8E9E7-AED3-46F6-B26A-3CE7EFC29772}"/>
              </a:ext>
            </a:extLst>
          </p:cNvPr>
          <p:cNvGrpSpPr/>
          <p:nvPr/>
        </p:nvGrpSpPr>
        <p:grpSpPr>
          <a:xfrm>
            <a:off x="5136811" y="3958347"/>
            <a:ext cx="6310764" cy="2613238"/>
            <a:chOff x="5689808" y="4018456"/>
            <a:chExt cx="6310764" cy="2613238"/>
          </a:xfrm>
        </p:grpSpPr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CBA50CF4-5A3A-4A59-A82B-CF46ACC714E4}"/>
                </a:ext>
              </a:extLst>
            </p:cNvPr>
            <p:cNvGrpSpPr/>
            <p:nvPr/>
          </p:nvGrpSpPr>
          <p:grpSpPr>
            <a:xfrm>
              <a:off x="8064103" y="4337666"/>
              <a:ext cx="1444902" cy="1497416"/>
              <a:chOff x="3721242" y="3310384"/>
              <a:chExt cx="2392791" cy="2479757"/>
            </a:xfrm>
          </p:grpSpPr>
          <p:sp>
            <p:nvSpPr>
              <p:cNvPr id="72" name="Oval 14">
                <a:extLst>
                  <a:ext uri="{FF2B5EF4-FFF2-40B4-BE49-F238E27FC236}">
                    <a16:creationId xmlns:a16="http://schemas.microsoft.com/office/drawing/2014/main" id="{527775FD-4D04-4A24-92C8-A369C2CC2365}"/>
                  </a:ext>
                </a:extLst>
              </p:cNvPr>
              <p:cNvSpPr/>
              <p:nvPr/>
            </p:nvSpPr>
            <p:spPr>
              <a:xfrm>
                <a:off x="4791894" y="3322057"/>
                <a:ext cx="240811" cy="249449"/>
              </a:xfrm>
              <a:prstGeom prst="ellipse">
                <a:avLst/>
              </a:prstGeom>
              <a:gradFill flip="none" rotWithShape="1">
                <a:gsLst>
                  <a:gs pos="0">
                    <a:srgbClr val="D1D1D1"/>
                  </a:gs>
                  <a:gs pos="23000">
                    <a:schemeClr val="bg1">
                      <a:lumMod val="85000"/>
                    </a:schemeClr>
                  </a:gs>
                  <a:gs pos="69000">
                    <a:schemeClr val="accent3">
                      <a:lumMod val="75000"/>
                    </a:schemeClr>
                  </a:gs>
                  <a:gs pos="97000">
                    <a:schemeClr val="accent3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73" name="Oval 4">
                <a:extLst>
                  <a:ext uri="{FF2B5EF4-FFF2-40B4-BE49-F238E27FC236}">
                    <a16:creationId xmlns:a16="http://schemas.microsoft.com/office/drawing/2014/main" id="{4C52FDC4-EA59-4267-BD18-0FFE1213ECE6}"/>
                  </a:ext>
                </a:extLst>
              </p:cNvPr>
              <p:cNvSpPr/>
              <p:nvPr/>
            </p:nvSpPr>
            <p:spPr>
              <a:xfrm>
                <a:off x="3845276" y="3446782"/>
                <a:ext cx="2140546" cy="221733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3">
                      <a:lumMod val="60000"/>
                      <a:lumOff val="40000"/>
                      <a:alpha val="60000"/>
                    </a:schemeClr>
                  </a:gs>
                  <a:gs pos="55000">
                    <a:schemeClr val="accent3">
                      <a:lumMod val="40000"/>
                      <a:lumOff val="60000"/>
                      <a:alpha val="60000"/>
                    </a:schemeClr>
                  </a:gs>
                  <a:gs pos="0">
                    <a:schemeClr val="bg1">
                      <a:alpha val="60000"/>
                    </a:scheme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57150">
                <a:solidFill>
                  <a:srgbClr val="D5D7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74" name="Oval 15">
                <a:extLst>
                  <a:ext uri="{FF2B5EF4-FFF2-40B4-BE49-F238E27FC236}">
                    <a16:creationId xmlns:a16="http://schemas.microsoft.com/office/drawing/2014/main" id="{EF3FC69F-AFFE-4E4D-B2CE-4F4687C785B7}"/>
                  </a:ext>
                </a:extLst>
              </p:cNvPr>
              <p:cNvSpPr/>
              <p:nvPr/>
            </p:nvSpPr>
            <p:spPr>
              <a:xfrm>
                <a:off x="4791894" y="5538142"/>
                <a:ext cx="240811" cy="249449"/>
              </a:xfrm>
              <a:prstGeom prst="ellipse">
                <a:avLst/>
              </a:prstGeom>
              <a:gradFill flip="none" rotWithShape="1">
                <a:gsLst>
                  <a:gs pos="17000">
                    <a:srgbClr val="D1D1D1"/>
                  </a:gs>
                  <a:gs pos="0">
                    <a:schemeClr val="bg1">
                      <a:lumMod val="85000"/>
                    </a:schemeClr>
                  </a:gs>
                  <a:gs pos="60000">
                    <a:schemeClr val="accent3">
                      <a:lumMod val="75000"/>
                    </a:schemeClr>
                  </a:gs>
                  <a:gs pos="97000">
                    <a:schemeClr val="accent3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75" name="SHO">
                <a:extLst>
                  <a:ext uri="{FF2B5EF4-FFF2-40B4-BE49-F238E27FC236}">
                    <a16:creationId xmlns:a16="http://schemas.microsoft.com/office/drawing/2014/main" id="{656F6994-1199-4798-83B2-420EF2575EE8}"/>
                  </a:ext>
                </a:extLst>
              </p:cNvPr>
              <p:cNvSpPr/>
              <p:nvPr/>
            </p:nvSpPr>
            <p:spPr>
              <a:xfrm rot="16200000">
                <a:off x="4450768" y="3485915"/>
                <a:ext cx="923063" cy="2140546"/>
              </a:xfrm>
              <a:prstGeom prst="arc">
                <a:avLst>
                  <a:gd name="adj1" fmla="val 5396867"/>
                  <a:gd name="adj2" fmla="val 5395779"/>
                </a:avLst>
              </a:prstGeom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7000">
                    <a:schemeClr val="bg1">
                      <a:lumMod val="50000"/>
                    </a:schemeClr>
                  </a:gs>
                  <a:gs pos="97000">
                    <a:srgbClr val="5E5E5E"/>
                  </a:gs>
                </a:gsLst>
                <a:path path="circle">
                  <a:fillToRect l="50000" t="50000" r="50000" b="50000"/>
                </a:path>
                <a:tileRect/>
              </a:gradFill>
              <a:ln w="317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76" name="SVO">
                <a:extLst>
                  <a:ext uri="{FF2B5EF4-FFF2-40B4-BE49-F238E27FC236}">
                    <a16:creationId xmlns:a16="http://schemas.microsoft.com/office/drawing/2014/main" id="{4A64D540-CB18-45A3-8DDC-8758B9BA5FDC}"/>
                  </a:ext>
                </a:extLst>
              </p:cNvPr>
              <p:cNvSpPr/>
              <p:nvPr/>
            </p:nvSpPr>
            <p:spPr>
              <a:xfrm>
                <a:off x="4375829" y="3447523"/>
                <a:ext cx="1070273" cy="2217330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77" name="Oval 6">
                <a:extLst>
                  <a:ext uri="{FF2B5EF4-FFF2-40B4-BE49-F238E27FC236}">
                    <a16:creationId xmlns:a16="http://schemas.microsoft.com/office/drawing/2014/main" id="{F47E64BF-3A94-4C20-BAB6-559B3E393E35}"/>
                  </a:ext>
                </a:extLst>
              </p:cNvPr>
              <p:cNvSpPr/>
              <p:nvPr/>
            </p:nvSpPr>
            <p:spPr>
              <a:xfrm rot="16200000">
                <a:off x="4450768" y="3485915"/>
                <a:ext cx="923063" cy="2140546"/>
              </a:xfrm>
              <a:prstGeom prst="ellipse">
                <a:avLst/>
              </a:prstGeom>
              <a:noFill/>
              <a:ln w="38100">
                <a:solidFill>
                  <a:schemeClr val="tx1">
                    <a:alpha val="6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78" name="Partial Circle 9">
                <a:extLst>
                  <a:ext uri="{FF2B5EF4-FFF2-40B4-BE49-F238E27FC236}">
                    <a16:creationId xmlns:a16="http://schemas.microsoft.com/office/drawing/2014/main" id="{6200C083-665F-43F6-AF0E-45806BBFE232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H="1">
                <a:off x="4732812" y="4207797"/>
                <a:ext cx="352180" cy="679968"/>
              </a:xfrm>
              <a:prstGeom prst="pie">
                <a:avLst>
                  <a:gd name="adj1" fmla="val 16258856"/>
                  <a:gd name="adj2" fmla="val 19252600"/>
                </a:avLst>
              </a:prstGeom>
              <a:gradFill flip="none" rotWithShape="1">
                <a:gsLst>
                  <a:gs pos="0">
                    <a:srgbClr val="007E00"/>
                  </a:gs>
                  <a:gs pos="36000">
                    <a:srgbClr val="45C845">
                      <a:alpha val="60000"/>
                    </a:srgbClr>
                  </a:gs>
                  <a:gs pos="100000">
                    <a:srgbClr val="B9FFB9">
                      <a:alpha val="60000"/>
                    </a:srgbClr>
                  </a:gs>
                </a:gsLst>
                <a:lin ang="2700000" scaled="1"/>
                <a:tileRect/>
              </a:gradFill>
              <a:ln w="19050">
                <a:solidFill>
                  <a:srgbClr val="319B1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TextBox 10">
                    <a:extLst>
                      <a:ext uri="{FF2B5EF4-FFF2-40B4-BE49-F238E27FC236}">
                        <a16:creationId xmlns:a16="http://schemas.microsoft.com/office/drawing/2014/main" id="{38EB17A8-7EEF-478C-AC0E-15BCA7086971}"/>
                      </a:ext>
                    </a:extLst>
                  </p:cNvPr>
                  <p:cNvSpPr txBox="1"/>
                  <p:nvPr/>
                </p:nvSpPr>
                <p:spPr>
                  <a:xfrm>
                    <a:off x="4292158" y="4464519"/>
                    <a:ext cx="262273" cy="5606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oMath>
                      </m:oMathPara>
                    </a14:m>
                    <a:endParaRPr lang="en-US" sz="1600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9" name="TextBox 10">
                    <a:extLst>
                      <a:ext uri="{FF2B5EF4-FFF2-40B4-BE49-F238E27FC236}">
                        <a16:creationId xmlns:a16="http://schemas.microsoft.com/office/drawing/2014/main" id="{38EB17A8-7EEF-478C-AC0E-15BCA70869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92158" y="4464519"/>
                    <a:ext cx="262273" cy="5606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57692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TextBox 11">
                    <a:extLst>
                      <a:ext uri="{FF2B5EF4-FFF2-40B4-BE49-F238E27FC236}">
                        <a16:creationId xmlns:a16="http://schemas.microsoft.com/office/drawing/2014/main" id="{0F428916-F16F-4C3D-82C5-4FC68C4D1095}"/>
                      </a:ext>
                    </a:extLst>
                  </p:cNvPr>
                  <p:cNvSpPr txBox="1"/>
                  <p:nvPr/>
                </p:nvSpPr>
                <p:spPr>
                  <a:xfrm>
                    <a:off x="4113277" y="4277542"/>
                    <a:ext cx="262273" cy="5606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80" name="TextBox 11">
                    <a:extLst>
                      <a:ext uri="{FF2B5EF4-FFF2-40B4-BE49-F238E27FC236}">
                        <a16:creationId xmlns:a16="http://schemas.microsoft.com/office/drawing/2014/main" id="{0F428916-F16F-4C3D-82C5-4FC68C4D109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13277" y="4277542"/>
                    <a:ext cx="262273" cy="56065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5000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1" name="Oval 22">
                <a:extLst>
                  <a:ext uri="{FF2B5EF4-FFF2-40B4-BE49-F238E27FC236}">
                    <a16:creationId xmlns:a16="http://schemas.microsoft.com/office/drawing/2014/main" id="{E7F51018-257E-4547-A9EC-5B3CE661471B}"/>
                  </a:ext>
                </a:extLst>
              </p:cNvPr>
              <p:cNvSpPr/>
              <p:nvPr/>
            </p:nvSpPr>
            <p:spPr>
              <a:xfrm>
                <a:off x="4790490" y="5538141"/>
                <a:ext cx="252000" cy="252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TextBox 12">
                    <a:extLst>
                      <a:ext uri="{FF2B5EF4-FFF2-40B4-BE49-F238E27FC236}">
                        <a16:creationId xmlns:a16="http://schemas.microsoft.com/office/drawing/2014/main" id="{14CF689C-59F6-4C1A-8466-9046C3CE0DC9}"/>
                      </a:ext>
                    </a:extLst>
                  </p:cNvPr>
                  <p:cNvSpPr txBox="1"/>
                  <p:nvPr/>
                </p:nvSpPr>
                <p:spPr>
                  <a:xfrm>
                    <a:off x="5086742" y="4552177"/>
                    <a:ext cx="262273" cy="5606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82" name="TextBox 12">
                    <a:extLst>
                      <a:ext uri="{FF2B5EF4-FFF2-40B4-BE49-F238E27FC236}">
                        <a16:creationId xmlns:a16="http://schemas.microsoft.com/office/drawing/2014/main" id="{14CF689C-59F6-4C1A-8466-9046C3CE0DC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86742" y="4552177"/>
                    <a:ext cx="262273" cy="56065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65385" b="-363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TextBox 13">
                    <a:extLst>
                      <a:ext uri="{FF2B5EF4-FFF2-40B4-BE49-F238E27FC236}">
                        <a16:creationId xmlns:a16="http://schemas.microsoft.com/office/drawing/2014/main" id="{9714FE09-9A4C-41AC-BDAF-DDFAB90C9D00}"/>
                      </a:ext>
                    </a:extLst>
                  </p:cNvPr>
                  <p:cNvSpPr txBox="1"/>
                  <p:nvPr/>
                </p:nvSpPr>
                <p:spPr>
                  <a:xfrm>
                    <a:off x="4726301" y="3535973"/>
                    <a:ext cx="262273" cy="5606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83" name="TextBox 13">
                    <a:extLst>
                      <a:ext uri="{FF2B5EF4-FFF2-40B4-BE49-F238E27FC236}">
                        <a16:creationId xmlns:a16="http://schemas.microsoft.com/office/drawing/2014/main" id="{9714FE09-9A4C-41AC-BDAF-DDFAB90C9D0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26301" y="3535973"/>
                    <a:ext cx="262273" cy="56065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42308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4" name="DVO">
                <a:extLst>
                  <a:ext uri="{FF2B5EF4-FFF2-40B4-BE49-F238E27FC236}">
                    <a16:creationId xmlns:a16="http://schemas.microsoft.com/office/drawing/2014/main" id="{A114A0D6-3B28-42BF-BB13-27DAAD0C34E1}"/>
                  </a:ext>
                </a:extLst>
              </p:cNvPr>
              <p:cNvSpPr/>
              <p:nvPr/>
            </p:nvSpPr>
            <p:spPr>
              <a:xfrm flipH="1">
                <a:off x="4375829" y="3447523"/>
                <a:ext cx="1070273" cy="2217330"/>
              </a:xfrm>
              <a:prstGeom prst="arc">
                <a:avLst>
                  <a:gd name="adj1" fmla="val 5396867"/>
                  <a:gd name="adj2" fmla="val 16170484"/>
                </a:avLst>
              </a:prstGeom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cxnSp>
            <p:nvCxnSpPr>
              <p:cNvPr id="85" name="Straight Arrow Connector 17">
                <a:extLst>
                  <a:ext uri="{FF2B5EF4-FFF2-40B4-BE49-F238E27FC236}">
                    <a16:creationId xmlns:a16="http://schemas.microsoft.com/office/drawing/2014/main" id="{30BD90CC-B816-4C1D-9B3C-3CAEC6EB40A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80724" y="4549013"/>
                <a:ext cx="328471" cy="424757"/>
              </a:xfrm>
              <a:prstGeom prst="straightConnector1">
                <a:avLst/>
              </a:prstGeom>
              <a:ln w="53975">
                <a:solidFill>
                  <a:srgbClr val="238109"/>
                </a:solidFill>
                <a:tailEnd type="stealth" w="lg" len="lg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86" name="Oval 23">
                <a:extLst>
                  <a:ext uri="{FF2B5EF4-FFF2-40B4-BE49-F238E27FC236}">
                    <a16:creationId xmlns:a16="http://schemas.microsoft.com/office/drawing/2014/main" id="{A65046D1-6585-445E-BA68-24DF8D611BB7}"/>
                  </a:ext>
                </a:extLst>
              </p:cNvPr>
              <p:cNvSpPr/>
              <p:nvPr/>
            </p:nvSpPr>
            <p:spPr>
              <a:xfrm>
                <a:off x="5862033" y="4431462"/>
                <a:ext cx="252000" cy="252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87" name="Partial Circle 9">
                <a:extLst>
                  <a:ext uri="{FF2B5EF4-FFF2-40B4-BE49-F238E27FC236}">
                    <a16:creationId xmlns:a16="http://schemas.microsoft.com/office/drawing/2014/main" id="{2B7EBD6D-12D6-4404-8DE1-C8900A070E1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77039" y="4295384"/>
                <a:ext cx="246001" cy="496848"/>
              </a:xfrm>
              <a:prstGeom prst="pie">
                <a:avLst>
                  <a:gd name="adj1" fmla="val 16258856"/>
                  <a:gd name="adj2" fmla="val 19252600"/>
                </a:avLst>
              </a:prstGeom>
              <a:gradFill flip="none" rotWithShape="1">
                <a:gsLst>
                  <a:gs pos="0">
                    <a:schemeClr val="accent5">
                      <a:lumMod val="60000"/>
                      <a:lumOff val="40000"/>
                      <a:shade val="30000"/>
                      <a:satMod val="115000"/>
                    </a:schemeClr>
                  </a:gs>
                  <a:gs pos="50000">
                    <a:schemeClr val="accent5">
                      <a:lumMod val="60000"/>
                      <a:lumOff val="40000"/>
                      <a:shade val="67500"/>
                      <a:satMod val="115000"/>
                    </a:schemeClr>
                  </a:gs>
                  <a:gs pos="100000">
                    <a:schemeClr val="accent5">
                      <a:lumMod val="60000"/>
                      <a:lumOff val="40000"/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ln w="1905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8" name="Straight Arrow Connector 7">
                <a:extLst>
                  <a:ext uri="{FF2B5EF4-FFF2-40B4-BE49-F238E27FC236}">
                    <a16:creationId xmlns:a16="http://schemas.microsoft.com/office/drawing/2014/main" id="{EFA637D0-443E-4744-B348-169F107EC01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06471" y="3891965"/>
                <a:ext cx="2515" cy="660975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TextBox 10">
                    <a:extLst>
                      <a:ext uri="{FF2B5EF4-FFF2-40B4-BE49-F238E27FC236}">
                        <a16:creationId xmlns:a16="http://schemas.microsoft.com/office/drawing/2014/main" id="{4240A0D3-5703-4004-862C-326D524413B1}"/>
                      </a:ext>
                    </a:extLst>
                  </p:cNvPr>
                  <p:cNvSpPr txBox="1"/>
                  <p:nvPr/>
                </p:nvSpPr>
                <p:spPr>
                  <a:xfrm>
                    <a:off x="4898963" y="3960206"/>
                    <a:ext cx="262273" cy="5606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oMath>
                      </m:oMathPara>
                    </a14:m>
                    <a:endParaRPr lang="en-US" sz="1600" dirty="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9" name="TextBox 10">
                    <a:extLst>
                      <a:ext uri="{FF2B5EF4-FFF2-40B4-BE49-F238E27FC236}">
                        <a16:creationId xmlns:a16="http://schemas.microsoft.com/office/drawing/2014/main" id="{4240A0D3-5703-4004-862C-326D524413B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98963" y="3960206"/>
                    <a:ext cx="262273" cy="56065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1538" r="-84615" b="-8929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0" name="Straight Arrow Connector 19">
                <a:extLst>
                  <a:ext uri="{FF2B5EF4-FFF2-40B4-BE49-F238E27FC236}">
                    <a16:creationId xmlns:a16="http://schemas.microsoft.com/office/drawing/2014/main" id="{3F599A57-4924-40FA-B1CD-2B6558D925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10897" y="4549701"/>
                <a:ext cx="290252" cy="232381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18">
                <a:extLst>
                  <a:ext uri="{FF2B5EF4-FFF2-40B4-BE49-F238E27FC236}">
                    <a16:creationId xmlns:a16="http://schemas.microsoft.com/office/drawing/2014/main" id="{CFAF2B0D-6774-43EA-8293-39466B5A6CE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 flipV="1">
                <a:off x="4656933" y="4295511"/>
                <a:ext cx="0" cy="508379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17">
                <a:extLst>
                  <a:ext uri="{FF2B5EF4-FFF2-40B4-BE49-F238E27FC236}">
                    <a16:creationId xmlns:a16="http://schemas.microsoft.com/office/drawing/2014/main" id="{1F29F535-2F1A-4861-8F2A-16E1DAD82B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97207" y="3888283"/>
                <a:ext cx="847803" cy="666541"/>
              </a:xfrm>
              <a:prstGeom prst="straightConnector1">
                <a:avLst/>
              </a:prstGeom>
              <a:ln w="53975">
                <a:solidFill>
                  <a:schemeClr val="accent5">
                    <a:lumMod val="75000"/>
                  </a:schemeClr>
                </a:solidFill>
                <a:tailEnd type="stealth" w="lg" len="lg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93" name="Oval 20">
                <a:extLst>
                  <a:ext uri="{FF2B5EF4-FFF2-40B4-BE49-F238E27FC236}">
                    <a16:creationId xmlns:a16="http://schemas.microsoft.com/office/drawing/2014/main" id="{8A0D5B0E-FB19-4F13-AA7C-98316BAA2B33}"/>
                  </a:ext>
                </a:extLst>
              </p:cNvPr>
              <p:cNvSpPr/>
              <p:nvPr/>
            </p:nvSpPr>
            <p:spPr>
              <a:xfrm>
                <a:off x="3721242" y="4431462"/>
                <a:ext cx="252000" cy="252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94" name="Oval 22">
                <a:extLst>
                  <a:ext uri="{FF2B5EF4-FFF2-40B4-BE49-F238E27FC236}">
                    <a16:creationId xmlns:a16="http://schemas.microsoft.com/office/drawing/2014/main" id="{AD739DCF-DBBC-4E27-BD48-922135D05BD6}"/>
                  </a:ext>
                </a:extLst>
              </p:cNvPr>
              <p:cNvSpPr/>
              <p:nvPr/>
            </p:nvSpPr>
            <p:spPr>
              <a:xfrm>
                <a:off x="4792242" y="3310384"/>
                <a:ext cx="252000" cy="252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101" name="Oval 23">
                <a:extLst>
                  <a:ext uri="{FF2B5EF4-FFF2-40B4-BE49-F238E27FC236}">
                    <a16:creationId xmlns:a16="http://schemas.microsoft.com/office/drawing/2014/main" id="{8182E179-D0C7-4A03-85CC-8BA7E50264EC}"/>
                  </a:ext>
                </a:extLst>
              </p:cNvPr>
              <p:cNvSpPr/>
              <p:nvPr/>
            </p:nvSpPr>
            <p:spPr>
              <a:xfrm>
                <a:off x="5313839" y="4875217"/>
                <a:ext cx="252000" cy="252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104" name="Oval 23">
                <a:extLst>
                  <a:ext uri="{FF2B5EF4-FFF2-40B4-BE49-F238E27FC236}">
                    <a16:creationId xmlns:a16="http://schemas.microsoft.com/office/drawing/2014/main" id="{9270BCCD-8B72-4B02-B532-F5734486218E}"/>
                  </a:ext>
                </a:extLst>
              </p:cNvPr>
              <p:cNvSpPr/>
              <p:nvPr/>
            </p:nvSpPr>
            <p:spPr>
              <a:xfrm>
                <a:off x="4111260" y="4066612"/>
                <a:ext cx="252000" cy="252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</p:grpSp>
        <p:grpSp>
          <p:nvGrpSpPr>
            <p:cNvPr id="22" name="群組 21">
              <a:extLst>
                <a:ext uri="{FF2B5EF4-FFF2-40B4-BE49-F238E27FC236}">
                  <a16:creationId xmlns:a16="http://schemas.microsoft.com/office/drawing/2014/main" id="{A3EA72CE-AC9C-4E88-B691-083DC630CD55}"/>
                </a:ext>
              </a:extLst>
            </p:cNvPr>
            <p:cNvGrpSpPr/>
            <p:nvPr/>
          </p:nvGrpSpPr>
          <p:grpSpPr>
            <a:xfrm>
              <a:off x="5766155" y="4301062"/>
              <a:ext cx="2811664" cy="537327"/>
              <a:chOff x="4868017" y="3988894"/>
              <a:chExt cx="2811664" cy="53732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" name="文字方塊 108">
                    <a:extLst>
                      <a:ext uri="{FF2B5EF4-FFF2-40B4-BE49-F238E27FC236}">
                        <a16:creationId xmlns:a16="http://schemas.microsoft.com/office/drawing/2014/main" id="{B786A8E8-420C-4E74-A53C-E508D3F9A09E}"/>
                      </a:ext>
                    </a:extLst>
                  </p:cNvPr>
                  <p:cNvSpPr txBox="1"/>
                  <p:nvPr/>
                </p:nvSpPr>
                <p:spPr>
                  <a:xfrm>
                    <a:off x="4868017" y="3988894"/>
                    <a:ext cx="2811664" cy="5373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altLang="zh-TW" sz="1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,ℓ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zh-TW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TW" sz="1400" b="0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sz="14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 xmlns="">
              <p:sp>
                <p:nvSpPr>
                  <p:cNvPr id="109" name="文字方塊 108">
                    <a:extLst>
                      <a:ext uri="{FF2B5EF4-FFF2-40B4-BE49-F238E27FC236}">
                        <a16:creationId xmlns:a16="http://schemas.microsoft.com/office/drawing/2014/main" id="{B786A8E8-420C-4E74-A53C-E508D3F9A0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68017" y="3988894"/>
                    <a:ext cx="2811664" cy="53732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10" name="圖形 109">
                <a:extLst>
                  <a:ext uri="{FF2B5EF4-FFF2-40B4-BE49-F238E27FC236}">
                    <a16:creationId xmlns:a16="http://schemas.microsoft.com/office/drawing/2014/main" id="{BD34C4E8-08A5-4EBD-8D82-A0717BA46FD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 t="1" r="53142" b="-1"/>
              <a:stretch/>
            </p:blipFill>
            <p:spPr>
              <a:xfrm>
                <a:off x="5430736" y="4233616"/>
                <a:ext cx="143688" cy="110077"/>
              </a:xfrm>
              <a:prstGeom prst="rect">
                <a:avLst/>
              </a:prstGeom>
            </p:spPr>
          </p:pic>
          <p:pic>
            <p:nvPicPr>
              <p:cNvPr id="111" name="圖形 110">
                <a:extLst>
                  <a:ext uri="{FF2B5EF4-FFF2-40B4-BE49-F238E27FC236}">
                    <a16:creationId xmlns:a16="http://schemas.microsoft.com/office/drawing/2014/main" id="{1D4A8A92-4BD0-4B20-B287-E70F5A1196F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 t="1" r="53142" b="-1"/>
              <a:stretch/>
            </p:blipFill>
            <p:spPr>
              <a:xfrm>
                <a:off x="6556614" y="4244783"/>
                <a:ext cx="143688" cy="110077"/>
              </a:xfrm>
              <a:prstGeom prst="rect">
                <a:avLst/>
              </a:prstGeom>
            </p:spPr>
          </p:pic>
        </p:grpSp>
        <p:grpSp>
          <p:nvGrpSpPr>
            <p:cNvPr id="16" name="群組 15">
              <a:extLst>
                <a:ext uri="{FF2B5EF4-FFF2-40B4-BE49-F238E27FC236}">
                  <a16:creationId xmlns:a16="http://schemas.microsoft.com/office/drawing/2014/main" id="{E35CFF87-858B-422F-95F9-9535BD2AC806}"/>
                </a:ext>
              </a:extLst>
            </p:cNvPr>
            <p:cNvGrpSpPr/>
            <p:nvPr/>
          </p:nvGrpSpPr>
          <p:grpSpPr>
            <a:xfrm>
              <a:off x="8180613" y="5800916"/>
              <a:ext cx="1301888" cy="326821"/>
              <a:chOff x="5118933" y="9506967"/>
              <a:chExt cx="1301888" cy="3268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3" name="文字方塊 112">
                    <a:extLst>
                      <a:ext uri="{FF2B5EF4-FFF2-40B4-BE49-F238E27FC236}">
                        <a16:creationId xmlns:a16="http://schemas.microsoft.com/office/drawing/2014/main" id="{9CB68B38-9546-4D60-A1AD-192832924FE7}"/>
                      </a:ext>
                    </a:extLst>
                  </p:cNvPr>
                  <p:cNvSpPr txBox="1"/>
                  <p:nvPr/>
                </p:nvSpPr>
                <p:spPr>
                  <a:xfrm>
                    <a:off x="5118933" y="9506967"/>
                    <a:ext cx="1301888" cy="3268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zh-TW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TW" sz="1400" b="0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sz="14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 xmlns="">
              <p:sp>
                <p:nvSpPr>
                  <p:cNvPr id="113" name="文字方塊 112">
                    <a:extLst>
                      <a:ext uri="{FF2B5EF4-FFF2-40B4-BE49-F238E27FC236}">
                        <a16:creationId xmlns:a16="http://schemas.microsoft.com/office/drawing/2014/main" id="{9CB68B38-9546-4D60-A1AD-192832924F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18933" y="9506967"/>
                    <a:ext cx="1301888" cy="326821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15" name="圖形 114">
                <a:extLst>
                  <a:ext uri="{FF2B5EF4-FFF2-40B4-BE49-F238E27FC236}">
                    <a16:creationId xmlns:a16="http://schemas.microsoft.com/office/drawing/2014/main" id="{FAAF9338-1B66-4419-847E-0FB544EBBF6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 t="1" r="53142" b="-1"/>
              <a:stretch/>
            </p:blipFill>
            <p:spPr>
              <a:xfrm>
                <a:off x="5375499" y="9648825"/>
                <a:ext cx="143688" cy="110077"/>
              </a:xfrm>
              <a:prstGeom prst="rect">
                <a:avLst/>
              </a:prstGeom>
            </p:spPr>
          </p:pic>
        </p:grpSp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75AEF451-7CC2-410C-9331-7FDEE430054D}"/>
                </a:ext>
              </a:extLst>
            </p:cNvPr>
            <p:cNvGrpSpPr/>
            <p:nvPr/>
          </p:nvGrpSpPr>
          <p:grpSpPr>
            <a:xfrm>
              <a:off x="9420928" y="4822429"/>
              <a:ext cx="2579644" cy="537327"/>
              <a:chOff x="8875756" y="4758720"/>
              <a:chExt cx="2579644" cy="53732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2" name="文字方塊 121">
                    <a:extLst>
                      <a:ext uri="{FF2B5EF4-FFF2-40B4-BE49-F238E27FC236}">
                        <a16:creationId xmlns:a16="http://schemas.microsoft.com/office/drawing/2014/main" id="{0280F6D8-803F-4E71-AE5C-B8B69F368129}"/>
                      </a:ext>
                    </a:extLst>
                  </p:cNvPr>
                  <p:cNvSpPr txBox="1"/>
                  <p:nvPr/>
                </p:nvSpPr>
                <p:spPr>
                  <a:xfrm>
                    <a:off x="8875756" y="4758720"/>
                    <a:ext cx="2579644" cy="5373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altLang="zh-TW" sz="1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,ℓ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zh-TW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TW" sz="1400" b="0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sz="14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 xmlns="">
              <p:sp>
                <p:nvSpPr>
                  <p:cNvPr id="122" name="文字方塊 121">
                    <a:extLst>
                      <a:ext uri="{FF2B5EF4-FFF2-40B4-BE49-F238E27FC236}">
                        <a16:creationId xmlns:a16="http://schemas.microsoft.com/office/drawing/2014/main" id="{0280F6D8-803F-4E71-AE5C-B8B69F36812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75756" y="4758720"/>
                    <a:ext cx="2579644" cy="53732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113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23" name="圖形 122">
                <a:extLst>
                  <a:ext uri="{FF2B5EF4-FFF2-40B4-BE49-F238E27FC236}">
                    <a16:creationId xmlns:a16="http://schemas.microsoft.com/office/drawing/2014/main" id="{8C78F831-DDAE-4C3E-81A0-096589AE466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 t="1" r="53142" b="-1"/>
              <a:stretch/>
            </p:blipFill>
            <p:spPr>
              <a:xfrm>
                <a:off x="9321117" y="5004401"/>
                <a:ext cx="143688" cy="110077"/>
              </a:xfrm>
              <a:prstGeom prst="rect">
                <a:avLst/>
              </a:prstGeom>
            </p:spPr>
          </p:pic>
          <p:pic>
            <p:nvPicPr>
              <p:cNvPr id="124" name="圖形 123">
                <a:extLst>
                  <a:ext uri="{FF2B5EF4-FFF2-40B4-BE49-F238E27FC236}">
                    <a16:creationId xmlns:a16="http://schemas.microsoft.com/office/drawing/2014/main" id="{FE226B8A-76CC-43C6-BA3B-8F7839007D1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 t="1" r="53142" b="-1"/>
              <a:stretch/>
            </p:blipFill>
            <p:spPr>
              <a:xfrm>
                <a:off x="10450650" y="5006941"/>
                <a:ext cx="143688" cy="110077"/>
              </a:xfrm>
              <a:prstGeom prst="rect">
                <a:avLst/>
              </a:prstGeom>
            </p:spPr>
          </p:pic>
        </p:grpSp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673CA02B-0A94-4ABB-A7D6-3643F00B3016}"/>
                </a:ext>
              </a:extLst>
            </p:cNvPr>
            <p:cNvGrpSpPr/>
            <p:nvPr/>
          </p:nvGrpSpPr>
          <p:grpSpPr>
            <a:xfrm>
              <a:off x="5689808" y="4791800"/>
              <a:ext cx="2398366" cy="537327"/>
              <a:chOff x="4614380" y="4736448"/>
              <a:chExt cx="2398366" cy="53732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1" name="文字方塊 130">
                    <a:extLst>
                      <a:ext uri="{FF2B5EF4-FFF2-40B4-BE49-F238E27FC236}">
                        <a16:creationId xmlns:a16="http://schemas.microsoft.com/office/drawing/2014/main" id="{2E650999-A540-4D32-A495-4E65070B911B}"/>
                      </a:ext>
                    </a:extLst>
                  </p:cNvPr>
                  <p:cNvSpPr txBox="1"/>
                  <p:nvPr/>
                </p:nvSpPr>
                <p:spPr>
                  <a:xfrm>
                    <a:off x="4614380" y="4736448"/>
                    <a:ext cx="2398366" cy="5373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altLang="zh-TW" sz="1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,ℓ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zh-TW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TW" sz="1400" b="0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sz="14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 xmlns="">
              <p:sp>
                <p:nvSpPr>
                  <p:cNvPr id="131" name="文字方塊 130">
                    <a:extLst>
                      <a:ext uri="{FF2B5EF4-FFF2-40B4-BE49-F238E27FC236}">
                        <a16:creationId xmlns:a16="http://schemas.microsoft.com/office/drawing/2014/main" id="{2E650999-A540-4D32-A495-4E65070B911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14380" y="4736448"/>
                    <a:ext cx="2398366" cy="537327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113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42" name="圖形 141">
                <a:extLst>
                  <a:ext uri="{FF2B5EF4-FFF2-40B4-BE49-F238E27FC236}">
                    <a16:creationId xmlns:a16="http://schemas.microsoft.com/office/drawing/2014/main" id="{94D7385B-10D7-438C-928D-2B01B1645B8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 t="1" r="53142" b="-1"/>
              <a:stretch/>
            </p:blipFill>
            <p:spPr>
              <a:xfrm>
                <a:off x="4969283" y="4989797"/>
                <a:ext cx="143688" cy="110077"/>
              </a:xfrm>
              <a:prstGeom prst="rect">
                <a:avLst/>
              </a:prstGeom>
            </p:spPr>
          </p:pic>
          <p:pic>
            <p:nvPicPr>
              <p:cNvPr id="143" name="圖形 142">
                <a:extLst>
                  <a:ext uri="{FF2B5EF4-FFF2-40B4-BE49-F238E27FC236}">
                    <a16:creationId xmlns:a16="http://schemas.microsoft.com/office/drawing/2014/main" id="{17A9B0B8-1EF1-4CAB-8FDE-06B246CB586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 t="1" r="53142" b="-1"/>
              <a:stretch/>
            </p:blipFill>
            <p:spPr>
              <a:xfrm>
                <a:off x="6094847" y="4992337"/>
                <a:ext cx="143688" cy="110077"/>
              </a:xfrm>
              <a:prstGeom prst="rect">
                <a:avLst/>
              </a:prstGeom>
            </p:spPr>
          </p:pic>
        </p:grpSp>
        <p:grpSp>
          <p:nvGrpSpPr>
            <p:cNvPr id="15" name="群組 14">
              <a:extLst>
                <a:ext uri="{FF2B5EF4-FFF2-40B4-BE49-F238E27FC236}">
                  <a16:creationId xmlns:a16="http://schemas.microsoft.com/office/drawing/2014/main" id="{097CB0EC-C283-41D5-8914-B9EC77BA34E6}"/>
                </a:ext>
              </a:extLst>
            </p:cNvPr>
            <p:cNvGrpSpPr/>
            <p:nvPr/>
          </p:nvGrpSpPr>
          <p:grpSpPr>
            <a:xfrm>
              <a:off x="8194971" y="4018456"/>
              <a:ext cx="1192186" cy="317203"/>
              <a:chOff x="5138506" y="6956415"/>
              <a:chExt cx="1192186" cy="31720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7" name="文字方塊 146">
                    <a:extLst>
                      <a:ext uri="{FF2B5EF4-FFF2-40B4-BE49-F238E27FC236}">
                        <a16:creationId xmlns:a16="http://schemas.microsoft.com/office/drawing/2014/main" id="{CB6B35C6-9467-461F-960F-3AD233E0B252}"/>
                      </a:ext>
                    </a:extLst>
                  </p:cNvPr>
                  <p:cNvSpPr txBox="1"/>
                  <p:nvPr/>
                </p:nvSpPr>
                <p:spPr>
                  <a:xfrm>
                    <a:off x="5138506" y="6956415"/>
                    <a:ext cx="1192186" cy="31720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,ℓ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 xmlns="">
              <p:sp>
                <p:nvSpPr>
                  <p:cNvPr id="147" name="文字方塊 146">
                    <a:extLst>
                      <a:ext uri="{FF2B5EF4-FFF2-40B4-BE49-F238E27FC236}">
                        <a16:creationId xmlns:a16="http://schemas.microsoft.com/office/drawing/2014/main" id="{CB6B35C6-9467-461F-960F-3AD233E0B25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38506" y="6956415"/>
                    <a:ext cx="1192186" cy="317203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50" name="圖形 149">
                <a:extLst>
                  <a:ext uri="{FF2B5EF4-FFF2-40B4-BE49-F238E27FC236}">
                    <a16:creationId xmlns:a16="http://schemas.microsoft.com/office/drawing/2014/main" id="{0F7A2642-33C1-460C-8A30-B6437B4F749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 t="1" r="53142" b="-1"/>
              <a:stretch/>
            </p:blipFill>
            <p:spPr>
              <a:xfrm>
                <a:off x="5406106" y="7088994"/>
                <a:ext cx="143688" cy="110077"/>
              </a:xfrm>
              <a:prstGeom prst="rect">
                <a:avLst/>
              </a:prstGeom>
            </p:spPr>
          </p:pic>
        </p:grpSp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A7196DC8-775B-4753-A2BF-46E065D8C8D4}"/>
                </a:ext>
              </a:extLst>
            </p:cNvPr>
            <p:cNvGrpSpPr/>
            <p:nvPr/>
          </p:nvGrpSpPr>
          <p:grpSpPr>
            <a:xfrm>
              <a:off x="9301013" y="5393114"/>
              <a:ext cx="2353814" cy="537327"/>
              <a:chOff x="8722503" y="5372267"/>
              <a:chExt cx="2353814" cy="53732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8" name="文字方塊 117">
                    <a:extLst>
                      <a:ext uri="{FF2B5EF4-FFF2-40B4-BE49-F238E27FC236}">
                        <a16:creationId xmlns:a16="http://schemas.microsoft.com/office/drawing/2014/main" id="{CA7C0976-0BBA-48EA-AE8C-3EFC2CD8500F}"/>
                      </a:ext>
                    </a:extLst>
                  </p:cNvPr>
                  <p:cNvSpPr txBox="1"/>
                  <p:nvPr/>
                </p:nvSpPr>
                <p:spPr>
                  <a:xfrm>
                    <a:off x="8722503" y="5372267"/>
                    <a:ext cx="2353814" cy="5373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altLang="zh-TW" sz="1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,ℓ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zh-TW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TW" sz="1400" b="0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sz="14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 xmlns="">
              <p:sp>
                <p:nvSpPr>
                  <p:cNvPr id="118" name="文字方塊 117">
                    <a:extLst>
                      <a:ext uri="{FF2B5EF4-FFF2-40B4-BE49-F238E27FC236}">
                        <a16:creationId xmlns:a16="http://schemas.microsoft.com/office/drawing/2014/main" id="{CA7C0976-0BBA-48EA-AE8C-3EFC2CD850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22503" y="5372267"/>
                    <a:ext cx="2353814" cy="537327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19" name="圖形 118">
                <a:extLst>
                  <a:ext uri="{FF2B5EF4-FFF2-40B4-BE49-F238E27FC236}">
                    <a16:creationId xmlns:a16="http://schemas.microsoft.com/office/drawing/2014/main" id="{E5D5863B-A020-4492-B838-253913A7F01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 t="1" r="53142" b="-1"/>
              <a:stretch/>
            </p:blipFill>
            <p:spPr>
              <a:xfrm>
                <a:off x="9054949" y="5621123"/>
                <a:ext cx="143688" cy="110077"/>
              </a:xfrm>
              <a:prstGeom prst="rect">
                <a:avLst/>
              </a:prstGeom>
            </p:spPr>
          </p:pic>
          <p:pic>
            <p:nvPicPr>
              <p:cNvPr id="120" name="圖形 119">
                <a:extLst>
                  <a:ext uri="{FF2B5EF4-FFF2-40B4-BE49-F238E27FC236}">
                    <a16:creationId xmlns:a16="http://schemas.microsoft.com/office/drawing/2014/main" id="{AEC6FED9-5DAB-4D50-9D8C-D48FA5E6F3D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 t="1" r="53142" b="-1"/>
              <a:stretch/>
            </p:blipFill>
            <p:spPr>
              <a:xfrm>
                <a:off x="10178132" y="5623663"/>
                <a:ext cx="143688" cy="110077"/>
              </a:xfrm>
              <a:prstGeom prst="rect">
                <a:avLst/>
              </a:prstGeom>
            </p:spPr>
          </p:pic>
        </p:grpSp>
        <p:sp>
          <p:nvSpPr>
            <p:cNvPr id="156" name="矩形 155">
              <a:extLst>
                <a:ext uri="{FF2B5EF4-FFF2-40B4-BE49-F238E27FC236}">
                  <a16:creationId xmlns:a16="http://schemas.microsoft.com/office/drawing/2014/main" id="{34724DDE-9A13-4AF7-A060-05D5CF78C8EA}"/>
                </a:ext>
              </a:extLst>
            </p:cNvPr>
            <p:cNvSpPr/>
            <p:nvPr/>
          </p:nvSpPr>
          <p:spPr>
            <a:xfrm>
              <a:off x="7360414" y="6323917"/>
              <a:ext cx="273658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Poincaré sphere</a:t>
              </a:r>
              <a:r>
                <a: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 VVB states</a:t>
              </a:r>
              <a:endParaRPr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8F69B33B-1396-4AC0-BC0A-4A048DBF45C1}"/>
              </a:ext>
            </a:extLst>
          </p:cNvPr>
          <p:cNvGrpSpPr/>
          <p:nvPr/>
        </p:nvGrpSpPr>
        <p:grpSpPr>
          <a:xfrm>
            <a:off x="184630" y="1966175"/>
            <a:ext cx="4736142" cy="3829548"/>
            <a:chOff x="75336" y="2274826"/>
            <a:chExt cx="4736142" cy="3829548"/>
          </a:xfrm>
        </p:grpSpPr>
        <p:sp>
          <p:nvSpPr>
            <p:cNvPr id="157" name="矩形 156">
              <a:extLst>
                <a:ext uri="{FF2B5EF4-FFF2-40B4-BE49-F238E27FC236}">
                  <a16:creationId xmlns:a16="http://schemas.microsoft.com/office/drawing/2014/main" id="{C940A181-5BD7-49EC-9967-E36C057400CB}"/>
                </a:ext>
              </a:extLst>
            </p:cNvPr>
            <p:cNvSpPr/>
            <p:nvPr/>
          </p:nvSpPr>
          <p:spPr>
            <a:xfrm>
              <a:off x="75336" y="5365710"/>
              <a:ext cx="4736142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LG beams and vector vortex beams</a:t>
              </a:r>
              <a:r>
                <a: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(transverse plane) </a:t>
              </a:r>
            </a:p>
            <a:p>
              <a:pPr algn="ctr"/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Reproduced from Miles J. Padgett, International School on Parametric Nonlinear Optics (2015)</a:t>
              </a:r>
              <a:endParaRPr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7" name="圖片 26">
              <a:extLst>
                <a:ext uri="{FF2B5EF4-FFF2-40B4-BE49-F238E27FC236}">
                  <a16:creationId xmlns:a16="http://schemas.microsoft.com/office/drawing/2014/main" id="{7BF80D3A-0DA8-4D25-8DAE-81B0EB2A93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738432" y="2274826"/>
              <a:ext cx="3518612" cy="3019308"/>
            </a:xfrm>
            <a:prstGeom prst="rect">
              <a:avLst/>
            </a:prstGeom>
          </p:spPr>
        </p:pic>
      </p:grpSp>
      <p:grpSp>
        <p:nvGrpSpPr>
          <p:cNvPr id="159" name="群組 158">
            <a:extLst>
              <a:ext uri="{FF2B5EF4-FFF2-40B4-BE49-F238E27FC236}">
                <a16:creationId xmlns:a16="http://schemas.microsoft.com/office/drawing/2014/main" id="{19980EEA-CB31-4EA6-B852-043E24BA6211}"/>
              </a:ext>
            </a:extLst>
          </p:cNvPr>
          <p:cNvGrpSpPr/>
          <p:nvPr/>
        </p:nvGrpSpPr>
        <p:grpSpPr>
          <a:xfrm>
            <a:off x="5012367" y="1730672"/>
            <a:ext cx="6752075" cy="749308"/>
            <a:chOff x="526861" y="938055"/>
            <a:chExt cx="6752075" cy="7493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TextBox 11">
                  <a:extLst>
                    <a:ext uri="{FF2B5EF4-FFF2-40B4-BE49-F238E27FC236}">
                      <a16:creationId xmlns:a16="http://schemas.microsoft.com/office/drawing/2014/main" id="{8E7C7DE4-1240-457E-9153-E844215731A7}"/>
                    </a:ext>
                  </a:extLst>
                </p:cNvPr>
                <p:cNvSpPr txBox="1"/>
                <p:nvPr/>
              </p:nvSpPr>
              <p:spPr>
                <a:xfrm>
                  <a:off x="607566" y="938055"/>
                  <a:ext cx="6671370" cy="7493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,ℓ,</m:t>
                            </m:r>
                            <m:sSup>
                              <m:sSup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900" b="0" i="0" dirty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TW" sz="19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num>
                                  <m:den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sSub>
                          <m:sSub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00" b="0" i="1" dirty="0" smtClean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,ℓ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9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  <m:func>
                          <m:func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1900" b="0" i="0" dirty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num>
                                  <m:den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sSub>
                          <m:sSub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60" name="TextBox 11">
                  <a:extLst>
                    <a:ext uri="{FF2B5EF4-FFF2-40B4-BE49-F238E27FC236}">
                      <a16:creationId xmlns:a16="http://schemas.microsoft.com/office/drawing/2014/main" id="{8E7C7DE4-1240-457E-9153-E844215731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566" y="938055"/>
                  <a:ext cx="6671370" cy="749308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61" name="圖形 160">
              <a:extLst>
                <a:ext uri="{FF2B5EF4-FFF2-40B4-BE49-F238E27FC236}">
                  <a16:creationId xmlns:a16="http://schemas.microsoft.com/office/drawing/2014/main" id="{15698AEE-B2DC-4A87-A26F-4A86CF2D8F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t="1" r="53142" b="-1"/>
            <a:stretch/>
          </p:blipFill>
          <p:spPr>
            <a:xfrm>
              <a:off x="526861" y="1247233"/>
              <a:ext cx="224841" cy="172247"/>
            </a:xfrm>
            <a:prstGeom prst="rect">
              <a:avLst/>
            </a:prstGeom>
          </p:spPr>
        </p:pic>
        <p:pic>
          <p:nvPicPr>
            <p:cNvPr id="162" name="圖形 161">
              <a:extLst>
                <a:ext uri="{FF2B5EF4-FFF2-40B4-BE49-F238E27FC236}">
                  <a16:creationId xmlns:a16="http://schemas.microsoft.com/office/drawing/2014/main" id="{5277F830-23E8-4DFA-9FB7-64F034D054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t="1" r="53142" b="-1"/>
            <a:stretch/>
          </p:blipFill>
          <p:spPr>
            <a:xfrm>
              <a:off x="3540078" y="1247233"/>
              <a:ext cx="224841" cy="172247"/>
            </a:xfrm>
            <a:prstGeom prst="rect">
              <a:avLst/>
            </a:prstGeom>
          </p:spPr>
        </p:pic>
        <p:pic>
          <p:nvPicPr>
            <p:cNvPr id="163" name="圖形 162">
              <a:extLst>
                <a:ext uri="{FF2B5EF4-FFF2-40B4-BE49-F238E27FC236}">
                  <a16:creationId xmlns:a16="http://schemas.microsoft.com/office/drawing/2014/main" id="{99344DFD-BE0F-483C-8234-710AAD632D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t="1" r="53142" b="-1"/>
            <a:stretch/>
          </p:blipFill>
          <p:spPr>
            <a:xfrm>
              <a:off x="5949590" y="1249773"/>
              <a:ext cx="224841" cy="1722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562247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40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sp>
        <p:nvSpPr>
          <p:cNvPr id="31" name="內容版面配置區 2">
            <a:extLst>
              <a:ext uri="{FF2B5EF4-FFF2-40B4-BE49-F238E27FC236}">
                <a16:creationId xmlns:a16="http://schemas.microsoft.com/office/drawing/2014/main" id="{3B99BFFE-B9AA-4553-B351-C6514DE3F6EA}"/>
              </a:ext>
            </a:extLst>
          </p:cNvPr>
          <p:cNvSpPr txBox="1">
            <a:spLocks/>
          </p:cNvSpPr>
          <p:nvPr/>
        </p:nvSpPr>
        <p:spPr>
          <a:xfrm>
            <a:off x="-39317" y="810577"/>
            <a:ext cx="8173667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Forming vector vortex beams (VVB) by Superimposing LG beams </a:t>
            </a: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AF1C69EA-7DE6-41A4-B386-7D8C8AE58E84}"/>
              </a:ext>
            </a:extLst>
          </p:cNvPr>
          <p:cNvGrpSpPr/>
          <p:nvPr/>
        </p:nvGrpSpPr>
        <p:grpSpPr>
          <a:xfrm>
            <a:off x="-3747445" y="2142821"/>
            <a:ext cx="3528017" cy="2628707"/>
            <a:chOff x="7076912" y="1223436"/>
            <a:chExt cx="3528017" cy="2628707"/>
          </a:xfrm>
        </p:grpSpPr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C7FC6CD9-789E-4F5C-809B-D9C439E96E43}"/>
                </a:ext>
              </a:extLst>
            </p:cNvPr>
            <p:cNvGrpSpPr/>
            <p:nvPr/>
          </p:nvGrpSpPr>
          <p:grpSpPr>
            <a:xfrm>
              <a:off x="7475055" y="1223436"/>
              <a:ext cx="2800113" cy="1986490"/>
              <a:chOff x="7874871" y="437623"/>
              <a:chExt cx="4686499" cy="3324753"/>
            </a:xfrm>
          </p:grpSpPr>
          <p:pic>
            <p:nvPicPr>
              <p:cNvPr id="7" name="圖片 6">
                <a:extLst>
                  <a:ext uri="{FF2B5EF4-FFF2-40B4-BE49-F238E27FC236}">
                    <a16:creationId xmlns:a16="http://schemas.microsoft.com/office/drawing/2014/main" id="{FBF12F45-F66B-494A-9F1D-D26E6398348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b="66320"/>
              <a:stretch/>
            </p:blipFill>
            <p:spPr>
              <a:xfrm>
                <a:off x="7915586" y="437623"/>
                <a:ext cx="3070556" cy="1591202"/>
              </a:xfrm>
              <a:prstGeom prst="rect">
                <a:avLst/>
              </a:prstGeom>
            </p:spPr>
          </p:pic>
          <p:pic>
            <p:nvPicPr>
              <p:cNvPr id="151" name="圖片 150">
                <a:extLst>
                  <a:ext uri="{FF2B5EF4-FFF2-40B4-BE49-F238E27FC236}">
                    <a16:creationId xmlns:a16="http://schemas.microsoft.com/office/drawing/2014/main" id="{0EEBBF34-620E-4EAC-B588-535B063F614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t="33595" r="55451" b="33139"/>
              <a:stretch/>
            </p:blipFill>
            <p:spPr>
              <a:xfrm>
                <a:off x="11138461" y="437623"/>
                <a:ext cx="1367885" cy="1571626"/>
              </a:xfrm>
              <a:prstGeom prst="rect">
                <a:avLst/>
              </a:prstGeom>
            </p:spPr>
          </p:pic>
          <p:pic>
            <p:nvPicPr>
              <p:cNvPr id="153" name="圖片 152">
                <a:extLst>
                  <a:ext uri="{FF2B5EF4-FFF2-40B4-BE49-F238E27FC236}">
                    <a16:creationId xmlns:a16="http://schemas.microsoft.com/office/drawing/2014/main" id="{CA8CC689-57C6-46A5-95E1-0FF50F4A7C3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t="66458"/>
              <a:stretch/>
            </p:blipFill>
            <p:spPr>
              <a:xfrm>
                <a:off x="7874871" y="2177580"/>
                <a:ext cx="3070557" cy="1584671"/>
              </a:xfrm>
              <a:prstGeom prst="rect">
                <a:avLst/>
              </a:prstGeom>
            </p:spPr>
          </p:pic>
          <p:pic>
            <p:nvPicPr>
              <p:cNvPr id="154" name="圖片 153">
                <a:extLst>
                  <a:ext uri="{FF2B5EF4-FFF2-40B4-BE49-F238E27FC236}">
                    <a16:creationId xmlns:a16="http://schemas.microsoft.com/office/drawing/2014/main" id="{89D96370-D3D5-4F47-8825-38D2EC26694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52614" t="33192" b="33139"/>
              <a:stretch/>
            </p:blipFill>
            <p:spPr>
              <a:xfrm>
                <a:off x="11106349" y="2171700"/>
                <a:ext cx="1455021" cy="1590676"/>
              </a:xfrm>
              <a:prstGeom prst="rect">
                <a:avLst/>
              </a:prstGeom>
            </p:spPr>
          </p:pic>
        </p:grpSp>
        <p:sp>
          <p:nvSpPr>
            <p:cNvPr id="155" name="矩形 154">
              <a:extLst>
                <a:ext uri="{FF2B5EF4-FFF2-40B4-BE49-F238E27FC236}">
                  <a16:creationId xmlns:a16="http://schemas.microsoft.com/office/drawing/2014/main" id="{315A0471-03CC-4B52-A2C8-F9AA515E798A}"/>
                </a:ext>
              </a:extLst>
            </p:cNvPr>
            <p:cNvSpPr/>
            <p:nvPr/>
          </p:nvSpPr>
          <p:spPr>
            <a:xfrm>
              <a:off x="7076912" y="3328923"/>
              <a:ext cx="352801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LG beams and vector vortex beams </a:t>
              </a:r>
              <a:endParaRPr lang="en-US" altLang="zh-TW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de-DE" altLang="zh-TW" sz="1400" dirty="0"/>
                <a:t>F. Steinlechner </a:t>
              </a:r>
              <a:r>
                <a:rPr lang="de-DE" altLang="zh-TW" sz="1400" i="1" dirty="0"/>
                <a:t>et al.</a:t>
              </a:r>
              <a:r>
                <a:rPr lang="de-DE" altLang="zh-TW" sz="1400" dirty="0"/>
                <a:t>, </a:t>
              </a:r>
              <a:r>
                <a:rPr lang="de-DE" altLang="zh-TW" sz="1400" i="1" dirty="0"/>
                <a:t>Sci. Rep.</a:t>
              </a:r>
              <a:r>
                <a:rPr lang="de-DE" altLang="zh-TW" sz="1400" dirty="0"/>
                <a:t> </a:t>
              </a:r>
              <a:r>
                <a:rPr lang="de-DE" altLang="zh-TW" sz="1400" b="1" dirty="0"/>
                <a:t>6</a:t>
              </a:r>
              <a:r>
                <a:rPr lang="de-DE" altLang="zh-TW" sz="1400" dirty="0"/>
                <a:t>, 21390 (2016)</a:t>
              </a:r>
              <a:endParaRPr lang="zh-TW" altLang="en-US" sz="1400" dirty="0"/>
            </a:p>
          </p:txBody>
        </p:sp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8F69B33B-1396-4AC0-BC0A-4A048DBF45C1}"/>
              </a:ext>
            </a:extLst>
          </p:cNvPr>
          <p:cNvGrpSpPr/>
          <p:nvPr/>
        </p:nvGrpSpPr>
        <p:grpSpPr>
          <a:xfrm>
            <a:off x="184630" y="1966175"/>
            <a:ext cx="4736142" cy="3829548"/>
            <a:chOff x="75336" y="2274826"/>
            <a:chExt cx="4736142" cy="3829548"/>
          </a:xfrm>
        </p:grpSpPr>
        <p:sp>
          <p:nvSpPr>
            <p:cNvPr id="157" name="矩形 156">
              <a:extLst>
                <a:ext uri="{FF2B5EF4-FFF2-40B4-BE49-F238E27FC236}">
                  <a16:creationId xmlns:a16="http://schemas.microsoft.com/office/drawing/2014/main" id="{C940A181-5BD7-49EC-9967-E36C057400CB}"/>
                </a:ext>
              </a:extLst>
            </p:cNvPr>
            <p:cNvSpPr/>
            <p:nvPr/>
          </p:nvSpPr>
          <p:spPr>
            <a:xfrm>
              <a:off x="75336" y="5365710"/>
              <a:ext cx="4736142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LG beams and vector vortex beams</a:t>
              </a:r>
              <a:r>
                <a: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(transverse plane) </a:t>
              </a:r>
            </a:p>
            <a:p>
              <a:pPr algn="ctr"/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Reproduced from Miles J. Padgett, International School on Parametric Nonlinear Optics (2015)</a:t>
              </a:r>
              <a:endParaRPr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7" name="圖片 26">
              <a:extLst>
                <a:ext uri="{FF2B5EF4-FFF2-40B4-BE49-F238E27FC236}">
                  <a16:creationId xmlns:a16="http://schemas.microsoft.com/office/drawing/2014/main" id="{7BF80D3A-0DA8-4D25-8DAE-81B0EB2A93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8432" y="2274826"/>
              <a:ext cx="3518612" cy="3019308"/>
            </a:xfrm>
            <a:prstGeom prst="rect">
              <a:avLst/>
            </a:prstGeom>
          </p:spPr>
        </p:pic>
      </p:grpSp>
      <p:grpSp>
        <p:nvGrpSpPr>
          <p:cNvPr id="176" name="群組 175">
            <a:extLst>
              <a:ext uri="{FF2B5EF4-FFF2-40B4-BE49-F238E27FC236}">
                <a16:creationId xmlns:a16="http://schemas.microsoft.com/office/drawing/2014/main" id="{694814F9-1BF8-427B-B52D-BD8331B6C85C}"/>
              </a:ext>
            </a:extLst>
          </p:cNvPr>
          <p:cNvGrpSpPr/>
          <p:nvPr/>
        </p:nvGrpSpPr>
        <p:grpSpPr>
          <a:xfrm>
            <a:off x="5012367" y="1730672"/>
            <a:ext cx="6752075" cy="749308"/>
            <a:chOff x="526861" y="938055"/>
            <a:chExt cx="6752075" cy="7493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TextBox 11">
                  <a:extLst>
                    <a:ext uri="{FF2B5EF4-FFF2-40B4-BE49-F238E27FC236}">
                      <a16:creationId xmlns:a16="http://schemas.microsoft.com/office/drawing/2014/main" id="{9B2C0833-586C-4C71-98CF-51B799FEF7D6}"/>
                    </a:ext>
                  </a:extLst>
                </p:cNvPr>
                <p:cNvSpPr txBox="1"/>
                <p:nvPr/>
              </p:nvSpPr>
              <p:spPr>
                <a:xfrm>
                  <a:off x="607566" y="938055"/>
                  <a:ext cx="6671370" cy="7493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,ℓ,</m:t>
                            </m:r>
                            <m:sSup>
                              <m:sSup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900" b="0" i="0" dirty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TW" sz="19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num>
                                  <m:den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sSub>
                          <m:sSub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00" b="0" i="1" dirty="0" smtClean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,ℓ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9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  <m:func>
                          <m:func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1900" b="0" i="0" dirty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num>
                                  <m:den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sSub>
                          <m:sSub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77" name="TextBox 11">
                  <a:extLst>
                    <a:ext uri="{FF2B5EF4-FFF2-40B4-BE49-F238E27FC236}">
                      <a16:creationId xmlns:a16="http://schemas.microsoft.com/office/drawing/2014/main" id="{9B2C0833-586C-4C71-98CF-51B799FEF7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566" y="938055"/>
                  <a:ext cx="6671370" cy="74930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78" name="圖形 177">
              <a:extLst>
                <a:ext uri="{FF2B5EF4-FFF2-40B4-BE49-F238E27FC236}">
                  <a16:creationId xmlns:a16="http://schemas.microsoft.com/office/drawing/2014/main" id="{CB92C13E-9AB6-4F6F-8E7D-A0887EEC4B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1" r="53142" b="-1"/>
            <a:stretch/>
          </p:blipFill>
          <p:spPr>
            <a:xfrm>
              <a:off x="526861" y="1247233"/>
              <a:ext cx="224841" cy="172247"/>
            </a:xfrm>
            <a:prstGeom prst="rect">
              <a:avLst/>
            </a:prstGeom>
          </p:spPr>
        </p:pic>
        <p:pic>
          <p:nvPicPr>
            <p:cNvPr id="179" name="圖形 178">
              <a:extLst>
                <a:ext uri="{FF2B5EF4-FFF2-40B4-BE49-F238E27FC236}">
                  <a16:creationId xmlns:a16="http://schemas.microsoft.com/office/drawing/2014/main" id="{BF5C55A1-5902-4EBB-AA75-1B031D93A0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1" r="53142" b="-1"/>
            <a:stretch/>
          </p:blipFill>
          <p:spPr>
            <a:xfrm>
              <a:off x="3540078" y="1247233"/>
              <a:ext cx="224841" cy="172247"/>
            </a:xfrm>
            <a:prstGeom prst="rect">
              <a:avLst/>
            </a:prstGeom>
          </p:spPr>
        </p:pic>
        <p:pic>
          <p:nvPicPr>
            <p:cNvPr id="180" name="圖形 179">
              <a:extLst>
                <a:ext uri="{FF2B5EF4-FFF2-40B4-BE49-F238E27FC236}">
                  <a16:creationId xmlns:a16="http://schemas.microsoft.com/office/drawing/2014/main" id="{3AAF1AF1-D5AF-4DAE-A9FA-5A7A90FC96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1" r="53142" b="-1"/>
            <a:stretch/>
          </p:blipFill>
          <p:spPr>
            <a:xfrm>
              <a:off x="5949590" y="1249773"/>
              <a:ext cx="224841" cy="172247"/>
            </a:xfrm>
            <a:prstGeom prst="rect">
              <a:avLst/>
            </a:prstGeom>
          </p:spPr>
        </p:pic>
      </p:grpSp>
      <p:grpSp>
        <p:nvGrpSpPr>
          <p:cNvPr id="2" name="群組 1">
            <a:extLst>
              <a:ext uri="{FF2B5EF4-FFF2-40B4-BE49-F238E27FC236}">
                <a16:creationId xmlns:a16="http://schemas.microsoft.com/office/drawing/2014/main" id="{6C28B46D-0BA2-42F4-A7D3-7E2C225865F6}"/>
              </a:ext>
            </a:extLst>
          </p:cNvPr>
          <p:cNvGrpSpPr/>
          <p:nvPr/>
        </p:nvGrpSpPr>
        <p:grpSpPr>
          <a:xfrm>
            <a:off x="6728254" y="2611968"/>
            <a:ext cx="4629024" cy="476862"/>
            <a:chOff x="6756829" y="2697693"/>
            <a:chExt cx="4629024" cy="47686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矩形 163">
                  <a:extLst>
                    <a:ext uri="{FF2B5EF4-FFF2-40B4-BE49-F238E27FC236}">
                      <a16:creationId xmlns:a16="http://schemas.microsoft.com/office/drawing/2014/main" id="{63CAE041-513F-42A0-AC61-C07BA73A786F}"/>
                    </a:ext>
                  </a:extLst>
                </p:cNvPr>
                <p:cNvSpPr/>
                <p:nvPr/>
              </p:nvSpPr>
              <p:spPr>
                <a:xfrm>
                  <a:off x="6756829" y="2697693"/>
                  <a:ext cx="4629024" cy="47686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900" i="1" dirty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sSup>
                              <m:sSup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altLang="zh-TW" sz="1900" b="1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sSup>
                              <m:sSup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</m:oMath>
                    </m:oMathPara>
                  </a14:m>
                  <a:endParaRPr lang="zh-TW" altLang="en-US" sz="19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4" name="矩形 163">
                  <a:extLst>
                    <a:ext uri="{FF2B5EF4-FFF2-40B4-BE49-F238E27FC236}">
                      <a16:creationId xmlns:a16="http://schemas.microsoft.com/office/drawing/2014/main" id="{63CAE041-513F-42A0-AC61-C07BA73A786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6829" y="2697693"/>
                  <a:ext cx="4629024" cy="47686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81" name="圖形 180">
              <a:extLst>
                <a:ext uri="{FF2B5EF4-FFF2-40B4-BE49-F238E27FC236}">
                  <a16:creationId xmlns:a16="http://schemas.microsoft.com/office/drawing/2014/main" id="{F876ADDB-F61B-4168-8A73-7E15BE801F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1" r="53142" b="-1"/>
            <a:stretch/>
          </p:blipFill>
          <p:spPr>
            <a:xfrm>
              <a:off x="7177859" y="2878050"/>
              <a:ext cx="224841" cy="172247"/>
            </a:xfrm>
            <a:prstGeom prst="rect">
              <a:avLst/>
            </a:prstGeom>
          </p:spPr>
        </p:pic>
        <p:pic>
          <p:nvPicPr>
            <p:cNvPr id="182" name="圖形 181">
              <a:extLst>
                <a:ext uri="{FF2B5EF4-FFF2-40B4-BE49-F238E27FC236}">
                  <a16:creationId xmlns:a16="http://schemas.microsoft.com/office/drawing/2014/main" id="{50DB2CB0-F348-4798-8630-DC0B3D70E8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1" r="53142" b="-1"/>
            <a:stretch/>
          </p:blipFill>
          <p:spPr>
            <a:xfrm>
              <a:off x="9339721" y="2880590"/>
              <a:ext cx="224841" cy="1722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648727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41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sp>
        <p:nvSpPr>
          <p:cNvPr id="31" name="內容版面配置區 2">
            <a:extLst>
              <a:ext uri="{FF2B5EF4-FFF2-40B4-BE49-F238E27FC236}">
                <a16:creationId xmlns:a16="http://schemas.microsoft.com/office/drawing/2014/main" id="{3B99BFFE-B9AA-4553-B351-C6514DE3F6EA}"/>
              </a:ext>
            </a:extLst>
          </p:cNvPr>
          <p:cNvSpPr txBox="1">
            <a:spLocks/>
          </p:cNvSpPr>
          <p:nvPr/>
        </p:nvSpPr>
        <p:spPr>
          <a:xfrm>
            <a:off x="-39317" y="810577"/>
            <a:ext cx="8173667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Forming vector vortex beams (VVB) by Superimposing LG beams </a:t>
            </a: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AF1C69EA-7DE6-41A4-B386-7D8C8AE58E84}"/>
              </a:ext>
            </a:extLst>
          </p:cNvPr>
          <p:cNvGrpSpPr/>
          <p:nvPr/>
        </p:nvGrpSpPr>
        <p:grpSpPr>
          <a:xfrm>
            <a:off x="-3747445" y="2142821"/>
            <a:ext cx="3528017" cy="2628707"/>
            <a:chOff x="7076912" y="1223436"/>
            <a:chExt cx="3528017" cy="2628707"/>
          </a:xfrm>
        </p:grpSpPr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C7FC6CD9-789E-4F5C-809B-D9C439E96E43}"/>
                </a:ext>
              </a:extLst>
            </p:cNvPr>
            <p:cNvGrpSpPr/>
            <p:nvPr/>
          </p:nvGrpSpPr>
          <p:grpSpPr>
            <a:xfrm>
              <a:off x="7475055" y="1223436"/>
              <a:ext cx="2800113" cy="1986490"/>
              <a:chOff x="7874871" y="437623"/>
              <a:chExt cx="4686499" cy="3324753"/>
            </a:xfrm>
          </p:grpSpPr>
          <p:pic>
            <p:nvPicPr>
              <p:cNvPr id="7" name="圖片 6">
                <a:extLst>
                  <a:ext uri="{FF2B5EF4-FFF2-40B4-BE49-F238E27FC236}">
                    <a16:creationId xmlns:a16="http://schemas.microsoft.com/office/drawing/2014/main" id="{FBF12F45-F66B-494A-9F1D-D26E6398348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b="66320"/>
              <a:stretch/>
            </p:blipFill>
            <p:spPr>
              <a:xfrm>
                <a:off x="7915586" y="437623"/>
                <a:ext cx="3070556" cy="1591202"/>
              </a:xfrm>
              <a:prstGeom prst="rect">
                <a:avLst/>
              </a:prstGeom>
            </p:spPr>
          </p:pic>
          <p:pic>
            <p:nvPicPr>
              <p:cNvPr id="151" name="圖片 150">
                <a:extLst>
                  <a:ext uri="{FF2B5EF4-FFF2-40B4-BE49-F238E27FC236}">
                    <a16:creationId xmlns:a16="http://schemas.microsoft.com/office/drawing/2014/main" id="{0EEBBF34-620E-4EAC-B588-535B063F614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t="33595" r="55451" b="33139"/>
              <a:stretch/>
            </p:blipFill>
            <p:spPr>
              <a:xfrm>
                <a:off x="11138461" y="437623"/>
                <a:ext cx="1367885" cy="1571626"/>
              </a:xfrm>
              <a:prstGeom prst="rect">
                <a:avLst/>
              </a:prstGeom>
            </p:spPr>
          </p:pic>
          <p:pic>
            <p:nvPicPr>
              <p:cNvPr id="153" name="圖片 152">
                <a:extLst>
                  <a:ext uri="{FF2B5EF4-FFF2-40B4-BE49-F238E27FC236}">
                    <a16:creationId xmlns:a16="http://schemas.microsoft.com/office/drawing/2014/main" id="{CA8CC689-57C6-46A5-95E1-0FF50F4A7C3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t="66458"/>
              <a:stretch/>
            </p:blipFill>
            <p:spPr>
              <a:xfrm>
                <a:off x="7874871" y="2177580"/>
                <a:ext cx="3070557" cy="1584671"/>
              </a:xfrm>
              <a:prstGeom prst="rect">
                <a:avLst/>
              </a:prstGeom>
            </p:spPr>
          </p:pic>
          <p:pic>
            <p:nvPicPr>
              <p:cNvPr id="154" name="圖片 153">
                <a:extLst>
                  <a:ext uri="{FF2B5EF4-FFF2-40B4-BE49-F238E27FC236}">
                    <a16:creationId xmlns:a16="http://schemas.microsoft.com/office/drawing/2014/main" id="{89D96370-D3D5-4F47-8825-38D2EC26694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52614" t="33192" b="33139"/>
              <a:stretch/>
            </p:blipFill>
            <p:spPr>
              <a:xfrm>
                <a:off x="11106349" y="2171700"/>
                <a:ext cx="1455021" cy="1590676"/>
              </a:xfrm>
              <a:prstGeom prst="rect">
                <a:avLst/>
              </a:prstGeom>
            </p:spPr>
          </p:pic>
        </p:grpSp>
        <p:sp>
          <p:nvSpPr>
            <p:cNvPr id="155" name="矩形 154">
              <a:extLst>
                <a:ext uri="{FF2B5EF4-FFF2-40B4-BE49-F238E27FC236}">
                  <a16:creationId xmlns:a16="http://schemas.microsoft.com/office/drawing/2014/main" id="{315A0471-03CC-4B52-A2C8-F9AA515E798A}"/>
                </a:ext>
              </a:extLst>
            </p:cNvPr>
            <p:cNvSpPr/>
            <p:nvPr/>
          </p:nvSpPr>
          <p:spPr>
            <a:xfrm>
              <a:off x="7076912" y="3328923"/>
              <a:ext cx="352801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LG beams and vector vortex beams </a:t>
              </a:r>
              <a:endParaRPr lang="en-US" altLang="zh-TW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de-DE" altLang="zh-TW" sz="1400" dirty="0"/>
                <a:t>F. Steinlechner </a:t>
              </a:r>
              <a:r>
                <a:rPr lang="de-DE" altLang="zh-TW" sz="1400" i="1" dirty="0"/>
                <a:t>et al.</a:t>
              </a:r>
              <a:r>
                <a:rPr lang="de-DE" altLang="zh-TW" sz="1400" dirty="0"/>
                <a:t>, </a:t>
              </a:r>
              <a:r>
                <a:rPr lang="de-DE" altLang="zh-TW" sz="1400" i="1" dirty="0"/>
                <a:t>Sci. Rep.</a:t>
              </a:r>
              <a:r>
                <a:rPr lang="de-DE" altLang="zh-TW" sz="1400" dirty="0"/>
                <a:t> </a:t>
              </a:r>
              <a:r>
                <a:rPr lang="de-DE" altLang="zh-TW" sz="1400" b="1" dirty="0"/>
                <a:t>6</a:t>
              </a:r>
              <a:r>
                <a:rPr lang="de-DE" altLang="zh-TW" sz="1400" dirty="0"/>
                <a:t>, 21390 (2016)</a:t>
              </a:r>
              <a:endParaRPr lang="zh-TW" altLang="en-US" sz="1400" dirty="0"/>
            </a:p>
          </p:txBody>
        </p:sp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8F69B33B-1396-4AC0-BC0A-4A048DBF45C1}"/>
              </a:ext>
            </a:extLst>
          </p:cNvPr>
          <p:cNvGrpSpPr/>
          <p:nvPr/>
        </p:nvGrpSpPr>
        <p:grpSpPr>
          <a:xfrm>
            <a:off x="184630" y="1966175"/>
            <a:ext cx="4736142" cy="3829548"/>
            <a:chOff x="75336" y="2274826"/>
            <a:chExt cx="4736142" cy="3829548"/>
          </a:xfrm>
        </p:grpSpPr>
        <p:sp>
          <p:nvSpPr>
            <p:cNvPr id="157" name="矩形 156">
              <a:extLst>
                <a:ext uri="{FF2B5EF4-FFF2-40B4-BE49-F238E27FC236}">
                  <a16:creationId xmlns:a16="http://schemas.microsoft.com/office/drawing/2014/main" id="{C940A181-5BD7-49EC-9967-E36C057400CB}"/>
                </a:ext>
              </a:extLst>
            </p:cNvPr>
            <p:cNvSpPr/>
            <p:nvPr/>
          </p:nvSpPr>
          <p:spPr>
            <a:xfrm>
              <a:off x="75336" y="5365710"/>
              <a:ext cx="4736142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LG beams and vector vortex beams</a:t>
              </a:r>
              <a:r>
                <a: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(transverse plane) </a:t>
              </a:r>
            </a:p>
            <a:p>
              <a:pPr algn="ctr"/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Reproduced from Miles J. Padgett, International School on Parametric Nonlinear Optics (2015)</a:t>
              </a:r>
              <a:endParaRPr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7" name="圖片 26">
              <a:extLst>
                <a:ext uri="{FF2B5EF4-FFF2-40B4-BE49-F238E27FC236}">
                  <a16:creationId xmlns:a16="http://schemas.microsoft.com/office/drawing/2014/main" id="{7BF80D3A-0DA8-4D25-8DAE-81B0EB2A93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8432" y="2274826"/>
              <a:ext cx="3518612" cy="3019308"/>
            </a:xfrm>
            <a:prstGeom prst="rect">
              <a:avLst/>
            </a:prstGeom>
          </p:spPr>
        </p:pic>
      </p:grpSp>
      <p:grpSp>
        <p:nvGrpSpPr>
          <p:cNvPr id="176" name="群組 175">
            <a:extLst>
              <a:ext uri="{FF2B5EF4-FFF2-40B4-BE49-F238E27FC236}">
                <a16:creationId xmlns:a16="http://schemas.microsoft.com/office/drawing/2014/main" id="{694814F9-1BF8-427B-B52D-BD8331B6C85C}"/>
              </a:ext>
            </a:extLst>
          </p:cNvPr>
          <p:cNvGrpSpPr/>
          <p:nvPr/>
        </p:nvGrpSpPr>
        <p:grpSpPr>
          <a:xfrm>
            <a:off x="5012367" y="1730672"/>
            <a:ext cx="6752075" cy="749308"/>
            <a:chOff x="526861" y="938055"/>
            <a:chExt cx="6752075" cy="7493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TextBox 11">
                  <a:extLst>
                    <a:ext uri="{FF2B5EF4-FFF2-40B4-BE49-F238E27FC236}">
                      <a16:creationId xmlns:a16="http://schemas.microsoft.com/office/drawing/2014/main" id="{9B2C0833-586C-4C71-98CF-51B799FEF7D6}"/>
                    </a:ext>
                  </a:extLst>
                </p:cNvPr>
                <p:cNvSpPr txBox="1"/>
                <p:nvPr/>
              </p:nvSpPr>
              <p:spPr>
                <a:xfrm>
                  <a:off x="607566" y="938055"/>
                  <a:ext cx="6671370" cy="7493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,ℓ,</m:t>
                            </m:r>
                            <m:sSup>
                              <m:sSup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900" b="0" i="0" dirty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TW" sz="19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num>
                                  <m:den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sSub>
                          <m:sSub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00" b="0" i="1" dirty="0" smtClean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,ℓ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9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  <m:func>
                          <m:func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1900" b="0" i="0" dirty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num>
                                  <m:den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sSub>
                          <m:sSub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77" name="TextBox 11">
                  <a:extLst>
                    <a:ext uri="{FF2B5EF4-FFF2-40B4-BE49-F238E27FC236}">
                      <a16:creationId xmlns:a16="http://schemas.microsoft.com/office/drawing/2014/main" id="{9B2C0833-586C-4C71-98CF-51B799FEF7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566" y="938055"/>
                  <a:ext cx="6671370" cy="74930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78" name="圖形 177">
              <a:extLst>
                <a:ext uri="{FF2B5EF4-FFF2-40B4-BE49-F238E27FC236}">
                  <a16:creationId xmlns:a16="http://schemas.microsoft.com/office/drawing/2014/main" id="{CB92C13E-9AB6-4F6F-8E7D-A0887EEC4B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1" r="53142" b="-1"/>
            <a:stretch/>
          </p:blipFill>
          <p:spPr>
            <a:xfrm>
              <a:off x="526861" y="1247233"/>
              <a:ext cx="224841" cy="172247"/>
            </a:xfrm>
            <a:prstGeom prst="rect">
              <a:avLst/>
            </a:prstGeom>
          </p:spPr>
        </p:pic>
        <p:pic>
          <p:nvPicPr>
            <p:cNvPr id="179" name="圖形 178">
              <a:extLst>
                <a:ext uri="{FF2B5EF4-FFF2-40B4-BE49-F238E27FC236}">
                  <a16:creationId xmlns:a16="http://schemas.microsoft.com/office/drawing/2014/main" id="{BF5C55A1-5902-4EBB-AA75-1B031D93A0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1" r="53142" b="-1"/>
            <a:stretch/>
          </p:blipFill>
          <p:spPr>
            <a:xfrm>
              <a:off x="3540078" y="1247233"/>
              <a:ext cx="224841" cy="172247"/>
            </a:xfrm>
            <a:prstGeom prst="rect">
              <a:avLst/>
            </a:prstGeom>
          </p:spPr>
        </p:pic>
        <p:pic>
          <p:nvPicPr>
            <p:cNvPr id="180" name="圖形 179">
              <a:extLst>
                <a:ext uri="{FF2B5EF4-FFF2-40B4-BE49-F238E27FC236}">
                  <a16:creationId xmlns:a16="http://schemas.microsoft.com/office/drawing/2014/main" id="{3AAF1AF1-D5AF-4DAE-A9FA-5A7A90FC96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1" r="53142" b="-1"/>
            <a:stretch/>
          </p:blipFill>
          <p:spPr>
            <a:xfrm>
              <a:off x="5949590" y="1249773"/>
              <a:ext cx="224841" cy="172247"/>
            </a:xfrm>
            <a:prstGeom prst="rect">
              <a:avLst/>
            </a:prstGeom>
          </p:spPr>
        </p:pic>
      </p:grpSp>
      <p:grpSp>
        <p:nvGrpSpPr>
          <p:cNvPr id="2" name="群組 1">
            <a:extLst>
              <a:ext uri="{FF2B5EF4-FFF2-40B4-BE49-F238E27FC236}">
                <a16:creationId xmlns:a16="http://schemas.microsoft.com/office/drawing/2014/main" id="{6C28B46D-0BA2-42F4-A7D3-7E2C225865F6}"/>
              </a:ext>
            </a:extLst>
          </p:cNvPr>
          <p:cNvGrpSpPr/>
          <p:nvPr/>
        </p:nvGrpSpPr>
        <p:grpSpPr>
          <a:xfrm>
            <a:off x="6728254" y="2611968"/>
            <a:ext cx="4629024" cy="476862"/>
            <a:chOff x="6756829" y="2697693"/>
            <a:chExt cx="4629024" cy="47686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矩形 163">
                  <a:extLst>
                    <a:ext uri="{FF2B5EF4-FFF2-40B4-BE49-F238E27FC236}">
                      <a16:creationId xmlns:a16="http://schemas.microsoft.com/office/drawing/2014/main" id="{63CAE041-513F-42A0-AC61-C07BA73A786F}"/>
                    </a:ext>
                  </a:extLst>
                </p:cNvPr>
                <p:cNvSpPr/>
                <p:nvPr/>
              </p:nvSpPr>
              <p:spPr>
                <a:xfrm>
                  <a:off x="6756829" y="2697693"/>
                  <a:ext cx="4629024" cy="47686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900" i="1" dirty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sSup>
                              <m:sSup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altLang="zh-TW" sz="1900" b="1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sSup>
                              <m:sSup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</m:oMath>
                    </m:oMathPara>
                  </a14:m>
                  <a:endParaRPr lang="zh-TW" altLang="en-US" sz="19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4" name="矩形 163">
                  <a:extLst>
                    <a:ext uri="{FF2B5EF4-FFF2-40B4-BE49-F238E27FC236}">
                      <a16:creationId xmlns:a16="http://schemas.microsoft.com/office/drawing/2014/main" id="{63CAE041-513F-42A0-AC61-C07BA73A786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6829" y="2697693"/>
                  <a:ext cx="4629024" cy="47686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81" name="圖形 180">
              <a:extLst>
                <a:ext uri="{FF2B5EF4-FFF2-40B4-BE49-F238E27FC236}">
                  <a16:creationId xmlns:a16="http://schemas.microsoft.com/office/drawing/2014/main" id="{F876ADDB-F61B-4168-8A73-7E15BE801F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1" r="53142" b="-1"/>
            <a:stretch/>
          </p:blipFill>
          <p:spPr>
            <a:xfrm>
              <a:off x="7177859" y="2878050"/>
              <a:ext cx="224841" cy="172247"/>
            </a:xfrm>
            <a:prstGeom prst="rect">
              <a:avLst/>
            </a:prstGeom>
          </p:spPr>
        </p:pic>
        <p:pic>
          <p:nvPicPr>
            <p:cNvPr id="182" name="圖形 181">
              <a:extLst>
                <a:ext uri="{FF2B5EF4-FFF2-40B4-BE49-F238E27FC236}">
                  <a16:creationId xmlns:a16="http://schemas.microsoft.com/office/drawing/2014/main" id="{50DB2CB0-F348-4798-8630-DC0B3D70E8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1" r="53142" b="-1"/>
            <a:stretch/>
          </p:blipFill>
          <p:spPr>
            <a:xfrm>
              <a:off x="9339721" y="2880590"/>
              <a:ext cx="224841" cy="172247"/>
            </a:xfrm>
            <a:prstGeom prst="rect">
              <a:avLst/>
            </a:prstGeom>
          </p:spPr>
        </p:pic>
      </p:grpSp>
      <p:grpSp>
        <p:nvGrpSpPr>
          <p:cNvPr id="184" name="群組 183">
            <a:extLst>
              <a:ext uri="{FF2B5EF4-FFF2-40B4-BE49-F238E27FC236}">
                <a16:creationId xmlns:a16="http://schemas.microsoft.com/office/drawing/2014/main" id="{9D39EC40-E111-4913-A272-70A9B74B13A9}"/>
              </a:ext>
            </a:extLst>
          </p:cNvPr>
          <p:cNvGrpSpPr/>
          <p:nvPr/>
        </p:nvGrpSpPr>
        <p:grpSpPr>
          <a:xfrm>
            <a:off x="7001105" y="3524298"/>
            <a:ext cx="4896836" cy="312073"/>
            <a:chOff x="14379" y="1317211"/>
            <a:chExt cx="4896836" cy="3120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5" name="矩形 184">
                  <a:extLst>
                    <a:ext uri="{FF2B5EF4-FFF2-40B4-BE49-F238E27FC236}">
                      <a16:creationId xmlns:a16="http://schemas.microsoft.com/office/drawing/2014/main" id="{F412CE6F-60A7-49D4-9DF9-04A3FC3AD139}"/>
                    </a:ext>
                  </a:extLst>
                </p:cNvPr>
                <p:cNvSpPr/>
                <p:nvPr/>
              </p:nvSpPr>
              <p:spPr>
                <a:xfrm>
                  <a:off x="14379" y="1319359"/>
                  <a:ext cx="1607556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TW" sz="1400" b="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Define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Δ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ℓ</m:t>
                      </m:r>
                      <m:r>
                        <a:rPr lang="en-US" altLang="zh-TW" sz="1400" i="1" dirty="0">
                          <a:latin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en-US" altLang="zh-TW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−ℓ</m:t>
                      </m:r>
                    </m:oMath>
                  </a14:m>
                  <a:endParaRPr lang="zh-TW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5" name="矩形 184">
                  <a:extLst>
                    <a:ext uri="{FF2B5EF4-FFF2-40B4-BE49-F238E27FC236}">
                      <a16:creationId xmlns:a16="http://schemas.microsoft.com/office/drawing/2014/main" id="{F412CE6F-60A7-49D4-9DF9-04A3FC3AD13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79" y="1319359"/>
                  <a:ext cx="1607556" cy="307777"/>
                </a:xfrm>
                <a:prstGeom prst="rect">
                  <a:avLst/>
                </a:prstGeom>
                <a:blipFill>
                  <a:blip r:embed="rId10"/>
                  <a:stretch>
                    <a:fillRect l="-1136" t="-1961" b="-1960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6" name="矩形 185">
                  <a:extLst>
                    <a:ext uri="{FF2B5EF4-FFF2-40B4-BE49-F238E27FC236}">
                      <a16:creationId xmlns:a16="http://schemas.microsoft.com/office/drawing/2014/main" id="{3CB0E733-A8E6-4A6D-97A0-4884FEE7F7F3}"/>
                    </a:ext>
                  </a:extLst>
                </p:cNvPr>
                <p:cNvSpPr/>
                <p:nvPr/>
              </p:nvSpPr>
              <p:spPr>
                <a:xfrm>
                  <a:off x="1559652" y="1317211"/>
                  <a:ext cx="1110625" cy="31207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acc>
                          <m:accPr>
                            <m:chr m:val="̅"/>
                            <m:ctrlPr>
                              <a:rPr lang="en-US" altLang="zh-TW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</m:t>
                            </m:r>
                          </m:e>
                        </m:acc>
                        <m:r>
                          <a:rPr lang="en-US" altLang="zh-TW" sz="1400" i="1" dirty="0">
                            <a:latin typeface="Cambria Math" panose="02040503050406030204" pitchFamily="18" charset="0"/>
                          </a:rPr>
                          <m:t>≡</m:t>
                        </m:r>
                        <m:sSup>
                          <m:sSupPr>
                            <m:ctrlPr>
                              <a:rPr lang="en-US" altLang="zh-TW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en-US" altLang="zh-TW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TW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</m:oMath>
                    </m:oMathPara>
                  </a14:m>
                  <a:endParaRPr lang="zh-TW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6" name="矩形 185">
                  <a:extLst>
                    <a:ext uri="{FF2B5EF4-FFF2-40B4-BE49-F238E27FC236}">
                      <a16:creationId xmlns:a16="http://schemas.microsoft.com/office/drawing/2014/main" id="{3CB0E733-A8E6-4A6D-97A0-4884FEE7F7F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9652" y="1317211"/>
                  <a:ext cx="1110625" cy="31207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矩形 186">
                  <a:extLst>
                    <a:ext uri="{FF2B5EF4-FFF2-40B4-BE49-F238E27FC236}">
                      <a16:creationId xmlns:a16="http://schemas.microsoft.com/office/drawing/2014/main" id="{75D1F658-FF4D-4EA5-9639-7A4221BAAD91}"/>
                    </a:ext>
                  </a:extLst>
                </p:cNvPr>
                <p:cNvSpPr/>
                <p:nvPr/>
              </p:nvSpPr>
              <p:spPr>
                <a:xfrm>
                  <a:off x="2618795" y="1319359"/>
                  <a:ext cx="1171539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TW" sz="1400" b="0" dirty="0"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Δ</m:t>
                      </m:r>
                      <m:r>
                        <a:rPr lang="en-US" altLang="zh-TW" sz="1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𝜎</m:t>
                      </m:r>
                      <m:r>
                        <a:rPr lang="en-US" altLang="zh-TW" sz="1400" i="1" dirty="0">
                          <a:latin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en-US" altLang="zh-TW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TW" sz="1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𝜎</m:t>
                      </m:r>
                    </m:oMath>
                  </a14:m>
                  <a:endParaRPr lang="zh-TW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7" name="矩形 186">
                  <a:extLst>
                    <a:ext uri="{FF2B5EF4-FFF2-40B4-BE49-F238E27FC236}">
                      <a16:creationId xmlns:a16="http://schemas.microsoft.com/office/drawing/2014/main" id="{75D1F658-FF4D-4EA5-9639-7A4221BAAD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8795" y="1319359"/>
                  <a:ext cx="1171539" cy="30777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矩形 187">
                  <a:extLst>
                    <a:ext uri="{FF2B5EF4-FFF2-40B4-BE49-F238E27FC236}">
                      <a16:creationId xmlns:a16="http://schemas.microsoft.com/office/drawing/2014/main" id="{ED615B13-98B4-4F87-B603-61CECD34AE4E}"/>
                    </a:ext>
                  </a:extLst>
                </p:cNvPr>
                <p:cNvSpPr/>
                <p:nvPr/>
              </p:nvSpPr>
              <p:spPr>
                <a:xfrm>
                  <a:off x="3742882" y="1319359"/>
                  <a:ext cx="1168333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acc>
                          <m:accPr>
                            <m:chr m:val="̅"/>
                            <m:ctrlPr>
                              <a:rPr lang="en-US" altLang="zh-TW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</m:acc>
                        <m:r>
                          <a:rPr lang="en-US" altLang="zh-TW" sz="1400" i="1" dirty="0">
                            <a:latin typeface="Cambria Math" panose="02040503050406030204" pitchFamily="18" charset="0"/>
                          </a:rPr>
                          <m:t>≡</m:t>
                        </m:r>
                        <m:sSup>
                          <m:sSupPr>
                            <m:ctrlPr>
                              <a:rPr lang="en-US" altLang="zh-TW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TW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TW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oMath>
                    </m:oMathPara>
                  </a14:m>
                  <a:endParaRPr lang="zh-TW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8" name="矩形 187">
                  <a:extLst>
                    <a:ext uri="{FF2B5EF4-FFF2-40B4-BE49-F238E27FC236}">
                      <a16:creationId xmlns:a16="http://schemas.microsoft.com/office/drawing/2014/main" id="{ED615B13-98B4-4F87-B603-61CECD34AE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2882" y="1319359"/>
                  <a:ext cx="1168333" cy="30777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9" name="群組 188">
            <a:extLst>
              <a:ext uri="{FF2B5EF4-FFF2-40B4-BE49-F238E27FC236}">
                <a16:creationId xmlns:a16="http://schemas.microsoft.com/office/drawing/2014/main" id="{EB60C834-192C-481B-BDD5-BA8E0DBC1C1D}"/>
              </a:ext>
            </a:extLst>
          </p:cNvPr>
          <p:cNvGrpSpPr/>
          <p:nvPr/>
        </p:nvGrpSpPr>
        <p:grpSpPr>
          <a:xfrm>
            <a:off x="6754609" y="4165897"/>
            <a:ext cx="4857612" cy="489686"/>
            <a:chOff x="6756829" y="2697693"/>
            <a:chExt cx="4857612" cy="4896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矩形 189">
                  <a:extLst>
                    <a:ext uri="{FF2B5EF4-FFF2-40B4-BE49-F238E27FC236}">
                      <a16:creationId xmlns:a16="http://schemas.microsoft.com/office/drawing/2014/main" id="{BB8EB8FB-8A04-47C4-8DE1-50BD5A004033}"/>
                    </a:ext>
                  </a:extLst>
                </p:cNvPr>
                <p:cNvSpPr/>
                <p:nvPr/>
              </p:nvSpPr>
              <p:spPr>
                <a:xfrm>
                  <a:off x="6756829" y="2697693"/>
                  <a:ext cx="4857612" cy="48968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90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altLang="zh-TW" sz="1900" b="1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zh-TW" altLang="en-US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</m:oMath>
                    </m:oMathPara>
                  </a14:m>
                  <a:endParaRPr lang="zh-TW" altLang="en-US" sz="19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0" name="矩形 189">
                  <a:extLst>
                    <a:ext uri="{FF2B5EF4-FFF2-40B4-BE49-F238E27FC236}">
                      <a16:creationId xmlns:a16="http://schemas.microsoft.com/office/drawing/2014/main" id="{BB8EB8FB-8A04-47C4-8DE1-50BD5A0040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6829" y="2697693"/>
                  <a:ext cx="4857612" cy="489686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91" name="圖形 190">
              <a:extLst>
                <a:ext uri="{FF2B5EF4-FFF2-40B4-BE49-F238E27FC236}">
                  <a16:creationId xmlns:a16="http://schemas.microsoft.com/office/drawing/2014/main" id="{B30DD1BE-D5CE-437D-820F-43F1D470FF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1" r="53142" b="-1"/>
            <a:stretch/>
          </p:blipFill>
          <p:spPr>
            <a:xfrm>
              <a:off x="7156428" y="2878050"/>
              <a:ext cx="224841" cy="172247"/>
            </a:xfrm>
            <a:prstGeom prst="rect">
              <a:avLst/>
            </a:prstGeom>
          </p:spPr>
        </p:pic>
        <p:pic>
          <p:nvPicPr>
            <p:cNvPr id="192" name="圖形 191">
              <a:extLst>
                <a:ext uri="{FF2B5EF4-FFF2-40B4-BE49-F238E27FC236}">
                  <a16:creationId xmlns:a16="http://schemas.microsoft.com/office/drawing/2014/main" id="{1B430DD6-B83D-4A01-833A-195F50BD92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1" r="53142" b="-1"/>
            <a:stretch/>
          </p:blipFill>
          <p:spPr>
            <a:xfrm>
              <a:off x="9446253" y="2880590"/>
              <a:ext cx="224841" cy="1722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551209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Transverse component :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42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sp>
        <p:nvSpPr>
          <p:cNvPr id="19" name="內容版面配置區 2">
            <a:extLst>
              <a:ext uri="{FF2B5EF4-FFF2-40B4-BE49-F238E27FC236}">
                <a16:creationId xmlns:a16="http://schemas.microsoft.com/office/drawing/2014/main" id="{C27AD78E-2CA2-4984-8A2D-67C599602F34}"/>
              </a:ext>
            </a:extLst>
          </p:cNvPr>
          <p:cNvSpPr txBox="1">
            <a:spLocks/>
          </p:cNvSpPr>
          <p:nvPr/>
        </p:nvSpPr>
        <p:spPr>
          <a:xfrm>
            <a:off x="336962" y="709212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component of VVB:</a:t>
            </a: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7C62FF68-91A8-4BCB-BF13-9D15EF001F90}"/>
              </a:ext>
            </a:extLst>
          </p:cNvPr>
          <p:cNvGrpSpPr/>
          <p:nvPr/>
        </p:nvGrpSpPr>
        <p:grpSpPr>
          <a:xfrm>
            <a:off x="443865" y="1058691"/>
            <a:ext cx="6893603" cy="617709"/>
            <a:chOff x="443865" y="820566"/>
            <a:chExt cx="6893603" cy="617709"/>
          </a:xfrm>
        </p:grpSpPr>
        <p:sp>
          <p:nvSpPr>
            <p:cNvPr id="15" name="矩形: 圓角 14">
              <a:extLst>
                <a:ext uri="{FF2B5EF4-FFF2-40B4-BE49-F238E27FC236}">
                  <a16:creationId xmlns:a16="http://schemas.microsoft.com/office/drawing/2014/main" id="{75BAAB3A-39A7-4498-ADBD-61102C448861}"/>
                </a:ext>
              </a:extLst>
            </p:cNvPr>
            <p:cNvSpPr/>
            <p:nvPr/>
          </p:nvSpPr>
          <p:spPr>
            <a:xfrm>
              <a:off x="443865" y="820566"/>
              <a:ext cx="6861809" cy="617709"/>
            </a:xfrm>
            <a:prstGeom prst="roundRect">
              <a:avLst/>
            </a:prstGeom>
            <a:ln w="5715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000"/>
            </a:p>
          </p:txBody>
        </p:sp>
        <p:grpSp>
          <p:nvGrpSpPr>
            <p:cNvPr id="16" name="群組 15">
              <a:extLst>
                <a:ext uri="{FF2B5EF4-FFF2-40B4-BE49-F238E27FC236}">
                  <a16:creationId xmlns:a16="http://schemas.microsoft.com/office/drawing/2014/main" id="{9590E210-D8C6-4B2E-98B5-6CF85A39B357}"/>
                </a:ext>
              </a:extLst>
            </p:cNvPr>
            <p:cNvGrpSpPr/>
            <p:nvPr/>
          </p:nvGrpSpPr>
          <p:grpSpPr>
            <a:xfrm>
              <a:off x="491491" y="839616"/>
              <a:ext cx="6845977" cy="500971"/>
              <a:chOff x="104002" y="1200081"/>
              <a:chExt cx="6845977" cy="500971"/>
            </a:xfrm>
          </p:grpSpPr>
          <p:grpSp>
            <p:nvGrpSpPr>
              <p:cNvPr id="17" name="群組 16">
                <a:extLst>
                  <a:ext uri="{FF2B5EF4-FFF2-40B4-BE49-F238E27FC236}">
                    <a16:creationId xmlns:a16="http://schemas.microsoft.com/office/drawing/2014/main" id="{353D2C4D-E266-4CBB-AD59-EA1FF131D9D8}"/>
                  </a:ext>
                </a:extLst>
              </p:cNvPr>
              <p:cNvGrpSpPr/>
              <p:nvPr/>
            </p:nvGrpSpPr>
            <p:grpSpPr>
              <a:xfrm>
                <a:off x="104002" y="1200081"/>
                <a:ext cx="6845977" cy="500971"/>
                <a:chOff x="7110872" y="2697693"/>
                <a:chExt cx="6845977" cy="50097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矩形 28">
                      <a:extLst>
                        <a:ext uri="{FF2B5EF4-FFF2-40B4-BE49-F238E27FC236}">
                          <a16:creationId xmlns:a16="http://schemas.microsoft.com/office/drawing/2014/main" id="{1597D638-0E69-4470-8741-DF2D94136E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10872" y="2697693"/>
                      <a:ext cx="6845977" cy="500971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altLang="zh-TW" sz="19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TW" altLang="en-US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ℓ,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</m:e>
                                </m:acc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</m:acc>
                              </m:sub>
                              <m:sup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∥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19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d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Sup>
                              <m:sSubSup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ℓ,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</m:e>
                                </m:acc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d>
                            <m:acc>
                              <m:accPr>
                                <m:chr m:val="̂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acc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ℓ,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</m:e>
                                </m:acc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</m:acc>
                              </m:sub>
                              <m:sup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𝒚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d>
                            <m:acc>
                              <m:accPr>
                                <m:chr m:val="̂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oMath>
                        </m:oMathPara>
                      </a14:m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62" name="矩形 161">
                      <a:extLst>
                        <a:ext uri="{FF2B5EF4-FFF2-40B4-BE49-F238E27FC236}">
                          <a16:creationId xmlns:a16="http://schemas.microsoft.com/office/drawing/2014/main" id="{AB261E02-3210-4A87-A89B-71FDB772EFB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110872" y="2697693"/>
                      <a:ext cx="6845977" cy="500971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t="-1220" r="-543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pic>
              <p:nvPicPr>
                <p:cNvPr id="30" name="圖形 29">
                  <a:extLst>
                    <a:ext uri="{FF2B5EF4-FFF2-40B4-BE49-F238E27FC236}">
                      <a16:creationId xmlns:a16="http://schemas.microsoft.com/office/drawing/2014/main" id="{8BF189F1-8154-44DA-AE54-B0DBA3DE7A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rcRect t="1" r="53142" b="-1"/>
                <a:stretch/>
              </p:blipFill>
              <p:spPr>
                <a:xfrm>
                  <a:off x="7268092" y="2884400"/>
                  <a:ext cx="224841" cy="172247"/>
                </a:xfrm>
                <a:prstGeom prst="rect">
                  <a:avLst/>
                </a:prstGeom>
              </p:spPr>
            </p:pic>
          </p:grpSp>
          <p:pic>
            <p:nvPicPr>
              <p:cNvPr id="18" name="圖形 17">
                <a:extLst>
                  <a:ext uri="{FF2B5EF4-FFF2-40B4-BE49-F238E27FC236}">
                    <a16:creationId xmlns:a16="http://schemas.microsoft.com/office/drawing/2014/main" id="{24D41917-1A1D-40CD-ADEE-E3CDC0F3861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rcRect t="1" r="53142" b="-1"/>
              <a:stretch/>
            </p:blipFill>
            <p:spPr>
              <a:xfrm>
                <a:off x="2528172" y="1386788"/>
                <a:ext cx="224841" cy="172247"/>
              </a:xfrm>
              <a:prstGeom prst="rect">
                <a:avLst/>
              </a:prstGeom>
            </p:spPr>
          </p:pic>
          <p:pic>
            <p:nvPicPr>
              <p:cNvPr id="28" name="圖形 27">
                <a:extLst>
                  <a:ext uri="{FF2B5EF4-FFF2-40B4-BE49-F238E27FC236}">
                    <a16:creationId xmlns:a16="http://schemas.microsoft.com/office/drawing/2014/main" id="{095B33D0-7D0D-4177-8446-1570253FFEB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rcRect t="1" r="53142" b="-1"/>
              <a:stretch/>
            </p:blipFill>
            <p:spPr>
              <a:xfrm>
                <a:off x="4589331" y="1386788"/>
                <a:ext cx="224841" cy="172247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5294900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矩形: 圓角 166">
            <a:extLst>
              <a:ext uri="{FF2B5EF4-FFF2-40B4-BE49-F238E27FC236}">
                <a16:creationId xmlns:a16="http://schemas.microsoft.com/office/drawing/2014/main" id="{F28874F2-8338-4048-AD17-BC2A0926A01B}"/>
              </a:ext>
            </a:extLst>
          </p:cNvPr>
          <p:cNvSpPr/>
          <p:nvPr/>
        </p:nvSpPr>
        <p:spPr>
          <a:xfrm>
            <a:off x="443865" y="2864588"/>
            <a:ext cx="10748009" cy="1202587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Transverse component :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43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grpSp>
        <p:nvGrpSpPr>
          <p:cNvPr id="135" name="群組 134">
            <a:extLst>
              <a:ext uri="{FF2B5EF4-FFF2-40B4-BE49-F238E27FC236}">
                <a16:creationId xmlns:a16="http://schemas.microsoft.com/office/drawing/2014/main" id="{894C837A-4AE9-4E44-8306-9FF41B655ACE}"/>
              </a:ext>
            </a:extLst>
          </p:cNvPr>
          <p:cNvGrpSpPr/>
          <p:nvPr/>
        </p:nvGrpSpPr>
        <p:grpSpPr>
          <a:xfrm>
            <a:off x="524540" y="2881762"/>
            <a:ext cx="2765501" cy="593496"/>
            <a:chOff x="7129922" y="2697693"/>
            <a:chExt cx="2765501" cy="5934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矩形 137">
                  <a:extLst>
                    <a:ext uri="{FF2B5EF4-FFF2-40B4-BE49-F238E27FC236}">
                      <a16:creationId xmlns:a16="http://schemas.microsoft.com/office/drawing/2014/main" id="{81DBE5F9-2D14-4560-8307-5BCE1CC42E2E}"/>
                    </a:ext>
                  </a:extLst>
                </p:cNvPr>
                <p:cNvSpPr/>
                <p:nvPr/>
              </p:nvSpPr>
              <p:spPr>
                <a:xfrm>
                  <a:off x="7129922" y="2697693"/>
                  <a:ext cx="2765501" cy="59349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−2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  <m:r>
                              <a:rPr lang="en-US" altLang="zh-TW" sz="20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19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8" name="矩形 137">
                  <a:extLst>
                    <a:ext uri="{FF2B5EF4-FFF2-40B4-BE49-F238E27FC236}">
                      <a16:creationId xmlns:a16="http://schemas.microsoft.com/office/drawing/2014/main" id="{81DBE5F9-2D14-4560-8307-5BCE1CC42E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9922" y="2697693"/>
                  <a:ext cx="2765501" cy="59349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39" name="圖形 138">
              <a:extLst>
                <a:ext uri="{FF2B5EF4-FFF2-40B4-BE49-F238E27FC236}">
                  <a16:creationId xmlns:a16="http://schemas.microsoft.com/office/drawing/2014/main" id="{1BF5298D-7F42-4339-A0FC-2C1BFDE9841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r="53142" b="-1"/>
            <a:stretch/>
          </p:blipFill>
          <p:spPr>
            <a:xfrm>
              <a:off x="7268092" y="2884400"/>
              <a:ext cx="224841" cy="17224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矩形 145">
                <a:extLst>
                  <a:ext uri="{FF2B5EF4-FFF2-40B4-BE49-F238E27FC236}">
                    <a16:creationId xmlns:a16="http://schemas.microsoft.com/office/drawing/2014/main" id="{96F94897-6EB1-4000-A4F9-F5B53B6A092C}"/>
                  </a:ext>
                </a:extLst>
              </p:cNvPr>
              <p:cNvSpPr/>
              <p:nvPr/>
            </p:nvSpPr>
            <p:spPr>
              <a:xfrm>
                <a:off x="3092293" y="2934747"/>
                <a:ext cx="7753533" cy="5043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20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b="1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6" name="矩形 145">
                <a:extLst>
                  <a:ext uri="{FF2B5EF4-FFF2-40B4-BE49-F238E27FC236}">
                    <a16:creationId xmlns:a16="http://schemas.microsoft.com/office/drawing/2014/main" id="{96F94897-6EB1-4000-A4F9-F5B53B6A09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293" y="2934747"/>
                <a:ext cx="7753533" cy="504305"/>
              </a:xfrm>
              <a:prstGeom prst="rect">
                <a:avLst/>
              </a:prstGeom>
              <a:blipFill>
                <a:blip r:embed="rId7"/>
                <a:stretch>
                  <a:fillRect r="-18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矩形 147">
                <a:extLst>
                  <a:ext uri="{FF2B5EF4-FFF2-40B4-BE49-F238E27FC236}">
                    <a16:creationId xmlns:a16="http://schemas.microsoft.com/office/drawing/2014/main" id="{623F2AC9-03FB-492A-B544-50B834F8C5BA}"/>
                  </a:ext>
                </a:extLst>
              </p:cNvPr>
              <p:cNvSpPr/>
              <p:nvPr/>
            </p:nvSpPr>
            <p:spPr>
              <a:xfrm>
                <a:off x="3270093" y="3460241"/>
                <a:ext cx="7959882" cy="5043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200" b="0" i="0" dirty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8" name="矩形 147">
                <a:extLst>
                  <a:ext uri="{FF2B5EF4-FFF2-40B4-BE49-F238E27FC236}">
                    <a16:creationId xmlns:a16="http://schemas.microsoft.com/office/drawing/2014/main" id="{623F2AC9-03FB-492A-B544-50B834F8C5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0093" y="3460241"/>
                <a:ext cx="7959882" cy="504305"/>
              </a:xfrm>
              <a:prstGeom prst="rect">
                <a:avLst/>
              </a:prstGeom>
              <a:blipFill>
                <a:blip r:embed="rId8"/>
                <a:stretch>
                  <a:fillRect r="-21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9" name="群組 148">
            <a:extLst>
              <a:ext uri="{FF2B5EF4-FFF2-40B4-BE49-F238E27FC236}">
                <a16:creationId xmlns:a16="http://schemas.microsoft.com/office/drawing/2014/main" id="{DCCF8881-DC7A-42E1-9D7B-F2C6A9DAB5CF}"/>
              </a:ext>
            </a:extLst>
          </p:cNvPr>
          <p:cNvGrpSpPr/>
          <p:nvPr/>
        </p:nvGrpSpPr>
        <p:grpSpPr>
          <a:xfrm>
            <a:off x="443865" y="1058691"/>
            <a:ext cx="6893603" cy="617709"/>
            <a:chOff x="443865" y="820566"/>
            <a:chExt cx="6893603" cy="617709"/>
          </a:xfrm>
        </p:grpSpPr>
        <p:sp>
          <p:nvSpPr>
            <p:cNvPr id="152" name="矩形: 圓角 151">
              <a:extLst>
                <a:ext uri="{FF2B5EF4-FFF2-40B4-BE49-F238E27FC236}">
                  <a16:creationId xmlns:a16="http://schemas.microsoft.com/office/drawing/2014/main" id="{500B5AC6-84C3-4B92-998E-9D185901D08A}"/>
                </a:ext>
              </a:extLst>
            </p:cNvPr>
            <p:cNvSpPr/>
            <p:nvPr/>
          </p:nvSpPr>
          <p:spPr>
            <a:xfrm>
              <a:off x="443865" y="820566"/>
              <a:ext cx="6861809" cy="617709"/>
            </a:xfrm>
            <a:prstGeom prst="roundRect">
              <a:avLst/>
            </a:prstGeom>
            <a:ln w="5715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000"/>
            </a:p>
          </p:txBody>
        </p:sp>
        <p:grpSp>
          <p:nvGrpSpPr>
            <p:cNvPr id="158" name="群組 157">
              <a:extLst>
                <a:ext uri="{FF2B5EF4-FFF2-40B4-BE49-F238E27FC236}">
                  <a16:creationId xmlns:a16="http://schemas.microsoft.com/office/drawing/2014/main" id="{515F666A-528F-4234-8690-9C95831603A2}"/>
                </a:ext>
              </a:extLst>
            </p:cNvPr>
            <p:cNvGrpSpPr/>
            <p:nvPr/>
          </p:nvGrpSpPr>
          <p:grpSpPr>
            <a:xfrm>
              <a:off x="491491" y="839616"/>
              <a:ext cx="6845977" cy="500971"/>
              <a:chOff x="104002" y="1200081"/>
              <a:chExt cx="6845977" cy="500971"/>
            </a:xfrm>
          </p:grpSpPr>
          <p:grpSp>
            <p:nvGrpSpPr>
              <p:cNvPr id="159" name="群組 158">
                <a:extLst>
                  <a:ext uri="{FF2B5EF4-FFF2-40B4-BE49-F238E27FC236}">
                    <a16:creationId xmlns:a16="http://schemas.microsoft.com/office/drawing/2014/main" id="{BC57F142-8EA9-4B41-870D-C01DF6F00B26}"/>
                  </a:ext>
                </a:extLst>
              </p:cNvPr>
              <p:cNvGrpSpPr/>
              <p:nvPr/>
            </p:nvGrpSpPr>
            <p:grpSpPr>
              <a:xfrm>
                <a:off x="104002" y="1200081"/>
                <a:ext cx="6845977" cy="500971"/>
                <a:chOff x="7110872" y="2697693"/>
                <a:chExt cx="6845977" cy="50097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2" name="矩形 161">
                      <a:extLst>
                        <a:ext uri="{FF2B5EF4-FFF2-40B4-BE49-F238E27FC236}">
                          <a16:creationId xmlns:a16="http://schemas.microsoft.com/office/drawing/2014/main" id="{AB261E02-3210-4A87-A89B-71FDB772EF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10872" y="2697693"/>
                      <a:ext cx="6845977" cy="500971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altLang="zh-TW" sz="19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TW" altLang="en-US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ℓ,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</m:e>
                                </m:acc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</m:acc>
                              </m:sub>
                              <m:sup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∥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19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d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Sup>
                              <m:sSubSup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ℓ,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</m:e>
                                </m:acc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d>
                            <m:acc>
                              <m:accPr>
                                <m:chr m:val="̂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acc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ℓ,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</m:e>
                                </m:acc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</m:acc>
                              </m:sub>
                              <m:sup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𝒚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d>
                            <m:acc>
                              <m:accPr>
                                <m:chr m:val="̂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oMath>
                        </m:oMathPara>
                      </a14:m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62" name="矩形 161">
                      <a:extLst>
                        <a:ext uri="{FF2B5EF4-FFF2-40B4-BE49-F238E27FC236}">
                          <a16:creationId xmlns:a16="http://schemas.microsoft.com/office/drawing/2014/main" id="{AB261E02-3210-4A87-A89B-71FDB772EFB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110872" y="2697693"/>
                      <a:ext cx="6845977" cy="500971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t="-1220" r="-543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pic>
              <p:nvPicPr>
                <p:cNvPr id="163" name="圖形 162">
                  <a:extLst>
                    <a:ext uri="{FF2B5EF4-FFF2-40B4-BE49-F238E27FC236}">
                      <a16:creationId xmlns:a16="http://schemas.microsoft.com/office/drawing/2014/main" id="{833DAFB8-7BB7-4CD0-92C1-9F3DD74492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rcRect t="1" r="53142" b="-1"/>
                <a:stretch/>
              </p:blipFill>
              <p:spPr>
                <a:xfrm>
                  <a:off x="7268092" y="2884400"/>
                  <a:ext cx="224841" cy="172247"/>
                </a:xfrm>
                <a:prstGeom prst="rect">
                  <a:avLst/>
                </a:prstGeom>
              </p:spPr>
            </p:pic>
          </p:grpSp>
          <p:pic>
            <p:nvPicPr>
              <p:cNvPr id="160" name="圖形 159">
                <a:extLst>
                  <a:ext uri="{FF2B5EF4-FFF2-40B4-BE49-F238E27FC236}">
                    <a16:creationId xmlns:a16="http://schemas.microsoft.com/office/drawing/2014/main" id="{6ACEECDF-E571-4C96-B61B-75B691ED002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 t="1" r="53142" b="-1"/>
              <a:stretch/>
            </p:blipFill>
            <p:spPr>
              <a:xfrm>
                <a:off x="2528172" y="1386788"/>
                <a:ext cx="224841" cy="172247"/>
              </a:xfrm>
              <a:prstGeom prst="rect">
                <a:avLst/>
              </a:prstGeom>
            </p:spPr>
          </p:pic>
          <p:pic>
            <p:nvPicPr>
              <p:cNvPr id="161" name="圖形 160">
                <a:extLst>
                  <a:ext uri="{FF2B5EF4-FFF2-40B4-BE49-F238E27FC236}">
                    <a16:creationId xmlns:a16="http://schemas.microsoft.com/office/drawing/2014/main" id="{607219BE-E151-431E-BF16-D42F509D9C7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 t="1" r="53142" b="-1"/>
              <a:stretch/>
            </p:blipFill>
            <p:spPr>
              <a:xfrm>
                <a:off x="4589331" y="1386788"/>
                <a:ext cx="224841" cy="172247"/>
              </a:xfrm>
              <a:prstGeom prst="rect">
                <a:avLst/>
              </a:prstGeom>
            </p:spPr>
          </p:pic>
        </p:grpSp>
      </p:grpSp>
      <p:sp>
        <p:nvSpPr>
          <p:cNvPr id="164" name="內容版面配置區 2">
            <a:extLst>
              <a:ext uri="{FF2B5EF4-FFF2-40B4-BE49-F238E27FC236}">
                <a16:creationId xmlns:a16="http://schemas.microsoft.com/office/drawing/2014/main" id="{D6784137-CE13-4FDF-B1B9-155F7B69A6B9}"/>
              </a:ext>
            </a:extLst>
          </p:cNvPr>
          <p:cNvSpPr txBox="1">
            <a:spLocks/>
          </p:cNvSpPr>
          <p:nvPr/>
        </p:nvSpPr>
        <p:spPr>
          <a:xfrm>
            <a:off x="336962" y="709212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component of VVB: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內容版面配置區 2">
                <a:extLst>
                  <a:ext uri="{FF2B5EF4-FFF2-40B4-BE49-F238E27FC236}">
                    <a16:creationId xmlns:a16="http://schemas.microsoft.com/office/drawing/2014/main" id="{8B234F33-DC0D-426E-B792-84B426D879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6240" y="2524125"/>
                <a:ext cx="7528559" cy="37252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Transverse component of VVB: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Δ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=−2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</m:acc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65" name="內容版面配置區 2">
                <a:extLst>
                  <a:ext uri="{FF2B5EF4-FFF2-40B4-BE49-F238E27FC236}">
                    <a16:creationId xmlns:a16="http://schemas.microsoft.com/office/drawing/2014/main" id="{8B234F33-DC0D-426E-B792-84B426D87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" y="2524125"/>
                <a:ext cx="7528559" cy="372522"/>
              </a:xfrm>
              <a:prstGeom prst="rect">
                <a:avLst/>
              </a:prstGeom>
              <a:blipFill>
                <a:blip r:embed="rId10"/>
                <a:stretch>
                  <a:fillRect l="-810" t="-34426"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8" name="箭號: 向右 167">
            <a:extLst>
              <a:ext uri="{FF2B5EF4-FFF2-40B4-BE49-F238E27FC236}">
                <a16:creationId xmlns:a16="http://schemas.microsoft.com/office/drawing/2014/main" id="{DD9DADF1-0F03-4979-B75E-06DC85C2B11C}"/>
              </a:ext>
            </a:extLst>
          </p:cNvPr>
          <p:cNvSpPr/>
          <p:nvPr/>
        </p:nvSpPr>
        <p:spPr>
          <a:xfrm rot="5400000">
            <a:off x="1262152" y="1820451"/>
            <a:ext cx="739502" cy="606574"/>
          </a:xfrm>
          <a:prstGeom prst="righ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08017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矩形: 圓角 177">
            <a:extLst>
              <a:ext uri="{FF2B5EF4-FFF2-40B4-BE49-F238E27FC236}">
                <a16:creationId xmlns:a16="http://schemas.microsoft.com/office/drawing/2014/main" id="{26DC7838-AB92-430D-A20C-94F65865F85E}"/>
              </a:ext>
            </a:extLst>
          </p:cNvPr>
          <p:cNvSpPr/>
          <p:nvPr/>
        </p:nvSpPr>
        <p:spPr>
          <a:xfrm>
            <a:off x="5600699" y="5166361"/>
            <a:ext cx="4892041" cy="75998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9BF905C1-4453-469B-82A0-391C703A8103}"/>
              </a:ext>
            </a:extLst>
          </p:cNvPr>
          <p:cNvSpPr/>
          <p:nvPr/>
        </p:nvSpPr>
        <p:spPr>
          <a:xfrm>
            <a:off x="3419475" y="5166361"/>
            <a:ext cx="1104900" cy="75998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6" name="矩形: 圓角 175">
            <a:extLst>
              <a:ext uri="{FF2B5EF4-FFF2-40B4-BE49-F238E27FC236}">
                <a16:creationId xmlns:a16="http://schemas.microsoft.com/office/drawing/2014/main" id="{B6B582B2-5001-4B6B-8DAA-3EE84EDE7E4D}"/>
              </a:ext>
            </a:extLst>
          </p:cNvPr>
          <p:cNvSpPr/>
          <p:nvPr/>
        </p:nvSpPr>
        <p:spPr>
          <a:xfrm>
            <a:off x="491491" y="5061264"/>
            <a:ext cx="10748009" cy="1350000"/>
          </a:xfrm>
          <a:prstGeom prst="roundRect">
            <a:avLst/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67" name="矩形: 圓角 166">
            <a:extLst>
              <a:ext uri="{FF2B5EF4-FFF2-40B4-BE49-F238E27FC236}">
                <a16:creationId xmlns:a16="http://schemas.microsoft.com/office/drawing/2014/main" id="{F28874F2-8338-4048-AD17-BC2A0926A01B}"/>
              </a:ext>
            </a:extLst>
          </p:cNvPr>
          <p:cNvSpPr/>
          <p:nvPr/>
        </p:nvSpPr>
        <p:spPr>
          <a:xfrm>
            <a:off x="443865" y="2864588"/>
            <a:ext cx="10748009" cy="1202587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Transverse component :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44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grpSp>
        <p:nvGrpSpPr>
          <p:cNvPr id="135" name="群組 134">
            <a:extLst>
              <a:ext uri="{FF2B5EF4-FFF2-40B4-BE49-F238E27FC236}">
                <a16:creationId xmlns:a16="http://schemas.microsoft.com/office/drawing/2014/main" id="{894C837A-4AE9-4E44-8306-9FF41B655ACE}"/>
              </a:ext>
            </a:extLst>
          </p:cNvPr>
          <p:cNvGrpSpPr/>
          <p:nvPr/>
        </p:nvGrpSpPr>
        <p:grpSpPr>
          <a:xfrm>
            <a:off x="524540" y="2881762"/>
            <a:ext cx="2765501" cy="593496"/>
            <a:chOff x="7129922" y="2697693"/>
            <a:chExt cx="2765501" cy="5934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矩形 137">
                  <a:extLst>
                    <a:ext uri="{FF2B5EF4-FFF2-40B4-BE49-F238E27FC236}">
                      <a16:creationId xmlns:a16="http://schemas.microsoft.com/office/drawing/2014/main" id="{81DBE5F9-2D14-4560-8307-5BCE1CC42E2E}"/>
                    </a:ext>
                  </a:extLst>
                </p:cNvPr>
                <p:cNvSpPr/>
                <p:nvPr/>
              </p:nvSpPr>
              <p:spPr>
                <a:xfrm>
                  <a:off x="7129922" y="2697693"/>
                  <a:ext cx="2765501" cy="59349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−2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  <m:r>
                              <a:rPr lang="en-US" altLang="zh-TW" sz="20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19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8" name="矩形 137">
                  <a:extLst>
                    <a:ext uri="{FF2B5EF4-FFF2-40B4-BE49-F238E27FC236}">
                      <a16:creationId xmlns:a16="http://schemas.microsoft.com/office/drawing/2014/main" id="{81DBE5F9-2D14-4560-8307-5BCE1CC42E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9922" y="2697693"/>
                  <a:ext cx="2765501" cy="59349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39" name="圖形 138">
              <a:extLst>
                <a:ext uri="{FF2B5EF4-FFF2-40B4-BE49-F238E27FC236}">
                  <a16:creationId xmlns:a16="http://schemas.microsoft.com/office/drawing/2014/main" id="{1BF5298D-7F42-4339-A0FC-2C1BFDE9841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r="53142" b="-1"/>
            <a:stretch/>
          </p:blipFill>
          <p:spPr>
            <a:xfrm>
              <a:off x="7268092" y="2884400"/>
              <a:ext cx="224841" cy="17224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矩形 145">
                <a:extLst>
                  <a:ext uri="{FF2B5EF4-FFF2-40B4-BE49-F238E27FC236}">
                    <a16:creationId xmlns:a16="http://schemas.microsoft.com/office/drawing/2014/main" id="{96F94897-6EB1-4000-A4F9-F5B53B6A092C}"/>
                  </a:ext>
                </a:extLst>
              </p:cNvPr>
              <p:cNvSpPr/>
              <p:nvPr/>
            </p:nvSpPr>
            <p:spPr>
              <a:xfrm>
                <a:off x="3092293" y="2934747"/>
                <a:ext cx="7753533" cy="5043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20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b="1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6" name="矩形 145">
                <a:extLst>
                  <a:ext uri="{FF2B5EF4-FFF2-40B4-BE49-F238E27FC236}">
                    <a16:creationId xmlns:a16="http://schemas.microsoft.com/office/drawing/2014/main" id="{96F94897-6EB1-4000-A4F9-F5B53B6A09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293" y="2934747"/>
                <a:ext cx="7753533" cy="504305"/>
              </a:xfrm>
              <a:prstGeom prst="rect">
                <a:avLst/>
              </a:prstGeom>
              <a:blipFill>
                <a:blip r:embed="rId7"/>
                <a:stretch>
                  <a:fillRect r="-18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矩形 147">
                <a:extLst>
                  <a:ext uri="{FF2B5EF4-FFF2-40B4-BE49-F238E27FC236}">
                    <a16:creationId xmlns:a16="http://schemas.microsoft.com/office/drawing/2014/main" id="{623F2AC9-03FB-492A-B544-50B834F8C5BA}"/>
                  </a:ext>
                </a:extLst>
              </p:cNvPr>
              <p:cNvSpPr/>
              <p:nvPr/>
            </p:nvSpPr>
            <p:spPr>
              <a:xfrm>
                <a:off x="3270093" y="3460241"/>
                <a:ext cx="7959882" cy="5043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200" b="0" i="0" dirty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8" name="矩形 147">
                <a:extLst>
                  <a:ext uri="{FF2B5EF4-FFF2-40B4-BE49-F238E27FC236}">
                    <a16:creationId xmlns:a16="http://schemas.microsoft.com/office/drawing/2014/main" id="{623F2AC9-03FB-492A-B544-50B834F8C5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0093" y="3460241"/>
                <a:ext cx="7959882" cy="504305"/>
              </a:xfrm>
              <a:prstGeom prst="rect">
                <a:avLst/>
              </a:prstGeom>
              <a:blipFill>
                <a:blip r:embed="rId8"/>
                <a:stretch>
                  <a:fillRect r="-21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4" name="內容版面配置區 2">
            <a:extLst>
              <a:ext uri="{FF2B5EF4-FFF2-40B4-BE49-F238E27FC236}">
                <a16:creationId xmlns:a16="http://schemas.microsoft.com/office/drawing/2014/main" id="{D6784137-CE13-4FDF-B1B9-155F7B69A6B9}"/>
              </a:ext>
            </a:extLst>
          </p:cNvPr>
          <p:cNvSpPr txBox="1">
            <a:spLocks/>
          </p:cNvSpPr>
          <p:nvPr/>
        </p:nvSpPr>
        <p:spPr>
          <a:xfrm>
            <a:off x="336962" y="709212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component of VVB: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內容版面配置區 2">
                <a:extLst>
                  <a:ext uri="{FF2B5EF4-FFF2-40B4-BE49-F238E27FC236}">
                    <a16:creationId xmlns:a16="http://schemas.microsoft.com/office/drawing/2014/main" id="{8B234F33-DC0D-426E-B792-84B426D879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6240" y="2524125"/>
                <a:ext cx="7528559" cy="37252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Transverse component of VVB: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Δ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=−2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</m:acc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65" name="內容版面配置區 2">
                <a:extLst>
                  <a:ext uri="{FF2B5EF4-FFF2-40B4-BE49-F238E27FC236}">
                    <a16:creationId xmlns:a16="http://schemas.microsoft.com/office/drawing/2014/main" id="{8B234F33-DC0D-426E-B792-84B426D87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" y="2524125"/>
                <a:ext cx="7528559" cy="372522"/>
              </a:xfrm>
              <a:prstGeom prst="rect">
                <a:avLst/>
              </a:prstGeom>
              <a:blipFill>
                <a:blip r:embed="rId10"/>
                <a:stretch>
                  <a:fillRect l="-810" t="-34426"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8" name="箭號: 向右 167">
            <a:extLst>
              <a:ext uri="{FF2B5EF4-FFF2-40B4-BE49-F238E27FC236}">
                <a16:creationId xmlns:a16="http://schemas.microsoft.com/office/drawing/2014/main" id="{DD9DADF1-0F03-4979-B75E-06DC85C2B11C}"/>
              </a:ext>
            </a:extLst>
          </p:cNvPr>
          <p:cNvSpPr/>
          <p:nvPr/>
        </p:nvSpPr>
        <p:spPr>
          <a:xfrm rot="5400000">
            <a:off x="1262152" y="1820451"/>
            <a:ext cx="739502" cy="606574"/>
          </a:xfrm>
          <a:prstGeom prst="righ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9" name="箭號: 向右 168">
            <a:extLst>
              <a:ext uri="{FF2B5EF4-FFF2-40B4-BE49-F238E27FC236}">
                <a16:creationId xmlns:a16="http://schemas.microsoft.com/office/drawing/2014/main" id="{93F8922C-C611-4B81-84E0-7C374BB4638E}"/>
              </a:ext>
            </a:extLst>
          </p:cNvPr>
          <p:cNvSpPr/>
          <p:nvPr/>
        </p:nvSpPr>
        <p:spPr>
          <a:xfrm rot="5400000">
            <a:off x="1262152" y="4316001"/>
            <a:ext cx="739502" cy="606574"/>
          </a:xfrm>
          <a:prstGeom prst="righ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矩形 170">
                <a:extLst>
                  <a:ext uri="{FF2B5EF4-FFF2-40B4-BE49-F238E27FC236}">
                    <a16:creationId xmlns:a16="http://schemas.microsoft.com/office/drawing/2014/main" id="{F0CF1780-A772-402F-97EA-820E9335429B}"/>
                  </a:ext>
                </a:extLst>
              </p:cNvPr>
              <p:cNvSpPr/>
              <p:nvPr/>
            </p:nvSpPr>
            <p:spPr>
              <a:xfrm>
                <a:off x="2036120" y="4354856"/>
                <a:ext cx="3234620" cy="5704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sub>
                    </m:sSub>
                    <m:d>
                      <m:d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sub>
                    </m:sSub>
                    <m:d>
                      <m:d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</m:oMath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1" name="矩形 170">
                <a:extLst>
                  <a:ext uri="{FF2B5EF4-FFF2-40B4-BE49-F238E27FC236}">
                    <a16:creationId xmlns:a16="http://schemas.microsoft.com/office/drawing/2014/main" id="{F0CF1780-A772-402F-97EA-820E933542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6120" y="4354856"/>
                <a:ext cx="3234620" cy="570477"/>
              </a:xfrm>
              <a:prstGeom prst="rect">
                <a:avLst/>
              </a:prstGeom>
              <a:blipFill>
                <a:blip r:embed="rId11"/>
                <a:stretch>
                  <a:fillRect l="-1883" t="-31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3" name="群組 172">
            <a:extLst>
              <a:ext uri="{FF2B5EF4-FFF2-40B4-BE49-F238E27FC236}">
                <a16:creationId xmlns:a16="http://schemas.microsoft.com/office/drawing/2014/main" id="{E29F0854-48D9-4E77-B36B-FC1425127094}"/>
              </a:ext>
            </a:extLst>
          </p:cNvPr>
          <p:cNvGrpSpPr/>
          <p:nvPr/>
        </p:nvGrpSpPr>
        <p:grpSpPr>
          <a:xfrm>
            <a:off x="648711" y="5198256"/>
            <a:ext cx="10091176" cy="696986"/>
            <a:chOff x="71454" y="3187418"/>
            <a:chExt cx="10091176" cy="6969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矩形 173">
                  <a:extLst>
                    <a:ext uri="{FF2B5EF4-FFF2-40B4-BE49-F238E27FC236}">
                      <a16:creationId xmlns:a16="http://schemas.microsoft.com/office/drawing/2014/main" id="{7D852537-281C-48C9-89FC-1D5B23C3D9E4}"/>
                    </a:ext>
                  </a:extLst>
                </p:cNvPr>
                <p:cNvSpPr/>
                <p:nvPr/>
              </p:nvSpPr>
              <p:spPr>
                <a:xfrm>
                  <a:off x="71454" y="3187418"/>
                  <a:ext cx="10091176" cy="69698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9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19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−2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US" altLang="zh-TW" sz="19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</m:e>
                                </m:acc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±</m:t>
                                </m:r>
                                <m:f>
                                  <m:f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US" altLang="zh-TW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Δ</m:t>
                                    </m:r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</m:num>
                                  <m:den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sub>
                        </m:sSub>
                        <m:d>
                          <m:d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d>
                              <m:dPr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</m:e>
                                </m:acc>
                                <m:sSub>
                                  <m:sSubPr>
                                    <m:ctrlP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  <m:t>∥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num>
                                  <m:den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sup>
                        </m:sSup>
                        <m:d>
                          <m:dPr>
                            <m:begChr m:val="{"/>
                            <m:endChr m:val="}"/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TW" sz="1900">
                                <a:latin typeface="Cambria Math" panose="02040503050406030204" pitchFamily="18" charset="0"/>
                              </a:rPr>
                              <m:t>cos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900"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ℓ</m:t>
                                    </m:r>
                                    <m:sSub>
                                      <m:sSubPr>
                                        <m:ctrlP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zh-TW" sz="19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900" i="1" dirty="0">
                                                <a:latin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900" i="1" dirty="0">
                                                <a:latin typeface="Cambria Math" panose="02040503050406030204" pitchFamily="18" charset="0"/>
                                              </a:rPr>
                                              <m:t>∥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</m:e>
                            </m:d>
                            <m:acc>
                              <m:accPr>
                                <m:chr m:val="̂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acc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altLang="zh-TW" sz="1900">
                                <a:latin typeface="Cambria Math" panose="02040503050406030204" pitchFamily="18" charset="0"/>
                              </a:rPr>
                              <m:t>sin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900"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ℓ</m:t>
                                    </m:r>
                                    <m:sSub>
                                      <m:sSubPr>
                                        <m:ctrlP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zh-TW" sz="19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900" i="1" dirty="0">
                                                <a:latin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900" i="1" dirty="0">
                                                <a:latin typeface="Cambria Math" panose="02040503050406030204" pitchFamily="18" charset="0"/>
                                              </a:rPr>
                                              <m:t>∥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</m:e>
                            </m:d>
                            <m:acc>
                              <m:accPr>
                                <m:chr m:val="̂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zh-TW" altLang="en-US" sz="19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4" name="矩形 173">
                  <a:extLst>
                    <a:ext uri="{FF2B5EF4-FFF2-40B4-BE49-F238E27FC236}">
                      <a16:creationId xmlns:a16="http://schemas.microsoft.com/office/drawing/2014/main" id="{7D852537-281C-48C9-89FC-1D5B23C3D9E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54" y="3187418"/>
                  <a:ext cx="10091176" cy="696986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75" name="圖形 174">
              <a:extLst>
                <a:ext uri="{FF2B5EF4-FFF2-40B4-BE49-F238E27FC236}">
                  <a16:creationId xmlns:a16="http://schemas.microsoft.com/office/drawing/2014/main" id="{1FCD39E0-A35B-48B7-949A-520A8DB20C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r="53142" b="-1"/>
            <a:stretch/>
          </p:blipFill>
          <p:spPr>
            <a:xfrm>
              <a:off x="167410" y="3478044"/>
              <a:ext cx="224841" cy="172247"/>
            </a:xfrm>
            <a:prstGeom prst="rect">
              <a:avLst/>
            </a:prstGeom>
          </p:spPr>
        </p:pic>
      </p:grpSp>
      <p:sp>
        <p:nvSpPr>
          <p:cNvPr id="177" name="矩形 176">
            <a:extLst>
              <a:ext uri="{FF2B5EF4-FFF2-40B4-BE49-F238E27FC236}">
                <a16:creationId xmlns:a16="http://schemas.microsoft.com/office/drawing/2014/main" id="{A0E2BCE1-3225-4615-A218-B80F0E5A150F}"/>
              </a:ext>
            </a:extLst>
          </p:cNvPr>
          <p:cNvSpPr/>
          <p:nvPr/>
        </p:nvSpPr>
        <p:spPr>
          <a:xfrm>
            <a:off x="3081713" y="5978239"/>
            <a:ext cx="22582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Doughnut shape</a:t>
            </a:r>
            <a:endParaRPr lang="zh-TW" altLang="en-US" sz="20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2EF5C55F-1A52-4EB2-9AE9-BDA084E97F64}"/>
              </a:ext>
            </a:extLst>
          </p:cNvPr>
          <p:cNvSpPr/>
          <p:nvPr/>
        </p:nvSpPr>
        <p:spPr>
          <a:xfrm>
            <a:off x="6953522" y="5972816"/>
            <a:ext cx="24952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polarization</a:t>
            </a:r>
            <a:endParaRPr lang="zh-TW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9D9F6076-913D-44A5-81B1-A76366CA5D66}"/>
              </a:ext>
            </a:extLst>
          </p:cNvPr>
          <p:cNvGrpSpPr/>
          <p:nvPr/>
        </p:nvGrpSpPr>
        <p:grpSpPr>
          <a:xfrm>
            <a:off x="443865" y="1058691"/>
            <a:ext cx="6893603" cy="617709"/>
            <a:chOff x="443865" y="820566"/>
            <a:chExt cx="6893603" cy="617709"/>
          </a:xfrm>
        </p:grpSpPr>
        <p:sp>
          <p:nvSpPr>
            <p:cNvPr id="33" name="矩形: 圓角 32">
              <a:extLst>
                <a:ext uri="{FF2B5EF4-FFF2-40B4-BE49-F238E27FC236}">
                  <a16:creationId xmlns:a16="http://schemas.microsoft.com/office/drawing/2014/main" id="{7FD9EA3D-ABD3-4FEA-B308-944407EDF58B}"/>
                </a:ext>
              </a:extLst>
            </p:cNvPr>
            <p:cNvSpPr/>
            <p:nvPr/>
          </p:nvSpPr>
          <p:spPr>
            <a:xfrm>
              <a:off x="443865" y="820566"/>
              <a:ext cx="6861809" cy="617709"/>
            </a:xfrm>
            <a:prstGeom prst="roundRect">
              <a:avLst/>
            </a:prstGeom>
            <a:ln w="5715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000"/>
            </a:p>
          </p:txBody>
        </p:sp>
        <p:grpSp>
          <p:nvGrpSpPr>
            <p:cNvPr id="34" name="群組 33">
              <a:extLst>
                <a:ext uri="{FF2B5EF4-FFF2-40B4-BE49-F238E27FC236}">
                  <a16:creationId xmlns:a16="http://schemas.microsoft.com/office/drawing/2014/main" id="{81E801B2-21EC-43EC-972A-165CDDA9E0F1}"/>
                </a:ext>
              </a:extLst>
            </p:cNvPr>
            <p:cNvGrpSpPr/>
            <p:nvPr/>
          </p:nvGrpSpPr>
          <p:grpSpPr>
            <a:xfrm>
              <a:off x="491491" y="839616"/>
              <a:ext cx="6845977" cy="500971"/>
              <a:chOff x="104002" y="1200081"/>
              <a:chExt cx="6845977" cy="500971"/>
            </a:xfrm>
          </p:grpSpPr>
          <p:grpSp>
            <p:nvGrpSpPr>
              <p:cNvPr id="35" name="群組 34">
                <a:extLst>
                  <a:ext uri="{FF2B5EF4-FFF2-40B4-BE49-F238E27FC236}">
                    <a16:creationId xmlns:a16="http://schemas.microsoft.com/office/drawing/2014/main" id="{D8B4BA48-A5CE-43E6-851A-AF311B066D1A}"/>
                  </a:ext>
                </a:extLst>
              </p:cNvPr>
              <p:cNvGrpSpPr/>
              <p:nvPr/>
            </p:nvGrpSpPr>
            <p:grpSpPr>
              <a:xfrm>
                <a:off x="104002" y="1200081"/>
                <a:ext cx="6845977" cy="500971"/>
                <a:chOff x="7110872" y="2697693"/>
                <a:chExt cx="6845977" cy="50097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" name="矩形 37">
                      <a:extLst>
                        <a:ext uri="{FF2B5EF4-FFF2-40B4-BE49-F238E27FC236}">
                          <a16:creationId xmlns:a16="http://schemas.microsoft.com/office/drawing/2014/main" id="{EE11F0C8-56A4-489B-923E-7F45CEB335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10872" y="2697693"/>
                      <a:ext cx="6845977" cy="500971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altLang="zh-TW" sz="19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TW" altLang="en-US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ℓ,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</m:e>
                                </m:acc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</m:acc>
                              </m:sub>
                              <m:sup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∥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19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d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Sup>
                              <m:sSubSup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ℓ,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</m:e>
                                </m:acc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d>
                            <m:acc>
                              <m:accPr>
                                <m:chr m:val="̂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acc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ℓ,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</m:e>
                                </m:acc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</m:acc>
                              </m:sub>
                              <m:sup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𝒚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d>
                            <m:acc>
                              <m:accPr>
                                <m:chr m:val="̂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oMath>
                        </m:oMathPara>
                      </a14:m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62" name="矩形 161">
                      <a:extLst>
                        <a:ext uri="{FF2B5EF4-FFF2-40B4-BE49-F238E27FC236}">
                          <a16:creationId xmlns:a16="http://schemas.microsoft.com/office/drawing/2014/main" id="{AB261E02-3210-4A87-A89B-71FDB772EFB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110872" y="2697693"/>
                      <a:ext cx="6845977" cy="500971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t="-1220" r="-543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pic>
              <p:nvPicPr>
                <p:cNvPr id="39" name="圖形 38">
                  <a:extLst>
                    <a:ext uri="{FF2B5EF4-FFF2-40B4-BE49-F238E27FC236}">
                      <a16:creationId xmlns:a16="http://schemas.microsoft.com/office/drawing/2014/main" id="{B5F257C7-9907-472B-8847-34910FD2E0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rcRect t="1" r="53142" b="-1"/>
                <a:stretch/>
              </p:blipFill>
              <p:spPr>
                <a:xfrm>
                  <a:off x="7268092" y="2884400"/>
                  <a:ext cx="224841" cy="172247"/>
                </a:xfrm>
                <a:prstGeom prst="rect">
                  <a:avLst/>
                </a:prstGeom>
              </p:spPr>
            </p:pic>
          </p:grpSp>
          <p:pic>
            <p:nvPicPr>
              <p:cNvPr id="36" name="圖形 35">
                <a:extLst>
                  <a:ext uri="{FF2B5EF4-FFF2-40B4-BE49-F238E27FC236}">
                    <a16:creationId xmlns:a16="http://schemas.microsoft.com/office/drawing/2014/main" id="{1E2B2628-2081-41DA-BF39-E136734C870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 t="1" r="53142" b="-1"/>
              <a:stretch/>
            </p:blipFill>
            <p:spPr>
              <a:xfrm>
                <a:off x="2528172" y="1386788"/>
                <a:ext cx="224841" cy="172247"/>
              </a:xfrm>
              <a:prstGeom prst="rect">
                <a:avLst/>
              </a:prstGeom>
            </p:spPr>
          </p:pic>
          <p:pic>
            <p:nvPicPr>
              <p:cNvPr id="37" name="圖形 36">
                <a:extLst>
                  <a:ext uri="{FF2B5EF4-FFF2-40B4-BE49-F238E27FC236}">
                    <a16:creationId xmlns:a16="http://schemas.microsoft.com/office/drawing/2014/main" id="{6D9C431C-1468-4133-A968-3C210289FA5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 t="1" r="53142" b="-1"/>
              <a:stretch/>
            </p:blipFill>
            <p:spPr>
              <a:xfrm>
                <a:off x="4589331" y="1386788"/>
                <a:ext cx="224841" cy="172247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7043629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矩形: 圓角 177">
            <a:extLst>
              <a:ext uri="{FF2B5EF4-FFF2-40B4-BE49-F238E27FC236}">
                <a16:creationId xmlns:a16="http://schemas.microsoft.com/office/drawing/2014/main" id="{26DC7838-AB92-430D-A20C-94F65865F85E}"/>
              </a:ext>
            </a:extLst>
          </p:cNvPr>
          <p:cNvSpPr/>
          <p:nvPr/>
        </p:nvSpPr>
        <p:spPr>
          <a:xfrm>
            <a:off x="5600699" y="1184911"/>
            <a:ext cx="4892041" cy="75998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9BF905C1-4453-469B-82A0-391C703A8103}"/>
              </a:ext>
            </a:extLst>
          </p:cNvPr>
          <p:cNvSpPr/>
          <p:nvPr/>
        </p:nvSpPr>
        <p:spPr>
          <a:xfrm>
            <a:off x="3419475" y="1184911"/>
            <a:ext cx="1104900" cy="75998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6" name="矩形: 圓角 175">
            <a:extLst>
              <a:ext uri="{FF2B5EF4-FFF2-40B4-BE49-F238E27FC236}">
                <a16:creationId xmlns:a16="http://schemas.microsoft.com/office/drawing/2014/main" id="{B6B582B2-5001-4B6B-8DAA-3EE84EDE7E4D}"/>
              </a:ext>
            </a:extLst>
          </p:cNvPr>
          <p:cNvSpPr/>
          <p:nvPr/>
        </p:nvSpPr>
        <p:spPr>
          <a:xfrm>
            <a:off x="491491" y="1079814"/>
            <a:ext cx="10748009" cy="1349061"/>
          </a:xfrm>
          <a:prstGeom prst="roundRect">
            <a:avLst/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Transverse component :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45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矩形 170">
                <a:extLst>
                  <a:ext uri="{FF2B5EF4-FFF2-40B4-BE49-F238E27FC236}">
                    <a16:creationId xmlns:a16="http://schemas.microsoft.com/office/drawing/2014/main" id="{F0CF1780-A772-402F-97EA-820E9335429B}"/>
                  </a:ext>
                </a:extLst>
              </p:cNvPr>
              <p:cNvSpPr/>
              <p:nvPr/>
            </p:nvSpPr>
            <p:spPr>
              <a:xfrm>
                <a:off x="336962" y="2735606"/>
                <a:ext cx="5793431" cy="5704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Conditions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sub>
                    </m:sSub>
                    <m:d>
                      <m:d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sub>
                    </m:sSub>
                    <m:d>
                      <m:d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LG beams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1" name="矩形 170">
                <a:extLst>
                  <a:ext uri="{FF2B5EF4-FFF2-40B4-BE49-F238E27FC236}">
                    <a16:creationId xmlns:a16="http://schemas.microsoft.com/office/drawing/2014/main" id="{F0CF1780-A772-402F-97EA-820E933542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962" y="2735606"/>
                <a:ext cx="5793431" cy="570477"/>
              </a:xfrm>
              <a:prstGeom prst="rect">
                <a:avLst/>
              </a:prstGeom>
              <a:blipFill>
                <a:blip r:embed="rId4"/>
                <a:stretch>
                  <a:fillRect l="-1052" t="-43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3" name="群組 172">
            <a:extLst>
              <a:ext uri="{FF2B5EF4-FFF2-40B4-BE49-F238E27FC236}">
                <a16:creationId xmlns:a16="http://schemas.microsoft.com/office/drawing/2014/main" id="{E29F0854-48D9-4E77-B36B-FC1425127094}"/>
              </a:ext>
            </a:extLst>
          </p:cNvPr>
          <p:cNvGrpSpPr/>
          <p:nvPr/>
        </p:nvGrpSpPr>
        <p:grpSpPr>
          <a:xfrm>
            <a:off x="648711" y="1216806"/>
            <a:ext cx="10091176" cy="696986"/>
            <a:chOff x="71454" y="3187418"/>
            <a:chExt cx="10091176" cy="6969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矩形 173">
                  <a:extLst>
                    <a:ext uri="{FF2B5EF4-FFF2-40B4-BE49-F238E27FC236}">
                      <a16:creationId xmlns:a16="http://schemas.microsoft.com/office/drawing/2014/main" id="{7D852537-281C-48C9-89FC-1D5B23C3D9E4}"/>
                    </a:ext>
                  </a:extLst>
                </p:cNvPr>
                <p:cNvSpPr/>
                <p:nvPr/>
              </p:nvSpPr>
              <p:spPr>
                <a:xfrm>
                  <a:off x="71454" y="3187418"/>
                  <a:ext cx="10091176" cy="69698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9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19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−2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US" altLang="zh-TW" sz="19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</m:e>
                                </m:acc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±</m:t>
                                </m:r>
                                <m:f>
                                  <m:f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US" altLang="zh-TW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Δ</m:t>
                                    </m:r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</m:num>
                                  <m:den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sub>
                        </m:sSub>
                        <m:d>
                          <m:d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d>
                              <m:dPr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</m:e>
                                </m:acc>
                                <m:sSub>
                                  <m:sSubPr>
                                    <m:ctrlP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  <m:t>∥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num>
                                  <m:den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sup>
                        </m:sSup>
                        <m:d>
                          <m:dPr>
                            <m:begChr m:val="{"/>
                            <m:endChr m:val="}"/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TW" sz="1900">
                                <a:latin typeface="Cambria Math" panose="02040503050406030204" pitchFamily="18" charset="0"/>
                              </a:rPr>
                              <m:t>cos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900"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ℓ</m:t>
                                    </m:r>
                                    <m:sSub>
                                      <m:sSubPr>
                                        <m:ctrlP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zh-TW" sz="19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900" i="1" dirty="0">
                                                <a:latin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900" i="1" dirty="0">
                                                <a:latin typeface="Cambria Math" panose="02040503050406030204" pitchFamily="18" charset="0"/>
                                              </a:rPr>
                                              <m:t>∥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</m:e>
                            </m:d>
                            <m:acc>
                              <m:accPr>
                                <m:chr m:val="̂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acc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altLang="zh-TW" sz="1900">
                                <a:latin typeface="Cambria Math" panose="02040503050406030204" pitchFamily="18" charset="0"/>
                              </a:rPr>
                              <m:t>sin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900"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ℓ</m:t>
                                    </m:r>
                                    <m:sSub>
                                      <m:sSubPr>
                                        <m:ctrlP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zh-TW" sz="19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900" i="1" dirty="0">
                                                <a:latin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900" i="1" dirty="0">
                                                <a:latin typeface="Cambria Math" panose="02040503050406030204" pitchFamily="18" charset="0"/>
                                              </a:rPr>
                                              <m:t>∥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</m:e>
                            </m:d>
                            <m:acc>
                              <m:accPr>
                                <m:chr m:val="̂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zh-TW" altLang="en-US" sz="19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4" name="矩形 173">
                  <a:extLst>
                    <a:ext uri="{FF2B5EF4-FFF2-40B4-BE49-F238E27FC236}">
                      <a16:creationId xmlns:a16="http://schemas.microsoft.com/office/drawing/2014/main" id="{7D852537-281C-48C9-89FC-1D5B23C3D9E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54" y="3187418"/>
                  <a:ext cx="10091176" cy="69698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75" name="圖形 174">
              <a:extLst>
                <a:ext uri="{FF2B5EF4-FFF2-40B4-BE49-F238E27FC236}">
                  <a16:creationId xmlns:a16="http://schemas.microsoft.com/office/drawing/2014/main" id="{1FCD39E0-A35B-48B7-949A-520A8DB20C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t="1" r="53142" b="-1"/>
            <a:stretch/>
          </p:blipFill>
          <p:spPr>
            <a:xfrm>
              <a:off x="167410" y="3478044"/>
              <a:ext cx="224841" cy="172247"/>
            </a:xfrm>
            <a:prstGeom prst="rect">
              <a:avLst/>
            </a:prstGeom>
          </p:spPr>
        </p:pic>
      </p:grpSp>
      <p:sp>
        <p:nvSpPr>
          <p:cNvPr id="177" name="矩形 176">
            <a:extLst>
              <a:ext uri="{FF2B5EF4-FFF2-40B4-BE49-F238E27FC236}">
                <a16:creationId xmlns:a16="http://schemas.microsoft.com/office/drawing/2014/main" id="{A0E2BCE1-3225-4615-A218-B80F0E5A150F}"/>
              </a:ext>
            </a:extLst>
          </p:cNvPr>
          <p:cNvSpPr/>
          <p:nvPr/>
        </p:nvSpPr>
        <p:spPr>
          <a:xfrm>
            <a:off x="3081713" y="1996789"/>
            <a:ext cx="22582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Doughnut shape</a:t>
            </a:r>
            <a:endParaRPr lang="zh-TW" altLang="en-US" sz="20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2EF5C55F-1A52-4EB2-9AE9-BDA084E97F64}"/>
              </a:ext>
            </a:extLst>
          </p:cNvPr>
          <p:cNvSpPr/>
          <p:nvPr/>
        </p:nvSpPr>
        <p:spPr>
          <a:xfrm>
            <a:off x="6953522" y="1991366"/>
            <a:ext cx="24952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polarization</a:t>
            </a:r>
            <a:endParaRPr lang="zh-TW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內容版面配置區 2">
            <a:extLst>
              <a:ext uri="{FF2B5EF4-FFF2-40B4-BE49-F238E27FC236}">
                <a16:creationId xmlns:a16="http://schemas.microsoft.com/office/drawing/2014/main" id="{ED4D3C8E-1052-483F-8392-4D149AC10899}"/>
              </a:ext>
            </a:extLst>
          </p:cNvPr>
          <p:cNvSpPr txBox="1">
            <a:spLocks/>
          </p:cNvSpPr>
          <p:nvPr/>
        </p:nvSpPr>
        <p:spPr>
          <a:xfrm>
            <a:off x="336962" y="709212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component of VVB: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A651C066-52A8-4E48-BB92-505A0AE08511}"/>
                  </a:ext>
                </a:extLst>
              </p:cNvPr>
              <p:cNvSpPr/>
              <p:nvPr/>
            </p:nvSpPr>
            <p:spPr>
              <a:xfrm>
                <a:off x="7286683" y="3763283"/>
                <a:ext cx="1726020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AutoNum type="arabicPeriod"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ℓ=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AutoNum type="arabicPeriod"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ℓ=−ℓ′</m:t>
                    </m:r>
                  </m:oMath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A651C066-52A8-4E48-BB92-505A0AE085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6683" y="3763283"/>
                <a:ext cx="1726020" cy="707886"/>
              </a:xfrm>
              <a:prstGeom prst="rect">
                <a:avLst/>
              </a:prstGeom>
              <a:blipFill>
                <a:blip r:embed="rId8"/>
                <a:stretch>
                  <a:fillRect l="-2827" t="-862" b="-120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FF1B627A-332A-4176-AF99-F9A1B8F47DB3}"/>
                  </a:ext>
                </a:extLst>
              </p:cNvPr>
              <p:cNvSpPr/>
              <p:nvPr/>
            </p:nvSpPr>
            <p:spPr>
              <a:xfrm>
                <a:off x="7212304" y="2597188"/>
                <a:ext cx="3355086" cy="7085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ℓ</m:t>
                              </m:r>
                            </m:e>
                          </m:acc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Δ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ℓ</m:t>
                              </m:r>
                            </m:num>
                            <m:den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ℓ</m:t>
                              </m:r>
                            </m:e>
                          </m:acc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Δ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ℓ</m:t>
                              </m:r>
                            </m:num>
                            <m:den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FF1B627A-332A-4176-AF99-F9A1B8F47D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2304" y="2597188"/>
                <a:ext cx="3355086" cy="70859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箭號: 向右 34">
            <a:extLst>
              <a:ext uri="{FF2B5EF4-FFF2-40B4-BE49-F238E27FC236}">
                <a16:creationId xmlns:a16="http://schemas.microsoft.com/office/drawing/2014/main" id="{111EB553-1623-4C15-A50C-ACCBCDB406F4}"/>
              </a:ext>
            </a:extLst>
          </p:cNvPr>
          <p:cNvSpPr/>
          <p:nvPr/>
        </p:nvSpPr>
        <p:spPr>
          <a:xfrm>
            <a:off x="6301597" y="2699206"/>
            <a:ext cx="739502" cy="606574"/>
          </a:xfrm>
          <a:prstGeom prst="righ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箭號: 向右 35">
            <a:extLst>
              <a:ext uri="{FF2B5EF4-FFF2-40B4-BE49-F238E27FC236}">
                <a16:creationId xmlns:a16="http://schemas.microsoft.com/office/drawing/2014/main" id="{FE6BDD1D-EC4A-43FA-84F8-0936E4D0CB04}"/>
              </a:ext>
            </a:extLst>
          </p:cNvPr>
          <p:cNvSpPr/>
          <p:nvPr/>
        </p:nvSpPr>
        <p:spPr>
          <a:xfrm>
            <a:off x="6301597" y="3763283"/>
            <a:ext cx="739502" cy="606574"/>
          </a:xfrm>
          <a:prstGeom prst="righ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49590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矩形: 圓角 177">
            <a:extLst>
              <a:ext uri="{FF2B5EF4-FFF2-40B4-BE49-F238E27FC236}">
                <a16:creationId xmlns:a16="http://schemas.microsoft.com/office/drawing/2014/main" id="{26DC7838-AB92-430D-A20C-94F65865F85E}"/>
              </a:ext>
            </a:extLst>
          </p:cNvPr>
          <p:cNvSpPr/>
          <p:nvPr/>
        </p:nvSpPr>
        <p:spPr>
          <a:xfrm>
            <a:off x="5229225" y="1184911"/>
            <a:ext cx="2390776" cy="75998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9BF905C1-4453-469B-82A0-391C703A8103}"/>
              </a:ext>
            </a:extLst>
          </p:cNvPr>
          <p:cNvSpPr/>
          <p:nvPr/>
        </p:nvSpPr>
        <p:spPr>
          <a:xfrm>
            <a:off x="3314700" y="1184911"/>
            <a:ext cx="819150" cy="75998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6" name="矩形: 圓角 175">
            <a:extLst>
              <a:ext uri="{FF2B5EF4-FFF2-40B4-BE49-F238E27FC236}">
                <a16:creationId xmlns:a16="http://schemas.microsoft.com/office/drawing/2014/main" id="{B6B582B2-5001-4B6B-8DAA-3EE84EDE7E4D}"/>
              </a:ext>
            </a:extLst>
          </p:cNvPr>
          <p:cNvSpPr/>
          <p:nvPr/>
        </p:nvSpPr>
        <p:spPr>
          <a:xfrm>
            <a:off x="491491" y="1079814"/>
            <a:ext cx="10748009" cy="1349061"/>
          </a:xfrm>
          <a:prstGeom prst="roundRect">
            <a:avLst/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Transverse component :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46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內容版面配置區 2">
                <a:extLst>
                  <a:ext uri="{FF2B5EF4-FFF2-40B4-BE49-F238E27FC236}">
                    <a16:creationId xmlns:a16="http://schemas.microsoft.com/office/drawing/2014/main" id="{ED4D3C8E-1052-483F-8392-4D149AC108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6962" y="709212"/>
                <a:ext cx="4562952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cs typeface="Times New Roman" panose="02020603050405020304" pitchFamily="18" charset="0"/>
                  </a:rPr>
                  <a:t>First case :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ℓ=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內容版面配置區 2">
                <a:extLst>
                  <a:ext uri="{FF2B5EF4-FFF2-40B4-BE49-F238E27FC236}">
                    <a16:creationId xmlns:a16="http://schemas.microsoft.com/office/drawing/2014/main" id="{ED4D3C8E-1052-483F-8392-4D149AC10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962" y="709212"/>
                <a:ext cx="4562952" cy="324388"/>
              </a:xfrm>
              <a:prstGeom prst="rect">
                <a:avLst/>
              </a:prstGeom>
              <a:blipFill>
                <a:blip r:embed="rId4"/>
                <a:stretch>
                  <a:fillRect l="-1335" t="-29630" b="-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群組 4">
            <a:extLst>
              <a:ext uri="{FF2B5EF4-FFF2-40B4-BE49-F238E27FC236}">
                <a16:creationId xmlns:a16="http://schemas.microsoft.com/office/drawing/2014/main" id="{AD7C2CA2-F9D9-4022-ACE7-C603A66BCB9A}"/>
              </a:ext>
            </a:extLst>
          </p:cNvPr>
          <p:cNvGrpSpPr/>
          <p:nvPr/>
        </p:nvGrpSpPr>
        <p:grpSpPr>
          <a:xfrm>
            <a:off x="309811" y="2763883"/>
            <a:ext cx="2843786" cy="4013686"/>
            <a:chOff x="119311" y="2763883"/>
            <a:chExt cx="2843786" cy="40136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50FF598F-BDE0-462D-BADE-85650AF37BDB}"/>
                    </a:ext>
                  </a:extLst>
                </p:cNvPr>
                <p:cNvSpPr/>
                <p:nvPr/>
              </p:nvSpPr>
              <p:spPr>
                <a:xfrm>
                  <a:off x="2175702" y="2783869"/>
                  <a:ext cx="78739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ℓ=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50FF598F-BDE0-462D-BADE-85650AF37BD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5702" y="2783869"/>
                  <a:ext cx="787395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5" name="圖片 24">
              <a:extLst>
                <a:ext uri="{FF2B5EF4-FFF2-40B4-BE49-F238E27FC236}">
                  <a16:creationId xmlns:a16="http://schemas.microsoft.com/office/drawing/2014/main" id="{5663023B-0630-4FDF-BD30-9B6BFBFFC8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671"/>
            <a:stretch/>
          </p:blipFill>
          <p:spPr>
            <a:xfrm>
              <a:off x="119311" y="2763883"/>
              <a:ext cx="2105966" cy="4013686"/>
            </a:xfrm>
            <a:prstGeom prst="rect">
              <a:avLst/>
            </a:prstGeom>
          </p:spPr>
        </p:pic>
      </p:grpSp>
      <p:grpSp>
        <p:nvGrpSpPr>
          <p:cNvPr id="7" name="群組 6">
            <a:extLst>
              <a:ext uri="{FF2B5EF4-FFF2-40B4-BE49-F238E27FC236}">
                <a16:creationId xmlns:a16="http://schemas.microsoft.com/office/drawing/2014/main" id="{56B78C43-26BE-4D43-94B3-AD1C375BA2E7}"/>
              </a:ext>
            </a:extLst>
          </p:cNvPr>
          <p:cNvGrpSpPr/>
          <p:nvPr/>
        </p:nvGrpSpPr>
        <p:grpSpPr>
          <a:xfrm>
            <a:off x="8195419" y="2733675"/>
            <a:ext cx="2893154" cy="4029076"/>
            <a:chOff x="8195419" y="2733675"/>
            <a:chExt cx="2893154" cy="4029076"/>
          </a:xfrm>
        </p:grpSpPr>
        <p:grpSp>
          <p:nvGrpSpPr>
            <p:cNvPr id="34" name="群組 33">
              <a:extLst>
                <a:ext uri="{FF2B5EF4-FFF2-40B4-BE49-F238E27FC236}">
                  <a16:creationId xmlns:a16="http://schemas.microsoft.com/office/drawing/2014/main" id="{55477392-6F97-4C50-A70B-70BDFB945CED}"/>
                </a:ext>
              </a:extLst>
            </p:cNvPr>
            <p:cNvGrpSpPr/>
            <p:nvPr/>
          </p:nvGrpSpPr>
          <p:grpSpPr>
            <a:xfrm>
              <a:off x="8195419" y="2733675"/>
              <a:ext cx="2175803" cy="4029076"/>
              <a:chOff x="7268907" y="3343275"/>
              <a:chExt cx="1846604" cy="3419476"/>
            </a:xfrm>
          </p:grpSpPr>
          <p:pic>
            <p:nvPicPr>
              <p:cNvPr id="37" name="圖片 36">
                <a:extLst>
                  <a:ext uri="{FF2B5EF4-FFF2-40B4-BE49-F238E27FC236}">
                    <a16:creationId xmlns:a16="http://schemas.microsoft.com/office/drawing/2014/main" id="{20062C53-50D7-471E-AD99-1B1AD63E0A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68907" y="3343275"/>
                <a:ext cx="1846604" cy="3419476"/>
              </a:xfrm>
              <a:prstGeom prst="rect">
                <a:avLst/>
              </a:prstGeom>
            </p:spPr>
          </p:pic>
          <p:pic>
            <p:nvPicPr>
              <p:cNvPr id="38" name="圖片 37">
                <a:extLst>
                  <a:ext uri="{FF2B5EF4-FFF2-40B4-BE49-F238E27FC236}">
                    <a16:creationId xmlns:a16="http://schemas.microsoft.com/office/drawing/2014/main" id="{A90DF68B-4F63-49CB-85F1-7F21B39F76D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/>
              <a:srcRect l="2072"/>
              <a:stretch/>
            </p:blipFill>
            <p:spPr>
              <a:xfrm>
                <a:off x="7684295" y="3463667"/>
                <a:ext cx="983456" cy="210326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C6C9BF4B-A660-42B3-A583-F5230EB05471}"/>
                    </a:ext>
                  </a:extLst>
                </p:cNvPr>
                <p:cNvSpPr/>
                <p:nvPr/>
              </p:nvSpPr>
              <p:spPr>
                <a:xfrm>
                  <a:off x="10301178" y="2783869"/>
                  <a:ext cx="78739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ℓ=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C6C9BF4B-A660-42B3-A583-F5230EB054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01178" y="2783869"/>
                  <a:ext cx="787395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群組 5">
            <a:extLst>
              <a:ext uri="{FF2B5EF4-FFF2-40B4-BE49-F238E27FC236}">
                <a16:creationId xmlns:a16="http://schemas.microsoft.com/office/drawing/2014/main" id="{DEB656E0-86F1-43E4-996E-B04BEB878A78}"/>
              </a:ext>
            </a:extLst>
          </p:cNvPr>
          <p:cNvGrpSpPr/>
          <p:nvPr/>
        </p:nvGrpSpPr>
        <p:grpSpPr>
          <a:xfrm>
            <a:off x="4101555" y="2749758"/>
            <a:ext cx="3086745" cy="4004725"/>
            <a:chOff x="4029354" y="2749758"/>
            <a:chExt cx="3086745" cy="40047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矩形 30">
                  <a:extLst>
                    <a:ext uri="{FF2B5EF4-FFF2-40B4-BE49-F238E27FC236}">
                      <a16:creationId xmlns:a16="http://schemas.microsoft.com/office/drawing/2014/main" id="{2F4997A6-9389-411C-A68B-2FF5C3219C6D}"/>
                    </a:ext>
                  </a:extLst>
                </p:cNvPr>
                <p:cNvSpPr/>
                <p:nvPr/>
              </p:nvSpPr>
              <p:spPr>
                <a:xfrm>
                  <a:off x="6155580" y="2783869"/>
                  <a:ext cx="96051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ℓ=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1" name="矩形 30">
                  <a:extLst>
                    <a:ext uri="{FF2B5EF4-FFF2-40B4-BE49-F238E27FC236}">
                      <a16:creationId xmlns:a16="http://schemas.microsoft.com/office/drawing/2014/main" id="{2F4997A6-9389-411C-A68B-2FF5C3219C6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55580" y="2783869"/>
                  <a:ext cx="960519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BA35B2F3-A757-456B-8820-2FFA460DD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029354" y="2749758"/>
              <a:ext cx="2157565" cy="4004725"/>
            </a:xfrm>
            <a:prstGeom prst="rect">
              <a:avLst/>
            </a:prstGeom>
          </p:spPr>
        </p:pic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C351AA28-38BC-41C9-ADBD-51B2AAECC044}"/>
              </a:ext>
            </a:extLst>
          </p:cNvPr>
          <p:cNvGrpSpPr/>
          <p:nvPr/>
        </p:nvGrpSpPr>
        <p:grpSpPr>
          <a:xfrm>
            <a:off x="648711" y="1216806"/>
            <a:ext cx="7742814" cy="1109663"/>
            <a:chOff x="648711" y="1216806"/>
            <a:chExt cx="7037964" cy="11096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矩形 173">
                  <a:extLst>
                    <a:ext uri="{FF2B5EF4-FFF2-40B4-BE49-F238E27FC236}">
                      <a16:creationId xmlns:a16="http://schemas.microsoft.com/office/drawing/2014/main" id="{7D852537-281C-48C9-89FC-1D5B23C3D9E4}"/>
                    </a:ext>
                  </a:extLst>
                </p:cNvPr>
                <p:cNvSpPr/>
                <p:nvPr/>
              </p:nvSpPr>
              <p:spPr>
                <a:xfrm>
                  <a:off x="648711" y="1216806"/>
                  <a:ext cx="7037964" cy="110966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a:rPr lang="en-US" altLang="zh-TW" sz="19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19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−2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US" altLang="zh-TW" sz="19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d>
                          </m:sub>
                        </m:sSub>
                        <m:d>
                          <m:d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zh-TW" altLang="en-US" sz="1900" i="1" dirty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d>
                              <m:dPr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  <m:sSub>
                                  <m:sSubPr>
                                    <m:ctrlP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  <m:t>∥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num>
                                  <m:den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sup>
                        </m:sSup>
                        <m:d>
                          <m:dPr>
                            <m:begChr m:val="{"/>
                            <m:endChr m:val="}"/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TW" sz="1900">
                                <a:latin typeface="Cambria Math" panose="02040503050406030204" pitchFamily="18" charset="0"/>
                              </a:rPr>
                              <m:t>cos</m:t>
                            </m:r>
                            <m:d>
                              <m:dPr>
                                <m:ctrlP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num>
                                  <m:den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acc>
                              <m:accPr>
                                <m:chr m:val="̂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acc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altLang="zh-TW" sz="1900">
                                <a:latin typeface="Cambria Math" panose="02040503050406030204" pitchFamily="18" charset="0"/>
                              </a:rPr>
                              <m:t>sin</m:t>
                            </m:r>
                            <m:d>
                              <m:d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num>
                                  <m:den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acc>
                              <m:accPr>
                                <m:chr m:val="̂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zh-TW" altLang="en-US" sz="19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4" name="矩形 173">
                  <a:extLst>
                    <a:ext uri="{FF2B5EF4-FFF2-40B4-BE49-F238E27FC236}">
                      <a16:creationId xmlns:a16="http://schemas.microsoft.com/office/drawing/2014/main" id="{7D852537-281C-48C9-89FC-1D5B23C3D9E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8711" y="1216806"/>
                  <a:ext cx="7037964" cy="1109663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6" name="圖形 45">
              <a:extLst>
                <a:ext uri="{FF2B5EF4-FFF2-40B4-BE49-F238E27FC236}">
                  <a16:creationId xmlns:a16="http://schemas.microsoft.com/office/drawing/2014/main" id="{FA730AF8-D12B-43D4-A59B-1536118701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 t="1" r="53142" b="-1"/>
            <a:stretch/>
          </p:blipFill>
          <p:spPr>
            <a:xfrm>
              <a:off x="744667" y="1459807"/>
              <a:ext cx="224841" cy="172247"/>
            </a:xfrm>
            <a:prstGeom prst="rect">
              <a:avLst/>
            </a:prstGeom>
          </p:spPr>
        </p:pic>
      </p:grpSp>
      <p:sp>
        <p:nvSpPr>
          <p:cNvPr id="47" name="矩形 46">
            <a:extLst>
              <a:ext uri="{FF2B5EF4-FFF2-40B4-BE49-F238E27FC236}">
                <a16:creationId xmlns:a16="http://schemas.microsoft.com/office/drawing/2014/main" id="{5B17E067-A88C-4CA6-B944-A06E0FD0067A}"/>
              </a:ext>
            </a:extLst>
          </p:cNvPr>
          <p:cNvSpPr/>
          <p:nvPr/>
        </p:nvSpPr>
        <p:spPr>
          <a:xfrm>
            <a:off x="2615886" y="1996789"/>
            <a:ext cx="22582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Doughnut shape</a:t>
            </a:r>
            <a:endParaRPr lang="zh-TW" altLang="en-US" sz="20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6A2EFE15-1453-4357-9BC9-DE0632976E9E}"/>
                  </a:ext>
                </a:extLst>
              </p:cNvPr>
              <p:cNvSpPr/>
              <p:nvPr/>
            </p:nvSpPr>
            <p:spPr>
              <a:xfrm>
                <a:off x="4725569" y="1991366"/>
                <a:ext cx="5035009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Linear polarization </a:t>
                </a:r>
                <a:r>
                  <a:rPr lang="en-US" altLang="zh-TW" sz="2000" b="1" dirty="0">
                    <a:solidFill>
                      <a:srgbClr val="FF0000"/>
                    </a:solidFill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changed with </a:t>
                </a:r>
                <a14:m>
                  <m:oMath xmlns:m="http://schemas.openxmlformats.org/officeDocument/2006/math">
                    <m:r>
                      <a:rPr lang="en-US" altLang="zh-TW" sz="2000" b="1" i="1" dirty="0" smtClean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𝜶</m:t>
                    </m:r>
                  </m:oMath>
                </a14:m>
                <a:endParaRPr lang="zh-TW" altLang="en-US" sz="20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6A2EFE15-1453-4357-9BC9-DE0632976E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5569" y="1991366"/>
                <a:ext cx="5035009" cy="400110"/>
              </a:xfrm>
              <a:prstGeom prst="rect">
                <a:avLst/>
              </a:prstGeom>
              <a:blipFill>
                <a:blip r:embed="rId18"/>
                <a:stretch>
                  <a:fillRect l="-1211" t="-9231" b="-2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群組 48">
            <a:extLst>
              <a:ext uri="{FF2B5EF4-FFF2-40B4-BE49-F238E27FC236}">
                <a16:creationId xmlns:a16="http://schemas.microsoft.com/office/drawing/2014/main" id="{B57AC9C8-2E12-488A-84F1-475893BC6A24}"/>
              </a:ext>
            </a:extLst>
          </p:cNvPr>
          <p:cNvGrpSpPr/>
          <p:nvPr/>
        </p:nvGrpSpPr>
        <p:grpSpPr>
          <a:xfrm>
            <a:off x="1884428" y="7452921"/>
            <a:ext cx="1643943" cy="681212"/>
            <a:chOff x="1854907" y="7050024"/>
            <a:chExt cx="1643943" cy="6812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矩形 49">
                  <a:extLst>
                    <a:ext uri="{FF2B5EF4-FFF2-40B4-BE49-F238E27FC236}">
                      <a16:creationId xmlns:a16="http://schemas.microsoft.com/office/drawing/2014/main" id="{C624D37E-C0EE-49E0-B054-F551B44C594A}"/>
                    </a:ext>
                  </a:extLst>
                </p:cNvPr>
                <p:cNvSpPr/>
                <p:nvPr/>
              </p:nvSpPr>
              <p:spPr>
                <a:xfrm>
                  <a:off x="1854907" y="7050024"/>
                  <a:ext cx="1643943" cy="681212"/>
                </a:xfrm>
                <a:prstGeom prst="rect">
                  <a:avLst/>
                </a:prstGeom>
                <a:solidFill>
                  <a:srgbClr val="F2F2F2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a:rPr lang="en-US" altLang="zh-TW" sz="3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−2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  <m:r>
                              <a:rPr lang="en-US" altLang="zh-TW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altLang="zh-TW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∥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0" name="矩形 49">
                  <a:extLst>
                    <a:ext uri="{FF2B5EF4-FFF2-40B4-BE49-F238E27FC236}">
                      <a16:creationId xmlns:a16="http://schemas.microsoft.com/office/drawing/2014/main" id="{C624D37E-C0EE-49E0-B054-F551B44C594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4907" y="7050024"/>
                  <a:ext cx="1643943" cy="68121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1" name="圖形 50">
              <a:extLst>
                <a:ext uri="{FF2B5EF4-FFF2-40B4-BE49-F238E27FC236}">
                  <a16:creationId xmlns:a16="http://schemas.microsoft.com/office/drawing/2014/main" id="{3E76D215-8B62-4954-9902-0F16E45E76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 t="1" r="53142" b="-1"/>
            <a:stretch/>
          </p:blipFill>
          <p:spPr>
            <a:xfrm>
              <a:off x="1941037" y="7234237"/>
              <a:ext cx="384497" cy="294557"/>
            </a:xfrm>
            <a:prstGeom prst="rect">
              <a:avLst/>
            </a:prstGeom>
          </p:spPr>
        </p:pic>
      </p:grpSp>
      <p:pic>
        <p:nvPicPr>
          <p:cNvPr id="10" name="圖片 9">
            <a:extLst>
              <a:ext uri="{FF2B5EF4-FFF2-40B4-BE49-F238E27FC236}">
                <a16:creationId xmlns:a16="http://schemas.microsoft.com/office/drawing/2014/main" id="{02E244EE-2B5F-449C-AED4-733F9996984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9625" y="2911475"/>
            <a:ext cx="517330" cy="22030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D1A2200C-E223-4E35-8BFC-90FA59D3F39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82906" y="2895600"/>
            <a:ext cx="562739" cy="215845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135DC35D-6366-4094-B71C-7DF85B70B38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693155" y="2875434"/>
            <a:ext cx="569908" cy="2372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56042DC8-B3C1-4E05-BFD2-43D63DF85C1C}"/>
                  </a:ext>
                </a:extLst>
              </p:cNvPr>
              <p:cNvSpPr/>
              <p:nvPr/>
            </p:nvSpPr>
            <p:spPr>
              <a:xfrm>
                <a:off x="10112106" y="6547542"/>
                <a:ext cx="1794418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altLang="zh-TW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altLang="zh-TW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ℓ,</m:t>
                      </m:r>
                      <m:sSup>
                        <m:sSupPr>
                          <m:ctrlP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=1, </m:t>
                      </m:r>
                      <m:r>
                        <a:rPr lang="en-US" altLang="zh-TW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altLang="zh-TW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−1, </m:t>
                      </m:r>
                      <m:r>
                        <a:rPr lang="en-US" altLang="zh-TW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56042DC8-B3C1-4E05-BFD2-43D63DF85C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2106" y="6547542"/>
                <a:ext cx="1794418" cy="276999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E2FE4490-71B8-4E16-81AF-4288C3FC71EF}"/>
                  </a:ext>
                </a:extLst>
              </p:cNvPr>
              <p:cNvSpPr/>
              <p:nvPr/>
            </p:nvSpPr>
            <p:spPr>
              <a:xfrm>
                <a:off x="3724275" y="7206700"/>
                <a:ext cx="485775" cy="246221"/>
              </a:xfrm>
              <a:prstGeom prst="rect">
                <a:avLst/>
              </a:prstGeom>
              <a:solidFill>
                <a:srgbClr val="ECECEC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altLang="zh-TW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−1, −1</m:t>
                      </m:r>
                    </m:oMath>
                  </m:oMathPara>
                </a14:m>
                <a:endParaRPr lang="zh-TW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E2FE4490-71B8-4E16-81AF-4288C3FC71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4275" y="7206700"/>
                <a:ext cx="485775" cy="246221"/>
              </a:xfrm>
              <a:prstGeom prst="rect">
                <a:avLst/>
              </a:prstGeom>
              <a:blipFill>
                <a:blip r:embed="rId24"/>
                <a:stretch>
                  <a:fillRect r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圖片 1">
            <a:extLst>
              <a:ext uri="{FF2B5EF4-FFF2-40B4-BE49-F238E27FC236}">
                <a16:creationId xmlns:a16="http://schemas.microsoft.com/office/drawing/2014/main" id="{690DDB75-E663-42B5-9BB4-F07789510962}"/>
              </a:ext>
            </a:extLst>
          </p:cNvPr>
          <p:cNvPicPr>
            <a:picLocks noChangeAspect="1"/>
          </p:cNvPicPr>
          <p:nvPr/>
        </p:nvPicPr>
        <p:blipFill rotWithShape="1">
          <a:blip r:embed="rId25"/>
          <a:srcRect l="37132" t="23623" r="26813" b="28529"/>
          <a:stretch/>
        </p:blipFill>
        <p:spPr>
          <a:xfrm>
            <a:off x="9277350" y="4622007"/>
            <a:ext cx="85726" cy="116681"/>
          </a:xfrm>
          <a:prstGeom prst="rect">
            <a:avLst/>
          </a:prstGeom>
        </p:spPr>
      </p:pic>
      <p:pic>
        <p:nvPicPr>
          <p:cNvPr id="43" name="圖片 42">
            <a:extLst>
              <a:ext uri="{FF2B5EF4-FFF2-40B4-BE49-F238E27FC236}">
                <a16:creationId xmlns:a16="http://schemas.microsoft.com/office/drawing/2014/main" id="{323B3B97-F40F-46CA-8131-65FE7FA6D3E8}"/>
              </a:ext>
            </a:extLst>
          </p:cNvPr>
          <p:cNvPicPr>
            <a:picLocks noChangeAspect="1"/>
          </p:cNvPicPr>
          <p:nvPr/>
        </p:nvPicPr>
        <p:blipFill rotWithShape="1">
          <a:blip r:embed="rId25"/>
          <a:srcRect l="37132" t="23623" r="26813" b="28529"/>
          <a:stretch/>
        </p:blipFill>
        <p:spPr>
          <a:xfrm>
            <a:off x="9320212" y="5364956"/>
            <a:ext cx="85726" cy="116681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C9510B90-03D8-414C-ADC2-47F3E50C3D3E}"/>
              </a:ext>
            </a:extLst>
          </p:cNvPr>
          <p:cNvPicPr>
            <a:picLocks noChangeAspect="1"/>
          </p:cNvPicPr>
          <p:nvPr/>
        </p:nvPicPr>
        <p:blipFill rotWithShape="1">
          <a:blip r:embed="rId26"/>
          <a:srcRect l="18041" t="1" b="17132"/>
          <a:stretch/>
        </p:blipFill>
        <p:spPr>
          <a:xfrm>
            <a:off x="5041176" y="5369719"/>
            <a:ext cx="283193" cy="13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1147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矩形: 圓角 177">
            <a:extLst>
              <a:ext uri="{FF2B5EF4-FFF2-40B4-BE49-F238E27FC236}">
                <a16:creationId xmlns:a16="http://schemas.microsoft.com/office/drawing/2014/main" id="{26DC7838-AB92-430D-A20C-94F65865F85E}"/>
              </a:ext>
            </a:extLst>
          </p:cNvPr>
          <p:cNvSpPr/>
          <p:nvPr/>
        </p:nvSpPr>
        <p:spPr>
          <a:xfrm>
            <a:off x="4753154" y="1184911"/>
            <a:ext cx="4286069" cy="75998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9BF905C1-4453-469B-82A0-391C703A8103}"/>
              </a:ext>
            </a:extLst>
          </p:cNvPr>
          <p:cNvSpPr/>
          <p:nvPr/>
        </p:nvSpPr>
        <p:spPr>
          <a:xfrm>
            <a:off x="3545098" y="1184911"/>
            <a:ext cx="837121" cy="75998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6" name="矩形: 圓角 175">
            <a:extLst>
              <a:ext uri="{FF2B5EF4-FFF2-40B4-BE49-F238E27FC236}">
                <a16:creationId xmlns:a16="http://schemas.microsoft.com/office/drawing/2014/main" id="{B6B582B2-5001-4B6B-8DAA-3EE84EDE7E4D}"/>
              </a:ext>
            </a:extLst>
          </p:cNvPr>
          <p:cNvSpPr/>
          <p:nvPr/>
        </p:nvSpPr>
        <p:spPr>
          <a:xfrm>
            <a:off x="491491" y="1079814"/>
            <a:ext cx="10748009" cy="1349061"/>
          </a:xfrm>
          <a:prstGeom prst="roundRect">
            <a:avLst/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Transverse component :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47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grpSp>
        <p:nvGrpSpPr>
          <p:cNvPr id="173" name="群組 172">
            <a:extLst>
              <a:ext uri="{FF2B5EF4-FFF2-40B4-BE49-F238E27FC236}">
                <a16:creationId xmlns:a16="http://schemas.microsoft.com/office/drawing/2014/main" id="{E29F0854-48D9-4E77-B36B-FC1425127094}"/>
              </a:ext>
            </a:extLst>
          </p:cNvPr>
          <p:cNvGrpSpPr/>
          <p:nvPr/>
        </p:nvGrpSpPr>
        <p:grpSpPr>
          <a:xfrm>
            <a:off x="648711" y="1216806"/>
            <a:ext cx="10447914" cy="612796"/>
            <a:chOff x="71454" y="3187418"/>
            <a:chExt cx="10447914" cy="6127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矩形 173">
                  <a:extLst>
                    <a:ext uri="{FF2B5EF4-FFF2-40B4-BE49-F238E27FC236}">
                      <a16:creationId xmlns:a16="http://schemas.microsoft.com/office/drawing/2014/main" id="{7D852537-281C-48C9-89FC-1D5B23C3D9E4}"/>
                    </a:ext>
                  </a:extLst>
                </p:cNvPr>
                <p:cNvSpPr/>
                <p:nvPr/>
              </p:nvSpPr>
              <p:spPr>
                <a:xfrm>
                  <a:off x="71454" y="3187418"/>
                  <a:ext cx="10447914" cy="61279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a:rPr lang="en-US" altLang="zh-TW" sz="19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ℓ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,0,</m:t>
                            </m:r>
                            <m:r>
                              <a:rPr lang="en-US" altLang="zh-TW" sz="19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−2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US" altLang="zh-TW" sz="19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d>
                          </m:sub>
                        </m:sSub>
                        <m:d>
                          <m:d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zh-TW" altLang="en-US" sz="1900" i="1" dirty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f>
                              <m:fPr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d>
                          <m:dPr>
                            <m:begChr m:val="{"/>
                            <m:endChr m:val="}"/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TW" sz="1900">
                                <a:latin typeface="Cambria Math" panose="02040503050406030204" pitchFamily="18" charset="0"/>
                              </a:rPr>
                              <m:t>cos</m:t>
                            </m:r>
                            <m:d>
                              <m:dPr>
                                <m:ctrlP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−ℓ</m:t>
                                </m:r>
                                <m:sSub>
                                  <m:sSubPr>
                                    <m:ctrlPr>
                                      <a:rPr lang="en-US" altLang="zh-TW" sz="19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TW" sz="19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9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altLang="zh-TW" sz="19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∥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zh-TW" sz="19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zh-TW" sz="19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num>
                                  <m:den>
                                    <m:r>
                                      <a:rPr lang="en-US" altLang="zh-TW" sz="19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acc>
                              <m:accPr>
                                <m:chr m:val="̂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acc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altLang="zh-TW" sz="1900">
                                <a:latin typeface="Cambria Math" panose="02040503050406030204" pitchFamily="18" charset="0"/>
                              </a:rPr>
                              <m:t>sin</m:t>
                            </m:r>
                            <m:d>
                              <m:d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−ℓ</m:t>
                                </m:r>
                                <m:sSub>
                                  <m:sSubPr>
                                    <m:ctrlP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  <m:t>∥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num>
                                  <m:den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acc>
                              <m:accPr>
                                <m:chr m:val="̂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zh-TW" altLang="en-US" sz="19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4" name="矩形 173">
                  <a:extLst>
                    <a:ext uri="{FF2B5EF4-FFF2-40B4-BE49-F238E27FC236}">
                      <a16:creationId xmlns:a16="http://schemas.microsoft.com/office/drawing/2014/main" id="{7D852537-281C-48C9-89FC-1D5B23C3D9E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54" y="3187418"/>
                  <a:ext cx="10447914" cy="61279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75" name="圖形 174">
              <a:extLst>
                <a:ext uri="{FF2B5EF4-FFF2-40B4-BE49-F238E27FC236}">
                  <a16:creationId xmlns:a16="http://schemas.microsoft.com/office/drawing/2014/main" id="{1FCD39E0-A35B-48B7-949A-520A8DB20C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r="53142" b="-1"/>
            <a:stretch/>
          </p:blipFill>
          <p:spPr>
            <a:xfrm>
              <a:off x="167410" y="3430419"/>
              <a:ext cx="224841" cy="172247"/>
            </a:xfrm>
            <a:prstGeom prst="rect">
              <a:avLst/>
            </a:prstGeom>
          </p:spPr>
        </p:pic>
      </p:grpSp>
      <p:sp>
        <p:nvSpPr>
          <p:cNvPr id="177" name="矩形 176">
            <a:extLst>
              <a:ext uri="{FF2B5EF4-FFF2-40B4-BE49-F238E27FC236}">
                <a16:creationId xmlns:a16="http://schemas.microsoft.com/office/drawing/2014/main" id="{A0E2BCE1-3225-4615-A218-B80F0E5A150F}"/>
              </a:ext>
            </a:extLst>
          </p:cNvPr>
          <p:cNvSpPr/>
          <p:nvPr/>
        </p:nvSpPr>
        <p:spPr>
          <a:xfrm>
            <a:off x="2615886" y="1996789"/>
            <a:ext cx="22582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Doughnut shape</a:t>
            </a:r>
            <a:endParaRPr lang="zh-TW" altLang="en-US" sz="20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內容版面配置區 2">
                <a:extLst>
                  <a:ext uri="{FF2B5EF4-FFF2-40B4-BE49-F238E27FC236}">
                    <a16:creationId xmlns:a16="http://schemas.microsoft.com/office/drawing/2014/main" id="{ED4D3C8E-1052-483F-8392-4D149AC108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6962" y="709212"/>
                <a:ext cx="4562952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cs typeface="Times New Roman" panose="02020603050405020304" pitchFamily="18" charset="0"/>
                  </a:rPr>
                  <a:t>Second case :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內容版面配置區 2">
                <a:extLst>
                  <a:ext uri="{FF2B5EF4-FFF2-40B4-BE49-F238E27FC236}">
                    <a16:creationId xmlns:a16="http://schemas.microsoft.com/office/drawing/2014/main" id="{ED4D3C8E-1052-483F-8392-4D149AC10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962" y="709212"/>
                <a:ext cx="4562952" cy="324388"/>
              </a:xfrm>
              <a:prstGeom prst="rect">
                <a:avLst/>
              </a:prstGeom>
              <a:blipFill>
                <a:blip r:embed="rId7"/>
                <a:stretch>
                  <a:fillRect l="-1335" t="-29630" b="-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群組 4">
            <a:extLst>
              <a:ext uri="{FF2B5EF4-FFF2-40B4-BE49-F238E27FC236}">
                <a16:creationId xmlns:a16="http://schemas.microsoft.com/office/drawing/2014/main" id="{AD7C2CA2-F9D9-4022-ACE7-C603A66BCB9A}"/>
              </a:ext>
            </a:extLst>
          </p:cNvPr>
          <p:cNvGrpSpPr/>
          <p:nvPr/>
        </p:nvGrpSpPr>
        <p:grpSpPr>
          <a:xfrm>
            <a:off x="309811" y="2763886"/>
            <a:ext cx="2843786" cy="4013687"/>
            <a:chOff x="119311" y="2763886"/>
            <a:chExt cx="2843786" cy="40136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50FF598F-BDE0-462D-BADE-85650AF37BDB}"/>
                    </a:ext>
                  </a:extLst>
                </p:cNvPr>
                <p:cNvSpPr/>
                <p:nvPr/>
              </p:nvSpPr>
              <p:spPr>
                <a:xfrm>
                  <a:off x="2175702" y="2783869"/>
                  <a:ext cx="78739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ℓ=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50FF598F-BDE0-462D-BADE-85650AF37BD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5702" y="2783869"/>
                  <a:ext cx="787395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5" name="圖片 24">
              <a:extLst>
                <a:ext uri="{FF2B5EF4-FFF2-40B4-BE49-F238E27FC236}">
                  <a16:creationId xmlns:a16="http://schemas.microsoft.com/office/drawing/2014/main" id="{5663023B-0630-4FDF-BD30-9B6BFBFFC8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t="671"/>
            <a:stretch/>
          </p:blipFill>
          <p:spPr>
            <a:xfrm>
              <a:off x="119311" y="2763886"/>
              <a:ext cx="2105966" cy="401368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984672AF-440A-471E-B477-78E2C435D0C5}"/>
                  </a:ext>
                </a:extLst>
              </p:cNvPr>
              <p:cNvSpPr/>
              <p:nvPr/>
            </p:nvSpPr>
            <p:spPr>
              <a:xfrm>
                <a:off x="4725569" y="1991366"/>
                <a:ext cx="5035009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Linear polarization </a:t>
                </a:r>
                <a:r>
                  <a:rPr lang="en-US" altLang="zh-TW" sz="2000" b="1" dirty="0">
                    <a:solidFill>
                      <a:srgbClr val="FF0000"/>
                    </a:solidFill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changed with </a:t>
                </a:r>
                <a14:m>
                  <m:oMath xmlns:m="http://schemas.openxmlformats.org/officeDocument/2006/math">
                    <m:r>
                      <a:rPr lang="en-US" altLang="zh-TW" sz="2000" b="1" i="1" dirty="0" smtClean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𝜶</m:t>
                    </m:r>
                  </m:oMath>
                </a14:m>
                <a:r>
                  <a:rPr lang="zh-TW" altLang="en-US" sz="2000" b="1" dirty="0">
                    <a:solidFill>
                      <a:srgbClr val="FF0000"/>
                    </a:solidFill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b="1" dirty="0">
                    <a:solidFill>
                      <a:srgbClr val="FF0000"/>
                    </a:solidFill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14:m>
                  <m:oMath xmlns:m="http://schemas.openxmlformats.org/officeDocument/2006/math">
                    <m:r>
                      <a:rPr lang="en-US" altLang="zh-TW" sz="2000" i="1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</m:oMath>
                </a14:m>
                <a:endParaRPr lang="zh-TW" altLang="en-US" sz="20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984672AF-440A-471E-B477-78E2C435D0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5569" y="1991366"/>
                <a:ext cx="5035009" cy="400110"/>
              </a:xfrm>
              <a:prstGeom prst="rect">
                <a:avLst/>
              </a:prstGeom>
              <a:blipFill>
                <a:blip r:embed="rId10"/>
                <a:stretch>
                  <a:fillRect l="-1211" t="-9231" b="-2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6" name="圖片 55">
            <a:extLst>
              <a:ext uri="{FF2B5EF4-FFF2-40B4-BE49-F238E27FC236}">
                <a16:creationId xmlns:a16="http://schemas.microsoft.com/office/drawing/2014/main" id="{9238AAFE-C54D-4F69-9515-A156253235C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06449" y="2747268"/>
            <a:ext cx="2151475" cy="3981465"/>
          </a:xfrm>
          <a:prstGeom prst="rect">
            <a:avLst/>
          </a:prstGeom>
        </p:spPr>
      </p:pic>
      <p:grpSp>
        <p:nvGrpSpPr>
          <p:cNvPr id="57" name="群組 56">
            <a:extLst>
              <a:ext uri="{FF2B5EF4-FFF2-40B4-BE49-F238E27FC236}">
                <a16:creationId xmlns:a16="http://schemas.microsoft.com/office/drawing/2014/main" id="{DFEBC01D-DF00-40F3-8102-06E7AFF5A083}"/>
              </a:ext>
            </a:extLst>
          </p:cNvPr>
          <p:cNvGrpSpPr/>
          <p:nvPr/>
        </p:nvGrpSpPr>
        <p:grpSpPr>
          <a:xfrm>
            <a:off x="8195390" y="2709229"/>
            <a:ext cx="2186860" cy="4044405"/>
            <a:chOff x="7254948" y="3352800"/>
            <a:chExt cx="1838652" cy="3400425"/>
          </a:xfrm>
        </p:grpSpPr>
        <p:pic>
          <p:nvPicPr>
            <p:cNvPr id="58" name="圖片 57">
              <a:extLst>
                <a:ext uri="{FF2B5EF4-FFF2-40B4-BE49-F238E27FC236}">
                  <a16:creationId xmlns:a16="http://schemas.microsoft.com/office/drawing/2014/main" id="{14EEE922-C353-4C70-BD16-C60DE5F59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254948" y="3352800"/>
              <a:ext cx="1838652" cy="3400425"/>
            </a:xfrm>
            <a:prstGeom prst="rect">
              <a:avLst/>
            </a:prstGeom>
          </p:spPr>
        </p:pic>
        <p:pic>
          <p:nvPicPr>
            <p:cNvPr id="59" name="圖片 58">
              <a:extLst>
                <a:ext uri="{FF2B5EF4-FFF2-40B4-BE49-F238E27FC236}">
                  <a16:creationId xmlns:a16="http://schemas.microsoft.com/office/drawing/2014/main" id="{718D34C0-6A57-4F5E-BED3-B21B760CE9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646711" y="3467800"/>
              <a:ext cx="1013895" cy="199543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1EBDAFF6-5EAB-4EF9-B619-B5AB39E6CA00}"/>
                  </a:ext>
                </a:extLst>
              </p:cNvPr>
              <p:cNvSpPr/>
              <p:nvPr/>
            </p:nvSpPr>
            <p:spPr>
              <a:xfrm>
                <a:off x="6227781" y="2783869"/>
                <a:ext cx="96051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ℓ=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1EBDAFF6-5EAB-4EF9-B619-B5AB39E6CA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7781" y="2783869"/>
                <a:ext cx="960519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702D338A-CD14-4B25-A4DA-A1174F376EA7}"/>
                  </a:ext>
                </a:extLst>
              </p:cNvPr>
              <p:cNvSpPr/>
              <p:nvPr/>
            </p:nvSpPr>
            <p:spPr>
              <a:xfrm>
                <a:off x="10301178" y="2783869"/>
                <a:ext cx="78739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ℓ=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702D338A-CD14-4B25-A4DA-A1174F376E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1178" y="2783869"/>
                <a:ext cx="787395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3" name="圖片 62">
            <a:extLst>
              <a:ext uri="{FF2B5EF4-FFF2-40B4-BE49-F238E27FC236}">
                <a16:creationId xmlns:a16="http://schemas.microsoft.com/office/drawing/2014/main" id="{D59879EB-A27B-4FD4-92D0-C4568561100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9625" y="2911475"/>
            <a:ext cx="517330" cy="220308"/>
          </a:xfrm>
          <a:prstGeom prst="rect">
            <a:avLst/>
          </a:prstGeom>
        </p:spPr>
      </p:pic>
      <p:grpSp>
        <p:nvGrpSpPr>
          <p:cNvPr id="64" name="群組 63">
            <a:extLst>
              <a:ext uri="{FF2B5EF4-FFF2-40B4-BE49-F238E27FC236}">
                <a16:creationId xmlns:a16="http://schemas.microsoft.com/office/drawing/2014/main" id="{E2AD66AB-C1CE-4584-864E-BF2514717B3D}"/>
              </a:ext>
            </a:extLst>
          </p:cNvPr>
          <p:cNvGrpSpPr/>
          <p:nvPr/>
        </p:nvGrpSpPr>
        <p:grpSpPr>
          <a:xfrm>
            <a:off x="1137357" y="7113524"/>
            <a:ext cx="1804251" cy="681212"/>
            <a:chOff x="1854907" y="7050024"/>
            <a:chExt cx="1804251" cy="6812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矩形 64">
                  <a:extLst>
                    <a:ext uri="{FF2B5EF4-FFF2-40B4-BE49-F238E27FC236}">
                      <a16:creationId xmlns:a16="http://schemas.microsoft.com/office/drawing/2014/main" id="{9E17D4F8-4602-405B-830E-6336A15ADB5A}"/>
                    </a:ext>
                  </a:extLst>
                </p:cNvPr>
                <p:cNvSpPr/>
                <p:nvPr/>
              </p:nvSpPr>
              <p:spPr>
                <a:xfrm>
                  <a:off x="1854907" y="7050024"/>
                  <a:ext cx="1804251" cy="681212"/>
                </a:xfrm>
                <a:prstGeom prst="rect">
                  <a:avLst/>
                </a:prstGeom>
                <a:solidFill>
                  <a:srgbClr val="F2F2F2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−4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−2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  <m:r>
                              <a:rPr lang="en-US" altLang="zh-TW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altLang="zh-TW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∥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5" name="矩形 64">
                  <a:extLst>
                    <a:ext uri="{FF2B5EF4-FFF2-40B4-BE49-F238E27FC236}">
                      <a16:creationId xmlns:a16="http://schemas.microsoft.com/office/drawing/2014/main" id="{9E17D4F8-4602-405B-830E-6336A15ADB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4907" y="7050024"/>
                  <a:ext cx="1804251" cy="68121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66" name="圖形 65">
              <a:extLst>
                <a:ext uri="{FF2B5EF4-FFF2-40B4-BE49-F238E27FC236}">
                  <a16:creationId xmlns:a16="http://schemas.microsoft.com/office/drawing/2014/main" id="{E0994607-DC12-4249-93AE-5DCAF158C5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r="53142" b="-1"/>
            <a:stretch/>
          </p:blipFill>
          <p:spPr>
            <a:xfrm>
              <a:off x="1941037" y="7234237"/>
              <a:ext cx="384497" cy="294557"/>
            </a:xfrm>
            <a:prstGeom prst="rect">
              <a:avLst/>
            </a:prstGeom>
          </p:spPr>
        </p:pic>
      </p:grpSp>
      <p:pic>
        <p:nvPicPr>
          <p:cNvPr id="2" name="圖片 1">
            <a:extLst>
              <a:ext uri="{FF2B5EF4-FFF2-40B4-BE49-F238E27FC236}">
                <a16:creationId xmlns:a16="http://schemas.microsoft.com/office/drawing/2014/main" id="{B8C980BF-01FA-42DB-AFB7-488BD3800EC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52281" y="2875410"/>
            <a:ext cx="610269" cy="25409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47F71DF9-DFC1-49C0-A36E-14D3F122747C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658172" y="2832100"/>
            <a:ext cx="660902" cy="250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3674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Longitudinal component :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48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sp>
        <p:nvSpPr>
          <p:cNvPr id="19" name="內容版面配置區 2">
            <a:extLst>
              <a:ext uri="{FF2B5EF4-FFF2-40B4-BE49-F238E27FC236}">
                <a16:creationId xmlns:a16="http://schemas.microsoft.com/office/drawing/2014/main" id="{C27AD78E-2CA2-4984-8A2D-67C599602F34}"/>
              </a:ext>
            </a:extLst>
          </p:cNvPr>
          <p:cNvSpPr txBox="1">
            <a:spLocks/>
          </p:cNvSpPr>
          <p:nvPr/>
        </p:nvSpPr>
        <p:spPr>
          <a:xfrm>
            <a:off x="336962" y="709212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 of VVB: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ABDD363E-4BEE-4AAF-ADD6-280544C21965}"/>
              </a:ext>
            </a:extLst>
          </p:cNvPr>
          <p:cNvSpPr/>
          <p:nvPr/>
        </p:nvSpPr>
        <p:spPr>
          <a:xfrm>
            <a:off x="443866" y="1058691"/>
            <a:ext cx="10224134" cy="1217784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663AB5B2-2493-4627-8132-AEBE3C9604E7}"/>
              </a:ext>
            </a:extLst>
          </p:cNvPr>
          <p:cNvGrpSpPr/>
          <p:nvPr/>
        </p:nvGrpSpPr>
        <p:grpSpPr>
          <a:xfrm>
            <a:off x="508743" y="1129500"/>
            <a:ext cx="2227982" cy="441916"/>
            <a:chOff x="7128124" y="2749452"/>
            <a:chExt cx="2227982" cy="4419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ACA27BF9-C2AE-4311-B8FF-CD57C44D16B1}"/>
                    </a:ext>
                  </a:extLst>
                </p:cNvPr>
                <p:cNvSpPr/>
                <p:nvPr/>
              </p:nvSpPr>
              <p:spPr>
                <a:xfrm>
                  <a:off x="7128124" y="2749452"/>
                  <a:ext cx="2227982" cy="44191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ACA27BF9-C2AE-4311-B8FF-CD57C44D16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124" y="2749452"/>
                  <a:ext cx="2227982" cy="44191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7" name="圖形 26">
              <a:extLst>
                <a:ext uri="{FF2B5EF4-FFF2-40B4-BE49-F238E27FC236}">
                  <a16:creationId xmlns:a16="http://schemas.microsoft.com/office/drawing/2014/main" id="{B52C7492-E756-4567-9D5B-AEC2AD341D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r="53142" b="-1"/>
            <a:stretch/>
          </p:blipFill>
          <p:spPr>
            <a:xfrm>
              <a:off x="7268092" y="2884400"/>
              <a:ext cx="224841" cy="17224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EEC4BED4-E3DF-49E4-95BC-692EF1F80BF6}"/>
                  </a:ext>
                </a:extLst>
              </p:cNvPr>
              <p:cNvSpPr/>
              <p:nvPr/>
            </p:nvSpPr>
            <p:spPr>
              <a:xfrm>
                <a:off x="2493967" y="1060244"/>
                <a:ext cx="8078783" cy="11295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altLang="zh-TW" sz="1500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TW" sz="15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5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5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5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sz="15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15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altLang="zh-TW" sz="15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5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5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5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</m:acc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𝜎</m:t>
                                      </m:r>
                                    </m:e>
                                  </m:acc>
                                </m:e>
                              </m:d>
                              <m:sSub>
                                <m:sSub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5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5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50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altLang="zh-TW" sz="15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50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500" b="0" i="1" smtClean="0">
                                          <a:latin typeface="Cambria Math" panose="02040503050406030204" pitchFamily="18" charset="0"/>
                                        </a:rPr>
                                        <m:t>ℓ+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5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𝜎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5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5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5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TW" sz="1500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5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15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sSub>
                                <m:sSub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5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5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altLang="zh-TW" sz="1500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50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15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sSub>
                                <m:sSub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5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altLang="zh-TW" sz="15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5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50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  <m:t>ℓ+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5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𝜎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5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5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5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TW" sz="1500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5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15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sSub>
                                <m:sSub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5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500" b="1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altLang="zh-TW" sz="1500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50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15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sSub>
                                <m:sSub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5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5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EEC4BED4-E3DF-49E4-95BC-692EF1F80B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967" y="1060244"/>
                <a:ext cx="8078783" cy="11295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52474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Longitudinal component :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49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sp>
        <p:nvSpPr>
          <p:cNvPr id="19" name="內容版面配置區 2">
            <a:extLst>
              <a:ext uri="{FF2B5EF4-FFF2-40B4-BE49-F238E27FC236}">
                <a16:creationId xmlns:a16="http://schemas.microsoft.com/office/drawing/2014/main" id="{C27AD78E-2CA2-4984-8A2D-67C599602F34}"/>
              </a:ext>
            </a:extLst>
          </p:cNvPr>
          <p:cNvSpPr txBox="1">
            <a:spLocks/>
          </p:cNvSpPr>
          <p:nvPr/>
        </p:nvSpPr>
        <p:spPr>
          <a:xfrm>
            <a:off x="336962" y="709212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 of VVB: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ABDD363E-4BEE-4AAF-ADD6-280544C21965}"/>
              </a:ext>
            </a:extLst>
          </p:cNvPr>
          <p:cNvSpPr/>
          <p:nvPr/>
        </p:nvSpPr>
        <p:spPr>
          <a:xfrm>
            <a:off x="443866" y="1058691"/>
            <a:ext cx="10224134" cy="1217784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663AB5B2-2493-4627-8132-AEBE3C9604E7}"/>
              </a:ext>
            </a:extLst>
          </p:cNvPr>
          <p:cNvGrpSpPr/>
          <p:nvPr/>
        </p:nvGrpSpPr>
        <p:grpSpPr>
          <a:xfrm>
            <a:off x="508743" y="1129500"/>
            <a:ext cx="2227982" cy="441916"/>
            <a:chOff x="7128124" y="2749452"/>
            <a:chExt cx="2227982" cy="4419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ACA27BF9-C2AE-4311-B8FF-CD57C44D16B1}"/>
                    </a:ext>
                  </a:extLst>
                </p:cNvPr>
                <p:cNvSpPr/>
                <p:nvPr/>
              </p:nvSpPr>
              <p:spPr>
                <a:xfrm>
                  <a:off x="7128124" y="2749452"/>
                  <a:ext cx="2227982" cy="44191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ACA27BF9-C2AE-4311-B8FF-CD57C44D16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124" y="2749452"/>
                  <a:ext cx="2227982" cy="44191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7" name="圖形 26">
              <a:extLst>
                <a:ext uri="{FF2B5EF4-FFF2-40B4-BE49-F238E27FC236}">
                  <a16:creationId xmlns:a16="http://schemas.microsoft.com/office/drawing/2014/main" id="{B52C7492-E756-4567-9D5B-AEC2AD341D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r="53142" b="-1"/>
            <a:stretch/>
          </p:blipFill>
          <p:spPr>
            <a:xfrm>
              <a:off x="7268092" y="2884400"/>
              <a:ext cx="224841" cy="17224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EEC4BED4-E3DF-49E4-95BC-692EF1F80BF6}"/>
                  </a:ext>
                </a:extLst>
              </p:cNvPr>
              <p:cNvSpPr/>
              <p:nvPr/>
            </p:nvSpPr>
            <p:spPr>
              <a:xfrm>
                <a:off x="2493967" y="1060244"/>
                <a:ext cx="8078783" cy="11295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altLang="zh-TW" sz="1500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TW" sz="15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5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5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5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sz="15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15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altLang="zh-TW" sz="15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5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5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5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</m:acc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𝜎</m:t>
                                      </m:r>
                                    </m:e>
                                  </m:acc>
                                </m:e>
                              </m:d>
                              <m:sSub>
                                <m:sSub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5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5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50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altLang="zh-TW" sz="15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50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500" b="0" i="1" smtClean="0">
                                          <a:latin typeface="Cambria Math" panose="02040503050406030204" pitchFamily="18" charset="0"/>
                                        </a:rPr>
                                        <m:t>ℓ+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5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𝜎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5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5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5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TW" sz="1500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5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15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sSub>
                                <m:sSub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5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5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altLang="zh-TW" sz="1500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50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15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sSub>
                                <m:sSub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5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altLang="zh-TW" sz="15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5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50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  <m:t>ℓ+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5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𝜎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5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5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5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TW" sz="1500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5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15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sSub>
                                <m:sSub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5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500" b="1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altLang="zh-TW" sz="1500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50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15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sSub>
                                <m:sSub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5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5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EEC4BED4-E3DF-49E4-95BC-692EF1F80B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967" y="1060244"/>
                <a:ext cx="8078783" cy="11295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內容版面配置區 2">
                <a:extLst>
                  <a:ext uri="{FF2B5EF4-FFF2-40B4-BE49-F238E27FC236}">
                    <a16:creationId xmlns:a16="http://schemas.microsoft.com/office/drawing/2014/main" id="{DA763AFC-FB47-4E0B-8F2F-74C32580D8A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6240" y="3238500"/>
                <a:ext cx="7528559" cy="37252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Longitudinal component of VVB: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內容版面配置區 2">
                <a:extLst>
                  <a:ext uri="{FF2B5EF4-FFF2-40B4-BE49-F238E27FC236}">
                    <a16:creationId xmlns:a16="http://schemas.microsoft.com/office/drawing/2014/main" id="{DA763AFC-FB47-4E0B-8F2F-74C32580D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" y="3238500"/>
                <a:ext cx="7528559" cy="372522"/>
              </a:xfrm>
              <a:prstGeom prst="rect">
                <a:avLst/>
              </a:prstGeom>
              <a:blipFill>
                <a:blip r:embed="rId8"/>
                <a:stretch>
                  <a:fillRect l="-810" t="-34426"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箭號: 向右 15">
            <a:extLst>
              <a:ext uri="{FF2B5EF4-FFF2-40B4-BE49-F238E27FC236}">
                <a16:creationId xmlns:a16="http://schemas.microsoft.com/office/drawing/2014/main" id="{6615456E-33C8-41B3-923B-E90E24297011}"/>
              </a:ext>
            </a:extLst>
          </p:cNvPr>
          <p:cNvSpPr/>
          <p:nvPr/>
        </p:nvSpPr>
        <p:spPr>
          <a:xfrm rot="5400000">
            <a:off x="1262152" y="2506251"/>
            <a:ext cx="739502" cy="606574"/>
          </a:xfrm>
          <a:prstGeom prst="righ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F98D4137-AA34-48EA-A88E-9AA672B02925}"/>
              </a:ext>
            </a:extLst>
          </p:cNvPr>
          <p:cNvGrpSpPr/>
          <p:nvPr/>
        </p:nvGrpSpPr>
        <p:grpSpPr>
          <a:xfrm>
            <a:off x="2076680" y="2630412"/>
            <a:ext cx="2661177" cy="312073"/>
            <a:chOff x="14379" y="1317211"/>
            <a:chExt cx="2661177" cy="3120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2F0283CD-7D9B-4380-BB88-1B95E52E1443}"/>
                    </a:ext>
                  </a:extLst>
                </p:cNvPr>
                <p:cNvSpPr/>
                <p:nvPr/>
              </p:nvSpPr>
              <p:spPr>
                <a:xfrm>
                  <a:off x="14379" y="1319359"/>
                  <a:ext cx="1765099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TW" sz="1400" b="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Define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Δ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𝐽</m:t>
                      </m:r>
                      <m:r>
                        <a:rPr lang="en-US" altLang="zh-TW" sz="1400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TW" sz="1400" i="1">
                          <a:latin typeface="Cambria Math" panose="02040503050406030204" pitchFamily="18" charset="0"/>
                        </a:rPr>
                        <m:t>ℓ+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Δ</m:t>
                      </m:r>
                      <m:r>
                        <a:rPr lang="en-US" altLang="zh-TW" sz="1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𝜎</m:t>
                      </m:r>
                    </m:oMath>
                  </a14:m>
                  <a:endParaRPr lang="zh-TW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2F0283CD-7D9B-4380-BB88-1B95E52E144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79" y="1319359"/>
                  <a:ext cx="1765099" cy="307777"/>
                </a:xfrm>
                <a:prstGeom prst="rect">
                  <a:avLst/>
                </a:prstGeom>
                <a:blipFill>
                  <a:blip r:embed="rId9"/>
                  <a:stretch>
                    <a:fillRect l="-1038" t="-4000" b="-2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8E93FD81-B862-4129-B784-31A1808EDB96}"/>
                    </a:ext>
                  </a:extLst>
                </p:cNvPr>
                <p:cNvSpPr/>
                <p:nvPr/>
              </p:nvSpPr>
              <p:spPr>
                <a:xfrm>
                  <a:off x="1721577" y="1317211"/>
                  <a:ext cx="953979" cy="31207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TW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</m:e>
                        </m:acc>
                        <m:r>
                          <a:rPr lang="en-US" altLang="zh-TW" sz="1400" i="1" dirty="0">
                            <a:latin typeface="Cambria Math" panose="02040503050406030204" pitchFamily="18" charset="0"/>
                          </a:rPr>
                          <m:t>≡</m:t>
                        </m:r>
                        <m:acc>
                          <m:accPr>
                            <m:chr m:val="̅"/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</m:t>
                            </m:r>
                          </m:e>
                        </m:acc>
                        <m:r>
                          <a:rPr lang="en-US" altLang="zh-TW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</m:acc>
                      </m:oMath>
                    </m:oMathPara>
                  </a14:m>
                  <a:endParaRPr lang="zh-TW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8E93FD81-B862-4129-B784-31A1808EDB9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1577" y="1317211"/>
                  <a:ext cx="953979" cy="312073"/>
                </a:xfrm>
                <a:prstGeom prst="rect">
                  <a:avLst/>
                </a:prstGeom>
                <a:blipFill>
                  <a:blip r:embed="rId10"/>
                  <a:stretch>
                    <a:fillRect r="-14103" b="-384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28DE32B5-4A54-47B9-B88B-CD53143B7DC3}"/>
              </a:ext>
            </a:extLst>
          </p:cNvPr>
          <p:cNvSpPr/>
          <p:nvPr/>
        </p:nvSpPr>
        <p:spPr>
          <a:xfrm>
            <a:off x="443866" y="3641595"/>
            <a:ext cx="10890884" cy="730380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D106034D-0B85-405C-8EF3-F5802FEA6CA8}"/>
              </a:ext>
            </a:extLst>
          </p:cNvPr>
          <p:cNvGrpSpPr/>
          <p:nvPr/>
        </p:nvGrpSpPr>
        <p:grpSpPr>
          <a:xfrm>
            <a:off x="508743" y="3712404"/>
            <a:ext cx="2685928" cy="595163"/>
            <a:chOff x="7128124" y="2749452"/>
            <a:chExt cx="2685928" cy="5951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8FE7AEC8-FCE9-4FDC-99B8-4CD6E431F38B}"/>
                    </a:ext>
                  </a:extLst>
                </p:cNvPr>
                <p:cNvSpPr/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𝐽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8FE7AEC8-FCE9-4FDC-99B8-4CD6E431F3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4" name="圖形 33">
              <a:extLst>
                <a:ext uri="{FF2B5EF4-FFF2-40B4-BE49-F238E27FC236}">
                  <a16:creationId xmlns:a16="http://schemas.microsoft.com/office/drawing/2014/main" id="{90202BD3-2E66-46AA-B341-BC94CE426D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r="53142" b="-1"/>
            <a:stretch/>
          </p:blipFill>
          <p:spPr>
            <a:xfrm>
              <a:off x="7268092" y="2986000"/>
              <a:ext cx="224841" cy="17224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529B87A0-5FF0-46AD-AE1B-B346028A2D45}"/>
                  </a:ext>
                </a:extLst>
              </p:cNvPr>
              <p:cNvSpPr/>
              <p:nvPr/>
            </p:nvSpPr>
            <p:spPr>
              <a:xfrm>
                <a:off x="3013488" y="3742020"/>
                <a:ext cx="8330788" cy="5043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200" b="1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𝐽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529B87A0-5FF0-46AD-AE1B-B346028A2D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3488" y="3742020"/>
                <a:ext cx="8330788" cy="50430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84704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Longitudinal component :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50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sp>
        <p:nvSpPr>
          <p:cNvPr id="19" name="內容版面配置區 2">
            <a:extLst>
              <a:ext uri="{FF2B5EF4-FFF2-40B4-BE49-F238E27FC236}">
                <a16:creationId xmlns:a16="http://schemas.microsoft.com/office/drawing/2014/main" id="{C27AD78E-2CA2-4984-8A2D-67C599602F34}"/>
              </a:ext>
            </a:extLst>
          </p:cNvPr>
          <p:cNvSpPr txBox="1">
            <a:spLocks/>
          </p:cNvSpPr>
          <p:nvPr/>
        </p:nvSpPr>
        <p:spPr>
          <a:xfrm>
            <a:off x="336962" y="709212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 of VVB: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ABDD363E-4BEE-4AAF-ADD6-280544C21965}"/>
              </a:ext>
            </a:extLst>
          </p:cNvPr>
          <p:cNvSpPr/>
          <p:nvPr/>
        </p:nvSpPr>
        <p:spPr>
          <a:xfrm>
            <a:off x="443866" y="1058691"/>
            <a:ext cx="10224134" cy="1217784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663AB5B2-2493-4627-8132-AEBE3C9604E7}"/>
              </a:ext>
            </a:extLst>
          </p:cNvPr>
          <p:cNvGrpSpPr/>
          <p:nvPr/>
        </p:nvGrpSpPr>
        <p:grpSpPr>
          <a:xfrm>
            <a:off x="508743" y="1129500"/>
            <a:ext cx="2227982" cy="441916"/>
            <a:chOff x="7128124" y="2749452"/>
            <a:chExt cx="2227982" cy="4419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ACA27BF9-C2AE-4311-B8FF-CD57C44D16B1}"/>
                    </a:ext>
                  </a:extLst>
                </p:cNvPr>
                <p:cNvSpPr/>
                <p:nvPr/>
              </p:nvSpPr>
              <p:spPr>
                <a:xfrm>
                  <a:off x="7128124" y="2749452"/>
                  <a:ext cx="2227982" cy="44191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ACA27BF9-C2AE-4311-B8FF-CD57C44D16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124" y="2749452"/>
                  <a:ext cx="2227982" cy="44191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7" name="圖形 26">
              <a:extLst>
                <a:ext uri="{FF2B5EF4-FFF2-40B4-BE49-F238E27FC236}">
                  <a16:creationId xmlns:a16="http://schemas.microsoft.com/office/drawing/2014/main" id="{B52C7492-E756-4567-9D5B-AEC2AD341D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r="53142" b="-1"/>
            <a:stretch/>
          </p:blipFill>
          <p:spPr>
            <a:xfrm>
              <a:off x="7268092" y="2884400"/>
              <a:ext cx="224841" cy="17224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EEC4BED4-E3DF-49E4-95BC-692EF1F80BF6}"/>
                  </a:ext>
                </a:extLst>
              </p:cNvPr>
              <p:cNvSpPr/>
              <p:nvPr/>
            </p:nvSpPr>
            <p:spPr>
              <a:xfrm>
                <a:off x="2493967" y="1060244"/>
                <a:ext cx="8078783" cy="11295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altLang="zh-TW" sz="1500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TW" sz="15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5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5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5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sz="15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15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altLang="zh-TW" sz="15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5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5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5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</m:acc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𝜎</m:t>
                                      </m:r>
                                    </m:e>
                                  </m:acc>
                                </m:e>
                              </m:d>
                              <m:sSub>
                                <m:sSub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5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5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50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altLang="zh-TW" sz="15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50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500" b="0" i="1" smtClean="0">
                                          <a:latin typeface="Cambria Math" panose="02040503050406030204" pitchFamily="18" charset="0"/>
                                        </a:rPr>
                                        <m:t>ℓ+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5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𝜎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5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5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5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TW" sz="1500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5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15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sSub>
                                <m:sSub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5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5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altLang="zh-TW" sz="1500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50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15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sSub>
                                <m:sSub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5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altLang="zh-TW" sz="15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5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50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  <m:t>ℓ+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5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𝜎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5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5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5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TW" sz="1500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5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15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sSub>
                                <m:sSub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5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500" b="1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altLang="zh-TW" sz="1500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50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15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sSub>
                                <m:sSub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5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5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EEC4BED4-E3DF-49E4-95BC-692EF1F80B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967" y="1060244"/>
                <a:ext cx="8078783" cy="11295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內容版面配置區 2">
                <a:extLst>
                  <a:ext uri="{FF2B5EF4-FFF2-40B4-BE49-F238E27FC236}">
                    <a16:creationId xmlns:a16="http://schemas.microsoft.com/office/drawing/2014/main" id="{DA763AFC-FB47-4E0B-8F2F-74C32580D8A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6240" y="3238500"/>
                <a:ext cx="7528559" cy="37252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Longitudinal component of VVB: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內容版面配置區 2">
                <a:extLst>
                  <a:ext uri="{FF2B5EF4-FFF2-40B4-BE49-F238E27FC236}">
                    <a16:creationId xmlns:a16="http://schemas.microsoft.com/office/drawing/2014/main" id="{DA763AFC-FB47-4E0B-8F2F-74C32580D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" y="3238500"/>
                <a:ext cx="7528559" cy="372522"/>
              </a:xfrm>
              <a:prstGeom prst="rect">
                <a:avLst/>
              </a:prstGeom>
              <a:blipFill>
                <a:blip r:embed="rId8"/>
                <a:stretch>
                  <a:fillRect l="-810" t="-34426"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箭號: 向右 15">
            <a:extLst>
              <a:ext uri="{FF2B5EF4-FFF2-40B4-BE49-F238E27FC236}">
                <a16:creationId xmlns:a16="http://schemas.microsoft.com/office/drawing/2014/main" id="{6615456E-33C8-41B3-923B-E90E24297011}"/>
              </a:ext>
            </a:extLst>
          </p:cNvPr>
          <p:cNvSpPr/>
          <p:nvPr/>
        </p:nvSpPr>
        <p:spPr>
          <a:xfrm rot="5400000">
            <a:off x="1262152" y="2506251"/>
            <a:ext cx="739502" cy="606574"/>
          </a:xfrm>
          <a:prstGeom prst="righ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F98D4137-AA34-48EA-A88E-9AA672B02925}"/>
              </a:ext>
            </a:extLst>
          </p:cNvPr>
          <p:cNvGrpSpPr/>
          <p:nvPr/>
        </p:nvGrpSpPr>
        <p:grpSpPr>
          <a:xfrm>
            <a:off x="2076680" y="2630412"/>
            <a:ext cx="2661177" cy="312073"/>
            <a:chOff x="14379" y="1317211"/>
            <a:chExt cx="2661177" cy="3120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2F0283CD-7D9B-4380-BB88-1B95E52E1443}"/>
                    </a:ext>
                  </a:extLst>
                </p:cNvPr>
                <p:cNvSpPr/>
                <p:nvPr/>
              </p:nvSpPr>
              <p:spPr>
                <a:xfrm>
                  <a:off x="14379" y="1319359"/>
                  <a:ext cx="1765099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TW" sz="1400" b="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Define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Δ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𝐽</m:t>
                      </m:r>
                      <m:r>
                        <a:rPr lang="en-US" altLang="zh-TW" sz="1400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TW" sz="1400" i="1">
                          <a:latin typeface="Cambria Math" panose="02040503050406030204" pitchFamily="18" charset="0"/>
                        </a:rPr>
                        <m:t>ℓ+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Δ</m:t>
                      </m:r>
                      <m:r>
                        <a:rPr lang="en-US" altLang="zh-TW" sz="1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𝜎</m:t>
                      </m:r>
                    </m:oMath>
                  </a14:m>
                  <a:endParaRPr lang="zh-TW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2F0283CD-7D9B-4380-BB88-1B95E52E144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79" y="1319359"/>
                  <a:ext cx="1765099" cy="307777"/>
                </a:xfrm>
                <a:prstGeom prst="rect">
                  <a:avLst/>
                </a:prstGeom>
                <a:blipFill>
                  <a:blip r:embed="rId9"/>
                  <a:stretch>
                    <a:fillRect l="-1038" t="-4000" b="-2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8E93FD81-B862-4129-B784-31A1808EDB96}"/>
                    </a:ext>
                  </a:extLst>
                </p:cNvPr>
                <p:cNvSpPr/>
                <p:nvPr/>
              </p:nvSpPr>
              <p:spPr>
                <a:xfrm>
                  <a:off x="1721577" y="1317211"/>
                  <a:ext cx="953979" cy="31207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TW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</m:e>
                        </m:acc>
                        <m:r>
                          <a:rPr lang="en-US" altLang="zh-TW" sz="1400" i="1" dirty="0">
                            <a:latin typeface="Cambria Math" panose="02040503050406030204" pitchFamily="18" charset="0"/>
                          </a:rPr>
                          <m:t>≡</m:t>
                        </m:r>
                        <m:acc>
                          <m:accPr>
                            <m:chr m:val="̅"/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</m:t>
                            </m:r>
                          </m:e>
                        </m:acc>
                        <m:r>
                          <a:rPr lang="en-US" altLang="zh-TW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</m:acc>
                      </m:oMath>
                    </m:oMathPara>
                  </a14:m>
                  <a:endParaRPr lang="zh-TW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8E93FD81-B862-4129-B784-31A1808EDB9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1577" y="1317211"/>
                  <a:ext cx="953979" cy="312073"/>
                </a:xfrm>
                <a:prstGeom prst="rect">
                  <a:avLst/>
                </a:prstGeom>
                <a:blipFill>
                  <a:blip r:embed="rId10"/>
                  <a:stretch>
                    <a:fillRect r="-14103" b="-384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28DE32B5-4A54-47B9-B88B-CD53143B7DC3}"/>
              </a:ext>
            </a:extLst>
          </p:cNvPr>
          <p:cNvSpPr/>
          <p:nvPr/>
        </p:nvSpPr>
        <p:spPr>
          <a:xfrm>
            <a:off x="443866" y="3641595"/>
            <a:ext cx="10890884" cy="730380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D106034D-0B85-405C-8EF3-F5802FEA6CA8}"/>
              </a:ext>
            </a:extLst>
          </p:cNvPr>
          <p:cNvGrpSpPr/>
          <p:nvPr/>
        </p:nvGrpSpPr>
        <p:grpSpPr>
          <a:xfrm>
            <a:off x="508743" y="3712404"/>
            <a:ext cx="2685928" cy="595163"/>
            <a:chOff x="7128124" y="2749452"/>
            <a:chExt cx="2685928" cy="5951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8FE7AEC8-FCE9-4FDC-99B8-4CD6E431F38B}"/>
                    </a:ext>
                  </a:extLst>
                </p:cNvPr>
                <p:cNvSpPr/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𝐽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8FE7AEC8-FCE9-4FDC-99B8-4CD6E431F3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4" name="圖形 33">
              <a:extLst>
                <a:ext uri="{FF2B5EF4-FFF2-40B4-BE49-F238E27FC236}">
                  <a16:creationId xmlns:a16="http://schemas.microsoft.com/office/drawing/2014/main" id="{90202BD3-2E66-46AA-B341-BC94CE426D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r="53142" b="-1"/>
            <a:stretch/>
          </p:blipFill>
          <p:spPr>
            <a:xfrm>
              <a:off x="7268092" y="2986000"/>
              <a:ext cx="224841" cy="17224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529B87A0-5FF0-46AD-AE1B-B346028A2D45}"/>
                  </a:ext>
                </a:extLst>
              </p:cNvPr>
              <p:cNvSpPr/>
              <p:nvPr/>
            </p:nvSpPr>
            <p:spPr>
              <a:xfrm>
                <a:off x="3013488" y="3742020"/>
                <a:ext cx="8330788" cy="5043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200" b="1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𝐽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529B87A0-5FF0-46AD-AE1B-B346028A2D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3488" y="3742020"/>
                <a:ext cx="8330788" cy="50430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矩形: 圓角 41">
            <a:extLst>
              <a:ext uri="{FF2B5EF4-FFF2-40B4-BE49-F238E27FC236}">
                <a16:creationId xmlns:a16="http://schemas.microsoft.com/office/drawing/2014/main" id="{4498C833-8F81-4492-962B-FD806EA915F9}"/>
              </a:ext>
            </a:extLst>
          </p:cNvPr>
          <p:cNvSpPr/>
          <p:nvPr/>
        </p:nvSpPr>
        <p:spPr>
          <a:xfrm>
            <a:off x="6584710" y="5471161"/>
            <a:ext cx="2147978" cy="75998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: 圓角 42">
            <a:extLst>
              <a:ext uri="{FF2B5EF4-FFF2-40B4-BE49-F238E27FC236}">
                <a16:creationId xmlns:a16="http://schemas.microsoft.com/office/drawing/2014/main" id="{B9DAA02D-5B7F-45C1-B5C3-2BDF7AF8A21E}"/>
              </a:ext>
            </a:extLst>
          </p:cNvPr>
          <p:cNvSpPr/>
          <p:nvPr/>
        </p:nvSpPr>
        <p:spPr>
          <a:xfrm>
            <a:off x="4213106" y="5471161"/>
            <a:ext cx="1212911" cy="75998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B6D8E0A1-B99B-4718-AE69-F10A8D7C4D0E}"/>
              </a:ext>
            </a:extLst>
          </p:cNvPr>
          <p:cNvSpPr/>
          <p:nvPr/>
        </p:nvSpPr>
        <p:spPr>
          <a:xfrm>
            <a:off x="491491" y="5366064"/>
            <a:ext cx="10748009" cy="1350000"/>
          </a:xfrm>
          <a:prstGeom prst="roundRect">
            <a:avLst/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45" name="箭號: 向右 44">
            <a:extLst>
              <a:ext uri="{FF2B5EF4-FFF2-40B4-BE49-F238E27FC236}">
                <a16:creationId xmlns:a16="http://schemas.microsoft.com/office/drawing/2014/main" id="{09700BD9-8DA0-474A-8AD3-C57CBD8A02B9}"/>
              </a:ext>
            </a:extLst>
          </p:cNvPr>
          <p:cNvSpPr/>
          <p:nvPr/>
        </p:nvSpPr>
        <p:spPr>
          <a:xfrm rot="5400000">
            <a:off x="1262152" y="4620801"/>
            <a:ext cx="739502" cy="606574"/>
          </a:xfrm>
          <a:prstGeom prst="righ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951F73E8-07A9-47EF-962B-4A96D651C992}"/>
                  </a:ext>
                </a:extLst>
              </p:cNvPr>
              <p:cNvSpPr/>
              <p:nvPr/>
            </p:nvSpPr>
            <p:spPr>
              <a:xfrm>
                <a:off x="2036120" y="4659656"/>
                <a:ext cx="3234620" cy="5704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sub>
                    </m:sSub>
                    <m:d>
                      <m:d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sub>
                    </m:sSub>
                    <m:d>
                      <m:d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</m:oMath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951F73E8-07A9-47EF-962B-4A96D651C9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6120" y="4659656"/>
                <a:ext cx="3234620" cy="570477"/>
              </a:xfrm>
              <a:prstGeom prst="rect">
                <a:avLst/>
              </a:prstGeom>
              <a:blipFill>
                <a:blip r:embed="rId13"/>
                <a:stretch>
                  <a:fillRect l="-1883" t="-31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群組 46">
            <a:extLst>
              <a:ext uri="{FF2B5EF4-FFF2-40B4-BE49-F238E27FC236}">
                <a16:creationId xmlns:a16="http://schemas.microsoft.com/office/drawing/2014/main" id="{19C25B56-5A18-44E8-BEC6-D1CBBF37EDEA}"/>
              </a:ext>
            </a:extLst>
          </p:cNvPr>
          <p:cNvGrpSpPr/>
          <p:nvPr/>
        </p:nvGrpSpPr>
        <p:grpSpPr>
          <a:xfrm>
            <a:off x="648711" y="5442674"/>
            <a:ext cx="10091176" cy="803361"/>
            <a:chOff x="71454" y="3127036"/>
            <a:chExt cx="10091176" cy="8033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矩形 47">
                  <a:extLst>
                    <a:ext uri="{FF2B5EF4-FFF2-40B4-BE49-F238E27FC236}">
                      <a16:creationId xmlns:a16="http://schemas.microsoft.com/office/drawing/2014/main" id="{F5537657-BE5F-4BB4-B638-91A7FA19693A}"/>
                    </a:ext>
                  </a:extLst>
                </p:cNvPr>
                <p:cNvSpPr/>
                <p:nvPr/>
              </p:nvSpPr>
              <p:spPr>
                <a:xfrm>
                  <a:off x="71454" y="3127036"/>
                  <a:ext cx="10091176" cy="80336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9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𝐽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US" altLang="zh-TW" sz="1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TW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sub>
                                </m:sSub>
                              </m:e>
                            </m:func>
                          </m:num>
                          <m:den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</m:e>
                                </m:acc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±</m:t>
                                </m:r>
                                <m:f>
                                  <m:f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US" altLang="zh-TW" sz="20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Δ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</m:num>
                                  <m:den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sub>
                        </m:sSub>
                        <m:d>
                          <m:d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d>
                              <m:dPr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𝐽</m:t>
                                    </m:r>
                                  </m:e>
                                </m:acc>
                                <m:sSub>
                                  <m:sSub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∥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num>
                                  <m:den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sup>
                        </m:sSup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d>
                              <m:d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  <m:sSub>
                                  <m:sSub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∥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</m:e>
                        </m:d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e>
                        </m:acc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8" name="矩形 47">
                  <a:extLst>
                    <a:ext uri="{FF2B5EF4-FFF2-40B4-BE49-F238E27FC236}">
                      <a16:creationId xmlns:a16="http://schemas.microsoft.com/office/drawing/2014/main" id="{F5537657-BE5F-4BB4-B638-91A7FA1969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54" y="3127036"/>
                  <a:ext cx="10091176" cy="80336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9" name="圖形 48">
              <a:extLst>
                <a:ext uri="{FF2B5EF4-FFF2-40B4-BE49-F238E27FC236}">
                  <a16:creationId xmlns:a16="http://schemas.microsoft.com/office/drawing/2014/main" id="{F84917B6-2BA9-4397-A79B-C8F9B3710E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r="53142" b="-1"/>
            <a:stretch/>
          </p:blipFill>
          <p:spPr>
            <a:xfrm>
              <a:off x="167410" y="3417662"/>
              <a:ext cx="224841" cy="172247"/>
            </a:xfrm>
            <a:prstGeom prst="rect">
              <a:avLst/>
            </a:prstGeom>
          </p:spPr>
        </p:pic>
      </p:grpSp>
      <p:sp>
        <p:nvSpPr>
          <p:cNvPr id="50" name="矩形 49">
            <a:extLst>
              <a:ext uri="{FF2B5EF4-FFF2-40B4-BE49-F238E27FC236}">
                <a16:creationId xmlns:a16="http://schemas.microsoft.com/office/drawing/2014/main" id="{55185BB5-EBE3-4449-92DF-8FDC8853E6DB}"/>
              </a:ext>
            </a:extLst>
          </p:cNvPr>
          <p:cNvSpPr/>
          <p:nvPr/>
        </p:nvSpPr>
        <p:spPr>
          <a:xfrm>
            <a:off x="3832210" y="6283039"/>
            <a:ext cx="22582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Doughnut shape</a:t>
            </a:r>
            <a:endParaRPr lang="zh-TW" altLang="en-US" sz="20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0A029717-7CCE-4009-9C20-EC4E2A3E76BE}"/>
              </a:ext>
            </a:extLst>
          </p:cNvPr>
          <p:cNvSpPr/>
          <p:nvPr/>
        </p:nvSpPr>
        <p:spPr>
          <a:xfrm>
            <a:off x="6470443" y="6277616"/>
            <a:ext cx="24952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Azimuthal structure</a:t>
            </a:r>
            <a:endParaRPr lang="zh-TW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7258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: 圓角 50">
            <a:extLst>
              <a:ext uri="{FF2B5EF4-FFF2-40B4-BE49-F238E27FC236}">
                <a16:creationId xmlns:a16="http://schemas.microsoft.com/office/drawing/2014/main" id="{5BCCBB01-5148-4CAB-8FB8-A82294C10B7C}"/>
              </a:ext>
            </a:extLst>
          </p:cNvPr>
          <p:cNvSpPr/>
          <p:nvPr/>
        </p:nvSpPr>
        <p:spPr>
          <a:xfrm>
            <a:off x="6746457" y="1195817"/>
            <a:ext cx="2213274" cy="75998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矩形: 圓角 51">
            <a:extLst>
              <a:ext uri="{FF2B5EF4-FFF2-40B4-BE49-F238E27FC236}">
                <a16:creationId xmlns:a16="http://schemas.microsoft.com/office/drawing/2014/main" id="{7AB7EC83-D440-409D-8967-E7B6861BBE4B}"/>
              </a:ext>
            </a:extLst>
          </p:cNvPr>
          <p:cNvSpPr/>
          <p:nvPr/>
        </p:nvSpPr>
        <p:spPr>
          <a:xfrm>
            <a:off x="4308179" y="1183832"/>
            <a:ext cx="857546" cy="75998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47F9B9E1-F5A1-4603-81DA-0EA810B015E8}"/>
              </a:ext>
            </a:extLst>
          </p:cNvPr>
          <p:cNvGrpSpPr/>
          <p:nvPr/>
        </p:nvGrpSpPr>
        <p:grpSpPr>
          <a:xfrm>
            <a:off x="595073" y="1167522"/>
            <a:ext cx="10091176" cy="803361"/>
            <a:chOff x="71454" y="3127036"/>
            <a:chExt cx="10091176" cy="8033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4DAE2F08-7338-4445-90F6-E68E6E5DBDC8}"/>
                    </a:ext>
                  </a:extLst>
                </p:cNvPr>
                <p:cNvSpPr/>
                <p:nvPr/>
              </p:nvSpPr>
              <p:spPr>
                <a:xfrm>
                  <a:off x="71454" y="3127036"/>
                  <a:ext cx="10091176" cy="80336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a:rPr lang="en-US" altLang="zh-TW" sz="19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ℓ+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US" altLang="zh-TW" sz="1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TW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sub>
                                </m:sSub>
                              </m:e>
                            </m:func>
                          </m:num>
                          <m:den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d>
                          </m:sub>
                        </m:sSub>
                        <m:d>
                          <m:d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d>
                              <m:dPr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ctrlPr>
                                      <a:rPr lang="en-US" altLang="zh-TW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b="0" i="1" dirty="0" smtClean="0">
                                        <a:latin typeface="Cambria Math" panose="02040503050406030204" pitchFamily="18" charset="0"/>
                                      </a:rPr>
                                      <m:t>ℓ+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</m:d>
                                <m:sSub>
                                  <m:sSub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∥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num>
                                  <m:den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sup>
                        </m:sSup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d>
                              <m:d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sSub>
                                  <m:sSub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∥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</m:e>
                        </m:d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e>
                        </m:acc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4DAE2F08-7338-4445-90F6-E68E6E5DBD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54" y="3127036"/>
                  <a:ext cx="10091176" cy="80336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5" name="圖形 44">
              <a:extLst>
                <a:ext uri="{FF2B5EF4-FFF2-40B4-BE49-F238E27FC236}">
                  <a16:creationId xmlns:a16="http://schemas.microsoft.com/office/drawing/2014/main" id="{5C0933FC-8606-4C68-A9EB-37D5E3BA60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1" r="53142" b="-1"/>
            <a:stretch/>
          </p:blipFill>
          <p:spPr>
            <a:xfrm>
              <a:off x="167410" y="3417662"/>
              <a:ext cx="224841" cy="172247"/>
            </a:xfrm>
            <a:prstGeom prst="rect">
              <a:avLst/>
            </a:prstGeom>
          </p:spPr>
        </p:pic>
      </p:grpSp>
      <p:sp>
        <p:nvSpPr>
          <p:cNvPr id="176" name="矩形: 圓角 175">
            <a:extLst>
              <a:ext uri="{FF2B5EF4-FFF2-40B4-BE49-F238E27FC236}">
                <a16:creationId xmlns:a16="http://schemas.microsoft.com/office/drawing/2014/main" id="{B6B582B2-5001-4B6B-8DAA-3EE84EDE7E4D}"/>
              </a:ext>
            </a:extLst>
          </p:cNvPr>
          <p:cNvSpPr/>
          <p:nvPr/>
        </p:nvSpPr>
        <p:spPr>
          <a:xfrm>
            <a:off x="491491" y="1079814"/>
            <a:ext cx="10748009" cy="1349061"/>
          </a:xfrm>
          <a:prstGeom prst="roundRect">
            <a:avLst/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Longitudinal component :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51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內容版面配置區 2">
                <a:extLst>
                  <a:ext uri="{FF2B5EF4-FFF2-40B4-BE49-F238E27FC236}">
                    <a16:creationId xmlns:a16="http://schemas.microsoft.com/office/drawing/2014/main" id="{ED4D3C8E-1052-483F-8392-4D149AC108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6962" y="709212"/>
                <a:ext cx="4562952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cs typeface="Times New Roman" panose="02020603050405020304" pitchFamily="18" charset="0"/>
                  </a:rPr>
                  <a:t>First case :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ℓ=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內容版面配置區 2">
                <a:extLst>
                  <a:ext uri="{FF2B5EF4-FFF2-40B4-BE49-F238E27FC236}">
                    <a16:creationId xmlns:a16="http://schemas.microsoft.com/office/drawing/2014/main" id="{ED4D3C8E-1052-483F-8392-4D149AC10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962" y="709212"/>
                <a:ext cx="4562952" cy="324388"/>
              </a:xfrm>
              <a:prstGeom prst="rect">
                <a:avLst/>
              </a:prstGeom>
              <a:blipFill>
                <a:blip r:embed="rId7"/>
                <a:stretch>
                  <a:fillRect l="-1335" t="-29630" b="-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矩形 52">
            <a:extLst>
              <a:ext uri="{FF2B5EF4-FFF2-40B4-BE49-F238E27FC236}">
                <a16:creationId xmlns:a16="http://schemas.microsoft.com/office/drawing/2014/main" id="{B47F25AE-47D8-469A-9ABA-89CB1E0A3E0B}"/>
              </a:ext>
            </a:extLst>
          </p:cNvPr>
          <p:cNvSpPr/>
          <p:nvPr/>
        </p:nvSpPr>
        <p:spPr>
          <a:xfrm>
            <a:off x="3825922" y="1978399"/>
            <a:ext cx="22582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Doughnut shape</a:t>
            </a:r>
            <a:endParaRPr lang="zh-TW" altLang="en-US" sz="20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4421F5F-0548-4B45-AA75-74B8D1577198}"/>
              </a:ext>
            </a:extLst>
          </p:cNvPr>
          <p:cNvSpPr/>
          <p:nvPr/>
        </p:nvSpPr>
        <p:spPr>
          <a:xfrm>
            <a:off x="6654834" y="1972976"/>
            <a:ext cx="24952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Azimuthal structure</a:t>
            </a:r>
            <a:endParaRPr lang="zh-TW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37AE43B-251D-493C-B89D-AC6D61FA8E5A}"/>
                  </a:ext>
                </a:extLst>
              </p:cNvPr>
              <p:cNvSpPr/>
              <p:nvPr/>
            </p:nvSpPr>
            <p:spPr>
              <a:xfrm>
                <a:off x="6393089" y="2596902"/>
                <a:ext cx="283936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Opposite spin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TW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0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37AE43B-251D-493C-B89D-AC6D61FA8E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3089" y="2596902"/>
                <a:ext cx="2839367" cy="400110"/>
              </a:xfrm>
              <a:prstGeom prst="rect">
                <a:avLst/>
              </a:prstGeom>
              <a:blipFill>
                <a:blip r:embed="rId8"/>
                <a:stretch>
                  <a:fillRect l="-2361" t="-7576" b="-257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A95E8230-0111-48D0-9702-D89FBD29AA2B}"/>
                  </a:ext>
                </a:extLst>
              </p:cNvPr>
              <p:cNvSpPr/>
              <p:nvPr/>
            </p:nvSpPr>
            <p:spPr>
              <a:xfrm>
                <a:off x="466742" y="2596902"/>
                <a:ext cx="221855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Same spin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TW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A95E8230-0111-48D0-9702-D89FBD29AA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42" y="2596902"/>
                <a:ext cx="2218556" cy="400110"/>
              </a:xfrm>
              <a:prstGeom prst="rect">
                <a:avLst/>
              </a:prstGeom>
              <a:blipFill>
                <a:blip r:embed="rId9"/>
                <a:stretch>
                  <a:fillRect l="-3022" t="-7576" b="-257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圖片 11">
            <a:extLst>
              <a:ext uri="{FF2B5EF4-FFF2-40B4-BE49-F238E27FC236}">
                <a16:creationId xmlns:a16="http://schemas.microsoft.com/office/drawing/2014/main" id="{8884E2EE-9B6B-4166-9490-49F6609E54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59114" y="3049078"/>
            <a:ext cx="2522536" cy="298474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376CD897-F1FA-4047-994B-A8BC53E882E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1772" y="3079269"/>
            <a:ext cx="2529597" cy="2967487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37261D38-E90A-441C-811F-78D43D1191F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62577" y="3072654"/>
            <a:ext cx="2545061" cy="29810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1486AEFA-52DD-43E6-9EEF-B18EE7C49F44}"/>
                  </a:ext>
                </a:extLst>
              </p:cNvPr>
              <p:cNvSpPr/>
              <p:nvPr/>
            </p:nvSpPr>
            <p:spPr>
              <a:xfrm>
                <a:off x="3844437" y="6000984"/>
                <a:ext cx="96051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ℓ=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1486AEFA-52DD-43E6-9EEF-B18EE7C49F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437" y="6000984"/>
                <a:ext cx="960519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BC199245-1E23-4849-B8C9-EE6145D68502}"/>
                  </a:ext>
                </a:extLst>
              </p:cNvPr>
              <p:cNvSpPr/>
              <p:nvPr/>
            </p:nvSpPr>
            <p:spPr>
              <a:xfrm>
                <a:off x="7387044" y="6046756"/>
                <a:ext cx="78739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ℓ=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BC199245-1E23-4849-B8C9-EE6145D685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7044" y="6046756"/>
                <a:ext cx="78739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8444B4D3-CFDA-4FD9-BA26-F267BC3FD183}"/>
                  </a:ext>
                </a:extLst>
              </p:cNvPr>
              <p:cNvSpPr/>
              <p:nvPr/>
            </p:nvSpPr>
            <p:spPr>
              <a:xfrm>
                <a:off x="9868049" y="6046756"/>
                <a:ext cx="96051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ℓ=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8444B4D3-CFDA-4FD9-BA26-F267BC3FD1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8049" y="6046756"/>
                <a:ext cx="960519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5D7416FE-E5D0-4019-9A87-8574335D7677}"/>
                  </a:ext>
                </a:extLst>
              </p:cNvPr>
              <p:cNvSpPr/>
              <p:nvPr/>
            </p:nvSpPr>
            <p:spPr>
              <a:xfrm>
                <a:off x="2076503" y="2596902"/>
                <a:ext cx="249527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⇒ </m:t>
                    </m:r>
                  </m:oMath>
                </a14:m>
                <a:r>
                  <a:rPr lang="en-US" altLang="zh-TW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node</a:t>
                </a:r>
                <a:endParaRPr lang="zh-TW" alt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5D7416FE-E5D0-4019-9A87-8574335D76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6503" y="2596902"/>
                <a:ext cx="2495278" cy="400110"/>
              </a:xfrm>
              <a:prstGeom prst="rect">
                <a:avLst/>
              </a:prstGeom>
              <a:blipFill>
                <a:blip r:embed="rId16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559C1F01-FCED-49A8-AE79-B49FC9E35E67}"/>
                  </a:ext>
                </a:extLst>
              </p:cNvPr>
              <p:cNvSpPr/>
              <p:nvPr/>
            </p:nvSpPr>
            <p:spPr>
              <a:xfrm>
                <a:off x="8714102" y="2596902"/>
                <a:ext cx="249527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⇒ </m:t>
                    </m:r>
                    <m:r>
                      <a:rPr lang="en-US" altLang="zh-TW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altLang="zh-TW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nodes</a:t>
                </a:r>
                <a:endParaRPr lang="zh-TW" alt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559C1F01-FCED-49A8-AE79-B49FC9E35E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4102" y="2596902"/>
                <a:ext cx="2495278" cy="400110"/>
              </a:xfrm>
              <a:prstGeom prst="rect">
                <a:avLst/>
              </a:prstGeom>
              <a:blipFill>
                <a:blip r:embed="rId17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7" name="圖片 76">
            <a:extLst>
              <a:ext uri="{FF2B5EF4-FFF2-40B4-BE49-F238E27FC236}">
                <a16:creationId xmlns:a16="http://schemas.microsoft.com/office/drawing/2014/main" id="{B64A66A1-8C86-4424-8FEC-61A87E08C2F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3415" y="3062018"/>
            <a:ext cx="2547430" cy="29916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20580BD2-5DB7-49C9-96C6-8F24E7D01246}"/>
                  </a:ext>
                </a:extLst>
              </p:cNvPr>
              <p:cNvSpPr/>
              <p:nvPr/>
            </p:nvSpPr>
            <p:spPr>
              <a:xfrm>
                <a:off x="1363432" y="6000984"/>
                <a:ext cx="78739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ℓ=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20580BD2-5DB7-49C9-96C6-8F24E7D012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3432" y="6000984"/>
                <a:ext cx="787395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5" name="群組 94">
            <a:extLst>
              <a:ext uri="{FF2B5EF4-FFF2-40B4-BE49-F238E27FC236}">
                <a16:creationId xmlns:a16="http://schemas.microsoft.com/office/drawing/2014/main" id="{965904E3-0D6D-43B5-95DF-78666793B872}"/>
              </a:ext>
            </a:extLst>
          </p:cNvPr>
          <p:cNvGrpSpPr/>
          <p:nvPr/>
        </p:nvGrpSpPr>
        <p:grpSpPr>
          <a:xfrm>
            <a:off x="1950157" y="7050024"/>
            <a:ext cx="1974862" cy="620426"/>
            <a:chOff x="1854907" y="7050024"/>
            <a:chExt cx="1974862" cy="6204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矩形 95">
                  <a:extLst>
                    <a:ext uri="{FF2B5EF4-FFF2-40B4-BE49-F238E27FC236}">
                      <a16:creationId xmlns:a16="http://schemas.microsoft.com/office/drawing/2014/main" id="{4013AE3F-EBAB-4AFE-8A79-C7967812AFD3}"/>
                    </a:ext>
                  </a:extLst>
                </p:cNvPr>
                <p:cNvSpPr/>
                <p:nvPr/>
              </p:nvSpPr>
              <p:spPr>
                <a:xfrm>
                  <a:off x="1854907" y="7050024"/>
                  <a:ext cx="1974862" cy="620426"/>
                </a:xfrm>
                <a:prstGeom prst="rect">
                  <a:avLst/>
                </a:prstGeom>
                <a:solidFill>
                  <a:srgbClr val="F2F2F2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a:rPr lang="en-US" altLang="zh-TW" sz="3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−2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  <m:r>
                              <a:rPr lang="en-US" altLang="zh-TW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altLang="zh-TW" sz="32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𝒛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6" name="矩形 95">
                  <a:extLst>
                    <a:ext uri="{FF2B5EF4-FFF2-40B4-BE49-F238E27FC236}">
                      <a16:creationId xmlns:a16="http://schemas.microsoft.com/office/drawing/2014/main" id="{4013AE3F-EBAB-4AFE-8A79-C7967812AFD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4907" y="7050024"/>
                  <a:ext cx="1974862" cy="620426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7" name="圖形 96">
              <a:extLst>
                <a:ext uri="{FF2B5EF4-FFF2-40B4-BE49-F238E27FC236}">
                  <a16:creationId xmlns:a16="http://schemas.microsoft.com/office/drawing/2014/main" id="{60B7BBC2-C50D-40F9-9F12-C8687F9105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1" r="53142" b="-1"/>
            <a:stretch/>
          </p:blipFill>
          <p:spPr>
            <a:xfrm>
              <a:off x="1941037" y="7234237"/>
              <a:ext cx="384497" cy="29455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9EFEFA08-5984-47F2-9CF5-7D172B238C33}"/>
                  </a:ext>
                </a:extLst>
              </p:cNvPr>
              <p:cNvSpPr/>
              <p:nvPr/>
            </p:nvSpPr>
            <p:spPr>
              <a:xfrm>
                <a:off x="-325769" y="7024640"/>
                <a:ext cx="1325462" cy="4078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9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</m:t>
                          </m:r>
                        </m:e>
                        <m:sub>
                          <m:r>
                            <a:rPr lang="en-US" altLang="zh-TW" sz="19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ℓ+</m:t>
                          </m:r>
                          <m:acc>
                            <m:accPr>
                              <m:chr m:val="̅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</m:acc>
                        </m:sub>
                        <m:sup>
                          <m:r>
                            <a:rPr lang="en-US" altLang="zh-TW" sz="19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𝒛</m:t>
                          </m:r>
                        </m:sup>
                      </m:sSub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9EFEFA08-5984-47F2-9CF5-7D172B238C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5769" y="7024640"/>
                <a:ext cx="1325462" cy="407869"/>
              </a:xfrm>
              <a:prstGeom prst="rect">
                <a:avLst/>
              </a:prstGeom>
              <a:blipFill>
                <a:blip r:embed="rId21"/>
                <a:stretch>
                  <a:fillRect r="-9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圖片 15">
            <a:extLst>
              <a:ext uri="{FF2B5EF4-FFF2-40B4-BE49-F238E27FC236}">
                <a16:creationId xmlns:a16="http://schemas.microsoft.com/office/drawing/2014/main" id="{25E9BE4A-A9D7-4144-AFAB-132977970F59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26345" y="3164256"/>
            <a:ext cx="483494" cy="220963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50465477-2F9B-4501-804C-BD4FBE5434F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764353" y="3164256"/>
            <a:ext cx="522142" cy="202832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F754ABC5-CCA8-473E-AE1A-D2C07A40554E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l="3434" t="1" r="14653" b="-1"/>
          <a:stretch/>
        </p:blipFill>
        <p:spPr>
          <a:xfrm>
            <a:off x="7138987" y="3183731"/>
            <a:ext cx="495301" cy="206321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1DCE6882-F55C-4F00-A141-B340300F8290}"/>
              </a:ext>
            </a:extLst>
          </p:cNvPr>
          <p:cNvPicPr>
            <a:picLocks noChangeAspect="1"/>
          </p:cNvPicPr>
          <p:nvPr/>
        </p:nvPicPr>
        <p:blipFill rotWithShape="1">
          <a:blip r:embed="rId25"/>
          <a:srcRect l="3221" t="1" b="-1"/>
          <a:stretch/>
        </p:blipFill>
        <p:spPr>
          <a:xfrm>
            <a:off x="9689306" y="3203576"/>
            <a:ext cx="517102" cy="166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5163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: 圓角 50">
            <a:extLst>
              <a:ext uri="{FF2B5EF4-FFF2-40B4-BE49-F238E27FC236}">
                <a16:creationId xmlns:a16="http://schemas.microsoft.com/office/drawing/2014/main" id="{5BCCBB01-5148-4CAB-8FB8-A82294C10B7C}"/>
              </a:ext>
            </a:extLst>
          </p:cNvPr>
          <p:cNvSpPr/>
          <p:nvPr/>
        </p:nvSpPr>
        <p:spPr>
          <a:xfrm>
            <a:off x="6781801" y="1195817"/>
            <a:ext cx="3209924" cy="75998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矩形: 圓角 51">
            <a:extLst>
              <a:ext uri="{FF2B5EF4-FFF2-40B4-BE49-F238E27FC236}">
                <a16:creationId xmlns:a16="http://schemas.microsoft.com/office/drawing/2014/main" id="{7AB7EC83-D440-409D-8967-E7B6861BBE4B}"/>
              </a:ext>
            </a:extLst>
          </p:cNvPr>
          <p:cNvSpPr/>
          <p:nvPr/>
        </p:nvSpPr>
        <p:spPr>
          <a:xfrm>
            <a:off x="4757650" y="1183832"/>
            <a:ext cx="857546" cy="75998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47F9B9E1-F5A1-4603-81DA-0EA810B015E8}"/>
              </a:ext>
            </a:extLst>
          </p:cNvPr>
          <p:cNvGrpSpPr/>
          <p:nvPr/>
        </p:nvGrpSpPr>
        <p:grpSpPr>
          <a:xfrm>
            <a:off x="595073" y="1167522"/>
            <a:ext cx="10515750" cy="777008"/>
            <a:chOff x="71454" y="3127036"/>
            <a:chExt cx="10515750" cy="7770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4DAE2F08-7338-4445-90F6-E68E6E5DBDC8}"/>
                    </a:ext>
                  </a:extLst>
                </p:cNvPr>
                <p:cNvSpPr/>
                <p:nvPr/>
              </p:nvSpPr>
              <p:spPr>
                <a:xfrm>
                  <a:off x="71454" y="3127036"/>
                  <a:ext cx="10515750" cy="77700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a:rPr lang="en-US" altLang="zh-TW" sz="19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</m:t>
                            </m:r>
                            <m:r>
                              <a:rPr lang="en-US" altLang="zh-TW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US" altLang="zh-TW" sz="1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TW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sub>
                                </m:sSub>
                              </m:e>
                            </m:func>
                          </m:num>
                          <m:den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d>
                          </m:sub>
                        </m:sSub>
                        <m:d>
                          <m:d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d>
                              <m:dPr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</m:acc>
                                <m:sSub>
                                  <m:sSub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∥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num>
                                  <m:den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sup>
                        </m:sSup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  <m:r>
                                      <a:rPr lang="en-US" altLang="zh-TW" sz="20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2000"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∥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</m:e>
                        </m:d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e>
                        </m:acc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4DAE2F08-7338-4445-90F6-E68E6E5DBD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54" y="3127036"/>
                  <a:ext cx="10515750" cy="777008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5" name="圖形 44">
              <a:extLst>
                <a:ext uri="{FF2B5EF4-FFF2-40B4-BE49-F238E27FC236}">
                  <a16:creationId xmlns:a16="http://schemas.microsoft.com/office/drawing/2014/main" id="{5C0933FC-8606-4C68-A9EB-37D5E3BA60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1" r="53142" b="-1"/>
            <a:stretch/>
          </p:blipFill>
          <p:spPr>
            <a:xfrm>
              <a:off x="167410" y="3417662"/>
              <a:ext cx="224841" cy="172247"/>
            </a:xfrm>
            <a:prstGeom prst="rect">
              <a:avLst/>
            </a:prstGeom>
          </p:spPr>
        </p:pic>
      </p:grpSp>
      <p:sp>
        <p:nvSpPr>
          <p:cNvPr id="176" name="矩形: 圓角 175">
            <a:extLst>
              <a:ext uri="{FF2B5EF4-FFF2-40B4-BE49-F238E27FC236}">
                <a16:creationId xmlns:a16="http://schemas.microsoft.com/office/drawing/2014/main" id="{B6B582B2-5001-4B6B-8DAA-3EE84EDE7E4D}"/>
              </a:ext>
            </a:extLst>
          </p:cNvPr>
          <p:cNvSpPr/>
          <p:nvPr/>
        </p:nvSpPr>
        <p:spPr>
          <a:xfrm>
            <a:off x="491491" y="1079814"/>
            <a:ext cx="10748009" cy="1349061"/>
          </a:xfrm>
          <a:prstGeom prst="roundRect">
            <a:avLst/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Longitudinal component :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52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內容版面配置區 2">
                <a:extLst>
                  <a:ext uri="{FF2B5EF4-FFF2-40B4-BE49-F238E27FC236}">
                    <a16:creationId xmlns:a16="http://schemas.microsoft.com/office/drawing/2014/main" id="{ED4D3C8E-1052-483F-8392-4D149AC108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6962" y="709212"/>
                <a:ext cx="4562952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cs typeface="Times New Roman" panose="02020603050405020304" pitchFamily="18" charset="0"/>
                  </a:rPr>
                  <a:t>Second case :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內容版面配置區 2">
                <a:extLst>
                  <a:ext uri="{FF2B5EF4-FFF2-40B4-BE49-F238E27FC236}">
                    <a16:creationId xmlns:a16="http://schemas.microsoft.com/office/drawing/2014/main" id="{ED4D3C8E-1052-483F-8392-4D149AC10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962" y="709212"/>
                <a:ext cx="4562952" cy="324388"/>
              </a:xfrm>
              <a:prstGeom prst="rect">
                <a:avLst/>
              </a:prstGeom>
              <a:blipFill>
                <a:blip r:embed="rId7"/>
                <a:stretch>
                  <a:fillRect l="-1335" t="-29630" b="-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矩形 52">
            <a:extLst>
              <a:ext uri="{FF2B5EF4-FFF2-40B4-BE49-F238E27FC236}">
                <a16:creationId xmlns:a16="http://schemas.microsoft.com/office/drawing/2014/main" id="{B47F25AE-47D8-469A-9ABA-89CB1E0A3E0B}"/>
              </a:ext>
            </a:extLst>
          </p:cNvPr>
          <p:cNvSpPr/>
          <p:nvPr/>
        </p:nvSpPr>
        <p:spPr>
          <a:xfrm>
            <a:off x="4349797" y="1978399"/>
            <a:ext cx="22582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Doughnut shape</a:t>
            </a:r>
            <a:endParaRPr lang="zh-TW" altLang="en-US" sz="20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4421F5F-0548-4B45-AA75-74B8D1577198}"/>
              </a:ext>
            </a:extLst>
          </p:cNvPr>
          <p:cNvSpPr/>
          <p:nvPr/>
        </p:nvSpPr>
        <p:spPr>
          <a:xfrm>
            <a:off x="7169184" y="1972976"/>
            <a:ext cx="24952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Azimuthal structure</a:t>
            </a:r>
            <a:endParaRPr lang="zh-TW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B8A10004-FD67-40DE-B63C-F59582119313}"/>
                  </a:ext>
                </a:extLst>
              </p:cNvPr>
              <p:cNvSpPr/>
              <p:nvPr/>
            </p:nvSpPr>
            <p:spPr>
              <a:xfrm>
                <a:off x="-411519" y="7013328"/>
                <a:ext cx="2972766" cy="4165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9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</m:t>
                          </m:r>
                        </m:e>
                        <m:sub>
                          <m:r>
                            <a:rPr lang="en-US" altLang="zh-TW" sz="19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ℓ,</m:t>
                          </m:r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Δ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𝐽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TW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  <m:r>
                            <a:rPr lang="en-US" altLang="zh-TW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𝐽</m:t>
                              </m:r>
                            </m:e>
                          </m:acc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acc>
                            <m:accPr>
                              <m:chr m:val="̅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</m:acc>
                        </m:sub>
                        <m:sup>
                          <m:r>
                            <a:rPr lang="en-US" altLang="zh-TW" sz="19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𝒛</m:t>
                          </m:r>
                        </m:sup>
                      </m:sSub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B8A10004-FD67-40DE-B63C-F595821193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11519" y="7013328"/>
                <a:ext cx="2972766" cy="416589"/>
              </a:xfrm>
              <a:prstGeom prst="rect">
                <a:avLst/>
              </a:prstGeom>
              <a:blipFill>
                <a:blip r:embed="rId8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2" name="圖形 71">
            <a:extLst>
              <a:ext uri="{FF2B5EF4-FFF2-40B4-BE49-F238E27FC236}">
                <a16:creationId xmlns:a16="http://schemas.microsoft.com/office/drawing/2014/main" id="{B63C0A5F-F8BC-4014-B982-1A88490DE00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" r="53142" b="-1"/>
          <a:stretch/>
        </p:blipFill>
        <p:spPr>
          <a:xfrm>
            <a:off x="-324370" y="7135500"/>
            <a:ext cx="224841" cy="172247"/>
          </a:xfrm>
          <a:prstGeom prst="rect">
            <a:avLst/>
          </a:prstGeom>
        </p:spPr>
      </p:pic>
      <p:grpSp>
        <p:nvGrpSpPr>
          <p:cNvPr id="16" name="群組 15">
            <a:extLst>
              <a:ext uri="{FF2B5EF4-FFF2-40B4-BE49-F238E27FC236}">
                <a16:creationId xmlns:a16="http://schemas.microsoft.com/office/drawing/2014/main" id="{971F1C9A-F6D0-44F1-B235-2235515E4036}"/>
              </a:ext>
            </a:extLst>
          </p:cNvPr>
          <p:cNvGrpSpPr/>
          <p:nvPr/>
        </p:nvGrpSpPr>
        <p:grpSpPr>
          <a:xfrm>
            <a:off x="1950158" y="7050024"/>
            <a:ext cx="1793167" cy="620426"/>
            <a:chOff x="1854908" y="7050024"/>
            <a:chExt cx="1793167" cy="6204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矩形 72">
                  <a:extLst>
                    <a:ext uri="{FF2B5EF4-FFF2-40B4-BE49-F238E27FC236}">
                      <a16:creationId xmlns:a16="http://schemas.microsoft.com/office/drawing/2014/main" id="{35A932CB-8F98-47FC-9F5A-98361BC9D63F}"/>
                    </a:ext>
                  </a:extLst>
                </p:cNvPr>
                <p:cNvSpPr/>
                <p:nvPr/>
              </p:nvSpPr>
              <p:spPr>
                <a:xfrm>
                  <a:off x="1854908" y="7050024"/>
                  <a:ext cx="1793167" cy="620426"/>
                </a:xfrm>
                <a:prstGeom prst="rect">
                  <a:avLst/>
                </a:prstGeom>
                <a:solidFill>
                  <a:srgbClr val="F2F2F2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a:rPr lang="en-US" altLang="zh-TW" sz="3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−4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,0</m:t>
                            </m:r>
                            <m:r>
                              <a:rPr lang="en-US" altLang="zh-TW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altLang="zh-TW" sz="32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𝒛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3" name="矩形 72">
                  <a:extLst>
                    <a:ext uri="{FF2B5EF4-FFF2-40B4-BE49-F238E27FC236}">
                      <a16:creationId xmlns:a16="http://schemas.microsoft.com/office/drawing/2014/main" id="{35A932CB-8F98-47FC-9F5A-98361BC9D63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4908" y="7050024"/>
                  <a:ext cx="1793167" cy="620426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5" name="圖形 74">
              <a:extLst>
                <a:ext uri="{FF2B5EF4-FFF2-40B4-BE49-F238E27FC236}">
                  <a16:creationId xmlns:a16="http://schemas.microsoft.com/office/drawing/2014/main" id="{03C961A9-0B86-409E-91EA-027A98FBF2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1" r="53142" b="-1"/>
            <a:stretch/>
          </p:blipFill>
          <p:spPr>
            <a:xfrm>
              <a:off x="1941037" y="7234237"/>
              <a:ext cx="384497" cy="29455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534E2A09-CF3B-4CEA-AF4C-7CE627BE3BC7}"/>
                  </a:ext>
                </a:extLst>
              </p:cNvPr>
              <p:cNvSpPr/>
              <p:nvPr/>
            </p:nvSpPr>
            <p:spPr>
              <a:xfrm>
                <a:off x="-460337" y="7440347"/>
                <a:ext cx="2972766" cy="4165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9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</m:t>
                          </m:r>
                        </m:e>
                        <m:sub>
                          <m:r>
                            <a:rPr lang="en-US" altLang="zh-TW" sz="19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ℓ,</m:t>
                          </m:r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−2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,0</m:t>
                          </m:r>
                        </m:sub>
                        <m:sup>
                          <m:r>
                            <a:rPr lang="en-US" altLang="zh-TW" sz="19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𝒛</m:t>
                          </m:r>
                        </m:sup>
                      </m:sSub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534E2A09-CF3B-4CEA-AF4C-7CE627BE3B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60337" y="7440347"/>
                <a:ext cx="2972766" cy="41658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7" name="圖片 96">
            <a:extLst>
              <a:ext uri="{FF2B5EF4-FFF2-40B4-BE49-F238E27FC236}">
                <a16:creationId xmlns:a16="http://schemas.microsoft.com/office/drawing/2014/main" id="{DCD3848E-9197-4B93-8401-15C84E54216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74595" y="3044017"/>
            <a:ext cx="2559358" cy="3002400"/>
          </a:xfrm>
          <a:prstGeom prst="rect">
            <a:avLst/>
          </a:prstGeom>
        </p:spPr>
      </p:pic>
      <p:pic>
        <p:nvPicPr>
          <p:cNvPr id="98" name="圖片 97">
            <a:extLst>
              <a:ext uri="{FF2B5EF4-FFF2-40B4-BE49-F238E27FC236}">
                <a16:creationId xmlns:a16="http://schemas.microsoft.com/office/drawing/2014/main" id="{AFC0B315-C138-4C3D-A919-55176CE62F1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21711" y="3044017"/>
            <a:ext cx="2552040" cy="3002400"/>
          </a:xfrm>
          <a:prstGeom prst="rect">
            <a:avLst/>
          </a:prstGeom>
        </p:spPr>
      </p:pic>
      <p:pic>
        <p:nvPicPr>
          <p:cNvPr id="99" name="圖片 98">
            <a:extLst>
              <a:ext uri="{FF2B5EF4-FFF2-40B4-BE49-F238E27FC236}">
                <a16:creationId xmlns:a16="http://schemas.microsoft.com/office/drawing/2014/main" id="{145F2936-8DDB-48B2-8977-0AA088AAC60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9458" y="3044017"/>
            <a:ext cx="2552632" cy="3002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47B4228D-A0DA-44F1-A22A-3029D9166ED8}"/>
                  </a:ext>
                </a:extLst>
              </p:cNvPr>
              <p:cNvSpPr/>
              <p:nvPr/>
            </p:nvSpPr>
            <p:spPr>
              <a:xfrm>
                <a:off x="9426092" y="6035372"/>
                <a:ext cx="8976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47B4228D-A0DA-44F1-A22A-3029D9166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6092" y="6035372"/>
                <a:ext cx="897682" cy="369332"/>
              </a:xfrm>
              <a:prstGeom prst="rect">
                <a:avLst/>
              </a:prstGeom>
              <a:blipFill>
                <a:blip r:embed="rId14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C6FF0B06-B148-4CE2-98A5-081A360A5EA4}"/>
                  </a:ext>
                </a:extLst>
              </p:cNvPr>
              <p:cNvSpPr/>
              <p:nvPr/>
            </p:nvSpPr>
            <p:spPr>
              <a:xfrm>
                <a:off x="1429063" y="6035372"/>
                <a:ext cx="1070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4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C6FF0B06-B148-4CE2-98A5-081A360A5E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9063" y="6035372"/>
                <a:ext cx="1070806" cy="369332"/>
              </a:xfrm>
              <a:prstGeom prst="rect">
                <a:avLst/>
              </a:prstGeom>
              <a:blipFill>
                <a:blip r:embed="rId15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5881C85A-A3ED-4E24-9574-DCC048BEDA29}"/>
                  </a:ext>
                </a:extLst>
              </p:cNvPr>
              <p:cNvSpPr/>
              <p:nvPr/>
            </p:nvSpPr>
            <p:spPr>
              <a:xfrm>
                <a:off x="6907521" y="6035372"/>
                <a:ext cx="8976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5881C85A-A3ED-4E24-9574-DCC048BEDA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521" y="6035372"/>
                <a:ext cx="897682" cy="369332"/>
              </a:xfrm>
              <a:prstGeom prst="rect">
                <a:avLst/>
              </a:prstGeom>
              <a:blipFill>
                <a:blip r:embed="rId16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4" name="圖片 103">
            <a:extLst>
              <a:ext uri="{FF2B5EF4-FFF2-40B4-BE49-F238E27FC236}">
                <a16:creationId xmlns:a16="http://schemas.microsoft.com/office/drawing/2014/main" id="{6BAC33CE-E010-44B9-88B7-76576E6935B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97282" y="3044017"/>
            <a:ext cx="2555990" cy="3002400"/>
          </a:xfrm>
          <a:prstGeom prst="rect">
            <a:avLst/>
          </a:prstGeom>
        </p:spPr>
      </p:pic>
      <p:pic>
        <p:nvPicPr>
          <p:cNvPr id="105" name="圖片 104">
            <a:extLst>
              <a:ext uri="{FF2B5EF4-FFF2-40B4-BE49-F238E27FC236}">
                <a16:creationId xmlns:a16="http://schemas.microsoft.com/office/drawing/2014/main" id="{63A84085-EA8A-4218-9FDA-ED865E55AA14}"/>
              </a:ext>
            </a:extLst>
          </p:cNvPr>
          <p:cNvPicPr>
            <a:picLocks noChangeAspect="1"/>
          </p:cNvPicPr>
          <p:nvPr/>
        </p:nvPicPr>
        <p:blipFill rotWithShape="1">
          <a:blip r:embed="rId18"/>
          <a:srcRect r="10865"/>
          <a:stretch/>
        </p:blipFill>
        <p:spPr>
          <a:xfrm>
            <a:off x="6765373" y="3167063"/>
            <a:ext cx="488454" cy="212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8878599B-1F14-4C47-97F7-56E321944412}"/>
                  </a:ext>
                </a:extLst>
              </p:cNvPr>
              <p:cNvSpPr/>
              <p:nvPr/>
            </p:nvSpPr>
            <p:spPr>
              <a:xfrm>
                <a:off x="4041215" y="6035372"/>
                <a:ext cx="1070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8878599B-1F14-4C47-97F7-56E3219444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215" y="6035372"/>
                <a:ext cx="1070806" cy="369332"/>
              </a:xfrm>
              <a:prstGeom prst="rect">
                <a:avLst/>
              </a:prstGeom>
              <a:blipFill>
                <a:blip r:embed="rId19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7" name="圖片 106">
            <a:extLst>
              <a:ext uri="{FF2B5EF4-FFF2-40B4-BE49-F238E27FC236}">
                <a16:creationId xmlns:a16="http://schemas.microsoft.com/office/drawing/2014/main" id="{738482CF-1E00-4EC9-B766-62A000964EE4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l="5836"/>
          <a:stretch/>
        </p:blipFill>
        <p:spPr>
          <a:xfrm>
            <a:off x="4107656" y="3173446"/>
            <a:ext cx="510899" cy="212400"/>
          </a:xfrm>
          <a:prstGeom prst="rect">
            <a:avLst/>
          </a:prstGeom>
        </p:spPr>
      </p:pic>
      <p:pic>
        <p:nvPicPr>
          <p:cNvPr id="108" name="圖片 107">
            <a:extLst>
              <a:ext uri="{FF2B5EF4-FFF2-40B4-BE49-F238E27FC236}">
                <a16:creationId xmlns:a16="http://schemas.microsoft.com/office/drawing/2014/main" id="{A05DDB06-0A46-471F-9C34-BCE2A50491A0}"/>
              </a:ext>
            </a:extLst>
          </p:cNvPr>
          <p:cNvPicPr>
            <a:picLocks noChangeAspect="1"/>
          </p:cNvPicPr>
          <p:nvPr/>
        </p:nvPicPr>
        <p:blipFill rotWithShape="1">
          <a:blip r:embed="rId21"/>
          <a:srcRect r="7969"/>
          <a:stretch/>
        </p:blipFill>
        <p:spPr>
          <a:xfrm>
            <a:off x="9347140" y="3160875"/>
            <a:ext cx="499329" cy="212400"/>
          </a:xfrm>
          <a:prstGeom prst="rect">
            <a:avLst/>
          </a:prstGeom>
        </p:spPr>
      </p:pic>
      <p:pic>
        <p:nvPicPr>
          <p:cNvPr id="109" name="圖片 108">
            <a:extLst>
              <a:ext uri="{FF2B5EF4-FFF2-40B4-BE49-F238E27FC236}">
                <a16:creationId xmlns:a16="http://schemas.microsoft.com/office/drawing/2014/main" id="{47B20435-9205-4154-B4C9-A97F91C1CA7F}"/>
              </a:ext>
            </a:extLst>
          </p:cNvPr>
          <p:cNvPicPr>
            <a:picLocks noChangeAspect="1"/>
          </p:cNvPicPr>
          <p:nvPr/>
        </p:nvPicPr>
        <p:blipFill rotWithShape="1">
          <a:blip r:embed="rId22"/>
          <a:srcRect l="4150"/>
          <a:stretch/>
        </p:blipFill>
        <p:spPr>
          <a:xfrm>
            <a:off x="1431132" y="3169442"/>
            <a:ext cx="518820" cy="1919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97E29BFE-788F-4D7A-9815-4B042954D05B}"/>
                  </a:ext>
                </a:extLst>
              </p:cNvPr>
              <p:cNvSpPr/>
              <p:nvPr/>
            </p:nvSpPr>
            <p:spPr>
              <a:xfrm>
                <a:off x="466742" y="2581266"/>
                <a:ext cx="407541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AM difference: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zh-TW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  <m:r>
                      <a:rPr lang="en-US" altLang="zh-TW" sz="2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TW" sz="200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97E29BFE-788F-4D7A-9815-4B042954D0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42" y="2581266"/>
                <a:ext cx="4075411" cy="400110"/>
              </a:xfrm>
              <a:prstGeom prst="rect">
                <a:avLst/>
              </a:prstGeom>
              <a:blipFill>
                <a:blip r:embed="rId23"/>
                <a:stretch>
                  <a:fillRect l="-1647" t="-7576" b="-257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25FFA0AE-6015-4C54-99E5-53A9E4AF7C56}"/>
                  </a:ext>
                </a:extLst>
              </p:cNvPr>
              <p:cNvSpPr/>
              <p:nvPr/>
            </p:nvSpPr>
            <p:spPr>
              <a:xfrm>
                <a:off x="4405649" y="2581142"/>
                <a:ext cx="2957175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⇒ </m:t>
                    </m:r>
                  </m:oMath>
                </a14:m>
                <a:r>
                  <a:rPr lang="en-US" altLang="zh-TW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 number of  nodes</a:t>
                </a:r>
                <a:endParaRPr lang="zh-TW" alt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25FFA0AE-6015-4C54-99E5-53A9E4AF7C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5649" y="2581142"/>
                <a:ext cx="2957175" cy="400110"/>
              </a:xfrm>
              <a:prstGeom prst="rect">
                <a:avLst/>
              </a:prstGeom>
              <a:blipFill>
                <a:blip r:embed="rId24"/>
                <a:stretch>
                  <a:fillRect t="-7576" r="-825" b="-257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613996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Longitudinal component :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53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sp>
        <p:nvSpPr>
          <p:cNvPr id="32" name="內容版面配置區 2">
            <a:extLst>
              <a:ext uri="{FF2B5EF4-FFF2-40B4-BE49-F238E27FC236}">
                <a16:creationId xmlns:a16="http://schemas.microsoft.com/office/drawing/2014/main" id="{ED4D3C8E-1052-483F-8392-4D149AC10899}"/>
              </a:ext>
            </a:extLst>
          </p:cNvPr>
          <p:cNvSpPr txBox="1">
            <a:spLocks/>
          </p:cNvSpPr>
          <p:nvPr/>
        </p:nvSpPr>
        <p:spPr>
          <a:xfrm>
            <a:off x="3814524" y="3266806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we have 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 of nodes ? </a:t>
            </a:r>
          </a:p>
        </p:txBody>
      </p:sp>
    </p:spTree>
    <p:extLst>
      <p:ext uri="{BB962C8B-B14F-4D97-AF65-F5344CB8AC3E}">
        <p14:creationId xmlns:p14="http://schemas.microsoft.com/office/powerpoint/2010/main" val="7753478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Longitudinal component :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54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sp>
        <p:nvSpPr>
          <p:cNvPr id="32" name="內容版面配置區 2">
            <a:extLst>
              <a:ext uri="{FF2B5EF4-FFF2-40B4-BE49-F238E27FC236}">
                <a16:creationId xmlns:a16="http://schemas.microsoft.com/office/drawing/2014/main" id="{ED4D3C8E-1052-483F-8392-4D149AC10899}"/>
              </a:ext>
            </a:extLst>
          </p:cNvPr>
          <p:cNvSpPr txBox="1">
            <a:spLocks/>
          </p:cNvSpPr>
          <p:nvPr/>
        </p:nvSpPr>
        <p:spPr>
          <a:xfrm>
            <a:off x="336962" y="709212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we have 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 of nodes 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內容版面配置區 2">
                <a:extLst>
                  <a:ext uri="{FF2B5EF4-FFF2-40B4-BE49-F238E27FC236}">
                    <a16:creationId xmlns:a16="http://schemas.microsoft.com/office/drawing/2014/main" id="{4F4EFA61-5FE7-4163-A3FF-152DE166E30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6240" y="1221014"/>
                <a:ext cx="7528559" cy="37252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Longitudinal component of VVB: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內容版面配置區 2">
                <a:extLst>
                  <a:ext uri="{FF2B5EF4-FFF2-40B4-BE49-F238E27FC236}">
                    <a16:creationId xmlns:a16="http://schemas.microsoft.com/office/drawing/2014/main" id="{4F4EFA61-5FE7-4163-A3FF-152DE166E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" y="1221014"/>
                <a:ext cx="7528559" cy="372522"/>
              </a:xfrm>
              <a:prstGeom prst="rect">
                <a:avLst/>
              </a:prstGeom>
              <a:blipFill>
                <a:blip r:embed="rId4"/>
                <a:stretch>
                  <a:fillRect l="-810" t="-34426"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F0CCE3AE-208D-4561-90E4-1CA452F9C40C}"/>
              </a:ext>
            </a:extLst>
          </p:cNvPr>
          <p:cNvSpPr/>
          <p:nvPr/>
        </p:nvSpPr>
        <p:spPr>
          <a:xfrm>
            <a:off x="443866" y="1624109"/>
            <a:ext cx="10890884" cy="730380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FBF6C06D-E457-4351-94DF-4555C8FCD9F1}"/>
              </a:ext>
            </a:extLst>
          </p:cNvPr>
          <p:cNvGrpSpPr/>
          <p:nvPr/>
        </p:nvGrpSpPr>
        <p:grpSpPr>
          <a:xfrm>
            <a:off x="508743" y="1694918"/>
            <a:ext cx="2685928" cy="595163"/>
            <a:chOff x="7128124" y="2749452"/>
            <a:chExt cx="2685928" cy="5951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30917719-607D-44E1-8E83-AB0E44F36E2F}"/>
                    </a:ext>
                  </a:extLst>
                </p:cNvPr>
                <p:cNvSpPr/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𝐽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30917719-607D-44E1-8E83-AB0E44F36E2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7" name="圖形 16">
              <a:extLst>
                <a:ext uri="{FF2B5EF4-FFF2-40B4-BE49-F238E27FC236}">
                  <a16:creationId xmlns:a16="http://schemas.microsoft.com/office/drawing/2014/main" id="{E53D7A74-7936-425D-9EC5-B0506391EF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t="1" r="53142" b="-1"/>
            <a:stretch/>
          </p:blipFill>
          <p:spPr>
            <a:xfrm>
              <a:off x="7268092" y="2986000"/>
              <a:ext cx="224841" cy="17224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8EBCAA76-92D3-45BA-B3E2-E93A31E07306}"/>
                  </a:ext>
                </a:extLst>
              </p:cNvPr>
              <p:cNvSpPr/>
              <p:nvPr/>
            </p:nvSpPr>
            <p:spPr>
              <a:xfrm>
                <a:off x="3013488" y="1724534"/>
                <a:ext cx="8330788" cy="4532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200" b="1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𝐽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8EBCAA76-92D3-45BA-B3E2-E93A31E073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3488" y="1724534"/>
                <a:ext cx="8330788" cy="45326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47309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Longitudinal component :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55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sp>
        <p:nvSpPr>
          <p:cNvPr id="32" name="內容版面配置區 2">
            <a:extLst>
              <a:ext uri="{FF2B5EF4-FFF2-40B4-BE49-F238E27FC236}">
                <a16:creationId xmlns:a16="http://schemas.microsoft.com/office/drawing/2014/main" id="{ED4D3C8E-1052-483F-8392-4D149AC10899}"/>
              </a:ext>
            </a:extLst>
          </p:cNvPr>
          <p:cNvSpPr txBox="1">
            <a:spLocks/>
          </p:cNvSpPr>
          <p:nvPr/>
        </p:nvSpPr>
        <p:spPr>
          <a:xfrm>
            <a:off x="336962" y="709212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we have 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 of nodes 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內容版面配置區 2">
                <a:extLst>
                  <a:ext uri="{FF2B5EF4-FFF2-40B4-BE49-F238E27FC236}">
                    <a16:creationId xmlns:a16="http://schemas.microsoft.com/office/drawing/2014/main" id="{4F4EFA61-5FE7-4163-A3FF-152DE166E30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6240" y="1221014"/>
                <a:ext cx="7528559" cy="37252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Longitudinal component of VVB: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內容版面配置區 2">
                <a:extLst>
                  <a:ext uri="{FF2B5EF4-FFF2-40B4-BE49-F238E27FC236}">
                    <a16:creationId xmlns:a16="http://schemas.microsoft.com/office/drawing/2014/main" id="{4F4EFA61-5FE7-4163-A3FF-152DE166E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" y="1221014"/>
                <a:ext cx="7528559" cy="372522"/>
              </a:xfrm>
              <a:prstGeom prst="rect">
                <a:avLst/>
              </a:prstGeom>
              <a:blipFill>
                <a:blip r:embed="rId4"/>
                <a:stretch>
                  <a:fillRect l="-810" t="-34426"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F0CCE3AE-208D-4561-90E4-1CA452F9C40C}"/>
              </a:ext>
            </a:extLst>
          </p:cNvPr>
          <p:cNvSpPr/>
          <p:nvPr/>
        </p:nvSpPr>
        <p:spPr>
          <a:xfrm>
            <a:off x="443866" y="1624109"/>
            <a:ext cx="10890884" cy="730380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FBF6C06D-E457-4351-94DF-4555C8FCD9F1}"/>
              </a:ext>
            </a:extLst>
          </p:cNvPr>
          <p:cNvGrpSpPr/>
          <p:nvPr/>
        </p:nvGrpSpPr>
        <p:grpSpPr>
          <a:xfrm>
            <a:off x="508743" y="1694918"/>
            <a:ext cx="2685928" cy="595163"/>
            <a:chOff x="7128124" y="2749452"/>
            <a:chExt cx="2685928" cy="5951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30917719-607D-44E1-8E83-AB0E44F36E2F}"/>
                    </a:ext>
                  </a:extLst>
                </p:cNvPr>
                <p:cNvSpPr/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𝐽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30917719-607D-44E1-8E83-AB0E44F36E2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7" name="圖形 16">
              <a:extLst>
                <a:ext uri="{FF2B5EF4-FFF2-40B4-BE49-F238E27FC236}">
                  <a16:creationId xmlns:a16="http://schemas.microsoft.com/office/drawing/2014/main" id="{E53D7A74-7936-425D-9EC5-B0506391EF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t="1" r="53142" b="-1"/>
            <a:stretch/>
          </p:blipFill>
          <p:spPr>
            <a:xfrm>
              <a:off x="7268092" y="2986000"/>
              <a:ext cx="224841" cy="17224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8EBCAA76-92D3-45BA-B3E2-E93A31E07306}"/>
                  </a:ext>
                </a:extLst>
              </p:cNvPr>
              <p:cNvSpPr/>
              <p:nvPr/>
            </p:nvSpPr>
            <p:spPr>
              <a:xfrm>
                <a:off x="3013488" y="1724534"/>
                <a:ext cx="8330788" cy="4532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200" b="1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𝐽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12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12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8EBCAA76-92D3-45BA-B3E2-E93A31E073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3488" y="1724534"/>
                <a:ext cx="8330788" cy="45326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箭號: 向右 15">
            <a:extLst>
              <a:ext uri="{FF2B5EF4-FFF2-40B4-BE49-F238E27FC236}">
                <a16:creationId xmlns:a16="http://schemas.microsoft.com/office/drawing/2014/main" id="{5117142B-13B6-44BD-BA5C-B5B5E7F76B90}"/>
              </a:ext>
            </a:extLst>
          </p:cNvPr>
          <p:cNvSpPr/>
          <p:nvPr/>
        </p:nvSpPr>
        <p:spPr>
          <a:xfrm rot="5400000">
            <a:off x="1262152" y="2628099"/>
            <a:ext cx="739502" cy="606574"/>
          </a:xfrm>
          <a:prstGeom prst="righ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10B26E68-273A-4B92-8556-A4E9D467B5F2}"/>
                  </a:ext>
                </a:extLst>
              </p:cNvPr>
              <p:cNvSpPr/>
              <p:nvPr/>
            </p:nvSpPr>
            <p:spPr>
              <a:xfrm>
                <a:off x="2036119" y="2724104"/>
                <a:ext cx="7260281" cy="3400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Substitute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en-US" altLang="zh-TW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  <m:r>
                      <a:rPr lang="en-US" altLang="zh-TW" sz="1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</m:d>
                      </m:e>
                      <m:sup>
                        <m:d>
                          <m:dPr>
                            <m:begChr m:val="|"/>
                            <m:endChr m:val="|"/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sSub>
                      <m:sSubPr>
                        <m:ctrlPr>
                          <a:rPr lang="en-US" altLang="zh-TW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en-US" altLang="zh-TW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define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e>
                    </m:acc>
                    <m:r>
                      <a:rPr lang="en-US" altLang="zh-TW" sz="1400" b="0" i="1" smtClean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ℓ′</m:t>
                            </m:r>
                          </m:e>
                        </m:d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e>
                    </m:d>
                    <m:r>
                      <a:rPr lang="en-US" altLang="zh-TW" sz="1400" i="1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1400">
                        <a:latin typeface="Cambria Math" panose="02040503050406030204" pitchFamily="18" charset="0"/>
                      </a:rPr>
                      <m:t>Δ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</m:d>
                    <m:r>
                      <a:rPr lang="en-US" altLang="zh-TW" sz="1400" i="1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ℓ′</m:t>
                        </m:r>
                      </m:e>
                    </m:d>
                    <m:r>
                      <a:rPr lang="en-US" altLang="zh-TW" sz="1400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</m:d>
                  </m:oMath>
                </a14:m>
                <a:endPara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10B26E68-273A-4B92-8556-A4E9D467B5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6119" y="2724104"/>
                <a:ext cx="7260281" cy="340029"/>
              </a:xfrm>
              <a:prstGeom prst="rect">
                <a:avLst/>
              </a:prstGeom>
              <a:blipFill>
                <a:blip r:embed="rId9"/>
                <a:stretch>
                  <a:fillRect l="-252"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7C93F7A6-25CF-404B-AF04-A274711AD9AA}"/>
              </a:ext>
            </a:extLst>
          </p:cNvPr>
          <p:cNvSpPr/>
          <p:nvPr/>
        </p:nvSpPr>
        <p:spPr>
          <a:xfrm>
            <a:off x="443866" y="3517770"/>
            <a:ext cx="11236300" cy="769558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3C661B0E-086B-4B91-B6D5-58E810EFF6FE}"/>
              </a:ext>
            </a:extLst>
          </p:cNvPr>
          <p:cNvGrpSpPr/>
          <p:nvPr/>
        </p:nvGrpSpPr>
        <p:grpSpPr>
          <a:xfrm>
            <a:off x="508743" y="3588579"/>
            <a:ext cx="2685928" cy="595163"/>
            <a:chOff x="7128124" y="2749452"/>
            <a:chExt cx="2685928" cy="5951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809092F8-4136-4E61-A187-3763498C4997}"/>
                    </a:ext>
                  </a:extLst>
                </p:cNvPr>
                <p:cNvSpPr/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𝐽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809092F8-4136-4E61-A187-3763498C499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4" name="圖形 23">
              <a:extLst>
                <a:ext uri="{FF2B5EF4-FFF2-40B4-BE49-F238E27FC236}">
                  <a16:creationId xmlns:a16="http://schemas.microsoft.com/office/drawing/2014/main" id="{DBC8A858-A40B-4C32-B343-4286B30D24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t="1" r="53142" b="-1"/>
            <a:stretch/>
          </p:blipFill>
          <p:spPr>
            <a:xfrm>
              <a:off x="7268092" y="2986000"/>
              <a:ext cx="224841" cy="17224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19D8849A-9E01-4E00-8783-CE71DB68D6EF}"/>
                  </a:ext>
                </a:extLst>
              </p:cNvPr>
              <p:cNvSpPr/>
              <p:nvPr/>
            </p:nvSpPr>
            <p:spPr>
              <a:xfrm>
                <a:off x="2079480" y="3643700"/>
                <a:ext cx="9593976" cy="4532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altLang="zh-TW" sz="1200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𝐽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e>
                              </m:acc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19D8849A-9E01-4E00-8783-CE71DB68D6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9480" y="3643700"/>
                <a:ext cx="9593976" cy="453266"/>
              </a:xfrm>
              <a:prstGeom prst="rect">
                <a:avLst/>
              </a:prstGeom>
              <a:blipFill>
                <a:blip r:embed="rId11"/>
                <a:stretch>
                  <a:fillRect r="-17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04840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121375BE-BBA9-4C3A-A8C6-5BBAE6817D24}"/>
                  </a:ext>
                </a:extLst>
              </p:cNvPr>
              <p:cNvSpPr/>
              <p:nvPr/>
            </p:nvSpPr>
            <p:spPr>
              <a:xfrm>
                <a:off x="3006725" y="5551875"/>
                <a:ext cx="8738318" cy="4532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200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𝐽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e>
                              </m:acc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TW" sz="120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r>
                            <a:rPr lang="zh-TW" altLang="en-US" sz="1200" i="1"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12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r>
                            <a:rPr lang="zh-TW" altLang="en-US" sz="1200" i="1"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zh-TW" altLang="en-US" sz="12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acc>
                        <m:accPr>
                          <m:chr m:val="̂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121375BE-BBA9-4C3A-A8C6-5BBAE6817D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6725" y="5551875"/>
                <a:ext cx="8738318" cy="4532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Longitudinal component :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56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sp>
        <p:nvSpPr>
          <p:cNvPr id="32" name="內容版面配置區 2">
            <a:extLst>
              <a:ext uri="{FF2B5EF4-FFF2-40B4-BE49-F238E27FC236}">
                <a16:creationId xmlns:a16="http://schemas.microsoft.com/office/drawing/2014/main" id="{ED4D3C8E-1052-483F-8392-4D149AC10899}"/>
              </a:ext>
            </a:extLst>
          </p:cNvPr>
          <p:cNvSpPr txBox="1">
            <a:spLocks/>
          </p:cNvSpPr>
          <p:nvPr/>
        </p:nvSpPr>
        <p:spPr>
          <a:xfrm>
            <a:off x="336962" y="709212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we have 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 of nodes 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內容版面配置區 2">
                <a:extLst>
                  <a:ext uri="{FF2B5EF4-FFF2-40B4-BE49-F238E27FC236}">
                    <a16:creationId xmlns:a16="http://schemas.microsoft.com/office/drawing/2014/main" id="{4F4EFA61-5FE7-4163-A3FF-152DE166E30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6240" y="1221014"/>
                <a:ext cx="7528559" cy="37252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Longitudinal component of VVB: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內容版面配置區 2">
                <a:extLst>
                  <a:ext uri="{FF2B5EF4-FFF2-40B4-BE49-F238E27FC236}">
                    <a16:creationId xmlns:a16="http://schemas.microsoft.com/office/drawing/2014/main" id="{4F4EFA61-5FE7-4163-A3FF-152DE166E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" y="1221014"/>
                <a:ext cx="7528559" cy="372522"/>
              </a:xfrm>
              <a:prstGeom prst="rect">
                <a:avLst/>
              </a:prstGeom>
              <a:blipFill>
                <a:blip r:embed="rId5"/>
                <a:stretch>
                  <a:fillRect l="-810" t="-34426"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F0CCE3AE-208D-4561-90E4-1CA452F9C40C}"/>
              </a:ext>
            </a:extLst>
          </p:cNvPr>
          <p:cNvSpPr/>
          <p:nvPr/>
        </p:nvSpPr>
        <p:spPr>
          <a:xfrm>
            <a:off x="443866" y="1624109"/>
            <a:ext cx="10890884" cy="730380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FBF6C06D-E457-4351-94DF-4555C8FCD9F1}"/>
              </a:ext>
            </a:extLst>
          </p:cNvPr>
          <p:cNvGrpSpPr/>
          <p:nvPr/>
        </p:nvGrpSpPr>
        <p:grpSpPr>
          <a:xfrm>
            <a:off x="508743" y="1694918"/>
            <a:ext cx="2685928" cy="595163"/>
            <a:chOff x="7128124" y="2749452"/>
            <a:chExt cx="2685928" cy="5951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30917719-607D-44E1-8E83-AB0E44F36E2F}"/>
                    </a:ext>
                  </a:extLst>
                </p:cNvPr>
                <p:cNvSpPr/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𝐽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30917719-607D-44E1-8E83-AB0E44F36E2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7" name="圖形 16">
              <a:extLst>
                <a:ext uri="{FF2B5EF4-FFF2-40B4-BE49-F238E27FC236}">
                  <a16:creationId xmlns:a16="http://schemas.microsoft.com/office/drawing/2014/main" id="{E53D7A74-7936-425D-9EC5-B0506391EF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1" r="53142" b="-1"/>
            <a:stretch/>
          </p:blipFill>
          <p:spPr>
            <a:xfrm>
              <a:off x="7268092" y="2986000"/>
              <a:ext cx="224841" cy="17224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8EBCAA76-92D3-45BA-B3E2-E93A31E07306}"/>
                  </a:ext>
                </a:extLst>
              </p:cNvPr>
              <p:cNvSpPr/>
              <p:nvPr/>
            </p:nvSpPr>
            <p:spPr>
              <a:xfrm>
                <a:off x="3013488" y="1724534"/>
                <a:ext cx="8330788" cy="4532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200" b="1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𝐽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12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12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8EBCAA76-92D3-45BA-B3E2-E93A31E073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3488" y="1724534"/>
                <a:ext cx="8330788" cy="45326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箭號: 向右 15">
            <a:extLst>
              <a:ext uri="{FF2B5EF4-FFF2-40B4-BE49-F238E27FC236}">
                <a16:creationId xmlns:a16="http://schemas.microsoft.com/office/drawing/2014/main" id="{5117142B-13B6-44BD-BA5C-B5B5E7F76B90}"/>
              </a:ext>
            </a:extLst>
          </p:cNvPr>
          <p:cNvSpPr/>
          <p:nvPr/>
        </p:nvSpPr>
        <p:spPr>
          <a:xfrm rot="5400000">
            <a:off x="1262152" y="2628099"/>
            <a:ext cx="739502" cy="606574"/>
          </a:xfrm>
          <a:prstGeom prst="righ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10B26E68-273A-4B92-8556-A4E9D467B5F2}"/>
                  </a:ext>
                </a:extLst>
              </p:cNvPr>
              <p:cNvSpPr/>
              <p:nvPr/>
            </p:nvSpPr>
            <p:spPr>
              <a:xfrm>
                <a:off x="2036119" y="2724104"/>
                <a:ext cx="7260281" cy="3400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Substitute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en-US" altLang="zh-TW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  <m:r>
                      <a:rPr lang="en-US" altLang="zh-TW" sz="1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</m:d>
                      </m:e>
                      <m:sup>
                        <m:d>
                          <m:dPr>
                            <m:begChr m:val="|"/>
                            <m:endChr m:val="|"/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sSub>
                      <m:sSubPr>
                        <m:ctrlPr>
                          <a:rPr lang="en-US" altLang="zh-TW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en-US" altLang="zh-TW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define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e>
                    </m:acc>
                    <m:r>
                      <a:rPr lang="en-US" altLang="zh-TW" sz="1400" i="1" dirty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ℓ′</m:t>
                            </m:r>
                          </m:e>
                        </m:d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e>
                    </m:d>
                    <m:r>
                      <a:rPr lang="en-US" altLang="zh-TW" sz="1400" i="1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1400">
                        <a:latin typeface="Cambria Math" panose="02040503050406030204" pitchFamily="18" charset="0"/>
                      </a:rPr>
                      <m:t>Δ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</m:d>
                    <m:r>
                      <a:rPr lang="en-US" altLang="zh-TW" sz="1400" i="1" dirty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ℓ′</m:t>
                        </m:r>
                      </m:e>
                    </m:d>
                    <m:r>
                      <a:rPr lang="en-US" altLang="zh-TW" sz="1400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</m:d>
                  </m:oMath>
                </a14:m>
                <a:endPara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10B26E68-273A-4B92-8556-A4E9D467B5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6119" y="2724104"/>
                <a:ext cx="7260281" cy="340029"/>
              </a:xfrm>
              <a:prstGeom prst="rect">
                <a:avLst/>
              </a:prstGeom>
              <a:blipFill>
                <a:blip r:embed="rId10"/>
                <a:stretch>
                  <a:fillRect l="-252"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7C93F7A6-25CF-404B-AF04-A274711AD9AA}"/>
              </a:ext>
            </a:extLst>
          </p:cNvPr>
          <p:cNvSpPr/>
          <p:nvPr/>
        </p:nvSpPr>
        <p:spPr>
          <a:xfrm>
            <a:off x="443866" y="3517770"/>
            <a:ext cx="11236300" cy="769558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3C661B0E-086B-4B91-B6D5-58E810EFF6FE}"/>
              </a:ext>
            </a:extLst>
          </p:cNvPr>
          <p:cNvGrpSpPr/>
          <p:nvPr/>
        </p:nvGrpSpPr>
        <p:grpSpPr>
          <a:xfrm>
            <a:off x="508743" y="3588579"/>
            <a:ext cx="2685928" cy="595163"/>
            <a:chOff x="7128124" y="2749452"/>
            <a:chExt cx="2685928" cy="5951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809092F8-4136-4E61-A187-3763498C4997}"/>
                    </a:ext>
                  </a:extLst>
                </p:cNvPr>
                <p:cNvSpPr/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𝐽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809092F8-4136-4E61-A187-3763498C499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4" name="圖形 23">
              <a:extLst>
                <a:ext uri="{FF2B5EF4-FFF2-40B4-BE49-F238E27FC236}">
                  <a16:creationId xmlns:a16="http://schemas.microsoft.com/office/drawing/2014/main" id="{DBC8A858-A40B-4C32-B343-4286B30D24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1" r="53142" b="-1"/>
            <a:stretch/>
          </p:blipFill>
          <p:spPr>
            <a:xfrm>
              <a:off x="7268092" y="2986000"/>
              <a:ext cx="224841" cy="17224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19D8849A-9E01-4E00-8783-CE71DB68D6EF}"/>
                  </a:ext>
                </a:extLst>
              </p:cNvPr>
              <p:cNvSpPr/>
              <p:nvPr/>
            </p:nvSpPr>
            <p:spPr>
              <a:xfrm>
                <a:off x="2079480" y="3643700"/>
                <a:ext cx="9593976" cy="4532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altLang="zh-TW" sz="1200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𝐽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e>
                              </m:acc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TW" sz="120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19D8849A-9E01-4E00-8783-CE71DB68D6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9480" y="3643700"/>
                <a:ext cx="9593976" cy="453266"/>
              </a:xfrm>
              <a:prstGeom prst="rect">
                <a:avLst/>
              </a:prstGeom>
              <a:blipFill>
                <a:blip r:embed="rId12"/>
                <a:stretch>
                  <a:fillRect r="-17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群組 25">
            <a:extLst>
              <a:ext uri="{FF2B5EF4-FFF2-40B4-BE49-F238E27FC236}">
                <a16:creationId xmlns:a16="http://schemas.microsoft.com/office/drawing/2014/main" id="{1F3B69A5-4E39-45D7-9C90-B773A787208A}"/>
              </a:ext>
            </a:extLst>
          </p:cNvPr>
          <p:cNvGrpSpPr/>
          <p:nvPr/>
        </p:nvGrpSpPr>
        <p:grpSpPr>
          <a:xfrm>
            <a:off x="2076680" y="4625565"/>
            <a:ext cx="6092901" cy="413190"/>
            <a:chOff x="14379" y="1343564"/>
            <a:chExt cx="6092901" cy="41319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8895F43A-68F5-45BE-AA25-D396D4F55937}"/>
                    </a:ext>
                  </a:extLst>
                </p:cNvPr>
                <p:cNvSpPr/>
                <p:nvPr/>
              </p:nvSpPr>
              <p:spPr>
                <a:xfrm>
                  <a:off x="14379" y="1343564"/>
                  <a:ext cx="3315010" cy="41319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TW" sz="1400" b="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Define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ℓ</m:t>
                              </m:r>
                            </m:e>
                          </m:d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1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sz="1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altLang="zh-TW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sz="1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4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a14:m>
                  <a:endParaRPr lang="zh-TW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8895F43A-68F5-45BE-AA25-D396D4F559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79" y="1343564"/>
                  <a:ext cx="3315010" cy="413190"/>
                </a:xfrm>
                <a:prstGeom prst="rect">
                  <a:avLst/>
                </a:prstGeom>
                <a:blipFill>
                  <a:blip r:embed="rId13"/>
                  <a:stretch>
                    <a:fillRect l="-552" b="-147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66B39D83-AA0E-4C8A-A072-C8B0F352B141}"/>
                    </a:ext>
                  </a:extLst>
                </p:cNvPr>
                <p:cNvSpPr/>
                <p:nvPr/>
              </p:nvSpPr>
              <p:spPr>
                <a:xfrm>
                  <a:off x="3263553" y="1343564"/>
                  <a:ext cx="2843727" cy="41319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b="0" i="1" dirty="0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d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TW" sz="1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</m:e>
                                  <m:sup>
                                    <m:r>
                                      <a:rPr lang="en-US" altLang="zh-TW" sz="1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400" i="1" dirty="0">
                            <a:latin typeface="Cambria Math" panose="02040503050406030204" pitchFamily="18" charset="0"/>
                          </a:rPr>
                          <m:t>≡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TW" sz="1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</m:e>
                                </m:d>
                              </m:sub>
                            </m:sSub>
                            <m:d>
                              <m:dPr>
                                <m:ctrlP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1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i="1" dirty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zh-TW" sz="1400" i="1" dirty="0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TW" sz="14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TW" sz="1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TW" sz="1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TW" sz="1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ℓ</m:t>
                                        </m:r>
                                      </m:e>
                                      <m:sup>
                                        <m:r>
                                          <a:rPr lang="en-US" altLang="zh-TW" sz="1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</m:sub>
                            </m:sSub>
                            <m:d>
                              <m:dPr>
                                <m:ctrlP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1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i="1" dirty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zh-TW" sz="1400" i="1" dirty="0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oMath>
                    </m:oMathPara>
                  </a14:m>
                  <a:endParaRPr lang="zh-TW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66B39D83-AA0E-4C8A-A072-C8B0F352B14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3553" y="1343564"/>
                  <a:ext cx="2843727" cy="41319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8B182F97-8771-497A-9092-587E96E7061A}"/>
                  </a:ext>
                </a:extLst>
              </p:cNvPr>
              <p:cNvSpPr/>
              <p:nvPr/>
            </p:nvSpPr>
            <p:spPr>
              <a:xfrm>
                <a:off x="3817174" y="7220192"/>
                <a:ext cx="7354669" cy="5073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200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𝐽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1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b="0" i="1" dirty="0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TW" sz="12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e>
                              </m:acc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2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00" b="0" i="1" dirty="0" smtClean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TW" sz="1200" b="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b="0" i="1" smtClean="0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1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1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8B182F97-8771-497A-9092-587E96E706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7174" y="7220192"/>
                <a:ext cx="7354669" cy="50731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A4802380-8BA1-43B8-9D5D-FDC24CE2E404}"/>
                  </a:ext>
                </a:extLst>
              </p:cNvPr>
              <p:cNvSpPr/>
              <p:nvPr/>
            </p:nvSpPr>
            <p:spPr>
              <a:xfrm>
                <a:off x="3980081" y="7792546"/>
                <a:ext cx="7354669" cy="5073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200" b="1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𝐽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e>
                              </m:acc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1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1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A4802380-8BA1-43B8-9D5D-FDC24CE2E4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0081" y="7792546"/>
                <a:ext cx="7354669" cy="50731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箭號: 向右 32">
            <a:extLst>
              <a:ext uri="{FF2B5EF4-FFF2-40B4-BE49-F238E27FC236}">
                <a16:creationId xmlns:a16="http://schemas.microsoft.com/office/drawing/2014/main" id="{5517371A-024A-4041-8E74-2337CCE14315}"/>
              </a:ext>
            </a:extLst>
          </p:cNvPr>
          <p:cNvSpPr/>
          <p:nvPr/>
        </p:nvSpPr>
        <p:spPr>
          <a:xfrm rot="5400000">
            <a:off x="1262152" y="4571199"/>
            <a:ext cx="739502" cy="606574"/>
          </a:xfrm>
          <a:prstGeom prst="righ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CDB7EE51-E2E3-4A67-8A55-5582BB809500}"/>
              </a:ext>
            </a:extLst>
          </p:cNvPr>
          <p:cNvSpPr/>
          <p:nvPr/>
        </p:nvSpPr>
        <p:spPr>
          <a:xfrm>
            <a:off x="443866" y="5413245"/>
            <a:ext cx="11236300" cy="769558"/>
          </a:xfrm>
          <a:prstGeom prst="roundRect">
            <a:avLst/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F99A9686-4FBF-4028-8D67-9AE65BDD755D}"/>
              </a:ext>
            </a:extLst>
          </p:cNvPr>
          <p:cNvGrpSpPr/>
          <p:nvPr/>
        </p:nvGrpSpPr>
        <p:grpSpPr>
          <a:xfrm>
            <a:off x="508743" y="5484054"/>
            <a:ext cx="2685928" cy="595163"/>
            <a:chOff x="7128124" y="2749452"/>
            <a:chExt cx="2685928" cy="5951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矩形 35">
                  <a:extLst>
                    <a:ext uri="{FF2B5EF4-FFF2-40B4-BE49-F238E27FC236}">
                      <a16:creationId xmlns:a16="http://schemas.microsoft.com/office/drawing/2014/main" id="{D6905E30-FDF2-4474-87CC-59D5A3A0D4B6}"/>
                    </a:ext>
                  </a:extLst>
                </p:cNvPr>
                <p:cNvSpPr/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𝐽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6" name="矩形 35">
                  <a:extLst>
                    <a:ext uri="{FF2B5EF4-FFF2-40B4-BE49-F238E27FC236}">
                      <a16:creationId xmlns:a16="http://schemas.microsoft.com/office/drawing/2014/main" id="{D6905E30-FDF2-4474-87CC-59D5A3A0D4B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7" name="圖形 36">
              <a:extLst>
                <a:ext uri="{FF2B5EF4-FFF2-40B4-BE49-F238E27FC236}">
                  <a16:creationId xmlns:a16="http://schemas.microsoft.com/office/drawing/2014/main" id="{932E058A-C3A2-4455-A9AB-AA96CC1DA1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1" r="53142" b="-1"/>
            <a:stretch/>
          </p:blipFill>
          <p:spPr>
            <a:xfrm>
              <a:off x="7268092" y="2986000"/>
              <a:ext cx="224841" cy="1722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4785723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矩形: 圓角 175">
            <a:extLst>
              <a:ext uri="{FF2B5EF4-FFF2-40B4-BE49-F238E27FC236}">
                <a16:creationId xmlns:a16="http://schemas.microsoft.com/office/drawing/2014/main" id="{B6B582B2-5001-4B6B-8DAA-3EE84EDE7E4D}"/>
              </a:ext>
            </a:extLst>
          </p:cNvPr>
          <p:cNvSpPr/>
          <p:nvPr/>
        </p:nvSpPr>
        <p:spPr>
          <a:xfrm>
            <a:off x="491491" y="1079815"/>
            <a:ext cx="10748009" cy="920436"/>
          </a:xfrm>
          <a:prstGeom prst="roundRect">
            <a:avLst/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Longitudinal component :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57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B8A10004-FD67-40DE-B63C-F59582119313}"/>
                  </a:ext>
                </a:extLst>
              </p:cNvPr>
              <p:cNvSpPr/>
              <p:nvPr/>
            </p:nvSpPr>
            <p:spPr>
              <a:xfrm>
                <a:off x="-411519" y="7013328"/>
                <a:ext cx="2972766" cy="4165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9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</m:t>
                          </m:r>
                        </m:e>
                        <m:sub>
                          <m:r>
                            <a:rPr lang="en-US" altLang="zh-TW" sz="19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ℓ,</m:t>
                          </m:r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Δ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𝐽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TW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  <m:r>
                            <a:rPr lang="en-US" altLang="zh-TW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𝐽</m:t>
                              </m:r>
                            </m:e>
                          </m:acc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acc>
                            <m:accPr>
                              <m:chr m:val="̅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</m:acc>
                        </m:sub>
                        <m:sup>
                          <m:r>
                            <a:rPr lang="en-US" altLang="zh-TW" sz="19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𝒛</m:t>
                          </m:r>
                        </m:sup>
                      </m:sSub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B8A10004-FD67-40DE-B63C-F595821193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11519" y="7013328"/>
                <a:ext cx="2972766" cy="416589"/>
              </a:xfrm>
              <a:prstGeom prst="rect">
                <a:avLst/>
              </a:prstGeom>
              <a:blipFill>
                <a:blip r:embed="rId4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2" name="圖形 71">
            <a:extLst>
              <a:ext uri="{FF2B5EF4-FFF2-40B4-BE49-F238E27FC236}">
                <a16:creationId xmlns:a16="http://schemas.microsoft.com/office/drawing/2014/main" id="{B63C0A5F-F8BC-4014-B982-1A88490DE00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t="1" r="53142" b="-1"/>
          <a:stretch/>
        </p:blipFill>
        <p:spPr>
          <a:xfrm>
            <a:off x="-324370" y="7135500"/>
            <a:ext cx="224841" cy="172247"/>
          </a:xfrm>
          <a:prstGeom prst="rect">
            <a:avLst/>
          </a:prstGeom>
        </p:spPr>
      </p:pic>
      <p:grpSp>
        <p:nvGrpSpPr>
          <p:cNvPr id="16" name="群組 15">
            <a:extLst>
              <a:ext uri="{FF2B5EF4-FFF2-40B4-BE49-F238E27FC236}">
                <a16:creationId xmlns:a16="http://schemas.microsoft.com/office/drawing/2014/main" id="{971F1C9A-F6D0-44F1-B235-2235515E4036}"/>
              </a:ext>
            </a:extLst>
          </p:cNvPr>
          <p:cNvGrpSpPr/>
          <p:nvPr/>
        </p:nvGrpSpPr>
        <p:grpSpPr>
          <a:xfrm>
            <a:off x="1950158" y="7050024"/>
            <a:ext cx="1431217" cy="901529"/>
            <a:chOff x="1854908" y="7050024"/>
            <a:chExt cx="1431217" cy="9015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矩形 72">
                  <a:extLst>
                    <a:ext uri="{FF2B5EF4-FFF2-40B4-BE49-F238E27FC236}">
                      <a16:creationId xmlns:a16="http://schemas.microsoft.com/office/drawing/2014/main" id="{35A932CB-8F98-47FC-9F5A-98361BC9D63F}"/>
                    </a:ext>
                  </a:extLst>
                </p:cNvPr>
                <p:cNvSpPr/>
                <p:nvPr/>
              </p:nvSpPr>
              <p:spPr>
                <a:xfrm>
                  <a:off x="1854908" y="7050024"/>
                  <a:ext cx="1431217" cy="901529"/>
                </a:xfrm>
                <a:prstGeom prst="rect">
                  <a:avLst/>
                </a:prstGeom>
                <a:solidFill>
                  <a:srgbClr val="F2F2F2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3,</m:t>
                            </m:r>
                            <m:f>
                              <m:fPr>
                                <m:ctrlPr>
                                  <a:rPr lang="en-US" altLang="zh-TW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TW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US" altLang="zh-TW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TW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den>
                            </m:f>
                          </m:sub>
                          <m:sup>
                            <m:r>
                              <a:rPr lang="en-US" altLang="zh-TW" sz="32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𝒛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3" name="矩形 72">
                  <a:extLst>
                    <a:ext uri="{FF2B5EF4-FFF2-40B4-BE49-F238E27FC236}">
                      <a16:creationId xmlns:a16="http://schemas.microsoft.com/office/drawing/2014/main" id="{35A932CB-8F98-47FC-9F5A-98361BC9D63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4908" y="7050024"/>
                  <a:ext cx="1431217" cy="90152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5" name="圖形 74">
              <a:extLst>
                <a:ext uri="{FF2B5EF4-FFF2-40B4-BE49-F238E27FC236}">
                  <a16:creationId xmlns:a16="http://schemas.microsoft.com/office/drawing/2014/main" id="{03C961A9-0B86-409E-91EA-027A98FBF2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r="53142" b="-1"/>
            <a:stretch/>
          </p:blipFill>
          <p:spPr>
            <a:xfrm>
              <a:off x="1941037" y="7300912"/>
              <a:ext cx="384497" cy="29455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208F81EF-187D-41A4-8E6E-D969E27B3F19}"/>
                  </a:ext>
                </a:extLst>
              </p:cNvPr>
              <p:cNvSpPr/>
              <p:nvPr/>
            </p:nvSpPr>
            <p:spPr>
              <a:xfrm>
                <a:off x="3006725" y="1275150"/>
                <a:ext cx="8738318" cy="4532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200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𝐽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e>
                              </m:acc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TW" sz="120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r>
                            <a:rPr lang="zh-TW" altLang="en-US" sz="1200" i="1"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12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r>
                            <a:rPr lang="zh-TW" altLang="en-US" sz="1200" i="1"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zh-TW" altLang="en-US" sz="12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acc>
                        <m:accPr>
                          <m:chr m:val="̂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208F81EF-187D-41A4-8E6E-D969E27B3F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6725" y="1275150"/>
                <a:ext cx="8738318" cy="45326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群組 54">
            <a:extLst>
              <a:ext uri="{FF2B5EF4-FFF2-40B4-BE49-F238E27FC236}">
                <a16:creationId xmlns:a16="http://schemas.microsoft.com/office/drawing/2014/main" id="{FC852039-7E37-4BA2-9E08-735305FDA7AF}"/>
              </a:ext>
            </a:extLst>
          </p:cNvPr>
          <p:cNvGrpSpPr/>
          <p:nvPr/>
        </p:nvGrpSpPr>
        <p:grpSpPr>
          <a:xfrm>
            <a:off x="508743" y="1207329"/>
            <a:ext cx="2685928" cy="595163"/>
            <a:chOff x="7128124" y="2749452"/>
            <a:chExt cx="2685928" cy="5951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6B06ECB5-1C96-4BEA-A48A-7A03AAEEED37}"/>
                    </a:ext>
                  </a:extLst>
                </p:cNvPr>
                <p:cNvSpPr/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𝐽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6B06ECB5-1C96-4BEA-A48A-7A03AAEEED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8" name="圖形 57">
              <a:extLst>
                <a:ext uri="{FF2B5EF4-FFF2-40B4-BE49-F238E27FC236}">
                  <a16:creationId xmlns:a16="http://schemas.microsoft.com/office/drawing/2014/main" id="{42B6CB12-B0A0-43D9-8602-3ABD612BA0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r="53142" b="-1"/>
            <a:stretch/>
          </p:blipFill>
          <p:spPr>
            <a:xfrm>
              <a:off x="7268092" y="2986000"/>
              <a:ext cx="224841" cy="17224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內容版面配置區 2">
                <a:extLst>
                  <a:ext uri="{FF2B5EF4-FFF2-40B4-BE49-F238E27FC236}">
                    <a16:creationId xmlns:a16="http://schemas.microsoft.com/office/drawing/2014/main" id="{EE02E0BF-A2F7-402A-AFB5-4347C7EFD4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6962" y="709212"/>
                <a:ext cx="4562952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Longitudinal component of VVB: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6" name="內容版面配置區 2">
                <a:extLst>
                  <a:ext uri="{FF2B5EF4-FFF2-40B4-BE49-F238E27FC236}">
                    <a16:creationId xmlns:a16="http://schemas.microsoft.com/office/drawing/2014/main" id="{EE02E0BF-A2F7-402A-AFB5-4347C7EFD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962" y="709212"/>
                <a:ext cx="4562952" cy="324388"/>
              </a:xfrm>
              <a:prstGeom prst="rect">
                <a:avLst/>
              </a:prstGeom>
              <a:blipFill>
                <a:blip r:embed="rId10"/>
                <a:stretch>
                  <a:fillRect l="-1335" t="-38889" b="-240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7" name="圖片 106">
            <a:extLst>
              <a:ext uri="{FF2B5EF4-FFF2-40B4-BE49-F238E27FC236}">
                <a16:creationId xmlns:a16="http://schemas.microsoft.com/office/drawing/2014/main" id="{0F976479-1583-4661-BDD9-AACED4E91CC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7493" y="2876522"/>
            <a:ext cx="2970804" cy="34836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內容版面配置區 2">
                <a:extLst>
                  <a:ext uri="{FF2B5EF4-FFF2-40B4-BE49-F238E27FC236}">
                    <a16:creationId xmlns:a16="http://schemas.microsoft.com/office/drawing/2014/main" id="{ACD4EFA2-D69B-426F-BE5A-8FDF1CADE0E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6962" y="2395137"/>
                <a:ext cx="6711538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odd number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,ℓ,</m:t>
                    </m:r>
                    <m:sSup>
                      <m:sSup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=1, −1, −1, 2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8" name="內容版面配置區 2">
                <a:extLst>
                  <a:ext uri="{FF2B5EF4-FFF2-40B4-BE49-F238E27FC236}">
                    <a16:creationId xmlns:a16="http://schemas.microsoft.com/office/drawing/2014/main" id="{ACD4EFA2-D69B-426F-BE5A-8FDF1CADE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962" y="2395137"/>
                <a:ext cx="6711538" cy="324388"/>
              </a:xfrm>
              <a:prstGeom prst="rect">
                <a:avLst/>
              </a:prstGeom>
              <a:blipFill>
                <a:blip r:embed="rId12"/>
                <a:stretch>
                  <a:fillRect l="-908" t="-33962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9" name="圖片 108">
            <a:extLst>
              <a:ext uri="{FF2B5EF4-FFF2-40B4-BE49-F238E27FC236}">
                <a16:creationId xmlns:a16="http://schemas.microsoft.com/office/drawing/2014/main" id="{9DD92627-5CA0-4347-8393-FC9BC46F167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85863" y="2971182"/>
            <a:ext cx="588243" cy="367965"/>
          </a:xfrm>
          <a:prstGeom prst="rect">
            <a:avLst/>
          </a:prstGeom>
        </p:spPr>
      </p:pic>
      <p:pic>
        <p:nvPicPr>
          <p:cNvPr id="110" name="圖片 109">
            <a:extLst>
              <a:ext uri="{FF2B5EF4-FFF2-40B4-BE49-F238E27FC236}">
                <a16:creationId xmlns:a16="http://schemas.microsoft.com/office/drawing/2014/main" id="{6B709DE2-47F3-49F8-B405-8B0F8B1FDAB0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5592" b="70339"/>
          <a:stretch/>
        </p:blipFill>
        <p:spPr>
          <a:xfrm>
            <a:off x="3297810" y="3096202"/>
            <a:ext cx="344550" cy="29551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文字方塊 110">
                <a:extLst>
                  <a:ext uri="{FF2B5EF4-FFF2-40B4-BE49-F238E27FC236}">
                    <a16:creationId xmlns:a16="http://schemas.microsoft.com/office/drawing/2014/main" id="{985B551A-98DF-45E6-9139-F50645FEBCF9}"/>
                  </a:ext>
                </a:extLst>
              </p:cNvPr>
              <p:cNvSpPr txBox="1"/>
              <p:nvPr/>
            </p:nvSpPr>
            <p:spPr>
              <a:xfrm>
                <a:off x="3219656" y="5715478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11" name="文字方塊 110">
                <a:extLst>
                  <a:ext uri="{FF2B5EF4-FFF2-40B4-BE49-F238E27FC236}">
                    <a16:creationId xmlns:a16="http://schemas.microsoft.com/office/drawing/2014/main" id="{985B551A-98DF-45E6-9139-F50645FEB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9656" y="5715478"/>
                <a:ext cx="478319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內容版面配置區 2">
                <a:extLst>
                  <a:ext uri="{FF2B5EF4-FFF2-40B4-BE49-F238E27FC236}">
                    <a16:creationId xmlns:a16="http://schemas.microsoft.com/office/drawing/2014/main" id="{AFDDA99F-B8FF-4C86-9357-DF67C2752D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57318" y="3081829"/>
                <a:ext cx="42287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12" name="內容版面配置區 2">
                <a:extLst>
                  <a:ext uri="{FF2B5EF4-FFF2-40B4-BE49-F238E27FC236}">
                    <a16:creationId xmlns:a16="http://schemas.microsoft.com/office/drawing/2014/main" id="{AFDDA99F-B8FF-4C86-9357-DF67C2752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318" y="3081829"/>
                <a:ext cx="422874" cy="32438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內容版面配置區 2">
                <a:extLst>
                  <a:ext uri="{FF2B5EF4-FFF2-40B4-BE49-F238E27FC236}">
                    <a16:creationId xmlns:a16="http://schemas.microsoft.com/office/drawing/2014/main" id="{5B9C9BF7-B155-42EC-B658-512BB2BC87E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54443" y="5839407"/>
                <a:ext cx="36536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13" name="內容版面配置區 2">
                <a:extLst>
                  <a:ext uri="{FF2B5EF4-FFF2-40B4-BE49-F238E27FC236}">
                    <a16:creationId xmlns:a16="http://schemas.microsoft.com/office/drawing/2014/main" id="{5B9C9BF7-B155-42EC-B658-512BB2BC87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443" y="5839407"/>
                <a:ext cx="365364" cy="32438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40EBC26C-FAF5-4FED-BF38-CBCB9C531EB3}"/>
                  </a:ext>
                </a:extLst>
              </p:cNvPr>
              <p:cNvSpPr/>
              <p:nvPr/>
            </p:nvSpPr>
            <p:spPr>
              <a:xfrm>
                <a:off x="5981717" y="4162416"/>
                <a:ext cx="98135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00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40EBC26C-FAF5-4FED-BF38-CBCB9C531E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717" y="4162416"/>
                <a:ext cx="981358" cy="400110"/>
              </a:xfrm>
              <a:prstGeom prst="rect">
                <a:avLst/>
              </a:prstGeom>
              <a:blipFill>
                <a:blip r:embed="rId18"/>
                <a:stretch>
                  <a:fillRect b="-138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矩形 114">
                <a:extLst>
                  <a:ext uri="{FF2B5EF4-FFF2-40B4-BE49-F238E27FC236}">
                    <a16:creationId xmlns:a16="http://schemas.microsoft.com/office/drawing/2014/main" id="{3B48FFB7-FC81-4F56-83B2-59332459234F}"/>
                  </a:ext>
                </a:extLst>
              </p:cNvPr>
              <p:cNvSpPr/>
              <p:nvPr/>
            </p:nvSpPr>
            <p:spPr>
              <a:xfrm>
                <a:off x="6491624" y="4162292"/>
                <a:ext cx="2957175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⇒ </m:t>
                    </m:r>
                  </m:oMath>
                </a14:m>
                <a:r>
                  <a:rPr lang="en-US" altLang="zh-TW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one node</a:t>
                </a:r>
                <a:endParaRPr lang="zh-TW" alt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5" name="矩形 114">
                <a:extLst>
                  <a:ext uri="{FF2B5EF4-FFF2-40B4-BE49-F238E27FC236}">
                    <a16:creationId xmlns:a16="http://schemas.microsoft.com/office/drawing/2014/main" id="{3B48FFB7-FC81-4F56-83B2-5933245923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1624" y="4162292"/>
                <a:ext cx="2957175" cy="400110"/>
              </a:xfrm>
              <a:prstGeom prst="rect">
                <a:avLst/>
              </a:prstGeom>
              <a:blipFill>
                <a:blip r:embed="rId19"/>
                <a:stretch>
                  <a:fillRect t="-9231" b="-2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624223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Longitudinal component :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58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B8A10004-FD67-40DE-B63C-F59582119313}"/>
                  </a:ext>
                </a:extLst>
              </p:cNvPr>
              <p:cNvSpPr/>
              <p:nvPr/>
            </p:nvSpPr>
            <p:spPr>
              <a:xfrm>
                <a:off x="-411519" y="7013328"/>
                <a:ext cx="2972766" cy="4165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9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</m:t>
                          </m:r>
                        </m:e>
                        <m:sub>
                          <m:r>
                            <a:rPr lang="en-US" altLang="zh-TW" sz="19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ℓ,</m:t>
                          </m:r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Δ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𝐽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TW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  <m:r>
                            <a:rPr lang="en-US" altLang="zh-TW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𝐽</m:t>
                              </m:r>
                            </m:e>
                          </m:acc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acc>
                            <m:accPr>
                              <m:chr m:val="̅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</m:acc>
                        </m:sub>
                        <m:sup>
                          <m:r>
                            <a:rPr lang="en-US" altLang="zh-TW" sz="19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𝒛</m:t>
                          </m:r>
                        </m:sup>
                      </m:sSub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B8A10004-FD67-40DE-B63C-F595821193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11519" y="7013328"/>
                <a:ext cx="2972766" cy="416589"/>
              </a:xfrm>
              <a:prstGeom prst="rect">
                <a:avLst/>
              </a:prstGeom>
              <a:blipFill>
                <a:blip r:embed="rId4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2" name="圖形 71">
            <a:extLst>
              <a:ext uri="{FF2B5EF4-FFF2-40B4-BE49-F238E27FC236}">
                <a16:creationId xmlns:a16="http://schemas.microsoft.com/office/drawing/2014/main" id="{B63C0A5F-F8BC-4014-B982-1A88490DE00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t="1" r="53142" b="-1"/>
          <a:stretch/>
        </p:blipFill>
        <p:spPr>
          <a:xfrm>
            <a:off x="-324370" y="7135500"/>
            <a:ext cx="224841" cy="172247"/>
          </a:xfrm>
          <a:prstGeom prst="rect">
            <a:avLst/>
          </a:prstGeom>
        </p:spPr>
      </p:pic>
      <p:grpSp>
        <p:nvGrpSpPr>
          <p:cNvPr id="16" name="群組 15">
            <a:extLst>
              <a:ext uri="{FF2B5EF4-FFF2-40B4-BE49-F238E27FC236}">
                <a16:creationId xmlns:a16="http://schemas.microsoft.com/office/drawing/2014/main" id="{971F1C9A-F6D0-44F1-B235-2235515E4036}"/>
              </a:ext>
            </a:extLst>
          </p:cNvPr>
          <p:cNvGrpSpPr/>
          <p:nvPr/>
        </p:nvGrpSpPr>
        <p:grpSpPr>
          <a:xfrm>
            <a:off x="1950158" y="7050024"/>
            <a:ext cx="1431217" cy="901529"/>
            <a:chOff x="1854908" y="7050024"/>
            <a:chExt cx="1431217" cy="9015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矩形 72">
                  <a:extLst>
                    <a:ext uri="{FF2B5EF4-FFF2-40B4-BE49-F238E27FC236}">
                      <a16:creationId xmlns:a16="http://schemas.microsoft.com/office/drawing/2014/main" id="{35A932CB-8F98-47FC-9F5A-98361BC9D63F}"/>
                    </a:ext>
                  </a:extLst>
                </p:cNvPr>
                <p:cNvSpPr/>
                <p:nvPr/>
              </p:nvSpPr>
              <p:spPr>
                <a:xfrm>
                  <a:off x="1854908" y="7050024"/>
                  <a:ext cx="1431217" cy="901529"/>
                </a:xfrm>
                <a:prstGeom prst="rect">
                  <a:avLst/>
                </a:prstGeom>
                <a:solidFill>
                  <a:srgbClr val="F2F2F2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3,</m:t>
                            </m:r>
                            <m:f>
                              <m:fPr>
                                <m:ctrlPr>
                                  <a:rPr lang="en-US" altLang="zh-TW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TW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US" altLang="zh-TW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TW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den>
                            </m:f>
                          </m:sub>
                          <m:sup>
                            <m:r>
                              <a:rPr lang="en-US" altLang="zh-TW" sz="32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𝒛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3" name="矩形 72">
                  <a:extLst>
                    <a:ext uri="{FF2B5EF4-FFF2-40B4-BE49-F238E27FC236}">
                      <a16:creationId xmlns:a16="http://schemas.microsoft.com/office/drawing/2014/main" id="{35A932CB-8F98-47FC-9F5A-98361BC9D63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4908" y="7050024"/>
                  <a:ext cx="1431217" cy="90152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5" name="圖形 74">
              <a:extLst>
                <a:ext uri="{FF2B5EF4-FFF2-40B4-BE49-F238E27FC236}">
                  <a16:creationId xmlns:a16="http://schemas.microsoft.com/office/drawing/2014/main" id="{03C961A9-0B86-409E-91EA-027A98FBF2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r="53142" b="-1"/>
            <a:stretch/>
          </p:blipFill>
          <p:spPr>
            <a:xfrm>
              <a:off x="1941037" y="7300912"/>
              <a:ext cx="384497" cy="29455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208F81EF-187D-41A4-8E6E-D969E27B3F19}"/>
                  </a:ext>
                </a:extLst>
              </p:cNvPr>
              <p:cNvSpPr/>
              <p:nvPr/>
            </p:nvSpPr>
            <p:spPr>
              <a:xfrm>
                <a:off x="3006725" y="1275150"/>
                <a:ext cx="8738318" cy="4532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200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𝐽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e>
                              </m:acc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TW" sz="120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r>
                            <a:rPr lang="zh-TW" altLang="en-US" sz="1200" i="1"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12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r>
                            <a:rPr lang="zh-TW" altLang="en-US" sz="1200" i="1"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zh-TW" altLang="en-US" sz="12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acc>
                        <m:accPr>
                          <m:chr m:val="̂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208F81EF-187D-41A4-8E6E-D969E27B3F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6725" y="1275150"/>
                <a:ext cx="8738318" cy="45326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矩形: 圓角 47">
            <a:extLst>
              <a:ext uri="{FF2B5EF4-FFF2-40B4-BE49-F238E27FC236}">
                <a16:creationId xmlns:a16="http://schemas.microsoft.com/office/drawing/2014/main" id="{01A4EF1B-D2C1-4366-A094-9D5A926DFC11}"/>
              </a:ext>
            </a:extLst>
          </p:cNvPr>
          <p:cNvSpPr/>
          <p:nvPr/>
        </p:nvSpPr>
        <p:spPr>
          <a:xfrm>
            <a:off x="4832350" y="1285874"/>
            <a:ext cx="1869977" cy="444501"/>
          </a:xfrm>
          <a:prstGeom prst="roundRect">
            <a:avLst/>
          </a:prstGeom>
          <a:noFill/>
          <a:ln w="38100">
            <a:solidFill>
              <a:srgbClr val="0970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FC852039-7E37-4BA2-9E08-735305FDA7AF}"/>
              </a:ext>
            </a:extLst>
          </p:cNvPr>
          <p:cNvGrpSpPr/>
          <p:nvPr/>
        </p:nvGrpSpPr>
        <p:grpSpPr>
          <a:xfrm>
            <a:off x="508743" y="1207329"/>
            <a:ext cx="2685928" cy="595163"/>
            <a:chOff x="7128124" y="2749452"/>
            <a:chExt cx="2685928" cy="5951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6B06ECB5-1C96-4BEA-A48A-7A03AAEEED37}"/>
                    </a:ext>
                  </a:extLst>
                </p:cNvPr>
                <p:cNvSpPr/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𝐽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6B06ECB5-1C96-4BEA-A48A-7A03AAEEED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8" name="圖形 57">
              <a:extLst>
                <a:ext uri="{FF2B5EF4-FFF2-40B4-BE49-F238E27FC236}">
                  <a16:creationId xmlns:a16="http://schemas.microsoft.com/office/drawing/2014/main" id="{42B6CB12-B0A0-43D9-8602-3ABD612BA0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r="53142" b="-1"/>
            <a:stretch/>
          </p:blipFill>
          <p:spPr>
            <a:xfrm>
              <a:off x="7268092" y="2986000"/>
              <a:ext cx="224841" cy="172247"/>
            </a:xfrm>
            <a:prstGeom prst="rect">
              <a:avLst/>
            </a:prstGeom>
          </p:spPr>
        </p:pic>
      </p:grpSp>
      <p:sp>
        <p:nvSpPr>
          <p:cNvPr id="60" name="矩形: 圓角 59">
            <a:extLst>
              <a:ext uri="{FF2B5EF4-FFF2-40B4-BE49-F238E27FC236}">
                <a16:creationId xmlns:a16="http://schemas.microsoft.com/office/drawing/2014/main" id="{595665A7-D60F-4ABA-83E1-24C9008B3DDF}"/>
              </a:ext>
            </a:extLst>
          </p:cNvPr>
          <p:cNvSpPr/>
          <p:nvPr/>
        </p:nvSpPr>
        <p:spPr>
          <a:xfrm>
            <a:off x="7624764" y="1285874"/>
            <a:ext cx="1957386" cy="444501"/>
          </a:xfrm>
          <a:prstGeom prst="roundRect">
            <a:avLst/>
          </a:prstGeom>
          <a:noFill/>
          <a:ln w="38100">
            <a:solidFill>
              <a:srgbClr val="CE89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矩形: 圓角 51">
            <a:extLst>
              <a:ext uri="{FF2B5EF4-FFF2-40B4-BE49-F238E27FC236}">
                <a16:creationId xmlns:a16="http://schemas.microsoft.com/office/drawing/2014/main" id="{45C4F3A5-67E8-4E06-BBA1-CCB6E552D841}"/>
              </a:ext>
            </a:extLst>
          </p:cNvPr>
          <p:cNvSpPr/>
          <p:nvPr/>
        </p:nvSpPr>
        <p:spPr>
          <a:xfrm>
            <a:off x="491491" y="1079815"/>
            <a:ext cx="10748009" cy="920436"/>
          </a:xfrm>
          <a:prstGeom prst="roundRect">
            <a:avLst/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內容版面配置區 2">
                <a:extLst>
                  <a:ext uri="{FF2B5EF4-FFF2-40B4-BE49-F238E27FC236}">
                    <a16:creationId xmlns:a16="http://schemas.microsoft.com/office/drawing/2014/main" id="{0235E8B4-D12C-4B89-903E-BCCA58E374C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6962" y="709212"/>
                <a:ext cx="4562952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Longitudinal component of VVB: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3" name="內容版面配置區 2">
                <a:extLst>
                  <a:ext uri="{FF2B5EF4-FFF2-40B4-BE49-F238E27FC236}">
                    <a16:creationId xmlns:a16="http://schemas.microsoft.com/office/drawing/2014/main" id="{0235E8B4-D12C-4B89-903E-BCCA58E37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962" y="709212"/>
                <a:ext cx="4562952" cy="324388"/>
              </a:xfrm>
              <a:prstGeom prst="rect">
                <a:avLst/>
              </a:prstGeom>
              <a:blipFill>
                <a:blip r:embed="rId10"/>
                <a:stretch>
                  <a:fillRect l="-1335" t="-38889" b="-240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4" name="圖片 53">
            <a:extLst>
              <a:ext uri="{FF2B5EF4-FFF2-40B4-BE49-F238E27FC236}">
                <a16:creationId xmlns:a16="http://schemas.microsoft.com/office/drawing/2014/main" id="{36320537-CA11-41BB-B336-05DF1554590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7493" y="2876522"/>
            <a:ext cx="2970804" cy="3483678"/>
          </a:xfrm>
          <a:prstGeom prst="rect">
            <a:avLst/>
          </a:prstGeom>
        </p:spPr>
      </p:pic>
      <p:pic>
        <p:nvPicPr>
          <p:cNvPr id="59" name="圖片 58">
            <a:extLst>
              <a:ext uri="{FF2B5EF4-FFF2-40B4-BE49-F238E27FC236}">
                <a16:creationId xmlns:a16="http://schemas.microsoft.com/office/drawing/2014/main" id="{761EA213-5E76-4BF6-95E3-5BEA0F3E9A2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85863" y="2971182"/>
            <a:ext cx="588243" cy="367965"/>
          </a:xfrm>
          <a:prstGeom prst="rect">
            <a:avLst/>
          </a:prstGeom>
        </p:spPr>
      </p:pic>
      <p:pic>
        <p:nvPicPr>
          <p:cNvPr id="61" name="圖片 60">
            <a:extLst>
              <a:ext uri="{FF2B5EF4-FFF2-40B4-BE49-F238E27FC236}">
                <a16:creationId xmlns:a16="http://schemas.microsoft.com/office/drawing/2014/main" id="{A120FEB7-F476-4D19-815B-8FC7AEAE50C9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5592" b="70339"/>
          <a:stretch/>
        </p:blipFill>
        <p:spPr>
          <a:xfrm>
            <a:off x="3297810" y="3096202"/>
            <a:ext cx="344550" cy="29551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DC09D206-95E1-4267-93BB-CC09EAC59727}"/>
                  </a:ext>
                </a:extLst>
              </p:cNvPr>
              <p:cNvSpPr txBox="1"/>
              <p:nvPr/>
            </p:nvSpPr>
            <p:spPr>
              <a:xfrm>
                <a:off x="3219656" y="5715478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DC09D206-95E1-4267-93BB-CC09EAC597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9656" y="5715478"/>
                <a:ext cx="478319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內容版面配置區 2">
                <a:extLst>
                  <a:ext uri="{FF2B5EF4-FFF2-40B4-BE49-F238E27FC236}">
                    <a16:creationId xmlns:a16="http://schemas.microsoft.com/office/drawing/2014/main" id="{54FF5115-AF03-4D84-9E5B-F8C6BC85AC4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57318" y="3081829"/>
                <a:ext cx="42287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3" name="內容版面配置區 2">
                <a:extLst>
                  <a:ext uri="{FF2B5EF4-FFF2-40B4-BE49-F238E27FC236}">
                    <a16:creationId xmlns:a16="http://schemas.microsoft.com/office/drawing/2014/main" id="{54FF5115-AF03-4D84-9E5B-F8C6BC85A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318" y="3081829"/>
                <a:ext cx="422874" cy="32438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內容版面配置區 2">
                <a:extLst>
                  <a:ext uri="{FF2B5EF4-FFF2-40B4-BE49-F238E27FC236}">
                    <a16:creationId xmlns:a16="http://schemas.microsoft.com/office/drawing/2014/main" id="{75F8095B-7B59-4CB6-929F-1991678088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54443" y="5839407"/>
                <a:ext cx="36536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5" name="內容版面配置區 2">
                <a:extLst>
                  <a:ext uri="{FF2B5EF4-FFF2-40B4-BE49-F238E27FC236}">
                    <a16:creationId xmlns:a16="http://schemas.microsoft.com/office/drawing/2014/main" id="{75F8095B-7B59-4CB6-929F-199167808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443" y="5839407"/>
                <a:ext cx="365364" cy="32438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CC795E96-4092-4642-BA90-1983651AAA11}"/>
                  </a:ext>
                </a:extLst>
              </p:cNvPr>
              <p:cNvSpPr/>
              <p:nvPr/>
            </p:nvSpPr>
            <p:spPr>
              <a:xfrm>
                <a:off x="6820580" y="3968057"/>
                <a:ext cx="4643028" cy="6495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900" smtClean="0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9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sSub>
                                <m:sSubPr>
                                  <m:ctrlP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9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9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 altLang="zh-TW" sz="19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</m:d>
                      <m:r>
                        <a:rPr lang="en-US" altLang="zh-TW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1900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9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9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TW" sz="19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1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CC795E96-4092-4642-BA90-1983651AAA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0580" y="3968057"/>
                <a:ext cx="4643028" cy="64953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內容版面配置區 2">
                <a:extLst>
                  <a:ext uri="{FF2B5EF4-FFF2-40B4-BE49-F238E27FC236}">
                    <a16:creationId xmlns:a16="http://schemas.microsoft.com/office/drawing/2014/main" id="{2506A84A-7024-44AD-A118-085DA7DF430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90112" y="3413048"/>
                <a:ext cx="5229232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 !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altLang="zh-TW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altLang="zh-TW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node appear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sSub>
                          <m:sSubPr>
                            <m:ctrlPr>
                              <a:rPr lang="en-US" altLang="zh-TW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sub>
                    </m:sSub>
                    <m:r>
                      <a:rPr lang="en-US" altLang="zh-TW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TW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TW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zh-TW" sz="2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8" name="內容版面配置區 2">
                <a:extLst>
                  <a:ext uri="{FF2B5EF4-FFF2-40B4-BE49-F238E27FC236}">
                    <a16:creationId xmlns:a16="http://schemas.microsoft.com/office/drawing/2014/main" id="{2506A84A-7024-44AD-A118-085DA7DF4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0112" y="3413048"/>
                <a:ext cx="5229232" cy="324388"/>
              </a:xfrm>
              <a:prstGeom prst="rect">
                <a:avLst/>
              </a:prstGeom>
              <a:blipFill>
                <a:blip r:embed="rId19"/>
                <a:stretch>
                  <a:fillRect l="-1284" t="-39623" b="-28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矩形: 圓角 68">
            <a:extLst>
              <a:ext uri="{FF2B5EF4-FFF2-40B4-BE49-F238E27FC236}">
                <a16:creationId xmlns:a16="http://schemas.microsoft.com/office/drawing/2014/main" id="{F8F2198A-8644-4FD9-8E5B-DA043B7CFD91}"/>
              </a:ext>
            </a:extLst>
          </p:cNvPr>
          <p:cNvSpPr/>
          <p:nvPr/>
        </p:nvSpPr>
        <p:spPr>
          <a:xfrm>
            <a:off x="3962400" y="2918139"/>
            <a:ext cx="7991475" cy="3349311"/>
          </a:xfrm>
          <a:prstGeom prst="roundRect">
            <a:avLst/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0E9F5AF5-25D3-45AC-989C-ABA618A72ECC}"/>
                  </a:ext>
                </a:extLst>
              </p:cNvPr>
              <p:cNvSpPr/>
              <p:nvPr/>
            </p:nvSpPr>
            <p:spPr>
              <a:xfrm>
                <a:off x="6820580" y="4914263"/>
                <a:ext cx="4643028" cy="6495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900" b="0" i="0" smtClean="0"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9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sSub>
                                <m:sSubPr>
                                  <m:ctrlP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9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9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 altLang="zh-TW" sz="19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</m:d>
                      <m:r>
                        <a:rPr lang="en-US" altLang="zh-TW" sz="1900" b="0" i="1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m:rPr>
                          <m:sty m:val="p"/>
                        </m:rPr>
                        <a:rPr lang="en-US" altLang="zh-TW" sz="1900" b="0" i="0" smtClean="0"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9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19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TW" sz="1900" b="0" i="1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altLang="zh-TW" sz="19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TW" altLang="en-US" sz="19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0E9F5AF5-25D3-45AC-989C-ABA618A72E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0580" y="4914263"/>
                <a:ext cx="4643028" cy="64953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7" name="圖片 76">
            <a:extLst>
              <a:ext uri="{FF2B5EF4-FFF2-40B4-BE49-F238E27FC236}">
                <a16:creationId xmlns:a16="http://schemas.microsoft.com/office/drawing/2014/main" id="{E125607A-F09D-4859-9F14-3F0E1DD5312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06453" y="3406217"/>
            <a:ext cx="2225012" cy="22250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0C72ADEF-B28E-4028-A320-F549E00CC88B}"/>
                  </a:ext>
                </a:extLst>
              </p:cNvPr>
              <p:cNvSpPr txBox="1"/>
              <p:nvPr/>
            </p:nvSpPr>
            <p:spPr>
              <a:xfrm>
                <a:off x="4354899" y="3379207"/>
                <a:ext cx="1752318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0C72ADEF-B28E-4028-A320-F549E00CC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4899" y="3379207"/>
                <a:ext cx="1752318" cy="323165"/>
              </a:xfrm>
              <a:prstGeom prst="rect">
                <a:avLst/>
              </a:prstGeom>
              <a:blipFill>
                <a:blip r:embed="rId22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橢圓 80">
            <a:extLst>
              <a:ext uri="{FF2B5EF4-FFF2-40B4-BE49-F238E27FC236}">
                <a16:creationId xmlns:a16="http://schemas.microsoft.com/office/drawing/2014/main" id="{83AD3010-61C1-4361-A738-9FCB857ACB08}"/>
              </a:ext>
            </a:extLst>
          </p:cNvPr>
          <p:cNvSpPr/>
          <p:nvPr/>
        </p:nvSpPr>
        <p:spPr>
          <a:xfrm>
            <a:off x="4786046" y="4777901"/>
            <a:ext cx="838200" cy="5659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95DB75F0-629D-4306-BDC5-2D5A5B219B39}"/>
              </a:ext>
            </a:extLst>
          </p:cNvPr>
          <p:cNvSpPr/>
          <p:nvPr/>
        </p:nvSpPr>
        <p:spPr>
          <a:xfrm>
            <a:off x="9407797" y="5546084"/>
            <a:ext cx="24952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Maximum value !?</a:t>
            </a:r>
            <a:endParaRPr lang="zh-TW" altLang="en-US" sz="2000" b="1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內容版面配置區 2">
                <a:extLst>
                  <a:ext uri="{FF2B5EF4-FFF2-40B4-BE49-F238E27FC236}">
                    <a16:creationId xmlns:a16="http://schemas.microsoft.com/office/drawing/2014/main" id="{8244C1AC-4F5B-46FC-AB0D-5A63572DDE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4290" y="6380068"/>
                <a:ext cx="2841989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,ℓ,</m:t>
                    </m:r>
                    <m:sSup>
                      <m:sSup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=1, −1, −1, 2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3" name="內容版面配置區 2">
                <a:extLst>
                  <a:ext uri="{FF2B5EF4-FFF2-40B4-BE49-F238E27FC236}">
                    <a16:creationId xmlns:a16="http://schemas.microsoft.com/office/drawing/2014/main" id="{8244C1AC-4F5B-46FC-AB0D-5A63572DD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290" y="6380068"/>
                <a:ext cx="2841989" cy="324388"/>
              </a:xfrm>
              <a:prstGeom prst="rect">
                <a:avLst/>
              </a:prstGeom>
              <a:blipFill>
                <a:blip r:embed="rId23"/>
                <a:stretch>
                  <a:fillRect t="-37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梯形 28">
            <a:extLst>
              <a:ext uri="{FF2B5EF4-FFF2-40B4-BE49-F238E27FC236}">
                <a16:creationId xmlns:a16="http://schemas.microsoft.com/office/drawing/2014/main" id="{337B4D5F-050F-4BF7-9AAA-030FCEDF6693}"/>
              </a:ext>
            </a:extLst>
          </p:cNvPr>
          <p:cNvSpPr/>
          <p:nvPr/>
        </p:nvSpPr>
        <p:spPr>
          <a:xfrm rot="16200000">
            <a:off x="1506708" y="3177095"/>
            <a:ext cx="2361133" cy="2838379"/>
          </a:xfrm>
          <a:custGeom>
            <a:avLst/>
            <a:gdLst>
              <a:gd name="connsiteX0" fmla="*/ 0 w 5380649"/>
              <a:gd name="connsiteY0" fmla="*/ 1587501 h 1587501"/>
              <a:gd name="connsiteX1" fmla="*/ 1001221 w 5380649"/>
              <a:gd name="connsiteY1" fmla="*/ 0 h 1587501"/>
              <a:gd name="connsiteX2" fmla="*/ 4379428 w 5380649"/>
              <a:gd name="connsiteY2" fmla="*/ 0 h 1587501"/>
              <a:gd name="connsiteX3" fmla="*/ 5380649 w 5380649"/>
              <a:gd name="connsiteY3" fmla="*/ 1587501 h 1587501"/>
              <a:gd name="connsiteX4" fmla="*/ 0 w 5380649"/>
              <a:gd name="connsiteY4" fmla="*/ 1587501 h 1587501"/>
              <a:gd name="connsiteX0" fmla="*/ 0 w 5380649"/>
              <a:gd name="connsiteY0" fmla="*/ 1597026 h 1597026"/>
              <a:gd name="connsiteX1" fmla="*/ 1001221 w 5380649"/>
              <a:gd name="connsiteY1" fmla="*/ 9525 h 1597026"/>
              <a:gd name="connsiteX2" fmla="*/ 2560153 w 5380649"/>
              <a:gd name="connsiteY2" fmla="*/ 0 h 1597026"/>
              <a:gd name="connsiteX3" fmla="*/ 5380649 w 5380649"/>
              <a:gd name="connsiteY3" fmla="*/ 1597026 h 1597026"/>
              <a:gd name="connsiteX4" fmla="*/ 0 w 5380649"/>
              <a:gd name="connsiteY4" fmla="*/ 1597026 h 1597026"/>
              <a:gd name="connsiteX0" fmla="*/ 0 w 5380649"/>
              <a:gd name="connsiteY0" fmla="*/ 1592264 h 1592264"/>
              <a:gd name="connsiteX1" fmla="*/ 1001221 w 5380649"/>
              <a:gd name="connsiteY1" fmla="*/ 4763 h 1592264"/>
              <a:gd name="connsiteX2" fmla="*/ 2579203 w 5380649"/>
              <a:gd name="connsiteY2" fmla="*/ 0 h 1592264"/>
              <a:gd name="connsiteX3" fmla="*/ 5380649 w 5380649"/>
              <a:gd name="connsiteY3" fmla="*/ 1592264 h 1592264"/>
              <a:gd name="connsiteX4" fmla="*/ 0 w 5380649"/>
              <a:gd name="connsiteY4" fmla="*/ 1592264 h 1592264"/>
              <a:gd name="connsiteX0" fmla="*/ 0 w 4204992"/>
              <a:gd name="connsiteY0" fmla="*/ 1592264 h 1592264"/>
              <a:gd name="connsiteX1" fmla="*/ 1001221 w 4204992"/>
              <a:gd name="connsiteY1" fmla="*/ 4763 h 1592264"/>
              <a:gd name="connsiteX2" fmla="*/ 2579203 w 4204992"/>
              <a:gd name="connsiteY2" fmla="*/ 0 h 1592264"/>
              <a:gd name="connsiteX3" fmla="*/ 4204992 w 4204992"/>
              <a:gd name="connsiteY3" fmla="*/ 1572535 h 1592264"/>
              <a:gd name="connsiteX4" fmla="*/ 0 w 4204992"/>
              <a:gd name="connsiteY4" fmla="*/ 1592264 h 1592264"/>
              <a:gd name="connsiteX0" fmla="*/ 0 w 3827621"/>
              <a:gd name="connsiteY0" fmla="*/ 1578852 h 1578852"/>
              <a:gd name="connsiteX1" fmla="*/ 623850 w 3827621"/>
              <a:gd name="connsiteY1" fmla="*/ 4763 h 1578852"/>
              <a:gd name="connsiteX2" fmla="*/ 2201832 w 3827621"/>
              <a:gd name="connsiteY2" fmla="*/ 0 h 1578852"/>
              <a:gd name="connsiteX3" fmla="*/ 3827621 w 3827621"/>
              <a:gd name="connsiteY3" fmla="*/ 1572535 h 1578852"/>
              <a:gd name="connsiteX4" fmla="*/ 0 w 3827621"/>
              <a:gd name="connsiteY4" fmla="*/ 1578852 h 1578852"/>
              <a:gd name="connsiteX0" fmla="*/ 0 w 2898710"/>
              <a:gd name="connsiteY0" fmla="*/ 1578852 h 1578852"/>
              <a:gd name="connsiteX1" fmla="*/ 623850 w 2898710"/>
              <a:gd name="connsiteY1" fmla="*/ 4763 h 1578852"/>
              <a:gd name="connsiteX2" fmla="*/ 2201832 w 2898710"/>
              <a:gd name="connsiteY2" fmla="*/ 0 h 1578852"/>
              <a:gd name="connsiteX3" fmla="*/ 2898710 w 2898710"/>
              <a:gd name="connsiteY3" fmla="*/ 1572537 h 1578852"/>
              <a:gd name="connsiteX4" fmla="*/ 0 w 2898710"/>
              <a:gd name="connsiteY4" fmla="*/ 1578852 h 1578852"/>
              <a:gd name="connsiteX0" fmla="*/ 0 w 3057460"/>
              <a:gd name="connsiteY0" fmla="*/ 1578852 h 1578852"/>
              <a:gd name="connsiteX1" fmla="*/ 623850 w 3057460"/>
              <a:gd name="connsiteY1" fmla="*/ 4763 h 1578852"/>
              <a:gd name="connsiteX2" fmla="*/ 2201832 w 3057460"/>
              <a:gd name="connsiteY2" fmla="*/ 0 h 1578852"/>
              <a:gd name="connsiteX3" fmla="*/ 3057460 w 3057460"/>
              <a:gd name="connsiteY3" fmla="*/ 1578405 h 1578852"/>
              <a:gd name="connsiteX4" fmla="*/ 0 w 3057460"/>
              <a:gd name="connsiteY4" fmla="*/ 1578852 h 1578852"/>
              <a:gd name="connsiteX0" fmla="*/ 0 w 3057460"/>
              <a:gd name="connsiteY0" fmla="*/ 1578852 h 1578852"/>
              <a:gd name="connsiteX1" fmla="*/ 623850 w 3057460"/>
              <a:gd name="connsiteY1" fmla="*/ 4763 h 1578852"/>
              <a:gd name="connsiteX2" fmla="*/ 2087532 w 3057460"/>
              <a:gd name="connsiteY2" fmla="*/ 0 h 1578852"/>
              <a:gd name="connsiteX3" fmla="*/ 3057460 w 3057460"/>
              <a:gd name="connsiteY3" fmla="*/ 1578405 h 1578852"/>
              <a:gd name="connsiteX4" fmla="*/ 0 w 3057460"/>
              <a:gd name="connsiteY4" fmla="*/ 1578852 h 1578852"/>
              <a:gd name="connsiteX0" fmla="*/ 0 w 2924110"/>
              <a:gd name="connsiteY0" fmla="*/ 1578852 h 1578852"/>
              <a:gd name="connsiteX1" fmla="*/ 623850 w 2924110"/>
              <a:gd name="connsiteY1" fmla="*/ 4763 h 1578852"/>
              <a:gd name="connsiteX2" fmla="*/ 2087532 w 2924110"/>
              <a:gd name="connsiteY2" fmla="*/ 0 h 1578852"/>
              <a:gd name="connsiteX3" fmla="*/ 2924110 w 2924110"/>
              <a:gd name="connsiteY3" fmla="*/ 1578405 h 1578852"/>
              <a:gd name="connsiteX4" fmla="*/ 0 w 2924110"/>
              <a:gd name="connsiteY4" fmla="*/ 1578852 h 1578852"/>
              <a:gd name="connsiteX0" fmla="*/ 0 w 2924110"/>
              <a:gd name="connsiteY0" fmla="*/ 1578852 h 1578852"/>
              <a:gd name="connsiteX1" fmla="*/ 623850 w 2924110"/>
              <a:gd name="connsiteY1" fmla="*/ 4763 h 1578852"/>
              <a:gd name="connsiteX2" fmla="*/ 2182782 w 2924110"/>
              <a:gd name="connsiteY2" fmla="*/ 0 h 1578852"/>
              <a:gd name="connsiteX3" fmla="*/ 2924110 w 2924110"/>
              <a:gd name="connsiteY3" fmla="*/ 1578405 h 1578852"/>
              <a:gd name="connsiteX4" fmla="*/ 0 w 2924110"/>
              <a:gd name="connsiteY4" fmla="*/ 1578852 h 1578852"/>
              <a:gd name="connsiteX0" fmla="*/ 0 w 3343210"/>
              <a:gd name="connsiteY0" fmla="*/ 1740810 h 1740810"/>
              <a:gd name="connsiteX1" fmla="*/ 1042950 w 3343210"/>
              <a:gd name="connsiteY1" fmla="*/ 4763 h 1740810"/>
              <a:gd name="connsiteX2" fmla="*/ 2601882 w 3343210"/>
              <a:gd name="connsiteY2" fmla="*/ 0 h 1740810"/>
              <a:gd name="connsiteX3" fmla="*/ 3343210 w 3343210"/>
              <a:gd name="connsiteY3" fmla="*/ 1578405 h 1740810"/>
              <a:gd name="connsiteX4" fmla="*/ 0 w 3343210"/>
              <a:gd name="connsiteY4" fmla="*/ 1740810 h 1740810"/>
              <a:gd name="connsiteX0" fmla="*/ 0 w 3244150"/>
              <a:gd name="connsiteY0" fmla="*/ 1740810 h 1824864"/>
              <a:gd name="connsiteX1" fmla="*/ 1042950 w 3244150"/>
              <a:gd name="connsiteY1" fmla="*/ 4763 h 1824864"/>
              <a:gd name="connsiteX2" fmla="*/ 2601882 w 3244150"/>
              <a:gd name="connsiteY2" fmla="*/ 0 h 1824864"/>
              <a:gd name="connsiteX3" fmla="*/ 3244150 w 3244150"/>
              <a:gd name="connsiteY3" fmla="*/ 1824864 h 1824864"/>
              <a:gd name="connsiteX4" fmla="*/ 0 w 3244150"/>
              <a:gd name="connsiteY4" fmla="*/ 1740810 h 1824864"/>
              <a:gd name="connsiteX0" fmla="*/ 0 w 3403177"/>
              <a:gd name="connsiteY0" fmla="*/ 1152987 h 1824864"/>
              <a:gd name="connsiteX1" fmla="*/ 1201977 w 3403177"/>
              <a:gd name="connsiteY1" fmla="*/ 4763 h 1824864"/>
              <a:gd name="connsiteX2" fmla="*/ 2760909 w 3403177"/>
              <a:gd name="connsiteY2" fmla="*/ 0 h 1824864"/>
              <a:gd name="connsiteX3" fmla="*/ 3403177 w 3403177"/>
              <a:gd name="connsiteY3" fmla="*/ 1824864 h 1824864"/>
              <a:gd name="connsiteX4" fmla="*/ 0 w 3403177"/>
              <a:gd name="connsiteY4" fmla="*/ 1152987 h 1824864"/>
              <a:gd name="connsiteX0" fmla="*/ 0 w 2760909"/>
              <a:gd name="connsiteY0" fmla="*/ 1152987 h 1273777"/>
              <a:gd name="connsiteX1" fmla="*/ 1201977 w 2760909"/>
              <a:gd name="connsiteY1" fmla="*/ 4763 h 1273777"/>
              <a:gd name="connsiteX2" fmla="*/ 2760909 w 2760909"/>
              <a:gd name="connsiteY2" fmla="*/ 0 h 1273777"/>
              <a:gd name="connsiteX3" fmla="*/ 2753820 w 2760909"/>
              <a:gd name="connsiteY3" fmla="*/ 1273777 h 1273777"/>
              <a:gd name="connsiteX4" fmla="*/ 0 w 2760909"/>
              <a:gd name="connsiteY4" fmla="*/ 1152987 h 1273777"/>
              <a:gd name="connsiteX0" fmla="*/ 0 w 2760909"/>
              <a:gd name="connsiteY0" fmla="*/ 1152987 h 1273777"/>
              <a:gd name="connsiteX1" fmla="*/ 1201977 w 2760909"/>
              <a:gd name="connsiteY1" fmla="*/ 4763 h 1273777"/>
              <a:gd name="connsiteX2" fmla="*/ 2760909 w 2760909"/>
              <a:gd name="connsiteY2" fmla="*/ 0 h 1273777"/>
              <a:gd name="connsiteX3" fmla="*/ 2753820 w 2760909"/>
              <a:gd name="connsiteY3" fmla="*/ 1273777 h 1273777"/>
              <a:gd name="connsiteX4" fmla="*/ 0 w 2760909"/>
              <a:gd name="connsiteY4" fmla="*/ 1152987 h 1273777"/>
              <a:gd name="connsiteX0" fmla="*/ 0 w 2776784"/>
              <a:gd name="connsiteY0" fmla="*/ 1152987 h 1273777"/>
              <a:gd name="connsiteX1" fmla="*/ 1201977 w 2776784"/>
              <a:gd name="connsiteY1" fmla="*/ 4763 h 1273777"/>
              <a:gd name="connsiteX2" fmla="*/ 2776784 w 2776784"/>
              <a:gd name="connsiteY2" fmla="*/ 0 h 1273777"/>
              <a:gd name="connsiteX3" fmla="*/ 2753820 w 2776784"/>
              <a:gd name="connsiteY3" fmla="*/ 1273777 h 1273777"/>
              <a:gd name="connsiteX4" fmla="*/ 0 w 2776784"/>
              <a:gd name="connsiteY4" fmla="*/ 1152987 h 1273777"/>
              <a:gd name="connsiteX0" fmla="*/ 0 w 2779959"/>
              <a:gd name="connsiteY0" fmla="*/ 1152987 h 1273777"/>
              <a:gd name="connsiteX1" fmla="*/ 1201977 w 2779959"/>
              <a:gd name="connsiteY1" fmla="*/ 4763 h 1273777"/>
              <a:gd name="connsiteX2" fmla="*/ 2779959 w 2779959"/>
              <a:gd name="connsiteY2" fmla="*/ 0 h 1273777"/>
              <a:gd name="connsiteX3" fmla="*/ 2753820 w 2779959"/>
              <a:gd name="connsiteY3" fmla="*/ 1273777 h 1273777"/>
              <a:gd name="connsiteX4" fmla="*/ 0 w 2779959"/>
              <a:gd name="connsiteY4" fmla="*/ 1152987 h 1273777"/>
              <a:gd name="connsiteX0" fmla="*/ 0 w 2882408"/>
              <a:gd name="connsiteY0" fmla="*/ 1152987 h 1185756"/>
              <a:gd name="connsiteX1" fmla="*/ 1201977 w 2882408"/>
              <a:gd name="connsiteY1" fmla="*/ 4763 h 1185756"/>
              <a:gd name="connsiteX2" fmla="*/ 2779959 w 2882408"/>
              <a:gd name="connsiteY2" fmla="*/ 0 h 1185756"/>
              <a:gd name="connsiteX3" fmla="*/ 2882408 w 2882408"/>
              <a:gd name="connsiteY3" fmla="*/ 1185756 h 1185756"/>
              <a:gd name="connsiteX4" fmla="*/ 0 w 2882408"/>
              <a:gd name="connsiteY4" fmla="*/ 1152987 h 1185756"/>
              <a:gd name="connsiteX0" fmla="*/ 0 w 2888759"/>
              <a:gd name="connsiteY0" fmla="*/ 1076705 h 1185756"/>
              <a:gd name="connsiteX1" fmla="*/ 1208328 w 2888759"/>
              <a:gd name="connsiteY1" fmla="*/ 4763 h 1185756"/>
              <a:gd name="connsiteX2" fmla="*/ 2786310 w 2888759"/>
              <a:gd name="connsiteY2" fmla="*/ 0 h 1185756"/>
              <a:gd name="connsiteX3" fmla="*/ 2888759 w 2888759"/>
              <a:gd name="connsiteY3" fmla="*/ 1185756 h 1185756"/>
              <a:gd name="connsiteX4" fmla="*/ 0 w 2888759"/>
              <a:gd name="connsiteY4" fmla="*/ 1076705 h 1185756"/>
              <a:gd name="connsiteX0" fmla="*/ 0 w 2812559"/>
              <a:gd name="connsiteY0" fmla="*/ 1076705 h 1303117"/>
              <a:gd name="connsiteX1" fmla="*/ 1208328 w 2812559"/>
              <a:gd name="connsiteY1" fmla="*/ 4763 h 1303117"/>
              <a:gd name="connsiteX2" fmla="*/ 2786310 w 2812559"/>
              <a:gd name="connsiteY2" fmla="*/ 0 h 1303117"/>
              <a:gd name="connsiteX3" fmla="*/ 2812559 w 2812559"/>
              <a:gd name="connsiteY3" fmla="*/ 1303117 h 1303117"/>
              <a:gd name="connsiteX4" fmla="*/ 0 w 2812559"/>
              <a:gd name="connsiteY4" fmla="*/ 1076705 h 1303117"/>
              <a:gd name="connsiteX0" fmla="*/ 0 w 2907809"/>
              <a:gd name="connsiteY0" fmla="*/ 1563754 h 1563754"/>
              <a:gd name="connsiteX1" fmla="*/ 1303578 w 2907809"/>
              <a:gd name="connsiteY1" fmla="*/ 4763 h 1563754"/>
              <a:gd name="connsiteX2" fmla="*/ 2881560 w 2907809"/>
              <a:gd name="connsiteY2" fmla="*/ 0 h 1563754"/>
              <a:gd name="connsiteX3" fmla="*/ 2907809 w 2907809"/>
              <a:gd name="connsiteY3" fmla="*/ 1303117 h 1563754"/>
              <a:gd name="connsiteX4" fmla="*/ 0 w 2907809"/>
              <a:gd name="connsiteY4" fmla="*/ 1563754 h 1563754"/>
              <a:gd name="connsiteX0" fmla="*/ 0 w 2888762"/>
              <a:gd name="connsiteY0" fmla="*/ 1563754 h 1608258"/>
              <a:gd name="connsiteX1" fmla="*/ 1303578 w 2888762"/>
              <a:gd name="connsiteY1" fmla="*/ 4763 h 1608258"/>
              <a:gd name="connsiteX2" fmla="*/ 2881560 w 2888762"/>
              <a:gd name="connsiteY2" fmla="*/ 0 h 1608258"/>
              <a:gd name="connsiteX3" fmla="*/ 2888762 w 2888762"/>
              <a:gd name="connsiteY3" fmla="*/ 1608258 h 1608258"/>
              <a:gd name="connsiteX4" fmla="*/ 0 w 2888762"/>
              <a:gd name="connsiteY4" fmla="*/ 1563754 h 1608258"/>
              <a:gd name="connsiteX0" fmla="*/ 0 w 2743982"/>
              <a:gd name="connsiteY0" fmla="*/ 1472215 h 1608258"/>
              <a:gd name="connsiteX1" fmla="*/ 1158798 w 2743982"/>
              <a:gd name="connsiteY1" fmla="*/ 4763 h 1608258"/>
              <a:gd name="connsiteX2" fmla="*/ 2736780 w 2743982"/>
              <a:gd name="connsiteY2" fmla="*/ 0 h 1608258"/>
              <a:gd name="connsiteX3" fmla="*/ 2743982 w 2743982"/>
              <a:gd name="connsiteY3" fmla="*/ 1608258 h 1608258"/>
              <a:gd name="connsiteX4" fmla="*/ 0 w 2743982"/>
              <a:gd name="connsiteY4" fmla="*/ 1472215 h 1608258"/>
              <a:gd name="connsiteX0" fmla="*/ 0 w 2812565"/>
              <a:gd name="connsiteY0" fmla="*/ 1472215 h 1615302"/>
              <a:gd name="connsiteX1" fmla="*/ 1158798 w 2812565"/>
              <a:gd name="connsiteY1" fmla="*/ 4763 h 1615302"/>
              <a:gd name="connsiteX2" fmla="*/ 2736780 w 2812565"/>
              <a:gd name="connsiteY2" fmla="*/ 0 h 1615302"/>
              <a:gd name="connsiteX3" fmla="*/ 2812565 w 2812565"/>
              <a:gd name="connsiteY3" fmla="*/ 1615302 h 1615302"/>
              <a:gd name="connsiteX4" fmla="*/ 0 w 2812565"/>
              <a:gd name="connsiteY4" fmla="*/ 1472215 h 1615302"/>
              <a:gd name="connsiteX0" fmla="*/ 126538 w 1653767"/>
              <a:gd name="connsiteY0" fmla="*/ 1620408 h 1620408"/>
              <a:gd name="connsiteX1" fmla="*/ 0 w 1653767"/>
              <a:gd name="connsiteY1" fmla="*/ 4763 h 1620408"/>
              <a:gd name="connsiteX2" fmla="*/ 1577982 w 1653767"/>
              <a:gd name="connsiteY2" fmla="*/ 0 h 1620408"/>
              <a:gd name="connsiteX3" fmla="*/ 1653767 w 1653767"/>
              <a:gd name="connsiteY3" fmla="*/ 1615302 h 1620408"/>
              <a:gd name="connsiteX4" fmla="*/ 126538 w 1653767"/>
              <a:gd name="connsiteY4" fmla="*/ 1620408 h 1620408"/>
              <a:gd name="connsiteX0" fmla="*/ 126538 w 2361133"/>
              <a:gd name="connsiteY0" fmla="*/ 1620408 h 1620408"/>
              <a:gd name="connsiteX1" fmla="*/ 0 w 2361133"/>
              <a:gd name="connsiteY1" fmla="*/ 4763 h 1620408"/>
              <a:gd name="connsiteX2" fmla="*/ 1577982 w 2361133"/>
              <a:gd name="connsiteY2" fmla="*/ 0 h 1620408"/>
              <a:gd name="connsiteX3" fmla="*/ 2361133 w 2361133"/>
              <a:gd name="connsiteY3" fmla="*/ 1620243 h 1620408"/>
              <a:gd name="connsiteX4" fmla="*/ 126538 w 2361133"/>
              <a:gd name="connsiteY4" fmla="*/ 1620408 h 1620408"/>
              <a:gd name="connsiteX0" fmla="*/ 126538 w 2361133"/>
              <a:gd name="connsiteY0" fmla="*/ 1625347 h 1625347"/>
              <a:gd name="connsiteX1" fmla="*/ 0 w 2361133"/>
              <a:gd name="connsiteY1" fmla="*/ 9702 h 1625347"/>
              <a:gd name="connsiteX2" fmla="*/ 758474 w 2361133"/>
              <a:gd name="connsiteY2" fmla="*/ 0 h 1625347"/>
              <a:gd name="connsiteX3" fmla="*/ 2361133 w 2361133"/>
              <a:gd name="connsiteY3" fmla="*/ 1625182 h 1625347"/>
              <a:gd name="connsiteX4" fmla="*/ 126538 w 2361133"/>
              <a:gd name="connsiteY4" fmla="*/ 1625347 h 1625347"/>
              <a:gd name="connsiteX0" fmla="*/ 126538 w 2361133"/>
              <a:gd name="connsiteY0" fmla="*/ 1625347 h 1625347"/>
              <a:gd name="connsiteX1" fmla="*/ 0 w 2361133"/>
              <a:gd name="connsiteY1" fmla="*/ 9702 h 1625347"/>
              <a:gd name="connsiteX2" fmla="*/ 758474 w 2361133"/>
              <a:gd name="connsiteY2" fmla="*/ 0 h 1625347"/>
              <a:gd name="connsiteX3" fmla="*/ 2361133 w 2361133"/>
              <a:gd name="connsiteY3" fmla="*/ 1625182 h 1625347"/>
              <a:gd name="connsiteX4" fmla="*/ 126538 w 2361133"/>
              <a:gd name="connsiteY4" fmla="*/ 1625347 h 1625347"/>
              <a:gd name="connsiteX0" fmla="*/ 126538 w 2361133"/>
              <a:gd name="connsiteY0" fmla="*/ 1625347 h 1625347"/>
              <a:gd name="connsiteX1" fmla="*/ 0 w 2361133"/>
              <a:gd name="connsiteY1" fmla="*/ 9702 h 1625347"/>
              <a:gd name="connsiteX2" fmla="*/ 758474 w 2361133"/>
              <a:gd name="connsiteY2" fmla="*/ 0 h 1625347"/>
              <a:gd name="connsiteX3" fmla="*/ 2361133 w 2361133"/>
              <a:gd name="connsiteY3" fmla="*/ 1625182 h 1625347"/>
              <a:gd name="connsiteX4" fmla="*/ 126538 w 2361133"/>
              <a:gd name="connsiteY4" fmla="*/ 1625347 h 1625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61133" h="1625347">
                <a:moveTo>
                  <a:pt x="126538" y="1625347"/>
                </a:moveTo>
                <a:lnTo>
                  <a:pt x="0" y="9702"/>
                </a:lnTo>
                <a:lnTo>
                  <a:pt x="758474" y="0"/>
                </a:lnTo>
                <a:cubicBezTo>
                  <a:pt x="2322256" y="1578376"/>
                  <a:pt x="771472" y="22107"/>
                  <a:pt x="2361133" y="1625182"/>
                </a:cubicBezTo>
                <a:lnTo>
                  <a:pt x="126538" y="1625347"/>
                </a:lnTo>
                <a:close/>
              </a:path>
            </a:pathLst>
          </a:custGeom>
          <a:gradFill flip="none" rotWithShape="1">
            <a:gsLst>
              <a:gs pos="59000">
                <a:srgbClr val="C1DDEE"/>
              </a:gs>
              <a:gs pos="31000">
                <a:srgbClr val="9BC8E3"/>
              </a:gs>
              <a:gs pos="0">
                <a:srgbClr val="72B2D8"/>
              </a:gs>
              <a:gs pos="100000">
                <a:schemeClr val="bg1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371415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A7646E88-9445-42BB-A6BF-61E861735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93" y="2876522"/>
            <a:ext cx="2970804" cy="3483678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Longitudinal component :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59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208F81EF-187D-41A4-8E6E-D969E27B3F19}"/>
                  </a:ext>
                </a:extLst>
              </p:cNvPr>
              <p:cNvSpPr/>
              <p:nvPr/>
            </p:nvSpPr>
            <p:spPr>
              <a:xfrm>
                <a:off x="3006725" y="1275150"/>
                <a:ext cx="8738318" cy="4532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200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𝐽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e>
                              </m:acc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TW" sz="120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r>
                            <a:rPr lang="zh-TW" altLang="en-US" sz="1200" i="1"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12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r>
                            <a:rPr lang="zh-TW" altLang="en-US" sz="1200" i="1"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zh-TW" altLang="en-US" sz="12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acc>
                        <m:accPr>
                          <m:chr m:val="̂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208F81EF-187D-41A4-8E6E-D969E27B3F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6725" y="1275150"/>
                <a:ext cx="8738318" cy="4532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矩形: 圓角 47">
            <a:extLst>
              <a:ext uri="{FF2B5EF4-FFF2-40B4-BE49-F238E27FC236}">
                <a16:creationId xmlns:a16="http://schemas.microsoft.com/office/drawing/2014/main" id="{01A4EF1B-D2C1-4366-A094-9D5A926DFC11}"/>
              </a:ext>
            </a:extLst>
          </p:cNvPr>
          <p:cNvSpPr/>
          <p:nvPr/>
        </p:nvSpPr>
        <p:spPr>
          <a:xfrm>
            <a:off x="4832350" y="1285874"/>
            <a:ext cx="2638125" cy="444501"/>
          </a:xfrm>
          <a:prstGeom prst="roundRect">
            <a:avLst/>
          </a:prstGeom>
          <a:noFill/>
          <a:ln w="38100">
            <a:solidFill>
              <a:srgbClr val="0970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FC852039-7E37-4BA2-9E08-735305FDA7AF}"/>
              </a:ext>
            </a:extLst>
          </p:cNvPr>
          <p:cNvGrpSpPr/>
          <p:nvPr/>
        </p:nvGrpSpPr>
        <p:grpSpPr>
          <a:xfrm>
            <a:off x="508743" y="1207329"/>
            <a:ext cx="2685928" cy="595163"/>
            <a:chOff x="7128124" y="2749452"/>
            <a:chExt cx="2685928" cy="5951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6B06ECB5-1C96-4BEA-A48A-7A03AAEEED37}"/>
                    </a:ext>
                  </a:extLst>
                </p:cNvPr>
                <p:cNvSpPr/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𝐽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6B06ECB5-1C96-4BEA-A48A-7A03AAEEED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8" name="圖形 57">
              <a:extLst>
                <a:ext uri="{FF2B5EF4-FFF2-40B4-BE49-F238E27FC236}">
                  <a16:creationId xmlns:a16="http://schemas.microsoft.com/office/drawing/2014/main" id="{42B6CB12-B0A0-43D9-8602-3ABD612BA0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t="1" r="53142" b="-1"/>
            <a:stretch/>
          </p:blipFill>
          <p:spPr>
            <a:xfrm>
              <a:off x="7268092" y="2986000"/>
              <a:ext cx="224841" cy="172247"/>
            </a:xfrm>
            <a:prstGeom prst="rect">
              <a:avLst/>
            </a:prstGeom>
          </p:spPr>
        </p:pic>
      </p:grpSp>
      <p:sp>
        <p:nvSpPr>
          <p:cNvPr id="60" name="矩形: 圓角 59">
            <a:extLst>
              <a:ext uri="{FF2B5EF4-FFF2-40B4-BE49-F238E27FC236}">
                <a16:creationId xmlns:a16="http://schemas.microsoft.com/office/drawing/2014/main" id="{595665A7-D60F-4ABA-83E1-24C9008B3DDF}"/>
              </a:ext>
            </a:extLst>
          </p:cNvPr>
          <p:cNvSpPr/>
          <p:nvPr/>
        </p:nvSpPr>
        <p:spPr>
          <a:xfrm>
            <a:off x="7624764" y="1285874"/>
            <a:ext cx="2761440" cy="444501"/>
          </a:xfrm>
          <a:prstGeom prst="roundRect">
            <a:avLst/>
          </a:prstGeom>
          <a:noFill/>
          <a:ln w="38100">
            <a:solidFill>
              <a:srgbClr val="CE89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742CBD5-B6FF-4D8C-AB1F-4B7CEDF59C8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5863" y="2971182"/>
            <a:ext cx="588243" cy="367965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F112CBC7-DA0B-4BAE-856E-5EF88918557B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r="50112"/>
          <a:stretch/>
        </p:blipFill>
        <p:spPr>
          <a:xfrm>
            <a:off x="4114209" y="3143250"/>
            <a:ext cx="3176062" cy="2846226"/>
          </a:xfrm>
          <a:prstGeom prst="rect">
            <a:avLst/>
          </a:prstGeom>
        </p:spPr>
      </p:pic>
      <p:pic>
        <p:nvPicPr>
          <p:cNvPr id="65" name="圖片 64">
            <a:extLst>
              <a:ext uri="{FF2B5EF4-FFF2-40B4-BE49-F238E27FC236}">
                <a16:creationId xmlns:a16="http://schemas.microsoft.com/office/drawing/2014/main" id="{AB9C071D-9EE1-4FED-BEB0-EDCB7B1794EE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50149"/>
          <a:stretch/>
        </p:blipFill>
        <p:spPr>
          <a:xfrm>
            <a:off x="8012047" y="3143250"/>
            <a:ext cx="3173730" cy="2846226"/>
          </a:xfrm>
          <a:prstGeom prst="rect">
            <a:avLst/>
          </a:prstGeom>
        </p:spPr>
      </p:pic>
      <p:pic>
        <p:nvPicPr>
          <p:cNvPr id="66" name="圖片 65">
            <a:extLst>
              <a:ext uri="{FF2B5EF4-FFF2-40B4-BE49-F238E27FC236}">
                <a16:creationId xmlns:a16="http://schemas.microsoft.com/office/drawing/2014/main" id="{C48A2AFB-431C-4757-B1AB-D652B95E95E9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50263"/>
          <a:stretch/>
        </p:blipFill>
        <p:spPr>
          <a:xfrm>
            <a:off x="7285566" y="3178774"/>
            <a:ext cx="390006" cy="2863135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34DE1178-F8E3-4C6E-B084-55A3A30CA6F1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799"/>
          <a:stretch/>
        </p:blipFill>
        <p:spPr>
          <a:xfrm>
            <a:off x="11183962" y="3121684"/>
            <a:ext cx="390006" cy="28898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A2D31E7F-9DA8-4310-A697-DBCBCA8E617F}"/>
                  </a:ext>
                </a:extLst>
              </p:cNvPr>
              <p:cNvSpPr txBox="1"/>
              <p:nvPr/>
            </p:nvSpPr>
            <p:spPr>
              <a:xfrm>
                <a:off x="7215098" y="5715478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A2D31E7F-9DA8-4310-A697-DBCBCA8E61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5098" y="5715478"/>
                <a:ext cx="478319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4" name="圖片 73">
            <a:extLst>
              <a:ext uri="{FF2B5EF4-FFF2-40B4-BE49-F238E27FC236}">
                <a16:creationId xmlns:a16="http://schemas.microsoft.com/office/drawing/2014/main" id="{AAFA378E-5799-4A8A-98AE-0272F69CD77D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5592" b="70339"/>
          <a:stretch/>
        </p:blipFill>
        <p:spPr>
          <a:xfrm>
            <a:off x="3297810" y="3096202"/>
            <a:ext cx="344550" cy="29551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D78C9093-A902-4EE0-803C-B61AF61F5D60}"/>
                  </a:ext>
                </a:extLst>
              </p:cNvPr>
              <p:cNvSpPr txBox="1"/>
              <p:nvPr/>
            </p:nvSpPr>
            <p:spPr>
              <a:xfrm>
                <a:off x="3219656" y="5715478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D78C9093-A902-4EE0-803C-B61AF61F5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9656" y="5715478"/>
                <a:ext cx="478319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9AF833F2-AD0F-4B25-8A99-ACD625C4FDF1}"/>
                  </a:ext>
                </a:extLst>
              </p:cNvPr>
              <p:cNvSpPr txBox="1"/>
              <p:nvPr/>
            </p:nvSpPr>
            <p:spPr>
              <a:xfrm>
                <a:off x="11112305" y="5715478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9AF833F2-AD0F-4B25-8A99-ACD625C4F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2305" y="5715478"/>
                <a:ext cx="478319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內容版面配置區 2">
                <a:extLst>
                  <a:ext uri="{FF2B5EF4-FFF2-40B4-BE49-F238E27FC236}">
                    <a16:creationId xmlns:a16="http://schemas.microsoft.com/office/drawing/2014/main" id="{DF242ACE-1CEA-4A6A-A5F6-3D4B68BAC4D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57318" y="3081829"/>
                <a:ext cx="42287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8" name="內容版面配置區 2">
                <a:extLst>
                  <a:ext uri="{FF2B5EF4-FFF2-40B4-BE49-F238E27FC236}">
                    <a16:creationId xmlns:a16="http://schemas.microsoft.com/office/drawing/2014/main" id="{DF242ACE-1CEA-4A6A-A5F6-3D4B68BAC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318" y="3081829"/>
                <a:ext cx="422874" cy="32438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內容版面配置區 2">
                <a:extLst>
                  <a:ext uri="{FF2B5EF4-FFF2-40B4-BE49-F238E27FC236}">
                    <a16:creationId xmlns:a16="http://schemas.microsoft.com/office/drawing/2014/main" id="{59179C10-75A4-4DE2-BB71-D5CF84C550B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54443" y="5839407"/>
                <a:ext cx="36536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9" name="內容版面配置區 2">
                <a:extLst>
                  <a:ext uri="{FF2B5EF4-FFF2-40B4-BE49-F238E27FC236}">
                    <a16:creationId xmlns:a16="http://schemas.microsoft.com/office/drawing/2014/main" id="{59179C10-75A4-4DE2-BB71-D5CF84C55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443" y="5839407"/>
                <a:ext cx="365364" cy="32438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內容版面配置區 2">
                <a:extLst>
                  <a:ext uri="{FF2B5EF4-FFF2-40B4-BE49-F238E27FC236}">
                    <a16:creationId xmlns:a16="http://schemas.microsoft.com/office/drawing/2014/main" id="{7D6C3450-CC54-4E60-A5E1-EB23CCA72F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74352" y="3061701"/>
                <a:ext cx="42287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1" name="內容版面配置區 2">
                <a:extLst>
                  <a:ext uri="{FF2B5EF4-FFF2-40B4-BE49-F238E27FC236}">
                    <a16:creationId xmlns:a16="http://schemas.microsoft.com/office/drawing/2014/main" id="{7D6C3450-CC54-4E60-A5E1-EB23CCA72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4352" y="3061701"/>
                <a:ext cx="422874" cy="32438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內容版面配置區 2">
                <a:extLst>
                  <a:ext uri="{FF2B5EF4-FFF2-40B4-BE49-F238E27FC236}">
                    <a16:creationId xmlns:a16="http://schemas.microsoft.com/office/drawing/2014/main" id="{AC6BBEB0-6104-4D80-AC93-F0D61D30DF9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71477" y="5819279"/>
                <a:ext cx="36536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2" name="內容版面配置區 2">
                <a:extLst>
                  <a:ext uri="{FF2B5EF4-FFF2-40B4-BE49-F238E27FC236}">
                    <a16:creationId xmlns:a16="http://schemas.microsoft.com/office/drawing/2014/main" id="{AC6BBEB0-6104-4D80-AC93-F0D61D30D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1477" y="5819279"/>
                <a:ext cx="365364" cy="32438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內容版面配置區 2">
                <a:extLst>
                  <a:ext uri="{FF2B5EF4-FFF2-40B4-BE49-F238E27FC236}">
                    <a16:creationId xmlns:a16="http://schemas.microsoft.com/office/drawing/2014/main" id="{C269FA1F-FE58-4DC2-9F92-AAF8BDEC6C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94881" y="3048919"/>
                <a:ext cx="73342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b="1" i="1" smtClean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en-US" altLang="zh-TW" sz="2000" b="1" dirty="0">
                    <a:solidFill>
                      <a:srgbClr val="FF0000"/>
                    </a:solidFill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.05 </a:t>
                </a:r>
              </a:p>
            </p:txBody>
          </p:sp>
        </mc:Choice>
        <mc:Fallback xmlns="">
          <p:sp>
            <p:nvSpPr>
              <p:cNvPr id="83" name="內容版面配置區 2">
                <a:extLst>
                  <a:ext uri="{FF2B5EF4-FFF2-40B4-BE49-F238E27FC236}">
                    <a16:creationId xmlns:a16="http://schemas.microsoft.com/office/drawing/2014/main" id="{C269FA1F-FE58-4DC2-9F92-AAF8BDEC6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4881" y="3048919"/>
                <a:ext cx="733424" cy="324388"/>
              </a:xfrm>
              <a:prstGeom prst="rect">
                <a:avLst/>
              </a:prstGeom>
              <a:blipFill>
                <a:blip r:embed="rId20"/>
                <a:stretch>
                  <a:fillRect t="-32075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內容版面配置區 2">
                <a:extLst>
                  <a:ext uri="{FF2B5EF4-FFF2-40B4-BE49-F238E27FC236}">
                    <a16:creationId xmlns:a16="http://schemas.microsoft.com/office/drawing/2014/main" id="{77F1E1A7-39D3-4F5F-BC24-9973BB4A93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500989" y="5825030"/>
                <a:ext cx="36536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4" name="內容版面配置區 2">
                <a:extLst>
                  <a:ext uri="{FF2B5EF4-FFF2-40B4-BE49-F238E27FC236}">
                    <a16:creationId xmlns:a16="http://schemas.microsoft.com/office/drawing/2014/main" id="{77F1E1A7-39D3-4F5F-BC24-9973BB4A9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0989" y="5825030"/>
                <a:ext cx="365364" cy="32438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7FCC073F-4266-460D-8FBA-AF736741E863}"/>
                  </a:ext>
                </a:extLst>
              </p:cNvPr>
              <p:cNvSpPr/>
              <p:nvPr/>
            </p:nvSpPr>
            <p:spPr>
              <a:xfrm>
                <a:off x="4324580" y="6006690"/>
                <a:ext cx="2826095" cy="4131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ℓ</m:t>
                              </m:r>
                            </m:e>
                          </m:d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1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sz="1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altLang="zh-TW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sz="1400" i="1" dirty="0" smtClean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4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7FCC073F-4266-460D-8FBA-AF736741E8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4580" y="6006690"/>
                <a:ext cx="2826095" cy="41319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07F733A2-D9A0-455C-9E90-54ACD8FF5F8C}"/>
              </a:ext>
            </a:extLst>
          </p:cNvPr>
          <p:cNvSpPr/>
          <p:nvPr/>
        </p:nvSpPr>
        <p:spPr>
          <a:xfrm>
            <a:off x="491491" y="1079815"/>
            <a:ext cx="10748009" cy="920436"/>
          </a:xfrm>
          <a:prstGeom prst="roundRect">
            <a:avLst/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內容版面配置區 2">
                <a:extLst>
                  <a:ext uri="{FF2B5EF4-FFF2-40B4-BE49-F238E27FC236}">
                    <a16:creationId xmlns:a16="http://schemas.microsoft.com/office/drawing/2014/main" id="{35A9BED2-8310-4112-A977-A02C88EEE5D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6962" y="709212"/>
                <a:ext cx="4562952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Longitudinal component of VVB: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0" name="內容版面配置區 2">
                <a:extLst>
                  <a:ext uri="{FF2B5EF4-FFF2-40B4-BE49-F238E27FC236}">
                    <a16:creationId xmlns:a16="http://schemas.microsoft.com/office/drawing/2014/main" id="{35A9BED2-8310-4112-A977-A02C88EEE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962" y="709212"/>
                <a:ext cx="4562952" cy="324388"/>
              </a:xfrm>
              <a:prstGeom prst="rect">
                <a:avLst/>
              </a:prstGeom>
              <a:blipFill>
                <a:blip r:embed="rId23"/>
                <a:stretch>
                  <a:fillRect l="-1335" t="-38889" b="-240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E7C874F4-513F-4BFE-8578-DCDE18185797}"/>
                  </a:ext>
                </a:extLst>
              </p:cNvPr>
              <p:cNvSpPr/>
              <p:nvPr/>
            </p:nvSpPr>
            <p:spPr>
              <a:xfrm>
                <a:off x="8325525" y="6029367"/>
                <a:ext cx="2843727" cy="4131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ℓ</m:t>
                              </m:r>
                            </m:e>
                          </m:d>
                          <m:r>
                            <a:rPr lang="en-US" altLang="zh-TW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altLang="zh-TW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sz="1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E7C874F4-513F-4BFE-8578-DCDE181857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5525" y="6029367"/>
                <a:ext cx="2843727" cy="41319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矩形 45">
            <a:extLst>
              <a:ext uri="{FF2B5EF4-FFF2-40B4-BE49-F238E27FC236}">
                <a16:creationId xmlns:a16="http://schemas.microsoft.com/office/drawing/2014/main" id="{5BABE361-1359-4474-A9A9-128DEDB25776}"/>
              </a:ext>
            </a:extLst>
          </p:cNvPr>
          <p:cNvSpPr/>
          <p:nvPr/>
        </p:nvSpPr>
        <p:spPr>
          <a:xfrm>
            <a:off x="8950597" y="6393809"/>
            <a:ext cx="24952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Nearly zero</a:t>
            </a:r>
            <a:endParaRPr lang="zh-TW" altLang="en-US" sz="2000" b="1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箭號: 弧形左彎 1">
            <a:extLst>
              <a:ext uri="{FF2B5EF4-FFF2-40B4-BE49-F238E27FC236}">
                <a16:creationId xmlns:a16="http://schemas.microsoft.com/office/drawing/2014/main" id="{BB3B8171-4129-408D-BA6E-9594888187F8}"/>
              </a:ext>
            </a:extLst>
          </p:cNvPr>
          <p:cNvSpPr/>
          <p:nvPr/>
        </p:nvSpPr>
        <p:spPr>
          <a:xfrm rot="20700000">
            <a:off x="6772276" y="1581150"/>
            <a:ext cx="756788" cy="1779041"/>
          </a:xfrm>
          <a:prstGeom prst="curvedLeftArrow">
            <a:avLst/>
          </a:prstGeom>
          <a:solidFill>
            <a:srgbClr val="1478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87" name="箭號: 弧形左彎 86">
            <a:extLst>
              <a:ext uri="{FF2B5EF4-FFF2-40B4-BE49-F238E27FC236}">
                <a16:creationId xmlns:a16="http://schemas.microsoft.com/office/drawing/2014/main" id="{38EFB449-B93B-4473-BA2E-40E964E66507}"/>
              </a:ext>
            </a:extLst>
          </p:cNvPr>
          <p:cNvSpPr/>
          <p:nvPr/>
        </p:nvSpPr>
        <p:spPr>
          <a:xfrm rot="20700000">
            <a:off x="10525297" y="1581150"/>
            <a:ext cx="756788" cy="1779041"/>
          </a:xfrm>
          <a:prstGeom prst="curvedLeftArrow">
            <a:avLst/>
          </a:prstGeom>
          <a:solidFill>
            <a:srgbClr val="9900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內容版面配置區 2">
                <a:extLst>
                  <a:ext uri="{FF2B5EF4-FFF2-40B4-BE49-F238E27FC236}">
                    <a16:creationId xmlns:a16="http://schemas.microsoft.com/office/drawing/2014/main" id="{5382E0B6-9FBB-43B4-8078-A0FFB1F9C11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4290" y="6380068"/>
                <a:ext cx="2841989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,ℓ,</m:t>
                    </m:r>
                    <m:sSup>
                      <m:sSup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=1, −1, −1, 2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內容版面配置區 2">
                <a:extLst>
                  <a:ext uri="{FF2B5EF4-FFF2-40B4-BE49-F238E27FC236}">
                    <a16:creationId xmlns:a16="http://schemas.microsoft.com/office/drawing/2014/main" id="{5382E0B6-9FBB-43B4-8078-A0FFB1F9C1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290" y="6380068"/>
                <a:ext cx="2841989" cy="324388"/>
              </a:xfrm>
              <a:prstGeom prst="rect">
                <a:avLst/>
              </a:prstGeom>
              <a:blipFill>
                <a:blip r:embed="rId25"/>
                <a:stretch>
                  <a:fillRect t="-37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36872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A7646E88-9445-42BB-A6BF-61E861735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93" y="2876522"/>
            <a:ext cx="2970804" cy="3483678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Longitudinal component :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60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208F81EF-187D-41A4-8E6E-D969E27B3F19}"/>
                  </a:ext>
                </a:extLst>
              </p:cNvPr>
              <p:cNvSpPr/>
              <p:nvPr/>
            </p:nvSpPr>
            <p:spPr>
              <a:xfrm>
                <a:off x="3006725" y="1275150"/>
                <a:ext cx="8738318" cy="4532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200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𝐽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e>
                              </m:acc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TW" sz="120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r>
                            <a:rPr lang="zh-TW" altLang="en-US" sz="1200" i="1"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12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r>
                            <a:rPr lang="zh-TW" altLang="en-US" sz="1200" i="1"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zh-TW" altLang="en-US" sz="12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acc>
                        <m:accPr>
                          <m:chr m:val="̂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208F81EF-187D-41A4-8E6E-D969E27B3F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6725" y="1275150"/>
                <a:ext cx="8738318" cy="4532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群組 54">
            <a:extLst>
              <a:ext uri="{FF2B5EF4-FFF2-40B4-BE49-F238E27FC236}">
                <a16:creationId xmlns:a16="http://schemas.microsoft.com/office/drawing/2014/main" id="{FC852039-7E37-4BA2-9E08-735305FDA7AF}"/>
              </a:ext>
            </a:extLst>
          </p:cNvPr>
          <p:cNvGrpSpPr/>
          <p:nvPr/>
        </p:nvGrpSpPr>
        <p:grpSpPr>
          <a:xfrm>
            <a:off x="508743" y="1207329"/>
            <a:ext cx="2685928" cy="595163"/>
            <a:chOff x="7128124" y="2749452"/>
            <a:chExt cx="2685928" cy="5951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6B06ECB5-1C96-4BEA-A48A-7A03AAEEED37}"/>
                    </a:ext>
                  </a:extLst>
                </p:cNvPr>
                <p:cNvSpPr/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𝐽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6B06ECB5-1C96-4BEA-A48A-7A03AAEEED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8" name="圖形 57">
              <a:extLst>
                <a:ext uri="{FF2B5EF4-FFF2-40B4-BE49-F238E27FC236}">
                  <a16:creationId xmlns:a16="http://schemas.microsoft.com/office/drawing/2014/main" id="{42B6CB12-B0A0-43D9-8602-3ABD612BA0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t="1" r="53142" b="-1"/>
            <a:stretch/>
          </p:blipFill>
          <p:spPr>
            <a:xfrm>
              <a:off x="7268092" y="2986000"/>
              <a:ext cx="224841" cy="172247"/>
            </a:xfrm>
            <a:prstGeom prst="rect">
              <a:avLst/>
            </a:prstGeom>
          </p:spPr>
        </p:pic>
      </p:grpSp>
      <p:pic>
        <p:nvPicPr>
          <p:cNvPr id="3" name="圖片 2">
            <a:extLst>
              <a:ext uri="{FF2B5EF4-FFF2-40B4-BE49-F238E27FC236}">
                <a16:creationId xmlns:a16="http://schemas.microsoft.com/office/drawing/2014/main" id="{B742CBD5-B6FF-4D8C-AB1F-4B7CEDF59C8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5863" y="2971182"/>
            <a:ext cx="588243" cy="367965"/>
          </a:xfrm>
          <a:prstGeom prst="rect">
            <a:avLst/>
          </a:prstGeom>
        </p:spPr>
      </p:pic>
      <p:pic>
        <p:nvPicPr>
          <p:cNvPr id="74" name="圖片 73">
            <a:extLst>
              <a:ext uri="{FF2B5EF4-FFF2-40B4-BE49-F238E27FC236}">
                <a16:creationId xmlns:a16="http://schemas.microsoft.com/office/drawing/2014/main" id="{AAFA378E-5799-4A8A-98AE-0272F69CD77D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5592" b="70339"/>
          <a:stretch/>
        </p:blipFill>
        <p:spPr>
          <a:xfrm>
            <a:off x="3297810" y="3096202"/>
            <a:ext cx="344550" cy="29551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D78C9093-A902-4EE0-803C-B61AF61F5D60}"/>
                  </a:ext>
                </a:extLst>
              </p:cNvPr>
              <p:cNvSpPr txBox="1"/>
              <p:nvPr/>
            </p:nvSpPr>
            <p:spPr>
              <a:xfrm>
                <a:off x="3219656" y="5715478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D78C9093-A902-4EE0-803C-B61AF61F5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9656" y="5715478"/>
                <a:ext cx="478319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內容版面配置區 2">
                <a:extLst>
                  <a:ext uri="{FF2B5EF4-FFF2-40B4-BE49-F238E27FC236}">
                    <a16:creationId xmlns:a16="http://schemas.microsoft.com/office/drawing/2014/main" id="{DF242ACE-1CEA-4A6A-A5F6-3D4B68BAC4D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57318" y="3081829"/>
                <a:ext cx="42287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8" name="內容版面配置區 2">
                <a:extLst>
                  <a:ext uri="{FF2B5EF4-FFF2-40B4-BE49-F238E27FC236}">
                    <a16:creationId xmlns:a16="http://schemas.microsoft.com/office/drawing/2014/main" id="{DF242ACE-1CEA-4A6A-A5F6-3D4B68BAC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318" y="3081829"/>
                <a:ext cx="422874" cy="32438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內容版面配置區 2">
                <a:extLst>
                  <a:ext uri="{FF2B5EF4-FFF2-40B4-BE49-F238E27FC236}">
                    <a16:creationId xmlns:a16="http://schemas.microsoft.com/office/drawing/2014/main" id="{59179C10-75A4-4DE2-BB71-D5CF84C550B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54443" y="5839407"/>
                <a:ext cx="36536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9" name="內容版面配置區 2">
                <a:extLst>
                  <a:ext uri="{FF2B5EF4-FFF2-40B4-BE49-F238E27FC236}">
                    <a16:creationId xmlns:a16="http://schemas.microsoft.com/office/drawing/2014/main" id="{59179C10-75A4-4DE2-BB71-D5CF84C55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443" y="5839407"/>
                <a:ext cx="365364" cy="32438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07F733A2-D9A0-455C-9E90-54ACD8FF5F8C}"/>
              </a:ext>
            </a:extLst>
          </p:cNvPr>
          <p:cNvSpPr/>
          <p:nvPr/>
        </p:nvSpPr>
        <p:spPr>
          <a:xfrm>
            <a:off x="491491" y="1079815"/>
            <a:ext cx="10748009" cy="920436"/>
          </a:xfrm>
          <a:prstGeom prst="roundRect">
            <a:avLst/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內容版面配置區 2">
                <a:extLst>
                  <a:ext uri="{FF2B5EF4-FFF2-40B4-BE49-F238E27FC236}">
                    <a16:creationId xmlns:a16="http://schemas.microsoft.com/office/drawing/2014/main" id="{35A9BED2-8310-4112-A977-A02C88EEE5D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6962" y="709212"/>
                <a:ext cx="4562952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Longitudinal component of VVB: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0" name="內容版面配置區 2">
                <a:extLst>
                  <a:ext uri="{FF2B5EF4-FFF2-40B4-BE49-F238E27FC236}">
                    <a16:creationId xmlns:a16="http://schemas.microsoft.com/office/drawing/2014/main" id="{35A9BED2-8310-4112-A977-A02C88EEE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962" y="709212"/>
                <a:ext cx="4562952" cy="324388"/>
              </a:xfrm>
              <a:prstGeom prst="rect">
                <a:avLst/>
              </a:prstGeom>
              <a:blipFill>
                <a:blip r:embed="rId15"/>
                <a:stretch>
                  <a:fillRect l="-1335" t="-38889" b="-240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矩形 35">
            <a:extLst>
              <a:ext uri="{FF2B5EF4-FFF2-40B4-BE49-F238E27FC236}">
                <a16:creationId xmlns:a16="http://schemas.microsoft.com/office/drawing/2014/main" id="{668BE83F-78F3-49B9-957C-DB4795FEE3E0}"/>
              </a:ext>
            </a:extLst>
          </p:cNvPr>
          <p:cNvSpPr/>
          <p:nvPr/>
        </p:nvSpPr>
        <p:spPr>
          <a:xfrm>
            <a:off x="4869627" y="3119515"/>
            <a:ext cx="59031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does it means to have a </a:t>
            </a:r>
            <a:r>
              <a:rPr lang="en-US" altLang="zh-TW" sz="20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horseshoe shape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light?</a:t>
            </a:r>
            <a:endParaRPr lang="zh-TW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Why does a horse need shoes? - Equestrian Surfaces Ltd -">
            <a:extLst>
              <a:ext uri="{FF2B5EF4-FFF2-40B4-BE49-F238E27FC236}">
                <a16:creationId xmlns:a16="http://schemas.microsoft.com/office/drawing/2014/main" id="{C8DB4D68-817A-43A8-9617-F69C0E1B6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1674" y="3654425"/>
            <a:ext cx="3648075" cy="243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內容版面配置區 2">
                <a:extLst>
                  <a:ext uri="{FF2B5EF4-FFF2-40B4-BE49-F238E27FC236}">
                    <a16:creationId xmlns:a16="http://schemas.microsoft.com/office/drawing/2014/main" id="{04F24A08-57F7-46E5-B426-331008AB39B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4290" y="6380068"/>
                <a:ext cx="2841989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,ℓ,</m:t>
                    </m:r>
                    <m:sSup>
                      <m:sSup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=1, −1, −1, 2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1" name="內容版面配置區 2">
                <a:extLst>
                  <a:ext uri="{FF2B5EF4-FFF2-40B4-BE49-F238E27FC236}">
                    <a16:creationId xmlns:a16="http://schemas.microsoft.com/office/drawing/2014/main" id="{04F24A08-57F7-46E5-B426-331008AB3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290" y="6380068"/>
                <a:ext cx="2841989" cy="324388"/>
              </a:xfrm>
              <a:prstGeom prst="rect">
                <a:avLst/>
              </a:prstGeom>
              <a:blipFill>
                <a:blip r:embed="rId17"/>
                <a:stretch>
                  <a:fillRect t="-37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132201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A7646E88-9445-42BB-A6BF-61E861735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93" y="2876522"/>
            <a:ext cx="2970804" cy="3483678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Longitudinal component :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61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208F81EF-187D-41A4-8E6E-D969E27B3F19}"/>
                  </a:ext>
                </a:extLst>
              </p:cNvPr>
              <p:cNvSpPr/>
              <p:nvPr/>
            </p:nvSpPr>
            <p:spPr>
              <a:xfrm>
                <a:off x="3006725" y="1275150"/>
                <a:ext cx="8738318" cy="4532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200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𝐽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e>
                              </m:acc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TW" sz="120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r>
                            <a:rPr lang="zh-TW" altLang="en-US" sz="1200" i="1"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12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r>
                            <a:rPr lang="zh-TW" altLang="en-US" sz="1200" i="1"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zh-TW" altLang="en-US" sz="12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acc>
                        <m:accPr>
                          <m:chr m:val="̂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208F81EF-187D-41A4-8E6E-D969E27B3F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6725" y="1275150"/>
                <a:ext cx="8738318" cy="4532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群組 54">
            <a:extLst>
              <a:ext uri="{FF2B5EF4-FFF2-40B4-BE49-F238E27FC236}">
                <a16:creationId xmlns:a16="http://schemas.microsoft.com/office/drawing/2014/main" id="{FC852039-7E37-4BA2-9E08-735305FDA7AF}"/>
              </a:ext>
            </a:extLst>
          </p:cNvPr>
          <p:cNvGrpSpPr/>
          <p:nvPr/>
        </p:nvGrpSpPr>
        <p:grpSpPr>
          <a:xfrm>
            <a:off x="508743" y="1207329"/>
            <a:ext cx="2685928" cy="595163"/>
            <a:chOff x="7128124" y="2749452"/>
            <a:chExt cx="2685928" cy="5951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6B06ECB5-1C96-4BEA-A48A-7A03AAEEED37}"/>
                    </a:ext>
                  </a:extLst>
                </p:cNvPr>
                <p:cNvSpPr/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𝐽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6B06ECB5-1C96-4BEA-A48A-7A03AAEEED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8" name="圖形 57">
              <a:extLst>
                <a:ext uri="{FF2B5EF4-FFF2-40B4-BE49-F238E27FC236}">
                  <a16:creationId xmlns:a16="http://schemas.microsoft.com/office/drawing/2014/main" id="{42B6CB12-B0A0-43D9-8602-3ABD612BA0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t="1" r="53142" b="-1"/>
            <a:stretch/>
          </p:blipFill>
          <p:spPr>
            <a:xfrm>
              <a:off x="7268092" y="2986000"/>
              <a:ext cx="224841" cy="172247"/>
            </a:xfrm>
            <a:prstGeom prst="rect">
              <a:avLst/>
            </a:prstGeom>
          </p:spPr>
        </p:pic>
      </p:grpSp>
      <p:pic>
        <p:nvPicPr>
          <p:cNvPr id="3" name="圖片 2">
            <a:extLst>
              <a:ext uri="{FF2B5EF4-FFF2-40B4-BE49-F238E27FC236}">
                <a16:creationId xmlns:a16="http://schemas.microsoft.com/office/drawing/2014/main" id="{B742CBD5-B6FF-4D8C-AB1F-4B7CEDF59C8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5863" y="2971182"/>
            <a:ext cx="588243" cy="367965"/>
          </a:xfrm>
          <a:prstGeom prst="rect">
            <a:avLst/>
          </a:prstGeom>
        </p:spPr>
      </p:pic>
      <p:pic>
        <p:nvPicPr>
          <p:cNvPr id="74" name="圖片 73">
            <a:extLst>
              <a:ext uri="{FF2B5EF4-FFF2-40B4-BE49-F238E27FC236}">
                <a16:creationId xmlns:a16="http://schemas.microsoft.com/office/drawing/2014/main" id="{AAFA378E-5799-4A8A-98AE-0272F69CD77D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5592" b="70339"/>
          <a:stretch/>
        </p:blipFill>
        <p:spPr>
          <a:xfrm>
            <a:off x="3297810" y="3096202"/>
            <a:ext cx="344550" cy="29551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D78C9093-A902-4EE0-803C-B61AF61F5D60}"/>
                  </a:ext>
                </a:extLst>
              </p:cNvPr>
              <p:cNvSpPr txBox="1"/>
              <p:nvPr/>
            </p:nvSpPr>
            <p:spPr>
              <a:xfrm>
                <a:off x="3219656" y="5715478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D78C9093-A902-4EE0-803C-B61AF61F5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9656" y="5715478"/>
                <a:ext cx="478319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內容版面配置區 2">
                <a:extLst>
                  <a:ext uri="{FF2B5EF4-FFF2-40B4-BE49-F238E27FC236}">
                    <a16:creationId xmlns:a16="http://schemas.microsoft.com/office/drawing/2014/main" id="{DF242ACE-1CEA-4A6A-A5F6-3D4B68BAC4D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57318" y="3081829"/>
                <a:ext cx="42287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8" name="內容版面配置區 2">
                <a:extLst>
                  <a:ext uri="{FF2B5EF4-FFF2-40B4-BE49-F238E27FC236}">
                    <a16:creationId xmlns:a16="http://schemas.microsoft.com/office/drawing/2014/main" id="{DF242ACE-1CEA-4A6A-A5F6-3D4B68BAC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318" y="3081829"/>
                <a:ext cx="422874" cy="32438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內容版面配置區 2">
                <a:extLst>
                  <a:ext uri="{FF2B5EF4-FFF2-40B4-BE49-F238E27FC236}">
                    <a16:creationId xmlns:a16="http://schemas.microsoft.com/office/drawing/2014/main" id="{59179C10-75A4-4DE2-BB71-D5CF84C550B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54443" y="5839407"/>
                <a:ext cx="36536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9" name="內容版面配置區 2">
                <a:extLst>
                  <a:ext uri="{FF2B5EF4-FFF2-40B4-BE49-F238E27FC236}">
                    <a16:creationId xmlns:a16="http://schemas.microsoft.com/office/drawing/2014/main" id="{59179C10-75A4-4DE2-BB71-D5CF84C55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443" y="5839407"/>
                <a:ext cx="365364" cy="32438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07F733A2-D9A0-455C-9E90-54ACD8FF5F8C}"/>
              </a:ext>
            </a:extLst>
          </p:cNvPr>
          <p:cNvSpPr/>
          <p:nvPr/>
        </p:nvSpPr>
        <p:spPr>
          <a:xfrm>
            <a:off x="491491" y="1079815"/>
            <a:ext cx="10748009" cy="920436"/>
          </a:xfrm>
          <a:prstGeom prst="roundRect">
            <a:avLst/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內容版面配置區 2">
                <a:extLst>
                  <a:ext uri="{FF2B5EF4-FFF2-40B4-BE49-F238E27FC236}">
                    <a16:creationId xmlns:a16="http://schemas.microsoft.com/office/drawing/2014/main" id="{35A9BED2-8310-4112-A977-A02C88EEE5D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6962" y="709212"/>
                <a:ext cx="4562952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Longitudinal component of VVB: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0" name="內容版面配置區 2">
                <a:extLst>
                  <a:ext uri="{FF2B5EF4-FFF2-40B4-BE49-F238E27FC236}">
                    <a16:creationId xmlns:a16="http://schemas.microsoft.com/office/drawing/2014/main" id="{35A9BED2-8310-4112-A977-A02C88EEE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962" y="709212"/>
                <a:ext cx="4562952" cy="324388"/>
              </a:xfrm>
              <a:prstGeom prst="rect">
                <a:avLst/>
              </a:prstGeom>
              <a:blipFill>
                <a:blip r:embed="rId15"/>
                <a:stretch>
                  <a:fillRect l="-1335" t="-38889" b="-240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矩形 35">
            <a:extLst>
              <a:ext uri="{FF2B5EF4-FFF2-40B4-BE49-F238E27FC236}">
                <a16:creationId xmlns:a16="http://schemas.microsoft.com/office/drawing/2014/main" id="{668BE83F-78F3-49B9-957C-DB4795FEE3E0}"/>
              </a:ext>
            </a:extLst>
          </p:cNvPr>
          <p:cNvSpPr/>
          <p:nvPr/>
        </p:nvSpPr>
        <p:spPr>
          <a:xfrm>
            <a:off x="5022027" y="2347990"/>
            <a:ext cx="59031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the real field ! </a:t>
            </a:r>
            <a:endParaRPr lang="zh-TW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93A8305E-E0D2-4B5E-9F55-4E43C98F03A8}"/>
                  </a:ext>
                </a:extLst>
              </p:cNvPr>
              <p:cNvSpPr/>
              <p:nvPr/>
            </p:nvSpPr>
            <p:spPr>
              <a:xfrm>
                <a:off x="6014193" y="2720579"/>
                <a:ext cx="3805016" cy="5951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9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9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TW" altLang="en-US" sz="19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20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Δ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ℓ,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acc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20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Δ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𝐽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𝐽</m:t>
                                  </m:r>
                                </m:e>
                              </m:acc>
                            </m:sub>
                            <m:sup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𝒛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93A8305E-E0D2-4B5E-9F55-4E43C98F03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193" y="2720579"/>
                <a:ext cx="3805016" cy="59516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圖形 21">
            <a:extLst>
              <a:ext uri="{FF2B5EF4-FFF2-40B4-BE49-F238E27FC236}">
                <a16:creationId xmlns:a16="http://schemas.microsoft.com/office/drawing/2014/main" id="{49C24089-2DCD-42E6-8B8E-DC73CF90838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t="1" r="53142" b="-1"/>
          <a:stretch/>
        </p:blipFill>
        <p:spPr>
          <a:xfrm>
            <a:off x="6554211" y="2948827"/>
            <a:ext cx="224841" cy="1722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內容版面配置區 2">
                <a:extLst>
                  <a:ext uri="{FF2B5EF4-FFF2-40B4-BE49-F238E27FC236}">
                    <a16:creationId xmlns:a16="http://schemas.microsoft.com/office/drawing/2014/main" id="{7CAD419C-1EDD-43A7-B60A-471F978578F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4290" y="6380068"/>
                <a:ext cx="2841989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,ℓ,</m:t>
                    </m:r>
                    <m:sSup>
                      <m:sSup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=1, −1, −1, 2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5" name="內容版面配置區 2">
                <a:extLst>
                  <a:ext uri="{FF2B5EF4-FFF2-40B4-BE49-F238E27FC236}">
                    <a16:creationId xmlns:a16="http://schemas.microsoft.com/office/drawing/2014/main" id="{7CAD419C-1EDD-43A7-B60A-471F97857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290" y="6380068"/>
                <a:ext cx="2841989" cy="324388"/>
              </a:xfrm>
              <a:prstGeom prst="rect">
                <a:avLst/>
              </a:prstGeom>
              <a:blipFill>
                <a:blip r:embed="rId17"/>
                <a:stretch>
                  <a:fillRect t="-37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133344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A7646E88-9445-42BB-A6BF-61E861735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93" y="2876522"/>
            <a:ext cx="2970804" cy="3483678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Longitudinal component :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62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208F81EF-187D-41A4-8E6E-D969E27B3F19}"/>
                  </a:ext>
                </a:extLst>
              </p:cNvPr>
              <p:cNvSpPr/>
              <p:nvPr/>
            </p:nvSpPr>
            <p:spPr>
              <a:xfrm>
                <a:off x="3006725" y="1275150"/>
                <a:ext cx="8738318" cy="4532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200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𝐽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e>
                              </m:acc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TW" sz="120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r>
                            <a:rPr lang="zh-TW" altLang="en-US" sz="1200" i="1"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12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r>
                            <a:rPr lang="zh-TW" altLang="en-US" sz="1200" i="1"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zh-TW" altLang="en-US" sz="12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acc>
                        <m:accPr>
                          <m:chr m:val="̂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208F81EF-187D-41A4-8E6E-D969E27B3F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6725" y="1275150"/>
                <a:ext cx="8738318" cy="4532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群組 54">
            <a:extLst>
              <a:ext uri="{FF2B5EF4-FFF2-40B4-BE49-F238E27FC236}">
                <a16:creationId xmlns:a16="http://schemas.microsoft.com/office/drawing/2014/main" id="{FC852039-7E37-4BA2-9E08-735305FDA7AF}"/>
              </a:ext>
            </a:extLst>
          </p:cNvPr>
          <p:cNvGrpSpPr/>
          <p:nvPr/>
        </p:nvGrpSpPr>
        <p:grpSpPr>
          <a:xfrm>
            <a:off x="508743" y="1207329"/>
            <a:ext cx="2685928" cy="595163"/>
            <a:chOff x="7128124" y="2749452"/>
            <a:chExt cx="2685928" cy="5951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6B06ECB5-1C96-4BEA-A48A-7A03AAEEED37}"/>
                    </a:ext>
                  </a:extLst>
                </p:cNvPr>
                <p:cNvSpPr/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𝐽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6B06ECB5-1C96-4BEA-A48A-7A03AAEEED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8" name="圖形 57">
              <a:extLst>
                <a:ext uri="{FF2B5EF4-FFF2-40B4-BE49-F238E27FC236}">
                  <a16:creationId xmlns:a16="http://schemas.microsoft.com/office/drawing/2014/main" id="{42B6CB12-B0A0-43D9-8602-3ABD612BA0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t="1" r="53142" b="-1"/>
            <a:stretch/>
          </p:blipFill>
          <p:spPr>
            <a:xfrm>
              <a:off x="7268092" y="2986000"/>
              <a:ext cx="224841" cy="172247"/>
            </a:xfrm>
            <a:prstGeom prst="rect">
              <a:avLst/>
            </a:prstGeom>
          </p:spPr>
        </p:pic>
      </p:grpSp>
      <p:pic>
        <p:nvPicPr>
          <p:cNvPr id="3" name="圖片 2">
            <a:extLst>
              <a:ext uri="{FF2B5EF4-FFF2-40B4-BE49-F238E27FC236}">
                <a16:creationId xmlns:a16="http://schemas.microsoft.com/office/drawing/2014/main" id="{B742CBD5-B6FF-4D8C-AB1F-4B7CEDF59C8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5863" y="2971182"/>
            <a:ext cx="588243" cy="367965"/>
          </a:xfrm>
          <a:prstGeom prst="rect">
            <a:avLst/>
          </a:prstGeom>
        </p:spPr>
      </p:pic>
      <p:pic>
        <p:nvPicPr>
          <p:cNvPr id="74" name="圖片 73">
            <a:extLst>
              <a:ext uri="{FF2B5EF4-FFF2-40B4-BE49-F238E27FC236}">
                <a16:creationId xmlns:a16="http://schemas.microsoft.com/office/drawing/2014/main" id="{AAFA378E-5799-4A8A-98AE-0272F69CD77D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5592" b="70339"/>
          <a:stretch/>
        </p:blipFill>
        <p:spPr>
          <a:xfrm>
            <a:off x="3297810" y="3096202"/>
            <a:ext cx="344550" cy="29551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D78C9093-A902-4EE0-803C-B61AF61F5D60}"/>
                  </a:ext>
                </a:extLst>
              </p:cNvPr>
              <p:cNvSpPr txBox="1"/>
              <p:nvPr/>
            </p:nvSpPr>
            <p:spPr>
              <a:xfrm>
                <a:off x="3219656" y="5715478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D78C9093-A902-4EE0-803C-B61AF61F5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9656" y="5715478"/>
                <a:ext cx="478319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內容版面配置區 2">
                <a:extLst>
                  <a:ext uri="{FF2B5EF4-FFF2-40B4-BE49-F238E27FC236}">
                    <a16:creationId xmlns:a16="http://schemas.microsoft.com/office/drawing/2014/main" id="{DF242ACE-1CEA-4A6A-A5F6-3D4B68BAC4D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57318" y="3081829"/>
                <a:ext cx="42287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8" name="內容版面配置區 2">
                <a:extLst>
                  <a:ext uri="{FF2B5EF4-FFF2-40B4-BE49-F238E27FC236}">
                    <a16:creationId xmlns:a16="http://schemas.microsoft.com/office/drawing/2014/main" id="{DF242ACE-1CEA-4A6A-A5F6-3D4B68BAC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318" y="3081829"/>
                <a:ext cx="422874" cy="32438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內容版面配置區 2">
                <a:extLst>
                  <a:ext uri="{FF2B5EF4-FFF2-40B4-BE49-F238E27FC236}">
                    <a16:creationId xmlns:a16="http://schemas.microsoft.com/office/drawing/2014/main" id="{59179C10-75A4-4DE2-BB71-D5CF84C550B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54443" y="5839407"/>
                <a:ext cx="36536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9" name="內容版面配置區 2">
                <a:extLst>
                  <a:ext uri="{FF2B5EF4-FFF2-40B4-BE49-F238E27FC236}">
                    <a16:creationId xmlns:a16="http://schemas.microsoft.com/office/drawing/2014/main" id="{59179C10-75A4-4DE2-BB71-D5CF84C55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443" y="5839407"/>
                <a:ext cx="365364" cy="32438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07F733A2-D9A0-455C-9E90-54ACD8FF5F8C}"/>
              </a:ext>
            </a:extLst>
          </p:cNvPr>
          <p:cNvSpPr/>
          <p:nvPr/>
        </p:nvSpPr>
        <p:spPr>
          <a:xfrm>
            <a:off x="491491" y="1079815"/>
            <a:ext cx="10748009" cy="920436"/>
          </a:xfrm>
          <a:prstGeom prst="roundRect">
            <a:avLst/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內容版面配置區 2">
                <a:extLst>
                  <a:ext uri="{FF2B5EF4-FFF2-40B4-BE49-F238E27FC236}">
                    <a16:creationId xmlns:a16="http://schemas.microsoft.com/office/drawing/2014/main" id="{35A9BED2-8310-4112-A977-A02C88EEE5D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6962" y="709212"/>
                <a:ext cx="4562952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Longitudinal component of VVB: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0" name="內容版面配置區 2">
                <a:extLst>
                  <a:ext uri="{FF2B5EF4-FFF2-40B4-BE49-F238E27FC236}">
                    <a16:creationId xmlns:a16="http://schemas.microsoft.com/office/drawing/2014/main" id="{35A9BED2-8310-4112-A977-A02C88EEE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962" y="709212"/>
                <a:ext cx="4562952" cy="324388"/>
              </a:xfrm>
              <a:prstGeom prst="rect">
                <a:avLst/>
              </a:prstGeom>
              <a:blipFill>
                <a:blip r:embed="rId15"/>
                <a:stretch>
                  <a:fillRect l="-1335" t="-38889" b="-240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矩形 35">
            <a:extLst>
              <a:ext uri="{FF2B5EF4-FFF2-40B4-BE49-F238E27FC236}">
                <a16:creationId xmlns:a16="http://schemas.microsoft.com/office/drawing/2014/main" id="{668BE83F-78F3-49B9-957C-DB4795FEE3E0}"/>
              </a:ext>
            </a:extLst>
          </p:cNvPr>
          <p:cNvSpPr/>
          <p:nvPr/>
        </p:nvSpPr>
        <p:spPr>
          <a:xfrm>
            <a:off x="5022027" y="2347990"/>
            <a:ext cx="59031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the real field ! </a:t>
            </a:r>
            <a:endParaRPr lang="zh-TW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93A8305E-E0D2-4B5E-9F55-4E43C98F03A8}"/>
                  </a:ext>
                </a:extLst>
              </p:cNvPr>
              <p:cNvSpPr/>
              <p:nvPr/>
            </p:nvSpPr>
            <p:spPr>
              <a:xfrm>
                <a:off x="6014193" y="2720579"/>
                <a:ext cx="3805016" cy="5951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9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9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TW" altLang="en-US" sz="19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20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Δ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ℓ,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acc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20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Δ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𝐽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𝐽</m:t>
                                  </m:r>
                                </m:e>
                              </m:acc>
                            </m:sub>
                            <m:sup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𝒛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93A8305E-E0D2-4B5E-9F55-4E43C98F03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193" y="2720579"/>
                <a:ext cx="3805016" cy="59516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圖形 21">
            <a:extLst>
              <a:ext uri="{FF2B5EF4-FFF2-40B4-BE49-F238E27FC236}">
                <a16:creationId xmlns:a16="http://schemas.microsoft.com/office/drawing/2014/main" id="{49C24089-2DCD-42E6-8B8E-DC73CF90838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t="1" r="53142" b="-1"/>
          <a:stretch/>
        </p:blipFill>
        <p:spPr>
          <a:xfrm>
            <a:off x="6554211" y="2948827"/>
            <a:ext cx="224841" cy="172247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AFADF5DD-808C-4B06-A65D-ABEC75FDBA5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62474" y="3310782"/>
            <a:ext cx="7248525" cy="31996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內容版面配置區 2">
                <a:extLst>
                  <a:ext uri="{FF2B5EF4-FFF2-40B4-BE49-F238E27FC236}">
                    <a16:creationId xmlns:a16="http://schemas.microsoft.com/office/drawing/2014/main" id="{7F6A5D81-56E7-4577-9C37-42E20D201B6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4290" y="6380068"/>
                <a:ext cx="2841989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,ℓ,</m:t>
                    </m:r>
                    <m:sSup>
                      <m:sSup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=1, −1, −1, 2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4" name="內容版面配置區 2">
                <a:extLst>
                  <a:ext uri="{FF2B5EF4-FFF2-40B4-BE49-F238E27FC236}">
                    <a16:creationId xmlns:a16="http://schemas.microsoft.com/office/drawing/2014/main" id="{7F6A5D81-56E7-4577-9C37-42E20D201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290" y="6380068"/>
                <a:ext cx="2841989" cy="324388"/>
              </a:xfrm>
              <a:prstGeom prst="rect">
                <a:avLst/>
              </a:prstGeom>
              <a:blipFill>
                <a:blip r:embed="rId18"/>
                <a:stretch>
                  <a:fillRect t="-37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2BE8185C-3BD6-4EB3-BE3A-A38F6DB73748}"/>
              </a:ext>
            </a:extLst>
          </p:cNvPr>
          <p:cNvSpPr/>
          <p:nvPr/>
        </p:nvSpPr>
        <p:spPr>
          <a:xfrm>
            <a:off x="488950" y="4984750"/>
            <a:ext cx="809625" cy="8064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333306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7C005CCE-1406-4BB0-8CE9-F532FD210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174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Spin-orbital angular momentum interaction in light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Light-matter interaction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excitation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Encoding SOI information 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Exciton wave packet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and outlook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895A4A1-A24F-4005-893F-E731AE9CC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63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971372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Light-matter interaction</a:t>
            </a:r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D5A6C661-41C4-4FC1-B20D-D90885538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E6C2075-3F5C-497E-9964-9867555AC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64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680825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A01704AA-0464-4899-80C2-760928306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174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Spin-orbital angular momentum interaction in light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Light-matter interaction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Exciton wave packet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and outlook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09C0FAF-7BA8-41F3-B0A5-5F38A83D9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65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829569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99D75D15-D9C6-4BB1-BAEA-63602AE23A0E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9144000" cy="1036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新細明體" panose="02020500000000000000" pitchFamily="18" charset="-120"/>
              <a:cs typeface="+mj-cs"/>
            </a:endParaRPr>
          </a:p>
        </p:txBody>
      </p:sp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Exciton wave packet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3448457-02F0-4B46-89E3-AB70872B4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6F4F919-BABA-4A16-B156-B411B9B35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66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023768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99D75D15-D9C6-4BB1-BAEA-63602AE23A0E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9144000" cy="1036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新細明體" panose="02020500000000000000" pitchFamily="18" charset="-120"/>
              <a:cs typeface="+mj-cs"/>
            </a:endParaRPr>
          </a:p>
        </p:txBody>
      </p:sp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and outlook</a:t>
            </a:r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267826F5-3628-4254-900A-BB61FABC6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and outlook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6789338-4F66-4CE7-AFD6-56B6F550D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67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6792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11308</TotalTime>
  <Words>5775</Words>
  <Application>Microsoft Office PowerPoint</Application>
  <PresentationFormat>寬螢幕</PresentationFormat>
  <Paragraphs>839</Paragraphs>
  <Slides>67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67</vt:i4>
      </vt:variant>
    </vt:vector>
  </HeadingPairs>
  <TitlesOfParts>
    <vt:vector size="74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268</cp:revision>
  <dcterms:created xsi:type="dcterms:W3CDTF">2026-05-29T06:10:36Z</dcterms:created>
  <dcterms:modified xsi:type="dcterms:W3CDTF">2026-08-05T10:04:26Z</dcterms:modified>
</cp:coreProperties>
</file>
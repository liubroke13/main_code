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59" r:id="rId3"/>
    <p:sldId id="260" r:id="rId4"/>
    <p:sldId id="265" r:id="rId5"/>
    <p:sldId id="261" r:id="rId6"/>
    <p:sldId id="266" r:id="rId7"/>
    <p:sldId id="262" r:id="rId8"/>
    <p:sldId id="267" r:id="rId9"/>
    <p:sldId id="263" r:id="rId10"/>
    <p:sldId id="268" r:id="rId11"/>
    <p:sldId id="264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2" autoAdjust="0"/>
    <p:restoredTop sz="94660"/>
  </p:normalViewPr>
  <p:slideViewPr>
    <p:cSldViewPr snapToGrid="0">
      <p:cViewPr>
        <p:scale>
          <a:sx n="66" d="100"/>
          <a:sy n="66" d="100"/>
        </p:scale>
        <p:origin x="12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D58890FC-0E3C-4C7F-A446-14BA862BBA7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FFCC2-1A90-43CE-99E6-F48860C54E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94A7B6-1C40-4E50-A661-C1BB58DFEE8B}" type="datetimeFigureOut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FD85880-5A8C-4D97-864E-344E2760044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F195ECA-E42C-42A9-929A-C5CC94E880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48F779-79CD-4108-A2AD-022A92E9A3D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2022619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FA95AB-11A6-4F50-981D-2F517B9BD07B}" type="datetimeFigureOut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853A02-615E-438C-A6CE-74697197502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049256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B691C-CD4A-43A2-B520-CAE49D2F2D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24B232C-0DBE-47DD-AFDD-9BD087A0F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164BEA-135B-469A-9E72-43F53858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7EAE-E217-4C13-B1D4-C1D2362BCCD6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9737A42-901E-402E-9933-861BED20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6D43637-3443-483A-A0E1-0C760F4E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0174" y="6561"/>
            <a:ext cx="2743200" cy="365125"/>
          </a:xfrm>
        </p:spPr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9113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AD6AD3-D64F-4AD1-B068-749E1E87A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435B4B-E4C6-473E-AA93-3A4E4089E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27BFFB-5C39-42A9-84B7-B72D595BF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12E92-078D-445D-A315-241AB512DF4E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E80540A-C5F3-41CD-945D-0012EFC10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8DA2F5F-79C4-47F0-9828-1B247829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6815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BF93B3-9135-4423-B2A5-8F32A90F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B873E3-FAEF-4C2D-B950-2201DF7C4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3B26B3-8E3A-4103-B01A-27A4CA01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6F5C96-160B-4F0F-BE3F-3AAE2032A14A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5627D54-7B66-473E-802C-B753DE12A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5EC52D2-8F6B-4B98-9A89-42B98717F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84356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E3660B-86EB-4DA1-91A6-8DF03215D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A4C3EA-B57A-489B-A453-F808DD2F71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304A1C1-5C8F-40F7-9AEC-9A6F78DBAB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5B8368F-BC9A-4C47-844C-0C0F26052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DE22B-68CD-40D7-BF74-022E0380697F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031D34A-65B4-40EC-A193-7D310D9F0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DCCEAA-8C5A-44AD-B5AD-B89BBCA5C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44940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1D70AB-5AEE-4987-B024-23B19E816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5911982-8F94-4665-92DB-BFB853679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B8426EA-A887-4D92-BF80-BBE88AB88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8078B31-7706-40E0-AF4C-5BC6F29D88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5F79F22-D921-40E8-A67E-2D5CCB406D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B3F61B2-E1EA-4161-A3F7-869A6E625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7BC32-EEEC-42AD-9FB7-1F67CBD9006C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5A15D31-E11F-4A77-9C5C-1BD127693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8BB29CF-0FEA-4BF1-96CF-1734DCF17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1440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F89D28-9A5E-4AD8-970C-FF8D860E6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7BA51452-BE12-490A-AFB2-0C69ACAEB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834FD-B989-4DC7-B0C3-3D9481DCB247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7599B2-4579-44EA-A2EB-970FEC3CD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0D46C2-F5E5-48AF-8E51-35D0C962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15251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E29EA59-25D4-490F-8850-031D90DFD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AEB7E6-3D99-40BE-9488-75C5C51CD267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0F2C1BD-2ED5-4152-8BE0-FA6ACF44E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5C791D6-5330-4A64-9C4B-B83034A27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0943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1B207F-FACC-47F5-9B64-79FD003C4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7E8F25-487C-4E15-8784-4F2CBE7FE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1C1711B-CB6F-4A47-BC26-6D68D8E12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48414E3-3B14-4639-A0A0-5C094E5EA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C679B-3B15-42DA-A497-282AB7671468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0E8A612-B553-421E-85F9-285C18DE7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1B8DB27-133D-42A8-AE3F-5F4EB775E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90747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6070C8E-1C12-441E-8FEA-5E759B2B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E13A0B1-9018-43B1-A0A5-9CA75ACA99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EDD48C5-BA61-47FF-B4B0-1819525B57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83E122-E856-4E3E-9F77-1FB25FFA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0812-8F6A-47B7-8300-ABC68422A82D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CB8CB8-E381-4DB4-A08E-97D14C5B2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A1826EF-0C6C-4E70-B548-A6E61D8CF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412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D49CA0-B2C1-4E4E-808C-F00586C91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F36D40E-FB2B-44DD-BAE0-04F965B148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E8BB79-C5CB-4265-9B44-179DBE11E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6042C-E665-4C51-80B3-C45E4AEFB00B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7900BEF-E29F-4120-985F-E4D4F5FFC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12B234-2BB5-41C9-BE01-0BD41460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800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9F654B1-7D62-4C86-91A5-BBD33D8B65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E66CD05-1A94-4AD5-B835-FA3145CA32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A61AF6-7FB4-41AB-9FBB-C674BC451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6AB9C-E9F3-448F-BAEF-2980284577BF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CAD09C-4F2A-4FE9-BCA8-2DDAEC5F6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CA454CE-36C5-4608-82AF-1042403E2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88132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A90D6F6-BD99-45D8-B451-8F07A775D7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764D2CF-3DF5-4498-8889-8484908F3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A2A283-A1FA-4A52-962C-BC2FDC4887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5E079-4510-46F8-9023-A4DE6DD9B4B9}" type="datetime1">
              <a:rPr lang="zh-TW" altLang="en-US" smtClean="0"/>
              <a:t>2026/6/29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5E60776-BDAB-4A55-B603-4CE711BAC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73EF202-F5F3-4F19-A55C-9132512DA8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94BDCA-F584-4E62-B2F1-580C4F37E8B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0769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1337E483-2C4B-4C93-9722-AE3E3DE35E20}"/>
              </a:ext>
            </a:extLst>
          </p:cNvPr>
          <p:cNvSpPr txBox="1">
            <a:spLocks/>
          </p:cNvSpPr>
          <p:nvPr/>
        </p:nvSpPr>
        <p:spPr>
          <a:xfrm>
            <a:off x="1652339" y="2084388"/>
            <a:ext cx="8887324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studies of excitonic transitions in two dimensional materials under photoexcitation of scalar and vector vortex beams</a:t>
            </a:r>
            <a:endParaRPr lang="zh-TW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E6261B0-EBD3-4C22-9F81-7398932D8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457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79DF72C3-F8A7-4781-A687-449ABFB481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Light-matter interaction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8CF4FCA-EFD1-480F-BEAC-69620E56E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8679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5DF1F115-271F-4B66-844C-E81655B2E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n-US" altLang="zh-TW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9DCFE80-ACAC-4FCC-807E-86EC53B8F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362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A0B84D7-FBF0-48E8-A5CC-0E544A152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8B99EEC2-809E-4AF1-B22E-26AA648F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44084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A742B108-2FF9-4EC2-8628-7995F229C770}"/>
              </a:ext>
            </a:extLst>
          </p:cNvPr>
          <p:cNvSpPr txBox="1">
            <a:spLocks/>
          </p:cNvSpPr>
          <p:nvPr/>
        </p:nvSpPr>
        <p:spPr>
          <a:xfrm>
            <a:off x="838200" y="1341174"/>
            <a:ext cx="10515600" cy="52071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Spin-orbital angular momentum interaction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(SOI) in light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Laguerre-Gaussian beams : SOI in phase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vortex beams : SOI in magnitude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74AA9810-D2AB-4EA5-AA16-19E6AFE40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517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群組 34">
            <a:extLst>
              <a:ext uri="{FF2B5EF4-FFF2-40B4-BE49-F238E27FC236}">
                <a16:creationId xmlns:a16="http://schemas.microsoft.com/office/drawing/2014/main" id="{620C9717-50DD-409A-90BE-82D08BA5518C}"/>
              </a:ext>
            </a:extLst>
          </p:cNvPr>
          <p:cNvGrpSpPr/>
          <p:nvPr/>
        </p:nvGrpSpPr>
        <p:grpSpPr>
          <a:xfrm>
            <a:off x="1022158" y="1243264"/>
            <a:ext cx="4734406" cy="5380649"/>
            <a:chOff x="1022158" y="1243264"/>
            <a:chExt cx="4734406" cy="5380649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48DFC57-A9A0-4E76-9A1C-37A7891E3076}"/>
                </a:ext>
              </a:extLst>
            </p:cNvPr>
            <p:cNvSpPr/>
            <p:nvPr/>
          </p:nvSpPr>
          <p:spPr>
            <a:xfrm>
              <a:off x="1022158" y="4044758"/>
              <a:ext cx="2836334" cy="15797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梯形 28">
              <a:extLst>
                <a:ext uri="{FF2B5EF4-FFF2-40B4-BE49-F238E27FC236}">
                  <a16:creationId xmlns:a16="http://schemas.microsoft.com/office/drawing/2014/main" id="{789E37BD-26F9-410D-90A9-245E94B638E1}"/>
                </a:ext>
              </a:extLst>
            </p:cNvPr>
            <p:cNvSpPr/>
            <p:nvPr/>
          </p:nvSpPr>
          <p:spPr>
            <a:xfrm rot="16200000">
              <a:off x="2110853" y="2978203"/>
              <a:ext cx="5380649" cy="1910772"/>
            </a:xfrm>
            <a:custGeom>
              <a:avLst/>
              <a:gdLst>
                <a:gd name="connsiteX0" fmla="*/ 0 w 5380649"/>
                <a:gd name="connsiteY0" fmla="*/ 1587501 h 1587501"/>
                <a:gd name="connsiteX1" fmla="*/ 1001221 w 5380649"/>
                <a:gd name="connsiteY1" fmla="*/ 0 h 1587501"/>
                <a:gd name="connsiteX2" fmla="*/ 4379428 w 5380649"/>
                <a:gd name="connsiteY2" fmla="*/ 0 h 1587501"/>
                <a:gd name="connsiteX3" fmla="*/ 5380649 w 5380649"/>
                <a:gd name="connsiteY3" fmla="*/ 1587501 h 1587501"/>
                <a:gd name="connsiteX4" fmla="*/ 0 w 5380649"/>
                <a:gd name="connsiteY4" fmla="*/ 1587501 h 1587501"/>
                <a:gd name="connsiteX0" fmla="*/ 0 w 5380649"/>
                <a:gd name="connsiteY0" fmla="*/ 1597026 h 1597026"/>
                <a:gd name="connsiteX1" fmla="*/ 1001221 w 5380649"/>
                <a:gd name="connsiteY1" fmla="*/ 9525 h 1597026"/>
                <a:gd name="connsiteX2" fmla="*/ 2560153 w 5380649"/>
                <a:gd name="connsiteY2" fmla="*/ 0 h 1597026"/>
                <a:gd name="connsiteX3" fmla="*/ 5380649 w 5380649"/>
                <a:gd name="connsiteY3" fmla="*/ 1597026 h 1597026"/>
                <a:gd name="connsiteX4" fmla="*/ 0 w 5380649"/>
                <a:gd name="connsiteY4" fmla="*/ 1597026 h 1597026"/>
                <a:gd name="connsiteX0" fmla="*/ 0 w 5380649"/>
                <a:gd name="connsiteY0" fmla="*/ 1592264 h 1592264"/>
                <a:gd name="connsiteX1" fmla="*/ 1001221 w 5380649"/>
                <a:gd name="connsiteY1" fmla="*/ 4763 h 1592264"/>
                <a:gd name="connsiteX2" fmla="*/ 2579203 w 5380649"/>
                <a:gd name="connsiteY2" fmla="*/ 0 h 1592264"/>
                <a:gd name="connsiteX3" fmla="*/ 5380649 w 5380649"/>
                <a:gd name="connsiteY3" fmla="*/ 1592264 h 1592264"/>
                <a:gd name="connsiteX4" fmla="*/ 0 w 5380649"/>
                <a:gd name="connsiteY4" fmla="*/ 1592264 h 1592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0649" h="1592264">
                  <a:moveTo>
                    <a:pt x="0" y="1592264"/>
                  </a:moveTo>
                  <a:lnTo>
                    <a:pt x="1001221" y="4763"/>
                  </a:lnTo>
                  <a:lnTo>
                    <a:pt x="2579203" y="0"/>
                  </a:lnTo>
                  <a:lnTo>
                    <a:pt x="5380649" y="1592264"/>
                  </a:lnTo>
                  <a:lnTo>
                    <a:pt x="0" y="159226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4">
                    <a:lumMod val="20000"/>
                    <a:lumOff val="80000"/>
                  </a:schemeClr>
                </a:gs>
                <a:gs pos="27000">
                  <a:srgbClr val="FFF3D0"/>
                </a:gs>
                <a:gs pos="100000">
                  <a:schemeClr val="bg1"/>
                </a:gs>
              </a:gsLst>
              <a:lin ang="5400000" scaled="0"/>
              <a:tileRect/>
            </a:gradFill>
            <a:ln>
              <a:gradFill>
                <a:gsLst>
                  <a:gs pos="0">
                    <a:srgbClr val="FF0000"/>
                  </a:gs>
                  <a:gs pos="26000">
                    <a:srgbClr val="FF0000"/>
                  </a:gs>
                  <a:gs pos="100000">
                    <a:schemeClr val="bg1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F9439562-A568-4D18-9867-4902DB99DDA2}"/>
                </a:ext>
              </a:extLst>
            </p:cNvPr>
            <p:cNvSpPr/>
            <p:nvPr/>
          </p:nvSpPr>
          <p:spPr>
            <a:xfrm>
              <a:off x="3803649" y="4065815"/>
              <a:ext cx="203009" cy="1563688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</p:grp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Spin-orbital angular momentum interaction in light</a:t>
            </a:r>
          </a:p>
        </p:txBody>
      </p:sp>
      <p:sp>
        <p:nvSpPr>
          <p:cNvPr id="4" name="內容版面配置區 2">
            <a:extLst>
              <a:ext uri="{FF2B5EF4-FFF2-40B4-BE49-F238E27FC236}">
                <a16:creationId xmlns:a16="http://schemas.microsoft.com/office/drawing/2014/main" id="{5DA96697-0ABD-42F4-AB54-BFED11402B42}"/>
              </a:ext>
            </a:extLst>
          </p:cNvPr>
          <p:cNvSpPr txBox="1">
            <a:spLocks/>
          </p:cNvSpPr>
          <p:nvPr/>
        </p:nvSpPr>
        <p:spPr>
          <a:xfrm>
            <a:off x="75705" y="705950"/>
            <a:ext cx="10515600" cy="53889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Laguerre-Gaussian beam is solved from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paraxial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Helmholtz</a:t>
            </a:r>
            <a:r>
              <a:rPr lang="zh-TW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within 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Lorentz gauge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TW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TW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  <a:r>
              <a:rPr lang="en-US" altLang="zh-TW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534072E-3FF6-450B-B43C-F626C529AF1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398666" y="3484647"/>
            <a:ext cx="2058960" cy="187346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F726B3D-C5EA-4F60-9C4D-212526F0C13E}"/>
                  </a:ext>
                </a:extLst>
              </p:cNvPr>
              <p:cNvSpPr/>
              <p:nvPr/>
            </p:nvSpPr>
            <p:spPr>
              <a:xfrm>
                <a:off x="1078463" y="5938516"/>
                <a:ext cx="2619161" cy="720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 0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F726B3D-C5EA-4F60-9C4D-212526F0C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63" y="5938516"/>
                <a:ext cx="2619161" cy="7203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58D9020-2C4A-4842-9EF2-46682DD67D3B}"/>
                  </a:ext>
                </a:extLst>
              </p:cNvPr>
              <p:cNvSpPr/>
              <p:nvPr/>
            </p:nvSpPr>
            <p:spPr>
              <a:xfrm>
                <a:off x="1078463" y="2008933"/>
                <a:ext cx="2399393" cy="3747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d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</m:sSup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58D9020-2C4A-4842-9EF2-46682DD67D3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63" y="2008933"/>
                <a:ext cx="2399393" cy="374783"/>
              </a:xfrm>
              <a:prstGeom prst="rect">
                <a:avLst/>
              </a:prstGeom>
              <a:blipFill>
                <a:blip r:embed="rId4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B486E36-28C5-4F23-AFE2-1F534A15C9DD}"/>
                  </a:ext>
                </a:extLst>
              </p:cNvPr>
              <p:cNvSpPr/>
              <p:nvPr/>
            </p:nvSpPr>
            <p:spPr>
              <a:xfrm>
                <a:off x="1078463" y="4104569"/>
                <a:ext cx="2946399" cy="7172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≪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CB486E36-28C5-4F23-AFE2-1F534A15C9D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63" y="4104569"/>
                <a:ext cx="2946399" cy="71724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>
            <a:extLst>
              <a:ext uri="{FF2B5EF4-FFF2-40B4-BE49-F238E27FC236}">
                <a16:creationId xmlns:a16="http://schemas.microsoft.com/office/drawing/2014/main" id="{11A73260-E74B-461A-9D7F-F42C525E9176}"/>
              </a:ext>
            </a:extLst>
          </p:cNvPr>
          <p:cNvSpPr/>
          <p:nvPr/>
        </p:nvSpPr>
        <p:spPr>
          <a:xfrm>
            <a:off x="587397" y="5559143"/>
            <a:ext cx="28712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paraxial Helmholtz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</a:t>
            </a:r>
            <a:endParaRPr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6369130-8182-495D-A6DC-A29FAC282A54}"/>
              </a:ext>
            </a:extLst>
          </p:cNvPr>
          <p:cNvSpPr/>
          <p:nvPr/>
        </p:nvSpPr>
        <p:spPr>
          <a:xfrm>
            <a:off x="587397" y="1629562"/>
            <a:ext cx="26661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scalar Helmholtz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equation </a:t>
            </a:r>
            <a:endParaRPr lang="zh-TW" altLang="en-US" dirty="0"/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5659DFB7-24F7-49E7-9525-3402968A239B}"/>
              </a:ext>
            </a:extLst>
          </p:cNvPr>
          <p:cNvCxnSpPr>
            <a:cxnSpLocks/>
          </p:cNvCxnSpPr>
          <p:nvPr/>
        </p:nvCxnSpPr>
        <p:spPr>
          <a:xfrm>
            <a:off x="514381" y="1657158"/>
            <a:ext cx="0" cy="4961466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32905F5-D97F-423C-B774-9D41176262C3}"/>
                  </a:ext>
                </a:extLst>
              </p:cNvPr>
              <p:cNvSpPr/>
              <p:nvPr/>
            </p:nvSpPr>
            <p:spPr>
              <a:xfrm>
                <a:off x="1078463" y="2883980"/>
                <a:ext cx="3510643" cy="720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∇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∥</m:t>
                              </m:r>
                            </m:sub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sSubSup>
                            <m:sSubSup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p>
                          </m:sSubSup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𝑈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832905F5-D97F-423C-B774-9D41176262C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63" y="2883980"/>
                <a:ext cx="3510643" cy="72032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內容版面配置區 2">
                <a:extLst>
                  <a:ext uri="{FF2B5EF4-FFF2-40B4-BE49-F238E27FC236}">
                    <a16:creationId xmlns:a16="http://schemas.microsoft.com/office/drawing/2014/main" id="{0B13C1D9-CDE7-41BE-AD8C-6F4D0E41AEA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87397" y="2393755"/>
                <a:ext cx="4449650" cy="48018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Clr>
                    <a:schemeClr val="accent1">
                      <a:lumMod val="75000"/>
                    </a:schemeClr>
                  </a:buClr>
                  <a:buNone/>
                </a:pPr>
                <a:r>
                  <a:rPr lang="en-US" altLang="zh-TW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paraxial wave</a:t>
                </a:r>
                <a:r>
                  <a:rPr lang="zh-TW" altLang="en-US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1800" dirty="0" err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ansztz</a:t>
                </a:r>
                <a:r>
                  <a:rPr lang="en-US" altLang="zh-TW" sz="1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TW" sz="1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</m:sup>
                        </m:sSup>
                        <m:d>
                          <m:d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r>
                          <a:rPr lang="en-US" altLang="zh-TW" sz="18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TW" sz="1800" i="1">
                            <a:latin typeface="Cambria Math" panose="02040503050406030204" pitchFamily="18" charset="0"/>
                          </a:rPr>
                          <m:t>𝑈</m:t>
                        </m:r>
                        <m:d>
                          <m:d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1800" b="1" i="1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d>
                        <m:sSup>
                          <m:sSupPr>
                            <m:ctrlPr>
                              <a:rPr lang="en-US" altLang="zh-TW" sz="1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b>
                                <m:r>
                                  <a:rPr lang="en-US" altLang="zh-TW" sz="1800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altLang="zh-TW" sz="1800" i="1">
                                <a:latin typeface="Cambria Math" panose="02040503050406030204" pitchFamily="18" charset="0"/>
                              </a:rPr>
                              <m:t>𝑧</m:t>
                            </m:r>
                          </m:sup>
                        </m:sSup>
                      </m:e>
                    </m:d>
                  </m:oMath>
                </a14:m>
                <a:endParaRPr lang="en-US" altLang="zh-TW" sz="1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內容版面配置區 2">
                <a:extLst>
                  <a:ext uri="{FF2B5EF4-FFF2-40B4-BE49-F238E27FC236}">
                    <a16:creationId xmlns:a16="http://schemas.microsoft.com/office/drawing/2014/main" id="{0B13C1D9-CDE7-41BE-AD8C-6F4D0E41AE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397" y="2393755"/>
                <a:ext cx="4449650" cy="480186"/>
              </a:xfrm>
              <a:prstGeom prst="rect">
                <a:avLst/>
              </a:prstGeom>
              <a:blipFill>
                <a:blip r:embed="rId7"/>
                <a:stretch>
                  <a:fillRect l="-1096" b="-2435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矩形 18">
            <a:extLst>
              <a:ext uri="{FF2B5EF4-FFF2-40B4-BE49-F238E27FC236}">
                <a16:creationId xmlns:a16="http://schemas.microsoft.com/office/drawing/2014/main" id="{64697F6B-5EB0-403A-810C-422B401D8463}"/>
              </a:ext>
            </a:extLst>
          </p:cNvPr>
          <p:cNvSpPr/>
          <p:nvPr/>
        </p:nvSpPr>
        <p:spPr>
          <a:xfrm>
            <a:off x="324206" y="1278192"/>
            <a:ext cx="25699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Maxwell equations:</a:t>
            </a:r>
          </a:p>
        </p:txBody>
      </p: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95B97DEC-3E57-44A2-90B4-96CD8428CDAE}"/>
              </a:ext>
            </a:extLst>
          </p:cNvPr>
          <p:cNvSpPr txBox="1">
            <a:spLocks/>
          </p:cNvSpPr>
          <p:nvPr/>
        </p:nvSpPr>
        <p:spPr>
          <a:xfrm>
            <a:off x="587397" y="3614344"/>
            <a:ext cx="4041561" cy="4801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paraxial approximation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F091636-A308-4B62-B200-4CD68CFF3B30}"/>
                  </a:ext>
                </a:extLst>
              </p:cNvPr>
              <p:cNvSpPr/>
              <p:nvPr/>
            </p:nvSpPr>
            <p:spPr>
              <a:xfrm>
                <a:off x="1078463" y="4831856"/>
                <a:ext cx="2946399" cy="71724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𝜕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≪</m:t>
                      </m:r>
                      <m:sSubSup>
                        <m:sSub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</m:sup>
                      </m:sSubSup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1" i="1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DF091636-A308-4B62-B200-4CD68CFF3B3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463" y="4831856"/>
                <a:ext cx="2946399" cy="71724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矩形 25">
            <a:extLst>
              <a:ext uri="{FF2B5EF4-FFF2-40B4-BE49-F238E27FC236}">
                <a16:creationId xmlns:a16="http://schemas.microsoft.com/office/drawing/2014/main" id="{7D470F9A-C972-4278-AEDD-9C1C747619F5}"/>
              </a:ext>
            </a:extLst>
          </p:cNvPr>
          <p:cNvSpPr/>
          <p:nvPr/>
        </p:nvSpPr>
        <p:spPr>
          <a:xfrm>
            <a:off x="5639685" y="1830642"/>
            <a:ext cx="64337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Transversely polarized light in Coulomb gauge gives the condition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888D4A24-8A04-41DE-9C19-EE882D56FED9}"/>
                  </a:ext>
                </a:extLst>
              </p:cNvPr>
              <p:cNvSpPr/>
              <p:nvPr/>
            </p:nvSpPr>
            <p:spPr>
              <a:xfrm>
                <a:off x="5639685" y="2225613"/>
                <a:ext cx="3324628" cy="3824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𝛁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⋅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b="1" i="1" smtClean="0">
                              <a:latin typeface="Cambria Math" panose="02040503050406030204" pitchFamily="18" charset="0"/>
                            </a:rPr>
                            <m:t>𝜺</m:t>
                          </m:r>
                        </m:e>
                      </m:acc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TW" b="1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1" i="0">
                              <a:latin typeface="Cambria Math" panose="02040503050406030204" pitchFamily="18" charset="0"/>
                            </a:rPr>
                            <m:t>𝛁</m:t>
                          </m:r>
                        </m:e>
                        <m: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</m:sSub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888D4A24-8A04-41DE-9C19-EE882D56FED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9685" y="2225613"/>
                <a:ext cx="3324628" cy="382477"/>
              </a:xfrm>
              <a:prstGeom prst="rect">
                <a:avLst/>
              </a:prstGeom>
              <a:blipFill>
                <a:blip r:embed="rId9"/>
                <a:stretch>
                  <a:fillRect t="-3175" b="-634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B73E709-6CD1-4CB0-8A66-80162ED8B780}"/>
                  </a:ext>
                </a:extLst>
              </p:cNvPr>
              <p:cNvSpPr/>
              <p:nvPr/>
            </p:nvSpPr>
            <p:spPr>
              <a:xfrm>
                <a:off x="5958177" y="4161457"/>
                <a:ext cx="3064557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acc>
                            <m:accPr>
                              <m:chr m:val="̂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  <m:acc>
                            <m:accPr>
                              <m:chr m:val="̂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  <m:t>𝒚</m:t>
                              </m:r>
                            </m:e>
                          </m:acc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DB73E709-6CD1-4CB0-8A66-80162ED8B7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177" y="4161457"/>
                <a:ext cx="3064557" cy="7146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40134526-F49B-4A6D-803D-D92DF04DCF41}"/>
                  </a:ext>
                </a:extLst>
              </p:cNvPr>
              <p:cNvSpPr/>
              <p:nvPr/>
            </p:nvSpPr>
            <p:spPr>
              <a:xfrm>
                <a:off x="6023910" y="5462257"/>
                <a:ext cx="5404236" cy="7146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∇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∥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𝒓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f>
                            <m:f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e>
                      </m:d>
                      <m:sSup>
                        <m:sSup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b="1" i="1">
                              <a:latin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40134526-F49B-4A6D-803D-D92DF04DCF4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3910" y="5462257"/>
                <a:ext cx="5404236" cy="71468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投影片編號版面配置區 40">
            <a:extLst>
              <a:ext uri="{FF2B5EF4-FFF2-40B4-BE49-F238E27FC236}">
                <a16:creationId xmlns:a16="http://schemas.microsoft.com/office/drawing/2014/main" id="{C762BEBE-DC66-48DD-BF9A-BA0DCD192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6</a:t>
            </a:fld>
            <a:endParaRPr lang="zh-TW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66C545FC-8818-435D-B8E4-EBA3B6F5DDE8}"/>
                  </a:ext>
                </a:extLst>
              </p:cNvPr>
              <p:cNvSpPr/>
              <p:nvPr/>
            </p:nvSpPr>
            <p:spPr>
              <a:xfrm>
                <a:off x="5608399" y="3097859"/>
                <a:ext cx="6235258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condition </a:t>
                </a:r>
                <a:r>
                  <a:rPr lang="en-US" altLang="zh-TW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fail</a:t>
                </a:r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 paraxial approximation for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b="1" i="1">
                            <a:latin typeface="Cambria Math" panose="02040503050406030204" pitchFamily="18" charset="0"/>
                          </a:rPr>
                          <m:t>𝜺</m:t>
                        </m:r>
                      </m:e>
                    </m:acc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acc>
                    <m:r>
                      <a:rPr lang="en-US" altLang="zh-TW" i="1">
                        <a:latin typeface="Cambria Math" panose="02040503050406030204" pitchFamily="18" charset="0"/>
                      </a:rPr>
                      <m:t>±</m:t>
                    </m:r>
                    <m:r>
                      <a:rPr lang="en-US" altLang="zh-TW" i="1">
                        <a:latin typeface="Cambria Math" panose="02040503050406030204" pitchFamily="18" charset="0"/>
                      </a:rPr>
                      <m:t>𝑖</m:t>
                    </m:r>
                    <m:acc>
                      <m:accPr>
                        <m:chr m:val="̂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42" name="矩形 41">
                <a:extLst>
                  <a:ext uri="{FF2B5EF4-FFF2-40B4-BE49-F238E27FC236}">
                    <a16:creationId xmlns:a16="http://schemas.microsoft.com/office/drawing/2014/main" id="{66C545FC-8818-435D-B8E4-EBA3B6F5DDE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399" y="3097859"/>
                <a:ext cx="6235258" cy="369332"/>
              </a:xfrm>
              <a:prstGeom prst="rect">
                <a:avLst/>
              </a:prstGeom>
              <a:blipFill>
                <a:blip r:embed="rId12"/>
                <a:stretch>
                  <a:fillRect l="-782" t="-8197" b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矩形 42">
            <a:extLst>
              <a:ext uri="{FF2B5EF4-FFF2-40B4-BE49-F238E27FC236}">
                <a16:creationId xmlns:a16="http://schemas.microsoft.com/office/drawing/2014/main" id="{AB03D92D-103D-4E04-8B33-5278CE36F1BB}"/>
              </a:ext>
            </a:extLst>
          </p:cNvPr>
          <p:cNvSpPr/>
          <p:nvPr/>
        </p:nvSpPr>
        <p:spPr>
          <a:xfrm>
            <a:off x="5910978" y="3825812"/>
            <a:ext cx="15311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 </a:t>
            </a:r>
            <a:endParaRPr lang="zh-TW" altLang="en-US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060E675-1E0F-47F1-907F-126690C9EBA5}"/>
              </a:ext>
            </a:extLst>
          </p:cNvPr>
          <p:cNvSpPr/>
          <p:nvPr/>
        </p:nvSpPr>
        <p:spPr>
          <a:xfrm>
            <a:off x="5910978" y="5054764"/>
            <a:ext cx="337784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 paraxial approximation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97876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7C005CCE-1406-4BB0-8CE9-F532FD210C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Light-matter interaction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Encoding SOI information 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Selective excitation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2895A4A1-A24F-4005-893F-E731AE9C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9713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D5A6C661-41C4-4FC1-B20D-D90885538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AE6C2075-3F5C-497E-9964-9867555AC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8082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A01704AA-0464-4899-80C2-760928306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174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Spin-orbital angular momentum interaction in light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Light-matter interaction</a:t>
            </a: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 wave packet</a:t>
            </a:r>
          </a:p>
          <a:p>
            <a:pPr lvl="1">
              <a:lnSpc>
                <a:spcPct val="150000"/>
              </a:lnSpc>
              <a:buClr>
                <a:schemeClr val="accent2">
                  <a:lumMod val="50000"/>
                </a:schemeClr>
              </a:buClr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Clr>
                <a:schemeClr val="accent1">
                  <a:lumMod val="75000"/>
                </a:schemeClr>
              </a:buClr>
              <a:buNone/>
            </a:pPr>
            <a:r>
              <a:rPr lang="en-US" altLang="zh-TW" sz="2400" dirty="0"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909C0FAF-7BA8-41F3-B0A5-5F38A83D9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82956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9D75D15-D9C6-4BB1-BAEA-63602AE23A0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36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Exciton wave packet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3448457-02F0-4B46-89E3-AB70872B4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6F4F919-BABA-4A16-B156-B411B9B35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02376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9D75D15-D9C6-4BB1-BAEA-63602AE23A0E}"/>
              </a:ext>
            </a:extLst>
          </p:cNvPr>
          <p:cNvSpPr txBox="1">
            <a:spLocks/>
          </p:cNvSpPr>
          <p:nvPr/>
        </p:nvSpPr>
        <p:spPr>
          <a:xfrm>
            <a:off x="1524000" y="0"/>
            <a:ext cx="9144000" cy="10363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新細明體" panose="02020500000000000000" pitchFamily="18" charset="-120"/>
              <a:cs typeface="+mj-cs"/>
            </a:endParaRPr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EF642DEB-617E-49E8-BC12-45D4CBA2D9E9}"/>
              </a:ext>
            </a:extLst>
          </p:cNvPr>
          <p:cNvSpPr txBox="1">
            <a:spLocks/>
          </p:cNvSpPr>
          <p:nvPr/>
        </p:nvSpPr>
        <p:spPr>
          <a:xfrm>
            <a:off x="1524000" y="1417320"/>
            <a:ext cx="9144000" cy="42702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TW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  <a:p>
            <a:pPr marL="228600" marR="0" lvl="0" indent="-22860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TW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28A707E5-B61D-4E29-8E23-1311BF6F3FC2}"/>
              </a:ext>
            </a:extLst>
          </p:cNvPr>
          <p:cNvSpPr txBox="1">
            <a:spLocks/>
          </p:cNvSpPr>
          <p:nvPr/>
        </p:nvSpPr>
        <p:spPr>
          <a:xfrm>
            <a:off x="0" y="-24293"/>
            <a:ext cx="12192000" cy="65346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 and outlook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267826F5-3628-4254-900A-BB61FABC6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123</a:t>
            </a:r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F6789338-4F66-4CE7-AFD6-56B6F550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94BDCA-F584-4E62-B2F1-580C4F37E8B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67920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1540</TotalTime>
  <Words>301</Words>
  <Application>Microsoft Office PowerPoint</Application>
  <PresentationFormat>寬螢幕</PresentationFormat>
  <Paragraphs>80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31</cp:revision>
  <dcterms:created xsi:type="dcterms:W3CDTF">2026-05-29T06:10:36Z</dcterms:created>
  <dcterms:modified xsi:type="dcterms:W3CDTF">2026-06-30T04:23:21Z</dcterms:modified>
</cp:coreProperties>
</file>
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79" r:id="rId4"/>
    <p:sldId id="258" r:id="rId5"/>
    <p:sldId id="270" r:id="rId6"/>
    <p:sldId id="281" r:id="rId7"/>
    <p:sldId id="273" r:id="rId8"/>
    <p:sldId id="282" r:id="rId9"/>
    <p:sldId id="272" r:id="rId10"/>
    <p:sldId id="276" r:id="rId11"/>
    <p:sldId id="278" r:id="rId12"/>
    <p:sldId id="275" r:id="rId13"/>
    <p:sldId id="264" r:id="rId14"/>
    <p:sldId id="260" r:id="rId15"/>
    <p:sldId id="261" r:id="rId16"/>
    <p:sldId id="262" r:id="rId17"/>
    <p:sldId id="263" r:id="rId18"/>
    <p:sldId id="268" r:id="rId19"/>
    <p:sldId id="266" r:id="rId20"/>
    <p:sldId id="267" r:id="rId21"/>
    <p:sldId id="269" r:id="rId22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Gill Sans MT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81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491A5B-E04D-414C-B6F5-5A071B9DD9A0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A00C545-4557-4F7F-B2DB-35125983A43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2970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EED4213-B039-4153-BC2C-C7950AF3A8AD}" type="slidenum">
              <a:rPr lang="zh-TW" altLang="en-US" smtClean="0"/>
              <a:pPr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072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912BB7F-D505-4ACD-93AE-554028E6A022}" type="slidenum">
              <a:rPr lang="zh-TW" altLang="en-US" smtClean="0"/>
              <a:pPr/>
              <a:t>2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17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0878F25-1463-4E50-943E-A43A801D46A5}" type="slidenum">
              <a:rPr lang="zh-TW" altLang="en-US" smtClean="0"/>
              <a:pPr/>
              <a:t>4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994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04C8295-FE93-4EEE-B534-29F7C94CB45A}" type="slidenum">
              <a:rPr lang="zh-TW" altLang="en-US" smtClean="0"/>
              <a:pPr/>
              <a:t>6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27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84F8A31-2B04-4A44-9F13-D0EC14F0517E}" type="slidenum">
              <a:rPr lang="zh-TW" altLang="en-US" smtClean="0"/>
              <a:pPr/>
              <a:t>13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37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3E427D2-BFD0-4E2E-B8AA-7E9ACF2D7813}" type="slidenum">
              <a:rPr lang="zh-TW" altLang="en-US" smtClean="0"/>
              <a:pPr/>
              <a:t>14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482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89936D-A22F-4C04-810B-F528AE614387}" type="slidenum">
              <a:rPr lang="zh-TW" altLang="en-US" smtClean="0"/>
              <a:pPr/>
              <a:t>15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58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D579F62-B5F9-4DE1-9D2E-0C9AE5286A98}" type="slidenum">
              <a:rPr lang="zh-TW" altLang="en-US" smtClean="0"/>
              <a:pPr/>
              <a:t>16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686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CAB44AA-0FFA-4C7A-9229-9A884AC57F3E}" type="slidenum">
              <a:rPr lang="zh-TW" altLang="en-US" smtClean="0"/>
              <a:pPr/>
              <a:t>17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789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8ABCB98-896A-4E42-BC9C-7C3ADC90F529}" type="slidenum">
              <a:rPr lang="zh-TW" altLang="en-US" smtClean="0"/>
              <a:pPr/>
              <a:t>19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891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DD82198-4291-4EE4-B447-0B0955FF561B}" type="slidenum">
              <a:rPr lang="zh-TW" altLang="en-US" smtClean="0"/>
              <a:pPr/>
              <a:t>20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00C545-4557-4F7F-B2DB-35125983A439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橢圓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6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A9E37F1-C27E-4896-8898-4396644567FD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7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BE80679-9197-4ADD-91AE-710F02BE40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1774B-1440-4615-BD2C-6D7336984CB4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5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80329-3DCA-4208-9310-E0313CA2BCF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橢圓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7" name="橢圓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E50CE95-BAF8-4808-8085-DB48B3CAFC78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9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2C62F1E-AC2C-45E4-A973-86E1DA4B655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1771A-D658-4B10-8B99-A2DF2D3880BA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6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040F4-6925-4802-8779-3482FA6D0E5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E1C051B-49F9-4E17-A69C-6FE1C1C10CE2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6EBED28-9FDB-4E03-9AC0-B001822719A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32636-B829-45A3-8106-87B09AF7DCC4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4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B552-EEAB-40A5-9B00-B6D9155AC16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3" name="矩形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E3AAFD9-C2A4-4F98-A87B-B28B209C8E23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F66614-DAFF-48B6-8B8E-4EF97746FF8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7549786-FA42-401C-994A-0EB69D7F45C0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58195E9-179C-4A3E-AC4B-65EC9A65FB5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kumimoji="0" lang="en-US" sz="3200">
              <a:latin typeface="+mn-lt"/>
              <a:ea typeface="+mn-ea"/>
            </a:endParaRPr>
          </a:p>
        </p:txBody>
      </p:sp>
      <p:sp>
        <p:nvSpPr>
          <p:cNvPr id="6" name="流程圖: 程序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7" name="流程圖: 程序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86A79A2-58B3-4B2A-BAAB-38E8DA6B0A3F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6E1100A-44F6-41E0-9B7E-5132F68392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F2CB7-E321-46BD-8086-145490F1B8F2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5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B873F-B987-4A14-8839-AD087A61551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29371-3600-4E28-948E-DB768EF45EDC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5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D7F0C-4347-4CF7-9056-7162FEFD806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033" name="文字版面配置區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252D91E1-69BE-4E35-99FC-DC63DDFB3919}" type="datetimeFigureOut">
              <a:rPr lang="zh-TW" altLang="en-US"/>
              <a:pPr>
                <a:defRPr/>
              </a:pPr>
              <a:t>2012/5/30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6A01734F-AF52-4D25-AA41-3091B9CF556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48" r:id="rId2"/>
    <p:sldLayoutId id="2147483854" r:id="rId3"/>
    <p:sldLayoutId id="2147483849" r:id="rId4"/>
    <p:sldLayoutId id="2147483855" r:id="rId5"/>
    <p:sldLayoutId id="2147483850" r:id="rId6"/>
    <p:sldLayoutId id="2147483856" r:id="rId7"/>
    <p:sldLayoutId id="2147483857" r:id="rId8"/>
    <p:sldLayoutId id="2147483858" r:id="rId9"/>
    <p:sldLayoutId id="2147483851" r:id="rId10"/>
    <p:sldLayoutId id="214748385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  <a:ea typeface="微軟正黑體" pitchFamily="34" charset="-12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b.nctu.edu.tw/html/id-93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aadms.nctu.edu.tw/Graduate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2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zh-TW" altLang="en-US" sz="4800" b="1" dirty="0" smtClean="0">
                <a:solidFill>
                  <a:schemeClr val="tx2">
                    <a:satMod val="130000"/>
                  </a:schemeClr>
                </a:solidFill>
              </a:rPr>
              <a:t>畢業流程檢查清單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800" b="1" dirty="0" smtClean="0"/>
              <a:t>08/04/2011</a:t>
            </a:r>
            <a:endParaRPr lang="zh-TW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b="1" dirty="0" smtClean="0">
                <a:solidFill>
                  <a:schemeClr val="tx2">
                    <a:satMod val="130000"/>
                  </a:schemeClr>
                </a:solidFill>
              </a:rPr>
              <a:t>Outline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3000" b="1" dirty="0" smtClean="0">
                <a:latin typeface="標楷體" pitchFamily="65" charset="-120"/>
                <a:ea typeface="標楷體" pitchFamily="65" charset="-120"/>
              </a:rPr>
              <a:t>「完整」物理工作基礎</a:t>
            </a:r>
            <a:endParaRPr lang="en-US" altLang="zh-TW" sz="30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3000" b="1" dirty="0" smtClean="0">
                <a:latin typeface="標楷體" pitchFamily="65" charset="-120"/>
                <a:ea typeface="標楷體" pitchFamily="65" charset="-120"/>
              </a:rPr>
              <a:t>論文格式檢查清單</a:t>
            </a:r>
            <a:endParaRPr lang="en-US" altLang="zh-TW" sz="30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zh-TW" sz="3000" b="1" dirty="0" smtClean="0">
                <a:latin typeface="標楷體" pitchFamily="65" charset="-120"/>
                <a:ea typeface="標楷體" pitchFamily="65" charset="-120"/>
              </a:rPr>
              <a:t>      </a:t>
            </a: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參考文獻格式；書名頁格式</a:t>
            </a:r>
            <a:endParaRPr lang="en-US" altLang="zh-TW" sz="24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口試前檢查清單</a:t>
            </a:r>
            <a:endParaRPr lang="en-US" altLang="zh-TW" sz="28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口試後檢查清單</a:t>
            </a:r>
            <a:endParaRPr lang="en-US" altLang="zh-TW" sz="28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離校檢查清單</a:t>
            </a:r>
            <a:endParaRPr lang="en-US" altLang="zh-TW" sz="2800" b="1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3000" b="1" dirty="0" smtClean="0"/>
          </a:p>
          <a:p>
            <a:pPr eaLnBrk="1" hangingPunct="1">
              <a:lnSpc>
                <a:spcPct val="90000"/>
              </a:lnSpc>
            </a:pPr>
            <a:endParaRPr lang="en-US" altLang="zh-TW" sz="3000" b="1" dirty="0" smtClean="0"/>
          </a:p>
          <a:p>
            <a:pPr eaLnBrk="1" hangingPunct="1">
              <a:lnSpc>
                <a:spcPct val="90000"/>
              </a:lnSpc>
            </a:pPr>
            <a:endParaRPr lang="zh-TW" altLang="en-US" sz="3000" b="1" dirty="0" smtClean="0"/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zh-TW" sz="3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zh-TW" altLang="en-US" sz="4400" b="1" dirty="0" smtClean="0">
                <a:latin typeface="標楷體" pitchFamily="65" charset="-120"/>
                <a:ea typeface="標楷體" pitchFamily="65" charset="-120"/>
              </a:rPr>
              <a:t>論文主要物理結果「完整」物理工作基礎</a:t>
            </a:r>
            <a:endParaRPr lang="en-US" altLang="zh-TW" sz="4400" b="1" dirty="0" smtClean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碩班：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a.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理論計算推導和程式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「發展」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30%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b.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確認程式和推導結果的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「正確性」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40%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c.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物理結果的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「呈現」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   （</a:t>
            </a:r>
            <a:r>
              <a:rPr lang="en-US" altLang="zh-TW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30%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539750" indent="-457200" eaLnBrk="1" hangingPunct="1">
              <a:buFont typeface="Wingdings 2" pitchFamily="18" charset="2"/>
              <a:buNone/>
              <a:defRPr/>
            </a:pPr>
            <a:endParaRPr lang="en-US" altLang="zh-TW" sz="1800" dirty="0" smtClean="0"/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15364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博班：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 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a.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理論計算推導和程式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「發展」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20%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b.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確認程式和推導結果的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en-US" altLang="zh-TW" sz="2000" b="1" dirty="0" smtClean="0">
                <a:latin typeface="標楷體" pitchFamily="65" charset="-120"/>
                <a:ea typeface="標楷體" pitchFamily="65" charset="-120"/>
              </a:rPr>
              <a:t>   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「正確性」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30%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4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1" dirty="0" smtClean="0">
                <a:latin typeface="標楷體" pitchFamily="65" charset="-120"/>
                <a:ea typeface="標楷體" pitchFamily="65" charset="-120"/>
              </a:rPr>
              <a:t>c.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物理結果的</a:t>
            </a: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「呈現」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與</a:t>
            </a:r>
            <a:endParaRPr lang="en-US" altLang="zh-TW" sz="20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r>
              <a:rPr lang="zh-TW" altLang="en-US" sz="2000" b="1" dirty="0" smtClean="0">
                <a:latin typeface="標楷體" pitchFamily="65" charset="-120"/>
                <a:ea typeface="標楷體" pitchFamily="65" charset="-120"/>
              </a:rPr>
              <a:t>   「闡明」</a:t>
            </a:r>
            <a:r>
              <a:rPr lang="zh-TW" altLang="en-US" sz="2000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50%</a:t>
            </a:r>
            <a:r>
              <a:rPr lang="zh-TW" altLang="en-US" sz="2000" b="1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）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>
              <a:buNone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b="1" dirty="0" smtClean="0">
                <a:solidFill>
                  <a:schemeClr val="tx2">
                    <a:satMod val="130000"/>
                  </a:schemeClr>
                </a:solidFill>
              </a:rPr>
              <a:t>論文</a:t>
            </a:r>
            <a:r>
              <a:rPr lang="zh-TW" altLang="en-US" b="1" dirty="0" smtClean="0">
                <a:solidFill>
                  <a:schemeClr val="tx2">
                    <a:satMod val="130000"/>
                  </a:schemeClr>
                </a:solidFill>
                <a:latin typeface="+mj-ea"/>
              </a:rPr>
              <a:t>格式檢查清單</a:t>
            </a:r>
            <a:r>
              <a:rPr lang="en-US" altLang="zh-TW" b="1" dirty="0" smtClean="0">
                <a:solidFill>
                  <a:schemeClr val="tx2">
                    <a:satMod val="130000"/>
                  </a:schemeClr>
                </a:solidFill>
                <a:latin typeface="+mj-ea"/>
              </a:rPr>
              <a:t>(1)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j-ea"/>
            </a:endParaRPr>
          </a:p>
        </p:txBody>
      </p:sp>
      <p:sp>
        <p:nvSpPr>
          <p:cNvPr id="10243" name="內容版面配置區 3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504825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zh-TW" altLang="en-US" b="1" dirty="0" smtClean="0"/>
              <a:t>論文架構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zh-TW" sz="2400" dirty="0" smtClean="0">
                <a:latin typeface="新細明體" charset="-120"/>
                <a:ea typeface="新細明體" charset="-120"/>
              </a:rPr>
              <a:t>封面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         □ 引用文獻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zh-TW" sz="2400" dirty="0" smtClean="0">
                <a:latin typeface="新細明體" charset="-120"/>
                <a:ea typeface="新細明體" charset="-120"/>
              </a:rPr>
              <a:t>書名頁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     □ 頁碼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中文摘要</a:t>
            </a:r>
            <a:endParaRPr lang="en-US" altLang="zh-TW" sz="2400" dirty="0" smtClean="0"/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英文摘要</a:t>
            </a:r>
            <a:endParaRPr lang="en-US" altLang="zh-TW" sz="2400" dirty="0" smtClean="0"/>
          </a:p>
          <a:p>
            <a:pPr eaLnBrk="1" hangingPunct="1"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誌謝</a:t>
            </a:r>
            <a:endParaRPr lang="en-US" altLang="zh-TW" sz="2400" b="1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目錄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表目錄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圖目錄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論文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本文各章</a:t>
            </a:r>
            <a:r>
              <a:rPr lang="en-US" altLang="zh-TW" sz="2400" dirty="0" smtClean="0">
                <a:latin typeface="新細明體" charset="-120"/>
                <a:ea typeface="新細明體" charset="-120"/>
              </a:rPr>
              <a:t>&amp;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結論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附錄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/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/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/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/>
          </a:p>
          <a:p>
            <a:pPr eaLnBrk="1" hangingPunct="1">
              <a:buFont typeface="Wingdings 2" pitchFamily="18" charset="2"/>
              <a:buNone/>
            </a:pPr>
            <a:endParaRPr lang="en-US" altLang="zh-TW" dirty="0" smtClean="0"/>
          </a:p>
          <a:p>
            <a:pPr eaLnBrk="1" hangingPunct="1">
              <a:buFont typeface="Wingdings 2" pitchFamily="18" charset="2"/>
              <a:buNone/>
            </a:pPr>
            <a:endParaRPr lang="en-US" altLang="zh-TW" dirty="0" smtClean="0"/>
          </a:p>
          <a:p>
            <a:pPr eaLnBrk="1" hangingPunct="1">
              <a:buFont typeface="Wingdings 2" pitchFamily="18" charset="2"/>
              <a:buNone/>
            </a:pPr>
            <a:endParaRPr lang="en-US" altLang="zh-TW" dirty="0" smtClean="0"/>
          </a:p>
          <a:p>
            <a:pPr eaLnBrk="1" hangingPunct="1"/>
            <a:endParaRPr lang="zh-TW" altLang="en-US" dirty="0" smtClean="0"/>
          </a:p>
        </p:txBody>
      </p:sp>
      <p:sp>
        <p:nvSpPr>
          <p:cNvPr id="6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b="1" dirty="0" smtClean="0">
                <a:latin typeface="+mj-ea"/>
                <a:ea typeface="+mj-ea"/>
              </a:rPr>
              <a:t>論文撰寫注意事項</a:t>
            </a:r>
            <a:endParaRPr lang="en-US" altLang="zh-TW" b="1" dirty="0" smtClean="0">
              <a:latin typeface="+mj-ea"/>
              <a:ea typeface="+mj-ea"/>
            </a:endParaRPr>
          </a:p>
          <a:p>
            <a:pPr marL="365760" indent="-283464" eaLnBrk="1" fontAlgn="auto" hangingPunct="1">
              <a:spcAft>
                <a:spcPts val="0"/>
              </a:spcAft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A.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書名頁和書背格式注意事項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B.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中、英文摘要注意事項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C.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內文注意事項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D.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圖的注意事項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E. 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符號和方程式的注意事項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F.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 結論注意事項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>
                <a:latin typeface="新細明體" pitchFamily="18" charset="-120"/>
                <a:ea typeface="新細明體" pitchFamily="18" charset="-120"/>
              </a:rPr>
              <a:t>G.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 參考文獻格式注意事項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24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zh-TW" sz="4400" b="1" dirty="0" smtClean="0">
                <a:latin typeface="+mj-ea"/>
              </a:rPr>
              <a:t>書名頁</a:t>
            </a:r>
            <a:r>
              <a:rPr lang="zh-TW" altLang="zh-TW" b="1" dirty="0" smtClean="0">
                <a:latin typeface="+mj-ea"/>
              </a:rPr>
              <a:t>格式</a:t>
            </a:r>
            <a:endParaRPr lang="zh-TW" altLang="en-US" b="1" dirty="0">
              <a:latin typeface="+mj-ea"/>
            </a:endParaRP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 l="8221" t="22148" r="52751" b="12146"/>
          <a:stretch>
            <a:fillRect/>
          </a:stretch>
        </p:blipFill>
        <p:spPr bwMode="auto">
          <a:xfrm>
            <a:off x="4427538" y="692150"/>
            <a:ext cx="4410075" cy="594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矩形 7"/>
          <p:cNvSpPr>
            <a:spLocks noChangeArrowheads="1"/>
          </p:cNvSpPr>
          <p:nvPr/>
        </p:nvSpPr>
        <p:spPr bwMode="auto">
          <a:xfrm>
            <a:off x="107950" y="6092825"/>
            <a:ext cx="50958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/>
              <a:t>參考圖書館網頁：</a:t>
            </a:r>
            <a:endParaRPr lang="en-US" altLang="zh-TW"/>
          </a:p>
          <a:p>
            <a:r>
              <a:rPr lang="en-US" altLang="zh-TW"/>
              <a:t>http://www.lib.nctu.edu.tw/attach/download/id-1011/</a:t>
            </a:r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051050" y="1412875"/>
            <a:ext cx="1570038" cy="36988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TW" altLang="en-US" dirty="0"/>
              <a:t>電物系的範例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 bwMode="auto">
          <a:xfrm>
            <a:off x="1435100" y="44450"/>
            <a:ext cx="7499350" cy="1143000"/>
          </a:xfrm>
          <a:noFill/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b="1" smtClean="0">
                <a:effectLst/>
              </a:rPr>
              <a:t>書背格式</a:t>
            </a:r>
          </a:p>
        </p:txBody>
      </p:sp>
      <p:sp>
        <p:nvSpPr>
          <p:cNvPr id="26627" name="Rectangle 28"/>
          <p:cNvSpPr>
            <a:spLocks noChangeArrowheads="1"/>
          </p:cNvSpPr>
          <p:nvPr/>
        </p:nvSpPr>
        <p:spPr bwMode="auto">
          <a:xfrm>
            <a:off x="1466850" y="-914400"/>
            <a:ext cx="23034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sp>
        <p:nvSpPr>
          <p:cNvPr id="26628" name="Rectangle 85"/>
          <p:cNvSpPr>
            <a:spLocks noChangeArrowheads="1"/>
          </p:cNvSpPr>
          <p:nvPr/>
        </p:nvSpPr>
        <p:spPr bwMode="auto">
          <a:xfrm>
            <a:off x="1466850" y="-914400"/>
            <a:ext cx="2303463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TW" altLang="en-US"/>
          </a:p>
        </p:txBody>
      </p:sp>
      <p:pic>
        <p:nvPicPr>
          <p:cNvPr id="26629" name="Picture 1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9475" y="3598863"/>
            <a:ext cx="3986213" cy="321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17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1371600"/>
            <a:ext cx="39782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AutoShape 183"/>
          <p:cNvSpPr>
            <a:spLocks noChangeArrowheads="1"/>
          </p:cNvSpPr>
          <p:nvPr/>
        </p:nvSpPr>
        <p:spPr bwMode="auto">
          <a:xfrm>
            <a:off x="1042988" y="5373688"/>
            <a:ext cx="649287" cy="1368425"/>
          </a:xfrm>
          <a:prstGeom prst="downArrow">
            <a:avLst>
              <a:gd name="adj1" fmla="val 50000"/>
              <a:gd name="adj2" fmla="val 52690"/>
            </a:avLst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TW" altLang="en-US"/>
              <a:t>接</a:t>
            </a:r>
          </a:p>
          <a:p>
            <a:pPr algn="ctr"/>
            <a:r>
              <a:rPr lang="zh-TW" altLang="en-US"/>
              <a:t>下</a:t>
            </a:r>
          </a:p>
        </p:txBody>
      </p:sp>
      <p:sp>
        <p:nvSpPr>
          <p:cNvPr id="26632" name="AutoShape 188"/>
          <p:cNvSpPr>
            <a:spLocks noChangeArrowheads="1"/>
          </p:cNvSpPr>
          <p:nvPr/>
        </p:nvSpPr>
        <p:spPr bwMode="auto">
          <a:xfrm>
            <a:off x="5076825" y="3644900"/>
            <a:ext cx="647700" cy="1223963"/>
          </a:xfrm>
          <a:prstGeom prst="upArrow">
            <a:avLst>
              <a:gd name="adj1" fmla="val 50000"/>
              <a:gd name="adj2" fmla="val 47243"/>
            </a:avLst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r>
              <a:rPr lang="zh-TW" altLang="en-US"/>
              <a:t>接上</a:t>
            </a:r>
          </a:p>
        </p:txBody>
      </p:sp>
      <p:sp>
        <p:nvSpPr>
          <p:cNvPr id="26633" name="矩形 7"/>
          <p:cNvSpPr>
            <a:spLocks noChangeArrowheads="1"/>
          </p:cNvSpPr>
          <p:nvPr/>
        </p:nvSpPr>
        <p:spPr bwMode="auto">
          <a:xfrm>
            <a:off x="4084638" y="692150"/>
            <a:ext cx="50958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dirty="0"/>
              <a:t>參考圖書館網頁：</a:t>
            </a:r>
            <a:endParaRPr lang="en-US" altLang="zh-TW" dirty="0"/>
          </a:p>
          <a:p>
            <a:r>
              <a:rPr lang="en-US" altLang="zh-TW" dirty="0"/>
              <a:t>http://www.lib.nctu.edu.tw/attach/download/id-1011/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en-US" sz="4000" b="1" dirty="0" smtClean="0">
                <a:latin typeface="+mj-ea"/>
              </a:rPr>
              <a:t>中、英文摘要的注意事項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□ 摘要寫作建議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   </a:t>
            </a: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○破題、物理、方法。</a:t>
            </a:r>
            <a:endParaRPr lang="en-US" altLang="zh-TW" sz="20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中文摘要，需使用正式的科學用語。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專有名詞須附上英文  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     原文，中文須注意是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     否常用。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6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英文摘要，單字一定要正確，不能拼錯。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英文文法不用太華麗，以簡單、精簡為原則。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en-US" b="1" dirty="0" smtClean="0"/>
              <a:t>論文內文的注意事項</a:t>
            </a:r>
            <a:endParaRPr lang="zh-TW" altLang="en-US" b="1" dirty="0"/>
          </a:p>
        </p:txBody>
      </p:sp>
      <p:sp>
        <p:nvSpPr>
          <p:cNvPr id="6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內文敘述要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「通順」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、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「有意義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」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和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「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用字遣詞</a:t>
            </a:r>
            <a:r>
              <a:rPr lang="zh-TW" altLang="en-US" sz="2400" b="1" dirty="0" smtClean="0">
                <a:latin typeface="新細明體" pitchFamily="18" charset="-120"/>
                <a:ea typeface="新細明體" pitchFamily="18" charset="-120"/>
              </a:rPr>
              <a:t>恰當精確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」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，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同學間要以挑剔的心態幫忙檢查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 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專有名詞附上原文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539750" indent="-457200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文章格式統一整齊。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539750" indent="-457200" eaLnBrk="1" hangingPunct="1"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參數建議整理列表。</a:t>
            </a:r>
            <a:endParaRPr lang="en-US" altLang="zh-TW" sz="2400" dirty="0" smtClean="0">
              <a:solidFill>
                <a:srgbClr val="FF0000"/>
              </a:solidFill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表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編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號及表名列於表上方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539750" indent="-457200" eaLnBrk="1" hangingPunct="1">
              <a:buFont typeface="Wingdings 2" pitchFamily="18" charset="2"/>
              <a:buNone/>
              <a:defRPr/>
            </a:pPr>
            <a:endParaRPr lang="en-US" altLang="zh-TW" sz="2400" dirty="0" smtClean="0"/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15364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zh-TW" altLang="en-US" dirty="0" smtClean="0">
                <a:latin typeface="新細明體" charset="-120"/>
                <a:ea typeface="新細明體" charset="-120"/>
              </a:rPr>
              <a:t>□ 論文本文大綱應有</a:t>
            </a: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None/>
            </a:pPr>
            <a:r>
              <a:rPr lang="zh-TW" altLang="en-US" dirty="0" smtClean="0">
                <a:latin typeface="新細明體" charset="-120"/>
                <a:ea typeface="新細明體" charset="-120"/>
              </a:rPr>
              <a:t> </a:t>
            </a:r>
            <a:r>
              <a:rPr lang="en-US" altLang="zh-TW" dirty="0" smtClean="0">
                <a:latin typeface="新細明體" charset="-120"/>
                <a:ea typeface="新細明體" charset="-120"/>
              </a:rPr>
              <a:t>1.</a:t>
            </a:r>
            <a:r>
              <a:rPr lang="zh-TW" altLang="en-US" dirty="0" smtClean="0">
                <a:latin typeface="新細明體" charset="-120"/>
                <a:ea typeface="新細明體" charset="-120"/>
              </a:rPr>
              <a:t> 簡介</a:t>
            </a: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None/>
            </a:pPr>
            <a:r>
              <a:rPr lang="zh-TW" altLang="en-US" dirty="0" smtClean="0">
                <a:latin typeface="新細明體" charset="-120"/>
                <a:ea typeface="新細明體" charset="-120"/>
              </a:rPr>
              <a:t> </a:t>
            </a:r>
            <a:r>
              <a:rPr lang="en-US" altLang="zh-TW" dirty="0" smtClean="0">
                <a:latin typeface="新細明體" charset="-120"/>
                <a:ea typeface="新細明體" charset="-120"/>
              </a:rPr>
              <a:t>2</a:t>
            </a:r>
            <a:r>
              <a:rPr lang="en-US" altLang="zh-TW" dirty="0" smtClean="0">
                <a:latin typeface="新細明體" charset="-120"/>
                <a:ea typeface="新細明體" charset="-120"/>
              </a:rPr>
              <a:t>.</a:t>
            </a:r>
            <a:r>
              <a:rPr lang="zh-TW" altLang="en-US" dirty="0" smtClean="0">
                <a:latin typeface="新細明體" charset="-120"/>
                <a:ea typeface="新細明體" charset="-120"/>
              </a:rPr>
              <a:t> </a:t>
            </a:r>
            <a:r>
              <a:rPr lang="zh-TW" altLang="en-US" dirty="0" smtClean="0">
                <a:latin typeface="新細明體" pitchFamily="18" charset="-120"/>
                <a:ea typeface="新細明體" pitchFamily="18" charset="-120"/>
              </a:rPr>
              <a:t>論文</a:t>
            </a:r>
            <a:r>
              <a:rPr lang="zh-TW" altLang="en-US" dirty="0" smtClean="0">
                <a:latin typeface="新細明體" pitchFamily="18" charset="-120"/>
                <a:ea typeface="新細明體" pitchFamily="18" charset="-120"/>
              </a:rPr>
              <a:t>各章節</a:t>
            </a:r>
          </a:p>
          <a:p>
            <a:pPr>
              <a:buNone/>
            </a:pPr>
            <a:r>
              <a:rPr lang="zh-TW" altLang="en-US" dirty="0" smtClean="0">
                <a:latin typeface="新細明體" charset="-120"/>
                <a:ea typeface="新細明體" charset="-120"/>
              </a:rPr>
              <a:t> </a:t>
            </a:r>
            <a:r>
              <a:rPr lang="en-US" altLang="zh-TW" dirty="0" smtClean="0">
                <a:latin typeface="新細明體" charset="-120"/>
                <a:ea typeface="新細明體" charset="-120"/>
              </a:rPr>
              <a:t>3.</a:t>
            </a:r>
            <a:r>
              <a:rPr lang="zh-TW" altLang="en-US" dirty="0" smtClean="0">
                <a:latin typeface="新細明體" charset="-120"/>
                <a:ea typeface="新細明體" charset="-120"/>
              </a:rPr>
              <a:t> 結論</a:t>
            </a: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None/>
            </a:pPr>
            <a:r>
              <a:rPr lang="zh-TW" altLang="en-US" dirty="0" smtClean="0">
                <a:latin typeface="新細明體" charset="-120"/>
                <a:ea typeface="新細明體" charset="-120"/>
              </a:rPr>
              <a:t> </a:t>
            </a:r>
            <a:r>
              <a:rPr lang="en-US" altLang="zh-TW" dirty="0" smtClean="0">
                <a:latin typeface="新細明體" charset="-120"/>
                <a:ea typeface="新細明體" charset="-120"/>
              </a:rPr>
              <a:t>4.</a:t>
            </a:r>
            <a:r>
              <a:rPr lang="zh-TW" altLang="en-US" dirty="0" smtClean="0">
                <a:latin typeface="新細明體" charset="-120"/>
                <a:ea typeface="新細明體" charset="-120"/>
              </a:rPr>
              <a:t> </a:t>
            </a:r>
            <a:r>
              <a:rPr lang="zh-TW" altLang="en-US" dirty="0" smtClean="0">
                <a:latin typeface="新細明體" charset="-120"/>
                <a:ea typeface="新細明體" charset="-120"/>
              </a:rPr>
              <a:t>未來展望</a:t>
            </a: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4400" b="1" dirty="0" smtClean="0">
                <a:latin typeface="+mj-ea"/>
              </a:rPr>
              <a:t>圖的注意事項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j-ea"/>
            </a:endParaRPr>
          </a:p>
        </p:txBody>
      </p:sp>
      <p:sp>
        <p:nvSpPr>
          <p:cNvPr id="6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科學作圖需標上符號、單位、合適的數量級。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轉檔後，圖的解析度要清晰。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圖片說明</a:t>
            </a:r>
            <a:r>
              <a:rPr lang="en-US" altLang="zh-TW" sz="2400" dirty="0" smtClean="0">
                <a:latin typeface="新細明體" charset="-120"/>
                <a:ea typeface="新細明體" charset="-120"/>
              </a:rPr>
              <a:t>(caption)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要和圖配合，不需要用內文補充。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圖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編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號及圖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片標題與說明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置於圖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的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下方。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灰階列印時圖片的標示要可辨識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7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圖片的文字建議以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12pt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為主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善用示意圖說明內容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圖例</a:t>
            </a:r>
            <a:r>
              <a:rPr lang="en-US" altLang="zh-TW" sz="2400" dirty="0" smtClean="0">
                <a:latin typeface="新細明體" charset="-120"/>
                <a:ea typeface="新細明體" charset="-120"/>
              </a:rPr>
              <a:t>(legend)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標記如下頁。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en-US" sz="4000" b="1" dirty="0" smtClean="0">
                <a:latin typeface="+mj-ea"/>
              </a:rPr>
              <a:t>圖的注意事項</a:t>
            </a:r>
            <a:r>
              <a:rPr lang="en-US" altLang="zh-TW" sz="4000" b="1" dirty="0" smtClean="0">
                <a:latin typeface="+mj-ea"/>
              </a:rPr>
              <a:t>(</a:t>
            </a:r>
            <a:r>
              <a:rPr lang="zh-TW" altLang="en-US" sz="4000" b="1" dirty="0" smtClean="0">
                <a:latin typeface="+mj-ea"/>
              </a:rPr>
              <a:t>範例</a:t>
            </a:r>
            <a:r>
              <a:rPr lang="en-US" altLang="zh-TW" sz="4000" b="1" dirty="0" smtClean="0">
                <a:latin typeface="+mj-ea"/>
              </a:rPr>
              <a:t>)</a:t>
            </a:r>
            <a:endParaRPr lang="zh-TW" altLang="en-US" dirty="0"/>
          </a:p>
        </p:txBody>
      </p:sp>
      <p:pic>
        <p:nvPicPr>
          <p:cNvPr id="13315" name="Picture 2" descr="C:\Documents and Settings\ef458\桌面\000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613" y="2205038"/>
            <a:ext cx="517207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3563938" y="2617788"/>
            <a:ext cx="1501775" cy="86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 rot="5400000" flipH="1" flipV="1">
            <a:off x="4932362" y="2420938"/>
            <a:ext cx="792163" cy="5032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5580063" y="1628775"/>
            <a:ext cx="2808287" cy="64611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dirty="0">
                <a:latin typeface="新細明體" pitchFamily="18" charset="-120"/>
                <a:ea typeface="新細明體" pitchFamily="18" charset="-120"/>
              </a:rPr>
              <a:t> 圖例建議用符號來表示。</a:t>
            </a:r>
            <a:endParaRPr lang="en-US" altLang="zh-TW" dirty="0">
              <a:latin typeface="新細明體" pitchFamily="18" charset="-120"/>
              <a:ea typeface="新細明體" pitchFamily="18" charset="-120"/>
            </a:endParaRPr>
          </a:p>
          <a:p>
            <a:pPr>
              <a:defRPr/>
            </a:pPr>
            <a:r>
              <a:rPr lang="en-US" altLang="zh-TW" dirty="0">
                <a:latin typeface="新細明體" pitchFamily="18" charset="-120"/>
                <a:ea typeface="新細明體" pitchFamily="18" charset="-120"/>
              </a:rPr>
              <a:t>2.</a:t>
            </a:r>
            <a:r>
              <a:rPr lang="zh-TW" altLang="en-US" dirty="0">
                <a:latin typeface="新細明體" pitchFamily="18" charset="-120"/>
                <a:ea typeface="新細明體" pitchFamily="18" charset="-120"/>
              </a:rPr>
              <a:t> 清楚可辨識</a:t>
            </a:r>
          </a:p>
        </p:txBody>
      </p:sp>
      <p:cxnSp>
        <p:nvCxnSpPr>
          <p:cNvPr id="10" name="直線單箭頭接點 9"/>
          <p:cNvCxnSpPr>
            <a:stCxn id="17" idx="0"/>
          </p:cNvCxnSpPr>
          <p:nvPr/>
        </p:nvCxnSpPr>
        <p:spPr>
          <a:xfrm rot="16200000" flipV="1">
            <a:off x="3100388" y="2452688"/>
            <a:ext cx="196850" cy="1333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258888" y="1196975"/>
            <a:ext cx="2736850" cy="12001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182563" indent="-182563">
              <a:defRPr/>
            </a:pPr>
            <a:r>
              <a:rPr lang="en-US" altLang="zh-TW" dirty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dirty="0">
                <a:latin typeface="新細明體" pitchFamily="18" charset="-120"/>
                <a:ea typeface="新細明體" pitchFamily="18" charset="-120"/>
              </a:rPr>
              <a:t> 圖例不要太過複雜，建議以三 種顏色、三種符號、三種線條為主。</a:t>
            </a:r>
            <a:endParaRPr lang="en-US" altLang="zh-TW" dirty="0">
              <a:latin typeface="新細明體" pitchFamily="18" charset="-120"/>
              <a:ea typeface="新細明體" pitchFamily="18" charset="-120"/>
            </a:endParaRPr>
          </a:p>
          <a:p>
            <a:pPr>
              <a:defRPr/>
            </a:pPr>
            <a:r>
              <a:rPr lang="en-US" altLang="zh-TW" dirty="0">
                <a:latin typeface="新細明體" pitchFamily="18" charset="-120"/>
                <a:ea typeface="新細明體" pitchFamily="18" charset="-120"/>
              </a:rPr>
              <a:t>2.</a:t>
            </a:r>
            <a:r>
              <a:rPr lang="zh-TW" altLang="en-US" dirty="0">
                <a:latin typeface="新細明體" pitchFamily="18" charset="-120"/>
                <a:ea typeface="新細明體" pitchFamily="18" charset="-120"/>
              </a:rPr>
              <a:t> 清楚可辨識</a:t>
            </a:r>
          </a:p>
        </p:txBody>
      </p:sp>
      <p:sp>
        <p:nvSpPr>
          <p:cNvPr id="17" name="矩形 16"/>
          <p:cNvSpPr/>
          <p:nvPr/>
        </p:nvSpPr>
        <p:spPr>
          <a:xfrm>
            <a:off x="2978150" y="2617788"/>
            <a:ext cx="576263" cy="86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3419475" y="6165850"/>
            <a:ext cx="2736850" cy="3683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TW" altLang="en-US" dirty="0">
                <a:latin typeface="新細明體" pitchFamily="18" charset="-120"/>
                <a:ea typeface="新細明體" pitchFamily="18" charset="-120"/>
              </a:rPr>
              <a:t>單位要有，數量級要合適</a:t>
            </a:r>
          </a:p>
        </p:txBody>
      </p:sp>
      <p:cxnSp>
        <p:nvCxnSpPr>
          <p:cNvPr id="23" name="直線接點 22"/>
          <p:cNvCxnSpPr/>
          <p:nvPr/>
        </p:nvCxnSpPr>
        <p:spPr>
          <a:xfrm>
            <a:off x="3708400" y="5857875"/>
            <a:ext cx="18716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endCxn id="21" idx="0"/>
          </p:cNvCxnSpPr>
          <p:nvPr/>
        </p:nvCxnSpPr>
        <p:spPr>
          <a:xfrm rot="16200000" flipH="1">
            <a:off x="4535487" y="5913438"/>
            <a:ext cx="288925" cy="215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rot="5400000">
            <a:off x="2159793" y="4050507"/>
            <a:ext cx="7921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2843213" y="3500438"/>
            <a:ext cx="3673475" cy="180022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1" name="直線單箭頭接點 30"/>
          <p:cNvCxnSpPr>
            <a:stCxn id="30" idx="6"/>
            <a:endCxn id="34" idx="2"/>
          </p:cNvCxnSpPr>
          <p:nvPr/>
        </p:nvCxnSpPr>
        <p:spPr>
          <a:xfrm flipV="1">
            <a:off x="6516688" y="3870325"/>
            <a:ext cx="1331912" cy="5302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6659563" y="3500438"/>
            <a:ext cx="2376487" cy="36988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dirty="0">
                <a:latin typeface="新細明體" pitchFamily="18" charset="-120"/>
                <a:ea typeface="新細明體" pitchFamily="18" charset="-120"/>
              </a:rPr>
              <a:t> 灰階列印要可辨識。</a:t>
            </a:r>
          </a:p>
        </p:txBody>
      </p:sp>
      <p:cxnSp>
        <p:nvCxnSpPr>
          <p:cNvPr id="19" name="直線單箭頭接點 18"/>
          <p:cNvCxnSpPr/>
          <p:nvPr/>
        </p:nvCxnSpPr>
        <p:spPr>
          <a:xfrm>
            <a:off x="2411760" y="4437112"/>
            <a:ext cx="936104" cy="165618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en-US" b="1" dirty="0" smtClean="0"/>
              <a:t>符號和方程式的注意事項</a:t>
            </a:r>
            <a:endParaRPr lang="zh-TW" altLang="en-US" b="1" dirty="0"/>
          </a:p>
        </p:txBody>
      </p:sp>
      <p:sp>
        <p:nvSpPr>
          <p:cNvPr id="6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 2" pitchFamily="18" charset="2"/>
              <a:buNone/>
              <a:defRPr/>
            </a:pPr>
            <a:r>
              <a:rPr lang="zh-TW" altLang="en-US" sz="20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000" b="1" dirty="0" smtClean="0">
                <a:latin typeface="新細明體" charset="-120"/>
                <a:ea typeface="新細明體" charset="-120"/>
              </a:rPr>
              <a:t>使用的符號需說明。</a:t>
            </a:r>
            <a:endParaRPr lang="en-US" altLang="zh-TW" sz="2000" b="1" dirty="0" smtClean="0">
              <a:latin typeface="新細明體" charset="-120"/>
              <a:ea typeface="新細明體" charset="-120"/>
            </a:endParaRPr>
          </a:p>
          <a:p>
            <a:pPr>
              <a:buNone/>
              <a:defRPr/>
            </a:pPr>
            <a:r>
              <a:rPr lang="zh-TW" altLang="en-US" sz="20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000" b="1" dirty="0" smtClean="0">
                <a:latin typeface="新細明體" charset="-120"/>
                <a:ea typeface="新細明體" charset="-120"/>
              </a:rPr>
              <a:t>符號要沿用，請參考「前人論文」以及「實驗室發表的</a:t>
            </a:r>
            <a:r>
              <a:rPr lang="en-US" altLang="zh-TW" sz="2000" b="1" dirty="0" smtClean="0">
                <a:latin typeface="新細明體" charset="-120"/>
                <a:ea typeface="新細明體" charset="-120"/>
              </a:rPr>
              <a:t>paper</a:t>
            </a:r>
            <a:r>
              <a:rPr lang="zh-TW" altLang="en-US" sz="2000" b="1" dirty="0" smtClean="0">
                <a:latin typeface="新細明體" charset="-120"/>
                <a:ea typeface="新細明體" charset="-120"/>
              </a:rPr>
              <a:t>」。</a:t>
            </a:r>
            <a:endParaRPr lang="en-US" altLang="zh-TW" sz="2000" b="1" dirty="0" smtClean="0">
              <a:latin typeface="新細明體" charset="-120"/>
              <a:ea typeface="新細明體" charset="-120"/>
            </a:endParaRPr>
          </a:p>
          <a:p>
            <a:pPr>
              <a:buNone/>
              <a:defRPr/>
            </a:pPr>
            <a:r>
              <a:rPr lang="zh-TW" altLang="en-US" sz="20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000" b="1" dirty="0" smtClean="0">
                <a:latin typeface="新細明體" charset="-120"/>
                <a:ea typeface="新細明體" charset="-120"/>
              </a:rPr>
              <a:t>符號如果需要更動，務必在「</a:t>
            </a:r>
            <a:r>
              <a:rPr lang="en-US" altLang="zh-TW" sz="2000" b="1" dirty="0" smtClean="0">
                <a:latin typeface="新細明體" charset="-120"/>
                <a:ea typeface="新細明體" charset="-120"/>
              </a:rPr>
              <a:t>meeting</a:t>
            </a:r>
            <a:r>
              <a:rPr lang="zh-TW" altLang="en-US" sz="2000" b="1" dirty="0" smtClean="0">
                <a:latin typeface="新細明體" charset="-120"/>
                <a:ea typeface="新細明體" charset="-120"/>
              </a:rPr>
              <a:t>」時，提出來討論。</a:t>
            </a:r>
            <a:endParaRPr lang="en-US" altLang="zh-TW" sz="2000" b="1" dirty="0" smtClean="0">
              <a:latin typeface="新細明體" charset="-120"/>
              <a:ea typeface="新細明體" charset="-120"/>
            </a:endParaRPr>
          </a:p>
          <a:p>
            <a:pPr marL="539750" indent="-457200" eaLnBrk="1" hangingPunct="1">
              <a:buNone/>
              <a:defRPr/>
            </a:pPr>
            <a:r>
              <a:rPr lang="zh-TW" altLang="en-US" sz="20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000" b="1" dirty="0" smtClean="0">
                <a:latin typeface="新細明體" charset="-120"/>
                <a:ea typeface="新細明體" charset="-120"/>
              </a:rPr>
              <a:t>物理符號幾乎使用斜體，如不使用斜體請提出來討論。</a:t>
            </a:r>
            <a:endParaRPr lang="en-US" altLang="zh-TW" sz="2000" b="1" dirty="0" smtClean="0">
              <a:latin typeface="新細明體" charset="-120"/>
              <a:ea typeface="新細明體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□ </a:t>
            </a:r>
            <a:r>
              <a:rPr lang="zh-TW" altLang="en-US" sz="2000" b="1" dirty="0" smtClean="0">
                <a:latin typeface="新細明體" pitchFamily="18" charset="-120"/>
                <a:ea typeface="新細明體" pitchFamily="18" charset="-120"/>
              </a:rPr>
              <a:t>方程式編號</a:t>
            </a:r>
            <a:endParaRPr lang="en-US" altLang="zh-TW" sz="2000" b="1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None/>
              <a:defRPr/>
            </a:pPr>
            <a:r>
              <a:rPr lang="zh-TW" altLang="en-US" sz="2000" dirty="0" smtClean="0">
                <a:latin typeface="新細明體" pitchFamily="18" charset="-120"/>
                <a:ea typeface="新細明體" pitchFamily="18" charset="-120"/>
              </a:rPr>
              <a:t>      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○有使用到的才編號。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 marL="365760" indent="-283464" eaLnBrk="1" fontAlgn="auto" hangingPunct="1">
              <a:spcAft>
                <a:spcPts val="0"/>
              </a:spcAft>
              <a:buNone/>
              <a:defRPr/>
            </a:pP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        ○編號要注意順序。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539750" indent="-457200" eaLnBrk="1" hangingPunct="1">
              <a:buFont typeface="Wingdings 2" pitchFamily="18" charset="2"/>
              <a:buNone/>
              <a:defRPr/>
            </a:pPr>
            <a:endParaRPr lang="en-US" altLang="zh-TW" sz="2400" dirty="0" smtClean="0"/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15364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r>
              <a:rPr lang="zh-TW" altLang="en-US" sz="20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前人的論文均在實驗室的</a:t>
            </a:r>
            <a:r>
              <a:rPr lang="en-US" altLang="zh-TW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FTP</a:t>
            </a: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內可找到。</a:t>
            </a:r>
            <a:endParaRPr lang="en-US" altLang="zh-TW" sz="2000" b="1" dirty="0" smtClean="0">
              <a:solidFill>
                <a:srgbClr val="FF0000"/>
              </a:solidFill>
              <a:latin typeface="新細明體" charset="-120"/>
              <a:ea typeface="新細明體" charset="-120"/>
            </a:endParaRPr>
          </a:p>
          <a:p>
            <a:pPr>
              <a:buNone/>
            </a:pP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     </a:t>
            </a:r>
            <a:r>
              <a:rPr lang="en-US" altLang="zh-TW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FTP</a:t>
            </a: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的</a:t>
            </a:r>
            <a:r>
              <a:rPr lang="en-US" altLang="zh-TW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IP</a:t>
            </a: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：</a:t>
            </a:r>
            <a:r>
              <a:rPr lang="en-US" altLang="zh-TW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140.113.28.111</a:t>
            </a:r>
          </a:p>
          <a:p>
            <a:pPr>
              <a:buNone/>
            </a:pP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     帳號：</a:t>
            </a:r>
            <a:r>
              <a:rPr lang="en-US" altLang="zh-TW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visitor</a:t>
            </a:r>
          </a:p>
          <a:p>
            <a:pPr>
              <a:buNone/>
            </a:pPr>
            <a:r>
              <a:rPr lang="zh-TW" altLang="en-US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     密碼：</a:t>
            </a:r>
            <a:r>
              <a:rPr lang="en-US" altLang="zh-TW" sz="2000" b="1" dirty="0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visitor</a:t>
            </a:r>
          </a:p>
          <a:p>
            <a:pPr>
              <a:buFont typeface="Wingdings 2" pitchFamily="18" charset="2"/>
              <a:buNone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en-US" b="1" dirty="0" smtClean="0"/>
              <a:t>結論的注意事項</a:t>
            </a:r>
            <a:endParaRPr lang="zh-TW" altLang="en-US" b="1" dirty="0"/>
          </a:p>
        </p:txBody>
      </p:sp>
      <p:sp>
        <p:nvSpPr>
          <p:cNvPr id="6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539750" indent="-457200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對現有的碩士工作做一個總結。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539750" indent="-457200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對未來工作的展望，或是改進空間。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539750" indent="-457200" eaLnBrk="1" hangingPunct="1"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en-US" altLang="zh-TW" sz="2400" dirty="0" smtClean="0">
                <a:latin typeface="新細明體" charset="-120"/>
                <a:ea typeface="新細明體" charset="-120"/>
              </a:rPr>
              <a:t>…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539750" indent="-457200" eaLnBrk="1" hangingPunct="1">
              <a:buFont typeface="Wingdings 2" pitchFamily="18" charset="2"/>
              <a:buNone/>
              <a:defRPr/>
            </a:pPr>
            <a:endParaRPr lang="en-US" altLang="zh-TW" sz="2400" dirty="0" smtClean="0"/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dirty="0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zh-TW" altLang="en-US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17412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 2" pitchFamily="18" charset="2"/>
              <a:buNone/>
            </a:pPr>
            <a:endParaRPr lang="en-US" altLang="zh-TW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</a:pPr>
            <a:endParaRPr lang="en-US" altLang="zh-TW" smtClean="0">
              <a:latin typeface="新細明體" charset="-120"/>
              <a:ea typeface="新細明體" charset="-120"/>
            </a:endParaRPr>
          </a:p>
          <a:p>
            <a:pPr>
              <a:buFont typeface="Wingdings 2" pitchFamily="18" charset="2"/>
              <a:buNone/>
            </a:pPr>
            <a:endParaRPr lang="zh-TW" altLang="en-US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z="240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endParaRPr lang="zh-TW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4400" b="1" dirty="0" smtClean="0">
                <a:latin typeface="+mj-ea"/>
              </a:rPr>
              <a:t>參考文獻格式的注意事項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j-ea"/>
            </a:endParaRPr>
          </a:p>
        </p:txBody>
      </p:sp>
      <p:sp>
        <p:nvSpPr>
          <p:cNvPr id="11267" name="內容版面配置區 4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504825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452438" indent="-369888"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  <p:sp>
        <p:nvSpPr>
          <p:cNvPr id="11268" name="內容版面配置區 4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3657600" cy="504825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注意編號的順序。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有用到的文獻再編號。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marL="452438" indent="-369888" eaLnBrk="1" hangingPunct="1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文獻一定先看過，不要隨便引用文獻，選具有代表性的文章。</a:t>
            </a: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None/>
              <a:defRPr/>
            </a:pPr>
            <a:r>
              <a:rPr lang="zh-TW" altLang="en-US" sz="2400" dirty="0" smtClean="0">
                <a:latin typeface="新細明體" charset="-120"/>
                <a:ea typeface="新細明體" charset="-120"/>
              </a:rPr>
              <a:t>□ </a:t>
            </a: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不同參考文獻（書籍、期刊論文、會議論文集和學位論文）的格式</a:t>
            </a:r>
            <a:endParaRPr lang="en-US" altLang="zh-TW" sz="2400" b="1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zh-TW" altLang="en-US" sz="2400" b="1" dirty="0" smtClean="0">
                <a:latin typeface="新細明體" charset="-120"/>
                <a:ea typeface="新細明體" charset="-120"/>
              </a:rPr>
              <a:t>     分別如下四頁。</a:t>
            </a:r>
            <a:endParaRPr lang="en-US" altLang="zh-TW" sz="2400" b="1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altLang="zh-TW" sz="20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b="1" dirty="0" smtClean="0">
                <a:solidFill>
                  <a:schemeClr val="tx2">
                    <a:satMod val="130000"/>
                  </a:schemeClr>
                </a:solidFill>
              </a:rPr>
              <a:t>參考文獻格式</a:t>
            </a:r>
            <a:r>
              <a:rPr lang="en-US" altLang="zh-TW" b="1" dirty="0" smtClean="0">
                <a:solidFill>
                  <a:schemeClr val="tx2">
                    <a:satMod val="130000"/>
                  </a:schemeClr>
                </a:solidFill>
                <a:latin typeface="+mn-ea"/>
                <a:ea typeface="+mn-ea"/>
              </a:rPr>
              <a:t>(1)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b="1" dirty="0" smtClean="0">
                <a:solidFill>
                  <a:srgbClr val="0070C0"/>
                </a:solidFill>
                <a:latin typeface="+mn-ea"/>
              </a:rPr>
              <a:t>引用書籍</a:t>
            </a:r>
            <a:endParaRPr lang="en-US" altLang="zh-TW" b="1" dirty="0" smtClean="0">
              <a:solidFill>
                <a:srgbClr val="0070C0"/>
              </a:solidFill>
              <a:latin typeface="+mn-ea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16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著者姓名，合著者，合著者，</a:t>
            </a:r>
            <a:r>
              <a:rPr lang="zh-TW" altLang="en-US" sz="2000" u="sng" dirty="0" smtClean="0"/>
              <a:t>書名</a:t>
            </a:r>
            <a:r>
              <a:rPr lang="zh-TW" altLang="en-US" sz="2000" dirty="0" smtClean="0"/>
              <a:t>，卷數，譯者，再版版本，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      </a:t>
            </a:r>
            <a:r>
              <a:rPr lang="en-US" altLang="zh-TW" sz="2000" dirty="0" smtClean="0"/>
              <a:t>1</a:t>
            </a:r>
            <a:r>
              <a:rPr lang="zh-TW" altLang="en-US" sz="2000" dirty="0" smtClean="0"/>
              <a:t>              </a:t>
            </a:r>
            <a:r>
              <a:rPr lang="en-US" altLang="zh-TW" sz="2000" dirty="0" smtClean="0"/>
              <a:t> 2</a:t>
            </a:r>
            <a:r>
              <a:rPr lang="zh-TW" altLang="en-US" sz="2000" dirty="0" smtClean="0"/>
              <a:t>            </a:t>
            </a:r>
            <a:r>
              <a:rPr lang="en-US" altLang="zh-TW" sz="2000" dirty="0" smtClean="0"/>
              <a:t> 3</a:t>
            </a:r>
            <a:r>
              <a:rPr lang="zh-TW" altLang="en-US" sz="2000" dirty="0" smtClean="0"/>
              <a:t>         </a:t>
            </a:r>
            <a:r>
              <a:rPr lang="en-US" altLang="zh-TW" sz="2000" dirty="0" smtClean="0"/>
              <a:t> 4 </a:t>
            </a:r>
            <a:r>
              <a:rPr lang="zh-TW" altLang="en-US" sz="2000" dirty="0" smtClean="0"/>
              <a:t>         </a:t>
            </a:r>
            <a:r>
              <a:rPr lang="en-US" altLang="zh-TW" sz="2000" dirty="0" smtClean="0"/>
              <a:t>5</a:t>
            </a:r>
            <a:r>
              <a:rPr lang="zh-TW" altLang="en-US" sz="2000" dirty="0" smtClean="0"/>
              <a:t>        </a:t>
            </a:r>
            <a:r>
              <a:rPr lang="en-US" altLang="zh-TW" sz="2000" dirty="0" smtClean="0"/>
              <a:t> 6 </a:t>
            </a:r>
            <a:r>
              <a:rPr lang="zh-TW" altLang="en-US" sz="2000" dirty="0" smtClean="0"/>
              <a:t>           </a:t>
            </a:r>
            <a:r>
              <a:rPr lang="en-US" altLang="zh-TW" sz="2000" dirty="0" smtClean="0"/>
              <a:t>7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書 名，</a:t>
            </a:r>
            <a:r>
              <a:rPr lang="en-US" altLang="zh-TW" sz="2000" dirty="0" smtClean="0"/>
              <a:t>﹙</a:t>
            </a:r>
            <a:r>
              <a:rPr lang="zh-TW" altLang="en-US" sz="2000" dirty="0" smtClean="0"/>
              <a:t>編者</a:t>
            </a:r>
            <a:r>
              <a:rPr lang="en-US" altLang="zh-TW" sz="2000" dirty="0" smtClean="0"/>
              <a:t>﹚</a:t>
            </a:r>
            <a:r>
              <a:rPr lang="zh-TW" altLang="en-US" sz="2000" dirty="0" smtClean="0"/>
              <a:t>，出 版 者，出版地，出版年月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   </a:t>
            </a:r>
            <a:r>
              <a:rPr lang="en-US" altLang="zh-TW" sz="2000" dirty="0" smtClean="0"/>
              <a:t>8 </a:t>
            </a:r>
            <a:r>
              <a:rPr lang="zh-TW" altLang="en-US" sz="2000" dirty="0" smtClean="0"/>
              <a:t>            </a:t>
            </a:r>
            <a:r>
              <a:rPr lang="en-US" altLang="zh-TW" sz="2000" dirty="0" smtClean="0"/>
              <a:t>9</a:t>
            </a:r>
            <a:r>
              <a:rPr lang="zh-TW" altLang="en-US" sz="2000" dirty="0" smtClean="0"/>
              <a:t>  </a:t>
            </a:r>
            <a:r>
              <a:rPr lang="en-US" altLang="zh-TW" sz="2000" dirty="0" smtClean="0"/>
              <a:t> </a:t>
            </a:r>
            <a:r>
              <a:rPr lang="zh-TW" altLang="en-US" sz="2000" dirty="0" smtClean="0"/>
              <a:t>            </a:t>
            </a:r>
            <a:r>
              <a:rPr lang="en-US" altLang="zh-TW" sz="2000" dirty="0" smtClean="0"/>
              <a:t>10            11             12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16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［</a:t>
            </a:r>
            <a:r>
              <a:rPr lang="en-US" altLang="zh-TW" sz="1600" dirty="0" smtClean="0"/>
              <a:t>1</a:t>
            </a:r>
            <a:r>
              <a:rPr lang="zh-TW" altLang="en-US" sz="1600" dirty="0" smtClean="0"/>
              <a:t>］張起鈞，吳怡，</a:t>
            </a:r>
            <a:r>
              <a:rPr lang="zh-TW" altLang="en-US" sz="1600" u="sng" dirty="0" smtClean="0"/>
              <a:t>中國哲學史話</a:t>
            </a:r>
            <a:r>
              <a:rPr lang="zh-TW" altLang="en-US" sz="1600" dirty="0" smtClean="0"/>
              <a:t>，四版，台北，著者發行，民國五十九年。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［</a:t>
            </a:r>
            <a:r>
              <a:rPr lang="en-US" altLang="zh-TW" sz="1600" dirty="0" smtClean="0"/>
              <a:t>2</a:t>
            </a:r>
            <a:r>
              <a:rPr lang="zh-TW" altLang="en-US" sz="1600" dirty="0" smtClean="0"/>
              <a:t>］</a:t>
            </a:r>
            <a:r>
              <a:rPr lang="en-US" altLang="zh-TW" sz="1600" dirty="0" err="1" smtClean="0"/>
              <a:t>Jelinek</a:t>
            </a:r>
            <a:r>
              <a:rPr lang="en-US" altLang="zh-TW" sz="1600" dirty="0" smtClean="0"/>
              <a:t>, F., </a:t>
            </a:r>
            <a:r>
              <a:rPr lang="en-US" altLang="zh-TW" sz="1600" u="sng" dirty="0" smtClean="0"/>
              <a:t>Probabilistic Information Theory</a:t>
            </a:r>
            <a:r>
              <a:rPr lang="en-US" altLang="zh-TW" sz="1600" dirty="0" smtClean="0"/>
              <a:t>, McGraw-Hill, New York,1968.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［</a:t>
            </a:r>
            <a:r>
              <a:rPr lang="en-US" altLang="zh-TW" sz="1600" dirty="0" smtClean="0"/>
              <a:t>3</a:t>
            </a:r>
            <a:r>
              <a:rPr lang="zh-TW" altLang="en-US" sz="1600" dirty="0" smtClean="0"/>
              <a:t>］胡立人、張源渭、黃克東，</a:t>
            </a:r>
            <a:r>
              <a:rPr lang="zh-TW" altLang="en-US" sz="1600" u="sng" dirty="0" smtClean="0"/>
              <a:t>數字化中文字彙</a:t>
            </a:r>
            <a:r>
              <a:rPr lang="zh-TW" altLang="en-US" sz="1600" dirty="0" smtClean="0"/>
              <a:t>，系統出版社，台北，民國六十 </a:t>
            </a:r>
            <a:endParaRPr lang="en-US" altLang="zh-TW" sz="16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         六年</a:t>
            </a:r>
            <a:endParaRPr lang="en-US" altLang="zh-TW" sz="16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b="1" dirty="0" smtClean="0">
                <a:solidFill>
                  <a:schemeClr val="tx2">
                    <a:satMod val="130000"/>
                  </a:schemeClr>
                </a:solidFill>
              </a:rPr>
              <a:t>參考文獻格式</a:t>
            </a:r>
            <a:r>
              <a:rPr lang="en-US" altLang="zh-TW" b="1" dirty="0" smtClean="0">
                <a:solidFill>
                  <a:schemeClr val="tx2">
                    <a:satMod val="130000"/>
                  </a:schemeClr>
                </a:solidFill>
                <a:latin typeface="+mn-ea"/>
                <a:ea typeface="+mn-ea"/>
              </a:rPr>
              <a:t>(2)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b="1" dirty="0" smtClean="0">
                <a:solidFill>
                  <a:srgbClr val="0070C0"/>
                </a:solidFill>
              </a:rPr>
              <a:t>期刊報章論文</a:t>
            </a:r>
            <a:endParaRPr lang="en-US" altLang="zh-TW" b="1" dirty="0" smtClean="0">
              <a:solidFill>
                <a:srgbClr val="0070C0"/>
              </a:solidFill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20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著者姓名，合著者，“篇名＂，</a:t>
            </a:r>
            <a:r>
              <a:rPr lang="en-US" altLang="zh-TW" sz="2000" dirty="0" smtClean="0"/>
              <a:t>﹙</a:t>
            </a:r>
            <a:r>
              <a:rPr lang="zh-TW" altLang="en-US" sz="2000" dirty="0" smtClean="0"/>
              <a:t>報</a:t>
            </a:r>
            <a:r>
              <a:rPr lang="en-US" altLang="zh-TW" sz="2000" dirty="0" smtClean="0"/>
              <a:t>﹚</a:t>
            </a:r>
            <a:r>
              <a:rPr lang="zh-TW" altLang="en-US" sz="2000" dirty="0" smtClean="0"/>
              <a:t>刊 名， 卷，期，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2000" dirty="0" smtClean="0"/>
              <a:t>      1               2               3        (</a:t>
            </a:r>
            <a:r>
              <a:rPr lang="zh-TW" altLang="en-US" sz="2000" dirty="0" smtClean="0"/>
              <a:t>期刊名及刊期</a:t>
            </a:r>
            <a:r>
              <a:rPr lang="en-US" altLang="zh-TW" sz="2000" dirty="0" smtClean="0"/>
              <a:t>) </a:t>
            </a:r>
            <a:r>
              <a:rPr lang="zh-TW" altLang="en-US" sz="2000" dirty="0" smtClean="0"/>
              <a:t>     </a:t>
            </a:r>
            <a:r>
              <a:rPr lang="en-US" altLang="zh-TW" sz="2000" dirty="0" smtClean="0"/>
              <a:t>5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                                                            </a:t>
            </a:r>
            <a:r>
              <a:rPr lang="en-US" altLang="zh-TW" sz="2000" dirty="0" smtClean="0"/>
              <a:t>4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頁次，期刊發行者，發行年月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2000" dirty="0" smtClean="0"/>
              <a:t>   </a:t>
            </a:r>
            <a:r>
              <a:rPr lang="en-US" altLang="zh-TW" sz="2000" dirty="0" smtClean="0"/>
              <a:t>6 </a:t>
            </a:r>
            <a:r>
              <a:rPr lang="zh-TW" altLang="en-US" sz="2000" dirty="0" smtClean="0"/>
              <a:t>             </a:t>
            </a:r>
            <a:r>
              <a:rPr lang="en-US" altLang="zh-TW" sz="2000" dirty="0" smtClean="0"/>
              <a:t>7 </a:t>
            </a:r>
            <a:r>
              <a:rPr lang="zh-TW" altLang="en-US" sz="2000" dirty="0" smtClean="0"/>
              <a:t>                  </a:t>
            </a:r>
            <a:r>
              <a:rPr lang="en-US" altLang="zh-TW" sz="2000" dirty="0" smtClean="0"/>
              <a:t>8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TW" sz="17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>
                <a:latin typeface="+mj-lt"/>
              </a:rPr>
              <a:t>［</a:t>
            </a:r>
            <a:r>
              <a:rPr lang="en-US" altLang="zh-TW" sz="1600" dirty="0" smtClean="0">
                <a:latin typeface="+mj-lt"/>
              </a:rPr>
              <a:t>1</a:t>
            </a:r>
            <a:r>
              <a:rPr lang="zh-TW" altLang="en-US" sz="1600" dirty="0" smtClean="0">
                <a:latin typeface="+mj-lt"/>
              </a:rPr>
              <a:t>］</a:t>
            </a:r>
            <a:r>
              <a:rPr lang="en-US" altLang="zh-TW" sz="1600" dirty="0" smtClean="0"/>
              <a:t>Swanson Don. "Dialogue with a Catalogue", </a:t>
            </a:r>
            <a:r>
              <a:rPr lang="en-US" altLang="zh-TW" sz="1600" u="sng" dirty="0" smtClean="0"/>
              <a:t>Library Quarterly</a:t>
            </a:r>
            <a:r>
              <a:rPr lang="en-US" altLang="zh-TW" sz="1600" dirty="0" smtClean="0"/>
              <a:t>, 34, pp. 13-25,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         </a:t>
            </a:r>
            <a:r>
              <a:rPr lang="en-US" altLang="zh-TW" sz="1600" dirty="0" smtClean="0"/>
              <a:t>December 1963.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［</a:t>
            </a:r>
            <a:r>
              <a:rPr lang="en-US" altLang="zh-TW" sz="1600" dirty="0" smtClean="0"/>
              <a:t>2</a:t>
            </a:r>
            <a:r>
              <a:rPr lang="zh-TW" altLang="en-US" sz="1600" dirty="0" smtClean="0"/>
              <a:t>］陳永健，蔡中川，「計算機輔助之中文印刷系統」，</a:t>
            </a:r>
            <a:r>
              <a:rPr lang="zh-TW" altLang="en-US" sz="1600" u="sng" dirty="0" smtClean="0"/>
              <a:t>科學發展月刊</a:t>
            </a:r>
            <a:r>
              <a:rPr lang="zh-TW" altLang="en-US" sz="1600" dirty="0" smtClean="0"/>
              <a:t>，</a:t>
            </a:r>
            <a:endParaRPr lang="en-US" altLang="zh-TW" sz="16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TW" altLang="en-US" sz="1600" dirty="0" smtClean="0"/>
              <a:t>         第三卷第七期，</a:t>
            </a:r>
            <a:r>
              <a:rPr lang="en-US" altLang="zh-TW" sz="1600" dirty="0" smtClean="0"/>
              <a:t>558~569 </a:t>
            </a:r>
            <a:r>
              <a:rPr lang="zh-TW" altLang="en-US" sz="1600" dirty="0" smtClean="0"/>
              <a:t>頁，</a:t>
            </a:r>
            <a:r>
              <a:rPr lang="en-US" altLang="zh-TW" sz="1600" dirty="0" smtClean="0"/>
              <a:t>66 </a:t>
            </a:r>
            <a:r>
              <a:rPr lang="zh-TW" altLang="en-US" sz="1600" dirty="0" smtClean="0"/>
              <a:t>年</a:t>
            </a:r>
            <a:r>
              <a:rPr lang="en-US" altLang="zh-TW" sz="1600" dirty="0" smtClean="0"/>
              <a:t>7 </a:t>
            </a:r>
            <a:r>
              <a:rPr lang="zh-TW" altLang="en-US" sz="1600" dirty="0" smtClean="0"/>
              <a:t>月。</a:t>
            </a:r>
            <a:endParaRPr lang="zh-TW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b="1" dirty="0" smtClean="0">
                <a:solidFill>
                  <a:schemeClr val="tx2">
                    <a:satMod val="130000"/>
                  </a:schemeClr>
                </a:solidFill>
              </a:rPr>
              <a:t>參考文獻格式</a:t>
            </a:r>
            <a:r>
              <a:rPr lang="en-US" altLang="zh-TW" b="1" dirty="0" smtClean="0">
                <a:solidFill>
                  <a:schemeClr val="tx2">
                    <a:satMod val="130000"/>
                  </a:schemeClr>
                </a:solidFill>
                <a:latin typeface="+mj-ea"/>
              </a:rPr>
              <a:t>(3)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j-ea"/>
            </a:endParaRPr>
          </a:p>
        </p:txBody>
      </p:sp>
      <p:sp>
        <p:nvSpPr>
          <p:cNvPr id="21507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zh-TW" altLang="en-US" b="1" smtClean="0">
                <a:solidFill>
                  <a:srgbClr val="0070C0"/>
                </a:solidFill>
              </a:rPr>
              <a:t>會議論文集</a:t>
            </a:r>
            <a:endParaRPr lang="en-US" altLang="zh-TW" b="1" smtClean="0">
              <a:solidFill>
                <a:srgbClr val="0070C0"/>
              </a:solidFill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mtClean="0"/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000" smtClean="0"/>
              <a:t>著者姓名，“篇名＂，論文集名稱，頁次，會議地名、國名，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2000" smtClean="0"/>
              <a:t>       1                2           (</a:t>
            </a:r>
            <a:r>
              <a:rPr lang="zh-TW" altLang="en-US" sz="2000" smtClean="0"/>
              <a:t>會議名稱</a:t>
            </a:r>
            <a:r>
              <a:rPr lang="en-US" altLang="zh-TW" sz="2000" smtClean="0"/>
              <a:t>)      4             5             6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2000" smtClean="0"/>
              <a:t>                                             3</a:t>
            </a: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000" smtClean="0"/>
              <a:t>會議年月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2000" smtClean="0"/>
              <a:t>       7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zh-TW" sz="2000" smtClean="0"/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1600" smtClean="0"/>
              <a:t>[ 1 ] </a:t>
            </a:r>
            <a:r>
              <a:rPr lang="zh-TW" altLang="en-US" sz="1600" smtClean="0"/>
              <a:t>蔡中，「拓樸分析法之電性意義」，</a:t>
            </a:r>
            <a:r>
              <a:rPr lang="en-US" altLang="zh-TW" sz="1600" smtClean="0"/>
              <a:t>67 </a:t>
            </a:r>
            <a:r>
              <a:rPr lang="zh-TW" altLang="en-US" sz="1600" smtClean="0"/>
              <a:t>年度電子材料、元件及電子電路技術</a:t>
            </a:r>
            <a:endParaRPr lang="en-US" altLang="zh-TW" sz="1600" smtClean="0"/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1600" smtClean="0"/>
              <a:t>       </a:t>
            </a:r>
            <a:r>
              <a:rPr lang="zh-TW" altLang="en-US" sz="1600" smtClean="0"/>
              <a:t>研討會，</a:t>
            </a:r>
            <a:r>
              <a:rPr lang="en-US" altLang="zh-TW" sz="1600" smtClean="0"/>
              <a:t>A52~A57 </a:t>
            </a:r>
            <a:r>
              <a:rPr lang="zh-TW" altLang="en-US" sz="1600" smtClean="0"/>
              <a:t>頁，台北，民國</a:t>
            </a:r>
            <a:r>
              <a:rPr lang="en-US" altLang="zh-TW" sz="1600" smtClean="0"/>
              <a:t>67 </a:t>
            </a:r>
            <a:r>
              <a:rPr lang="zh-TW" altLang="en-US" sz="1600" smtClean="0"/>
              <a:t>年</a:t>
            </a:r>
            <a:r>
              <a:rPr lang="en-US" altLang="zh-TW" sz="1600" smtClean="0"/>
              <a:t>6 </a:t>
            </a:r>
            <a:r>
              <a:rPr lang="zh-TW" altLang="en-US" sz="1600" smtClean="0"/>
              <a:t>月</a:t>
            </a:r>
            <a:r>
              <a:rPr lang="en-US" altLang="zh-TW" sz="1600" smtClean="0"/>
              <a:t>23 </a:t>
            </a:r>
            <a:r>
              <a:rPr lang="zh-TW" altLang="en-US" sz="1600" smtClean="0"/>
              <a:t>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b="1" dirty="0" smtClean="0">
                <a:solidFill>
                  <a:schemeClr val="tx2">
                    <a:satMod val="130000"/>
                  </a:schemeClr>
                </a:solidFill>
              </a:rPr>
              <a:t>參考文獻格式</a:t>
            </a:r>
            <a:r>
              <a:rPr lang="en-US" altLang="zh-TW" b="1" dirty="0" smtClean="0">
                <a:solidFill>
                  <a:schemeClr val="tx2">
                    <a:satMod val="130000"/>
                  </a:schemeClr>
                </a:solidFill>
                <a:latin typeface="+mj-ea"/>
              </a:rPr>
              <a:t>(4)</a:t>
            </a:r>
            <a:endParaRPr lang="zh-TW" altLang="en-US" b="1" dirty="0">
              <a:solidFill>
                <a:schemeClr val="tx2">
                  <a:satMod val="130000"/>
                </a:schemeClr>
              </a:solidFill>
              <a:latin typeface="+mj-ea"/>
            </a:endParaRPr>
          </a:p>
        </p:txBody>
      </p:sp>
      <p:sp>
        <p:nvSpPr>
          <p:cNvPr id="22531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zh-TW" altLang="en-US" b="1" smtClean="0">
                <a:solidFill>
                  <a:srgbClr val="0070C0"/>
                </a:solidFill>
              </a:rPr>
              <a:t>學位論文</a:t>
            </a:r>
            <a:endParaRPr lang="en-US" altLang="zh-TW" b="1" smtClean="0">
              <a:solidFill>
                <a:srgbClr val="0070C0"/>
              </a:solidFill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mtClean="0"/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000" smtClean="0"/>
              <a:t>著者姓名，“篇名＂， 畢業學校 ， 論文學位 ， 畢業年月</a:t>
            </a: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2000" smtClean="0"/>
              <a:t>      </a:t>
            </a:r>
            <a:r>
              <a:rPr lang="en-US" altLang="zh-TW" sz="2000" smtClean="0"/>
              <a:t>1 </a:t>
            </a:r>
            <a:r>
              <a:rPr lang="zh-TW" altLang="en-US" sz="2000" smtClean="0"/>
              <a:t>                </a:t>
            </a:r>
            <a:r>
              <a:rPr lang="en-US" altLang="zh-TW" sz="2000" smtClean="0"/>
              <a:t>2 </a:t>
            </a:r>
            <a:r>
              <a:rPr lang="zh-TW" altLang="en-US" sz="2000" smtClean="0"/>
              <a:t>                </a:t>
            </a:r>
            <a:r>
              <a:rPr lang="en-US" altLang="zh-TW" sz="2000" smtClean="0"/>
              <a:t>3 </a:t>
            </a:r>
            <a:r>
              <a:rPr lang="zh-TW" altLang="en-US" sz="2000" smtClean="0"/>
              <a:t>                 </a:t>
            </a:r>
            <a:r>
              <a:rPr lang="en-US" altLang="zh-TW" sz="2000" smtClean="0"/>
              <a:t>4 </a:t>
            </a:r>
            <a:r>
              <a:rPr lang="zh-TW" altLang="en-US" sz="2000" smtClean="0"/>
              <a:t>                  </a:t>
            </a:r>
            <a:r>
              <a:rPr lang="en-US" altLang="zh-TW" sz="2000" smtClean="0"/>
              <a:t>5</a:t>
            </a:r>
          </a:p>
          <a:p>
            <a:pPr eaLnBrk="1" hangingPunct="1"/>
            <a:endParaRPr lang="en-US" altLang="zh-TW" sz="2000" smtClean="0"/>
          </a:p>
          <a:p>
            <a:pPr eaLnBrk="1" hangingPunct="1"/>
            <a:endParaRPr lang="en-US" altLang="zh-TW" sz="2000" smtClean="0"/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1600" smtClean="0"/>
              <a:t>[ 1 ]</a:t>
            </a:r>
            <a:r>
              <a:rPr lang="zh-TW" altLang="en-US" sz="1600" smtClean="0"/>
              <a:t> 薛榮桃，「異長中文資料儲存法之研究」，國立交通大學，碩士論文，民國</a:t>
            </a:r>
            <a:endParaRPr lang="en-US" altLang="zh-TW" sz="1600" smtClean="0"/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1600" smtClean="0"/>
              <a:t>       </a:t>
            </a:r>
            <a:r>
              <a:rPr lang="en-US" altLang="zh-TW" sz="1600" smtClean="0"/>
              <a:t>67 </a:t>
            </a:r>
            <a:r>
              <a:rPr lang="zh-TW" altLang="en-US" sz="1600" smtClean="0"/>
              <a:t>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100" y="44450"/>
            <a:ext cx="7499350" cy="1143000"/>
          </a:xfrm>
        </p:spPr>
        <p:txBody>
          <a:bodyPr/>
          <a:lstStyle/>
          <a:p>
            <a:pPr>
              <a:defRPr/>
            </a:pPr>
            <a:r>
              <a:rPr lang="zh-TW" altLang="en-US" b="1" dirty="0" smtClean="0"/>
              <a:t>口試前檢查清單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100" y="981075"/>
            <a:ext cx="7499350" cy="5761038"/>
          </a:xfrm>
        </p:spPr>
        <p:txBody>
          <a:bodyPr/>
          <a:lstStyle/>
          <a:p>
            <a:pPr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口試前兩週與指導老師及口試委員確認口試時間。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 </a:t>
            </a:r>
            <a:r>
              <a:rPr lang="en-US" altLang="zh-TW" sz="1800" dirty="0" smtClean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sz="1800" dirty="0" smtClean="0">
                <a:latin typeface="新細明體" pitchFamily="18" charset="-120"/>
                <a:ea typeface="新細明體" pitchFamily="18" charset="-120"/>
              </a:rPr>
              <a:t>口試委員邀請函</a:t>
            </a:r>
            <a:r>
              <a:rPr lang="en-US" altLang="zh-TW" sz="1800" dirty="0" smtClean="0">
                <a:latin typeface="新細明體" pitchFamily="18" charset="-120"/>
                <a:ea typeface="新細明體" pitchFamily="18" charset="-120"/>
              </a:rPr>
              <a:t>(</a:t>
            </a:r>
            <a:r>
              <a:rPr lang="zh-TW" altLang="en-US" sz="1800" dirty="0" smtClean="0">
                <a:latin typeface="新細明體" pitchFamily="18" charset="-120"/>
                <a:ea typeface="新細明體" pitchFamily="18" charset="-120"/>
              </a:rPr>
              <a:t>如下頁</a:t>
            </a:r>
            <a:r>
              <a:rPr lang="en-US" altLang="zh-TW" sz="1800" dirty="0" smtClean="0">
                <a:latin typeface="新細明體" pitchFamily="18" charset="-120"/>
                <a:ea typeface="新細明體" pitchFamily="18" charset="-120"/>
              </a:rPr>
              <a:t>)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確認時間後，必須要自行確定好口試的地點。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5125"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口試前兩週要填妥並繳交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『</a:t>
            </a:r>
            <a:r>
              <a:rPr lang="zh-TW" altLang="zh-TW" sz="2400" dirty="0" smtClean="0">
                <a:latin typeface="新細明體" pitchFamily="18" charset="-120"/>
                <a:ea typeface="新細明體" pitchFamily="18" charset="-120"/>
              </a:rPr>
              <a:t>國立交通大學電子物理系碩士論文口試推薦函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』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至系辦公室。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5125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 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系上網頁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口試前一週初稿需要印出來給指導老師和口委。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indent="-277813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 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初稿需有書皮。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2.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初稿第一頁須註明：口試時間，口試地點。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口試當天需要準備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『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論文口試委員會審定書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』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並填妥基  本資料，並交給指導教授。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indent="-277813">
              <a:buFont typeface="Wingdings 2" pitchFamily="18" charset="2"/>
              <a:buNone/>
              <a:defRPr/>
            </a:pP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      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系上網頁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5125"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口試當天請提前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30 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分鐘至口試地點準備，檢查投影機等器材是否可以正常使用。並列印好口試使用的投影片給老師與口試委員。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5125"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indent="-277813">
              <a:buFont typeface="Wingdings 2" pitchFamily="18" charset="2"/>
              <a:buNone/>
              <a:defRPr/>
            </a:pPr>
            <a:endParaRPr lang="en-US" altLang="zh-TW" sz="18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sz="18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zh-TW" altLang="en-US" sz="4400" b="1" dirty="0" smtClean="0">
                <a:latin typeface="+mj-ea"/>
              </a:rPr>
              <a:t>口試委員邀請函</a:t>
            </a:r>
            <a:r>
              <a:rPr lang="en-US" altLang="zh-TW" sz="4400" b="1" dirty="0" smtClean="0">
                <a:latin typeface="+mj-ea"/>
              </a:rPr>
              <a:t>(</a:t>
            </a:r>
            <a:r>
              <a:rPr lang="zh-TW" altLang="en-US" sz="4400" b="1" dirty="0" smtClean="0">
                <a:latin typeface="+mj-ea"/>
              </a:rPr>
              <a:t>範例</a:t>
            </a:r>
            <a:r>
              <a:rPr lang="en-US" altLang="zh-TW" sz="4400" b="1" dirty="0" smtClean="0">
                <a:latin typeface="+mj-ea"/>
              </a:rPr>
              <a:t>)</a:t>
            </a:r>
            <a:endParaRPr lang="zh-TW" altLang="en-US" b="1" dirty="0" smtClean="0">
              <a:effectLst/>
              <a:latin typeface="+mj-ea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zh-TW" sz="1600" smtClean="0">
                <a:latin typeface="新細明體" charset="-120"/>
                <a:ea typeface="新細明體" charset="-120"/>
              </a:rPr>
              <a:t>X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老師您好 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: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1600" smtClean="0">
                <a:latin typeface="新細明體" charset="-120"/>
                <a:ea typeface="新細明體" charset="-120"/>
              </a:rPr>
              <a:t>	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我是交大電子物理學系，鄭舜仁老師的學生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-XXX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，今年碩二，</a:t>
            </a: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     </a:t>
            </a:r>
            <a:r>
              <a:rPr lang="zh-TW" altLang="zh-TW" sz="1600" smtClean="0">
                <a:latin typeface="新細明體" charset="-120"/>
                <a:ea typeface="新細明體" charset="-120"/>
              </a:rPr>
              <a:t>我研究的題目是 XX XX XXXX</a:t>
            </a: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1600" smtClean="0">
                <a:latin typeface="新細明體" charset="-120"/>
                <a:ea typeface="新細明體" charset="-120"/>
              </a:rPr>
              <a:t>	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預計於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XXXXXX(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時間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)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擬提畢業口試，</a:t>
            </a: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	想請您撥冗擔任口試委員，</a:t>
            </a: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     為了方便老師們做時間的安排，我們想先與老師確認可前來的口試時間，</a:t>
            </a: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     近期會使用電話或登門拜訪。</a:t>
            </a: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	待時間彙整後，會盡速安排最佳口試時間並通知老師。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	 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					祝   事事順心 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zh-TW" altLang="en-US" sz="1600" smtClean="0">
                <a:latin typeface="新細明體" charset="-120"/>
                <a:ea typeface="新細明體" charset="-120"/>
              </a:rPr>
              <a:t>						學生  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XXX 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敬上</a:t>
            </a: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lvl="2" eaLnBrk="1" hangingPunct="1">
              <a:buFont typeface="Wingdings 2" pitchFamily="18" charset="2"/>
              <a:buNone/>
            </a:pPr>
            <a:endParaRPr lang="en-US" altLang="zh-TW" sz="1600" smtClean="0"/>
          </a:p>
          <a:p>
            <a:pPr lvl="2" eaLnBrk="1" hangingPunct="1">
              <a:buFont typeface="Wingdings 2" pitchFamily="18" charset="2"/>
              <a:buNone/>
            </a:pPr>
            <a:r>
              <a:rPr lang="en-US" altLang="zh-TW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PS:</a:t>
            </a:r>
            <a:r>
              <a:rPr lang="zh-TW" altLang="en-US" smtClean="0">
                <a:solidFill>
                  <a:srgbClr val="FF0000"/>
                </a:solidFill>
                <a:latin typeface="新細明體" charset="-120"/>
                <a:ea typeface="新細明體" charset="-120"/>
              </a:rPr>
              <a:t>確認口試時間的信需一併寄給指導老師。</a:t>
            </a:r>
            <a:endParaRPr lang="en-US" altLang="zh-TW" smtClean="0">
              <a:solidFill>
                <a:srgbClr val="FF0000"/>
              </a:solidFill>
              <a:latin typeface="新細明體" charset="-12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zh-TW" altLang="en-US" b="1" dirty="0" smtClean="0">
                <a:effectLst/>
              </a:rPr>
              <a:t>口試後</a:t>
            </a:r>
            <a:r>
              <a:rPr lang="zh-TW" altLang="en-US" b="1" dirty="0" smtClean="0"/>
              <a:t>檢查清單</a:t>
            </a:r>
            <a:endParaRPr lang="zh-TW" altLang="en-US" b="1" dirty="0" smtClean="0">
              <a:effectLst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1435100" y="1220788"/>
            <a:ext cx="7499350" cy="4800600"/>
          </a:xfrm>
        </p:spPr>
        <p:txBody>
          <a:bodyPr/>
          <a:lstStyle/>
          <a:p>
            <a:pPr marL="452438" indent="-369888">
              <a:buFont typeface="Wingdings 2" pitchFamily="18" charset="2"/>
              <a:buNone/>
            </a:pPr>
            <a:r>
              <a:rPr lang="en-US" altLang="zh-TW" sz="2400" smtClean="0">
                <a:latin typeface="新細明體" charset="-120"/>
                <a:ea typeface="新細明體" charset="-120"/>
              </a:rPr>
              <a:t>□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 修改完論文後，需要使用圖書館電子論文系統上傳論文。並列印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『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著作授權書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』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與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『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圖書館論文審核通過通知單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』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。</a:t>
            </a:r>
            <a:endParaRPr lang="en-US" altLang="zh-TW" sz="2400" smtClean="0">
              <a:latin typeface="新細明體" charset="-120"/>
              <a:ea typeface="新細明體" charset="-120"/>
            </a:endParaRPr>
          </a:p>
          <a:p>
            <a:pPr marL="452438" indent="-369888">
              <a:buFont typeface="Wingdings 2" pitchFamily="18" charset="2"/>
              <a:buNone/>
            </a:pPr>
            <a:r>
              <a:rPr lang="zh-TW" altLang="en-US" sz="2400" smtClean="0">
                <a:latin typeface="新細明體" charset="-120"/>
                <a:ea typeface="新細明體" charset="-120"/>
              </a:rPr>
              <a:t>     </a:t>
            </a:r>
            <a:r>
              <a:rPr lang="en-US" altLang="zh-TW" sz="1600" smtClean="0">
                <a:latin typeface="Times New Roman" pitchFamily="18" charset="0"/>
                <a:ea typeface="新細明體" charset="-120"/>
                <a:cs typeface="Times New Roman" pitchFamily="18" charset="0"/>
              </a:rPr>
              <a:t>1.</a:t>
            </a:r>
            <a:r>
              <a:rPr lang="en-US" altLang="zh-TW" sz="160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zh-TW" sz="1600" smtClean="0">
                <a:latin typeface="Times New Roman" pitchFamily="18" charset="0"/>
                <a:cs typeface="Times New Roman" pitchFamily="18" charset="0"/>
                <a:hlinkClick r:id="rId3"/>
              </a:rPr>
              <a:t>http://www.lib.nctu.edu.tw/html/id-93/</a:t>
            </a:r>
            <a:r>
              <a:rPr lang="en-US" altLang="zh-TW" sz="160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TW" altLang="en-US" sz="16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2.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要有交大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logo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浮水印 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3.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授權年限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3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年</a:t>
            </a: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marL="452438" indent="-369888">
              <a:buFont typeface="Wingdings 2" pitchFamily="18" charset="2"/>
              <a:buNone/>
            </a:pPr>
            <a:r>
              <a:rPr lang="en-US" altLang="zh-TW" sz="2400" smtClean="0">
                <a:latin typeface="新細明體" charset="-120"/>
                <a:ea typeface="新細明體" charset="-120"/>
              </a:rPr>
              <a:t>□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 論文完稿，需要附上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『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著作授權書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』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與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『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論文口試委員會審定書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』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，書背，浮水印，書皮要亮面。</a:t>
            </a:r>
            <a:endParaRPr lang="en-US" altLang="zh-TW" sz="2400" smtClean="0">
              <a:latin typeface="新細明體" charset="-120"/>
              <a:ea typeface="新細明體" charset="-120"/>
            </a:endParaRPr>
          </a:p>
          <a:p>
            <a:pPr marL="452438" indent="-369888">
              <a:buFont typeface="Wingdings 2" pitchFamily="18" charset="2"/>
              <a:buNone/>
            </a:pPr>
            <a:r>
              <a:rPr lang="zh-TW" altLang="en-US" sz="2400" smtClean="0">
                <a:latin typeface="新細明體" charset="-120"/>
                <a:ea typeface="新細明體" charset="-120"/>
              </a:rPr>
              <a:t>     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1.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研究室要三本論文 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2.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系上需繳交兩本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(</a:t>
            </a:r>
            <a:r>
              <a:rPr lang="zh-TW" altLang="en-US" sz="1600" smtClean="0">
                <a:latin typeface="新細明體" charset="-120"/>
                <a:ea typeface="新細明體" charset="-120"/>
              </a:rPr>
              <a:t>共五本</a:t>
            </a:r>
            <a:r>
              <a:rPr lang="en-US" altLang="zh-TW" sz="1600" smtClean="0">
                <a:latin typeface="新細明體" charset="-120"/>
                <a:ea typeface="新細明體" charset="-120"/>
              </a:rPr>
              <a:t>)</a:t>
            </a:r>
          </a:p>
          <a:p>
            <a:pPr marL="452438" indent="-369888">
              <a:buFont typeface="Wingdings 2" pitchFamily="18" charset="2"/>
              <a:buNone/>
            </a:pPr>
            <a:r>
              <a:rPr lang="en-US" altLang="zh-TW" sz="2400" smtClean="0">
                <a:latin typeface="新細明體" charset="-120"/>
                <a:ea typeface="新細明體" charset="-120"/>
              </a:rPr>
              <a:t>□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 論文完稿的電子檔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(pdf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檔及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word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檔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)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，需要上傳到研究室的</a:t>
            </a:r>
            <a:r>
              <a:rPr lang="en-US" altLang="zh-TW" sz="2400" smtClean="0">
                <a:latin typeface="新細明體" charset="-120"/>
                <a:ea typeface="新細明體" charset="-120"/>
              </a:rPr>
              <a:t>FTP</a:t>
            </a:r>
            <a:r>
              <a:rPr lang="zh-TW" altLang="en-US" sz="2400" smtClean="0">
                <a:latin typeface="新細明體" charset="-120"/>
                <a:ea typeface="新細明體" charset="-120"/>
              </a:rPr>
              <a:t>。</a:t>
            </a:r>
            <a:endParaRPr lang="en-US" altLang="zh-TW" sz="2400" smtClean="0">
              <a:latin typeface="新細明體" charset="-120"/>
              <a:ea typeface="新細明體" charset="-120"/>
            </a:endParaRPr>
          </a:p>
          <a:p>
            <a:pPr marL="452438" indent="-369888">
              <a:buFont typeface="Wingdings 2" pitchFamily="18" charset="2"/>
              <a:buNone/>
            </a:pPr>
            <a:endParaRPr lang="en-US" altLang="zh-TW" sz="1600" smtClean="0">
              <a:latin typeface="新細明體" charset="-120"/>
              <a:ea typeface="新細明體" charset="-120"/>
            </a:endParaRPr>
          </a:p>
          <a:p>
            <a:pPr marL="452438" indent="-369888">
              <a:buFont typeface="Wingdings 2" pitchFamily="18" charset="2"/>
              <a:buNone/>
            </a:pPr>
            <a:endParaRPr lang="en-US" altLang="zh-TW" sz="1600" smtClean="0">
              <a:latin typeface="Times New Roman" pitchFamily="18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b="1" dirty="0" smtClean="0">
                <a:effectLst/>
              </a:rPr>
              <a:t>離校檢查清單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31913" y="1268413"/>
            <a:ext cx="7602537" cy="4800600"/>
          </a:xfrm>
        </p:spPr>
        <p:txBody>
          <a:bodyPr/>
          <a:lstStyle/>
          <a:p>
            <a:pPr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註冊組離校系統列印離校程序單一張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       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1.(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  <a:hlinkClick r:id="rId3"/>
              </a:rPr>
              <a:t>http://aadms.nctu.edu.tw/Graduate/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)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 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2.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依上面所列請至各單位蓋章簽字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       </a:t>
            </a:r>
            <a:r>
              <a:rPr lang="en-US" altLang="zh-TW" sz="1600" dirty="0" smtClean="0">
                <a:latin typeface="新細明體" pitchFamily="18" charset="-120"/>
                <a:ea typeface="新細明體" pitchFamily="18" charset="-120"/>
              </a:rPr>
              <a:t>3.</a:t>
            </a:r>
            <a:r>
              <a:rPr lang="zh-TW" altLang="en-US" sz="1600" dirty="0" smtClean="0">
                <a:latin typeface="新細明體" pitchFamily="18" charset="-120"/>
                <a:ea typeface="新細明體" pitchFamily="18" charset="-120"/>
              </a:rPr>
              <a:t>需先請指導教授簽字。</a:t>
            </a:r>
            <a:endParaRPr lang="en-US" altLang="zh-TW" sz="16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系辦部分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355600" indent="-273050"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1.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繳交論文光碟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(</a:t>
            </a:r>
            <a:r>
              <a:rPr lang="en-US" altLang="zh-TW" sz="2400" b="1" dirty="0" err="1" smtClean="0">
                <a:latin typeface="新細明體" pitchFamily="18" charset="-120"/>
                <a:ea typeface="新細明體" pitchFamily="18" charset="-120"/>
              </a:rPr>
              <a:t>pdf</a:t>
            </a:r>
            <a:r>
              <a:rPr lang="en-US" altLang="zh-TW" sz="2400" b="1" dirty="0" smtClean="0">
                <a:latin typeface="新細明體" pitchFamily="18" charset="-120"/>
                <a:ea typeface="新細明體" pitchFamily="18" charset="-120"/>
              </a:rPr>
              <a:t> </a:t>
            </a:r>
            <a:r>
              <a:rPr lang="zh-TW" altLang="en-US" sz="2400" b="1" dirty="0" smtClean="0">
                <a:latin typeface="新細明體" pitchFamily="18" charset="-120"/>
                <a:ea typeface="新細明體" pitchFamily="18" charset="-120"/>
              </a:rPr>
              <a:t>電子檔</a:t>
            </a:r>
            <a:r>
              <a:rPr lang="en-US" altLang="zh-TW" sz="2400" b="1" dirty="0" smtClean="0">
                <a:latin typeface="新細明體" pitchFamily="18" charset="-120"/>
                <a:ea typeface="新細明體" pitchFamily="18" charset="-120"/>
              </a:rPr>
              <a:t>)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一份</a:t>
            </a:r>
            <a:r>
              <a:rPr lang="en-US" altLang="zh-TW" sz="2400" b="1" dirty="0" smtClean="0">
                <a:latin typeface="新細明體" pitchFamily="18" charset="-120"/>
                <a:ea typeface="新細明體" pitchFamily="18" charset="-120"/>
              </a:rPr>
              <a:t>(</a:t>
            </a:r>
            <a:r>
              <a:rPr lang="zh-TW" altLang="en-US" sz="2400" b="1" dirty="0" smtClean="0">
                <a:latin typeface="新細明體" pitchFamily="18" charset="-120"/>
                <a:ea typeface="新細明體" pitchFamily="18" charset="-120"/>
              </a:rPr>
              <a:t>註名姓名、學號</a:t>
            </a:r>
            <a:r>
              <a:rPr lang="en-US" altLang="zh-TW" sz="2400" b="1" dirty="0" smtClean="0">
                <a:latin typeface="新細明體" pitchFamily="18" charset="-120"/>
                <a:ea typeface="新細明體" pitchFamily="18" charset="-120"/>
              </a:rPr>
              <a:t>)</a:t>
            </a: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2.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平裝版論文二本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3.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著作授權書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4.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圖書館</a:t>
            </a:r>
            <a:r>
              <a:rPr lang="zh-TW" altLang="en-US" sz="2400" dirty="0" smtClean="0">
                <a:latin typeface="新細明體" charset="-120"/>
                <a:ea typeface="新細明體" charset="-120"/>
              </a:rPr>
              <a:t>論文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審核通過通知單</a:t>
            </a: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  </a:t>
            </a: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5.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離校手續單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 marL="452438" indent="-369888">
              <a:buFont typeface="Wingdings 2" pitchFamily="18" charset="2"/>
              <a:buNone/>
              <a:defRPr/>
            </a:pPr>
            <a:r>
              <a:rPr lang="en-US" altLang="zh-TW" sz="2400" dirty="0" smtClean="0">
                <a:latin typeface="新細明體" pitchFamily="18" charset="-120"/>
                <a:ea typeface="新細明體" pitchFamily="18" charset="-120"/>
              </a:rPr>
              <a:t>□</a:t>
            </a:r>
            <a:r>
              <a:rPr lang="zh-TW" altLang="en-US" sz="2400" dirty="0" smtClean="0">
                <a:latin typeface="新細明體" pitchFamily="18" charset="-120"/>
                <a:ea typeface="新細明體" pitchFamily="18" charset="-120"/>
              </a:rPr>
              <a:t> 拿辦妥之離校手續單及學生證至註冊組領取畢業證書。</a:t>
            </a: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en-US" altLang="zh-TW" sz="2400" dirty="0" smtClean="0">
              <a:latin typeface="新細明體" pitchFamily="18" charset="-120"/>
              <a:ea typeface="新細明體" pitchFamily="18" charset="-120"/>
            </a:endParaRPr>
          </a:p>
          <a:p>
            <a:pPr>
              <a:buFont typeface="Wingdings 2" pitchFamily="18" charset="2"/>
              <a:buNone/>
              <a:defRPr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950</TotalTime>
  <Words>1654</Words>
  <Application>Microsoft Office PowerPoint</Application>
  <PresentationFormat>如螢幕大小 (4:3)</PresentationFormat>
  <Paragraphs>272</Paragraphs>
  <Slides>21</Slides>
  <Notes>21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夏至</vt:lpstr>
      <vt:lpstr>畢業流程檢查清單</vt:lpstr>
      <vt:lpstr>Outline</vt:lpstr>
      <vt:lpstr>論文主要物理結果「完整」物理工作基礎</vt:lpstr>
      <vt:lpstr>論文格式檢查清單(1)</vt:lpstr>
      <vt:lpstr>書名頁格式</vt:lpstr>
      <vt:lpstr>書背格式</vt:lpstr>
      <vt:lpstr>中、英文摘要的注意事項</vt:lpstr>
      <vt:lpstr>論文內文的注意事項</vt:lpstr>
      <vt:lpstr>圖的注意事項</vt:lpstr>
      <vt:lpstr>圖的注意事項(範例)</vt:lpstr>
      <vt:lpstr>符號和方程式的注意事項</vt:lpstr>
      <vt:lpstr>結論的注意事項</vt:lpstr>
      <vt:lpstr>參考文獻格式的注意事項</vt:lpstr>
      <vt:lpstr>參考文獻格式(1)</vt:lpstr>
      <vt:lpstr>參考文獻格式(2)</vt:lpstr>
      <vt:lpstr>參考文獻格式(3)</vt:lpstr>
      <vt:lpstr>參考文獻格式(4)</vt:lpstr>
      <vt:lpstr>口試前檢查清單</vt:lpstr>
      <vt:lpstr>口試委員邀請函(範例)</vt:lpstr>
      <vt:lpstr>口試後檢查清單</vt:lpstr>
      <vt:lpstr>離校檢查清單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論文格式檢查清單</dc:title>
  <cp:lastModifiedBy>Charles</cp:lastModifiedBy>
  <cp:revision>159</cp:revision>
  <dcterms:modified xsi:type="dcterms:W3CDTF">2012-05-30T07:09:56Z</dcterms:modified>
</cp:coreProperties>
</file>
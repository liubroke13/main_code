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27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AEE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400" d="100"/>
          <a:sy n="400" d="100"/>
        </p:scale>
        <p:origin x="-20322" y="-1752"/>
      </p:cViewPr>
      <p:guideLst>
        <p:guide orient="horz" pos="2160"/>
        <p:guide pos="327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0B19638-4FD6-498B-8363-1DCE01E855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78E4823-E4FB-4E19-BA09-B824218613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CCD5636-5221-407D-AE57-00FA965E4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C1937-7717-4D31-9B2B-5A0EE407F3D0}" type="datetimeFigureOut">
              <a:rPr lang="zh-TW" altLang="en-US" smtClean="0"/>
              <a:t>2026/3/31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00EA394-4358-409A-A35A-66150A13F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B20C24E-D79E-4614-9988-DD265227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9181D-9EF9-4BE0-8BED-95A42BDB5E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4895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AD6BDB-9F36-463C-8C41-9A1A32E67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183864B-C018-4956-92BB-E2E6ADD509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C4BF376-B4A9-4D33-B3BA-81536A63C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C1937-7717-4D31-9B2B-5A0EE407F3D0}" type="datetimeFigureOut">
              <a:rPr lang="zh-TW" altLang="en-US" smtClean="0"/>
              <a:t>2026/3/31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9AEE1B7-BB1B-4E2E-84B1-D1A4D3CF6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A1043C0-A78E-4A08-93C5-4F0DE9C08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9181D-9EF9-4BE0-8BED-95A42BDB5E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9336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6FB8EFD-20E8-4804-90D9-AA2C2787A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4EF4D08-DDEC-4A6A-818A-25764F05D0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A0CA156-CD94-4A9C-8C67-6F421940D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C1937-7717-4D31-9B2B-5A0EE407F3D0}" type="datetimeFigureOut">
              <a:rPr lang="zh-TW" altLang="en-US" smtClean="0"/>
              <a:t>2026/3/31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CD1A019-BC3E-4A82-870D-BDECFE3F8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53CF224-9D3C-468A-B5A5-502D85181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9181D-9EF9-4BE0-8BED-95A42BDB5E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36778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0294811-11AE-4B69-AA1A-5BC59DACE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804B231-0EAE-407E-AE46-8D6D079734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FD41FEB-401F-4852-9BEE-4AD2B8324F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9916FAC-84EA-403E-92B9-8F1AC1514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C1937-7717-4D31-9B2B-5A0EE407F3D0}" type="datetimeFigureOut">
              <a:rPr lang="zh-TW" altLang="en-US" smtClean="0"/>
              <a:t>2026/3/31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80539AB-69CC-4F3E-9B12-AAFADC585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01C8204-53CD-4715-B47B-8ED0A8C3B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9181D-9EF9-4BE0-8BED-95A42BDB5E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1219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5683AF-0F18-4AB4-9B94-ACAAB70E6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3026326-2BA2-4176-A1C9-C0D307D45A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8EF143B-8CD9-4292-921D-95CAFEE189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F211D1E7-4946-43FE-80A3-1F21A76893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C58BA20-2611-42A8-8EAB-60AF86FA43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35CE0BF-5344-4800-A9D1-E47AD0E25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C1937-7717-4D31-9B2B-5A0EE407F3D0}" type="datetimeFigureOut">
              <a:rPr lang="zh-TW" altLang="en-US" smtClean="0"/>
              <a:t>2026/3/31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7462D4D-4897-4CAE-8E86-9EF52EE16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14C5ED56-3359-4C86-B7AA-7E48C2A67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9181D-9EF9-4BE0-8BED-95A42BDB5E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4240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2DE0D-AFE2-44B4-8268-9975D256B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B082D73-4BA7-4989-B3C5-95F4F388E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C1937-7717-4D31-9B2B-5A0EE407F3D0}" type="datetimeFigureOut">
              <a:rPr lang="zh-TW" altLang="en-US" smtClean="0"/>
              <a:t>2026/3/31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0F6882D-1B64-42F1-A238-A0807BB56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773FB85-FA3C-45FC-BFBE-0163DC19A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9181D-9EF9-4BE0-8BED-95A42BDB5E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4156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8C90E47F-A795-4E07-B8C8-2E8D17D59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C1937-7717-4D31-9B2B-5A0EE407F3D0}" type="datetimeFigureOut">
              <a:rPr lang="zh-TW" altLang="en-US" smtClean="0"/>
              <a:t>2026/3/31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8D7FC1-7D1A-4280-A12B-86344AD2A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2328B38-6E68-4131-89A7-70786F71B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9181D-9EF9-4BE0-8BED-95A42BDB5E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7483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3A8A7C9-2FDE-4DAA-A9D0-069F550CF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A2A969A-0393-4AFC-A3EA-BC9CD6F6EA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F355944-AC3D-4732-8D99-9E321B484A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4BCB507-7070-41D6-B647-1D19E8BF9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C1937-7717-4D31-9B2B-5A0EE407F3D0}" type="datetimeFigureOut">
              <a:rPr lang="zh-TW" altLang="en-US" smtClean="0"/>
              <a:t>2026/3/31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4942DD8-BB3E-4600-8F8D-631A31743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D9FF45C-ECA8-4691-8AFC-3F1D9B970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9181D-9EF9-4BE0-8BED-95A42BDB5E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4667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E07D1F-86D7-418B-A4FF-962C5083E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A2298D8F-482A-4AA9-9A14-9A414595C5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BDC1AA4-65DD-4DA9-AEB4-BCFAFCA6AF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E242C10-CE17-4104-B52A-7FC4FE4D6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C1937-7717-4D31-9B2B-5A0EE407F3D0}" type="datetimeFigureOut">
              <a:rPr lang="zh-TW" altLang="en-US" smtClean="0"/>
              <a:t>2026/3/31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72C5FD6-5B17-4DBF-9C57-BC7214D59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6963C6E-54A2-4940-9CA4-1BF15089D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9181D-9EF9-4BE0-8BED-95A42BDB5E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2800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7326978-7F1A-4331-B9EB-3DD36BA3B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E54B25A-506C-44CE-952D-F42868B7F9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168CE23-DE48-4FD5-AC71-36B9D3145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C1937-7717-4D31-9B2B-5A0EE407F3D0}" type="datetimeFigureOut">
              <a:rPr lang="zh-TW" altLang="en-US" smtClean="0"/>
              <a:t>2026/3/31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4560AA8-AE0C-40CC-8202-890C9F480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FD4FB3E-79E3-4F3B-BF48-F0B95D3AD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9181D-9EF9-4BE0-8BED-95A42BDB5E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1091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4EC93AA-CD8F-4682-B228-0A61C28ECA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D90C765-060F-4806-808D-16090928C9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39C0DA8-B653-4B64-B8EC-CF04239CE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C1937-7717-4D31-9B2B-5A0EE407F3D0}" type="datetimeFigureOut">
              <a:rPr lang="zh-TW" altLang="en-US" smtClean="0"/>
              <a:t>2026/3/31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9023A99-D983-4782-A3CE-D91941EA2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5334011-94AA-4A0F-B643-8C543717D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9181D-9EF9-4BE0-8BED-95A42BDB5E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1102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21B633D0-3108-448F-84F5-C1D397E91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9B646AA-0B2D-4411-A2D9-CEFD40C105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C1F9908-B099-4D13-8612-A5BCB21678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6C1937-7717-4D31-9B2B-5A0EE407F3D0}" type="datetimeFigureOut">
              <a:rPr lang="zh-TW" altLang="en-US" smtClean="0"/>
              <a:t>2026/3/31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3832D79-BA43-4DB6-9FDD-53CBF2E410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78DF2D4-F869-4F8B-8EA3-5C85E3CFEF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D9181D-9EF9-4BE0-8BED-95A42BDB5E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0686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nature.com/articles/s41524-024-01425-0/figures/1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nature.com/articles/nphys477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5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D41504C-88F7-4FC6-B85D-9893A33716F1}"/>
              </a:ext>
            </a:extLst>
          </p:cNvPr>
          <p:cNvSpPr/>
          <p:nvPr/>
        </p:nvSpPr>
        <p:spPr>
          <a:xfrm>
            <a:off x="8660235" y="5362473"/>
            <a:ext cx="315985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>
                <a:hlinkClick r:id="rId2"/>
              </a:rPr>
              <a:t>Fig. 1: Strain impact on the band structure. | </a:t>
            </a:r>
            <a:r>
              <a:rPr lang="en-US" altLang="zh-TW" dirty="0" err="1">
                <a:hlinkClick r:id="rId2"/>
              </a:rPr>
              <a:t>npj</a:t>
            </a:r>
            <a:r>
              <a:rPr lang="en-US" altLang="zh-TW" dirty="0">
                <a:hlinkClick r:id="rId2"/>
              </a:rPr>
              <a:t> Computational Materials</a:t>
            </a:r>
            <a:endParaRPr lang="zh-TW" altLang="en-US" dirty="0"/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568058CD-0D70-452B-BF1E-A42032BD50AC}"/>
              </a:ext>
            </a:extLst>
          </p:cNvPr>
          <p:cNvGrpSpPr/>
          <p:nvPr/>
        </p:nvGrpSpPr>
        <p:grpSpPr>
          <a:xfrm>
            <a:off x="1886138" y="1848597"/>
            <a:ext cx="7944132" cy="2436189"/>
            <a:chOff x="2741103" y="1233827"/>
            <a:chExt cx="7944132" cy="2436189"/>
          </a:xfrm>
        </p:grpSpPr>
        <p:pic>
          <p:nvPicPr>
            <p:cNvPr id="1026" name="Picture 2" descr="Fig. 1: Strain impact on the band structure.">
              <a:extLst>
                <a:ext uri="{FF2B5EF4-FFF2-40B4-BE49-F238E27FC236}">
                  <a16:creationId xmlns:a16="http://schemas.microsoft.com/office/drawing/2014/main" id="{3BE14351-A16C-4668-8F5C-E08A663EFE8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368" t="1626" b="76758"/>
            <a:stretch/>
          </p:blipFill>
          <p:spPr bwMode="auto">
            <a:xfrm>
              <a:off x="2961313" y="1585519"/>
              <a:ext cx="4633302" cy="20089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2" descr="Fig. 1: Strain impact on the band structure.">
              <a:extLst>
                <a:ext uri="{FF2B5EF4-FFF2-40B4-BE49-F238E27FC236}">
                  <a16:creationId xmlns:a16="http://schemas.microsoft.com/office/drawing/2014/main" id="{2BFAAD2F-08EF-4DDE-A541-4365C1BFB32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421" t="25667" b="39450"/>
            <a:stretch/>
          </p:blipFill>
          <p:spPr bwMode="auto">
            <a:xfrm>
              <a:off x="7733252" y="1510016"/>
              <a:ext cx="2951983" cy="21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文字方塊 4">
              <a:extLst>
                <a:ext uri="{FF2B5EF4-FFF2-40B4-BE49-F238E27FC236}">
                  <a16:creationId xmlns:a16="http://schemas.microsoft.com/office/drawing/2014/main" id="{EF3B583B-8186-49FE-8DD8-128EFFD993C7}"/>
                </a:ext>
              </a:extLst>
            </p:cNvPr>
            <p:cNvSpPr txBox="1"/>
            <p:nvPr/>
          </p:nvSpPr>
          <p:spPr>
            <a:xfrm>
              <a:off x="2741103" y="1233827"/>
              <a:ext cx="3775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(a)</a:t>
              </a:r>
              <a:endParaRPr lang="zh-TW" altLang="en-US" dirty="0"/>
            </a:p>
          </p:txBody>
        </p:sp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6BADE550-C379-44E5-820F-3E3BC86A6F13}"/>
                </a:ext>
              </a:extLst>
            </p:cNvPr>
            <p:cNvSpPr txBox="1"/>
            <p:nvPr/>
          </p:nvSpPr>
          <p:spPr>
            <a:xfrm>
              <a:off x="7396994" y="1233827"/>
              <a:ext cx="3775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(b)</a:t>
              </a:r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935350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C0878C3D-706A-44A9-890D-FA66C92F88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074" y="259859"/>
            <a:ext cx="5117324" cy="2277610"/>
          </a:xfrm>
          <a:prstGeom prst="rect">
            <a:avLst/>
          </a:prstGeom>
        </p:spPr>
      </p:pic>
      <p:grpSp>
        <p:nvGrpSpPr>
          <p:cNvPr id="77" name="群組 76">
            <a:extLst>
              <a:ext uri="{FF2B5EF4-FFF2-40B4-BE49-F238E27FC236}">
                <a16:creationId xmlns:a16="http://schemas.microsoft.com/office/drawing/2014/main" id="{E5E6452A-A40F-4D30-BE21-5746104D5BD5}"/>
              </a:ext>
            </a:extLst>
          </p:cNvPr>
          <p:cNvGrpSpPr/>
          <p:nvPr/>
        </p:nvGrpSpPr>
        <p:grpSpPr>
          <a:xfrm>
            <a:off x="1066375" y="3023768"/>
            <a:ext cx="5033396" cy="2556084"/>
            <a:chOff x="1066375" y="3023768"/>
            <a:chExt cx="5033396" cy="2556084"/>
          </a:xfrm>
        </p:grpSpPr>
        <p:grpSp>
          <p:nvGrpSpPr>
            <p:cNvPr id="74" name="群組 73">
              <a:extLst>
                <a:ext uri="{FF2B5EF4-FFF2-40B4-BE49-F238E27FC236}">
                  <a16:creationId xmlns:a16="http://schemas.microsoft.com/office/drawing/2014/main" id="{8BF5C152-059A-481C-AAF9-73AA337AA2E8}"/>
                </a:ext>
              </a:extLst>
            </p:cNvPr>
            <p:cNvGrpSpPr/>
            <p:nvPr/>
          </p:nvGrpSpPr>
          <p:grpSpPr>
            <a:xfrm>
              <a:off x="1255128" y="3421380"/>
              <a:ext cx="4247186" cy="2158472"/>
              <a:chOff x="1255128" y="3421380"/>
              <a:chExt cx="4247186" cy="2158472"/>
            </a:xfrm>
          </p:grpSpPr>
          <p:grpSp>
            <p:nvGrpSpPr>
              <p:cNvPr id="73" name="群組 72">
                <a:extLst>
                  <a:ext uri="{FF2B5EF4-FFF2-40B4-BE49-F238E27FC236}">
                    <a16:creationId xmlns:a16="http://schemas.microsoft.com/office/drawing/2014/main" id="{BFE0BC02-643F-416D-B8A4-680C48B05101}"/>
                  </a:ext>
                </a:extLst>
              </p:cNvPr>
              <p:cNvGrpSpPr/>
              <p:nvPr/>
            </p:nvGrpSpPr>
            <p:grpSpPr>
              <a:xfrm>
                <a:off x="1255128" y="3435140"/>
                <a:ext cx="2162313" cy="2144712"/>
                <a:chOff x="1427656" y="3435140"/>
                <a:chExt cx="2162313" cy="2144712"/>
              </a:xfrm>
            </p:grpSpPr>
            <p:grpSp>
              <p:nvGrpSpPr>
                <p:cNvPr id="58" name="群組 57">
                  <a:extLst>
                    <a:ext uri="{FF2B5EF4-FFF2-40B4-BE49-F238E27FC236}">
                      <a16:creationId xmlns:a16="http://schemas.microsoft.com/office/drawing/2014/main" id="{60847DDD-2769-4007-ACAC-E2701B1AD370}"/>
                    </a:ext>
                  </a:extLst>
                </p:cNvPr>
                <p:cNvGrpSpPr/>
                <p:nvPr/>
              </p:nvGrpSpPr>
              <p:grpSpPr>
                <a:xfrm>
                  <a:off x="1471267" y="3486150"/>
                  <a:ext cx="2073763" cy="2043883"/>
                  <a:chOff x="3601272" y="3280006"/>
                  <a:chExt cx="2073763" cy="2043883"/>
                </a:xfrm>
              </p:grpSpPr>
              <p:sp>
                <p:nvSpPr>
                  <p:cNvPr id="55" name="六邊形 54">
                    <a:extLst>
                      <a:ext uri="{FF2B5EF4-FFF2-40B4-BE49-F238E27FC236}">
                        <a16:creationId xmlns:a16="http://schemas.microsoft.com/office/drawing/2014/main" id="{63FAFBB4-E445-4F11-B2E0-E0CA6D7CAA76}"/>
                      </a:ext>
                    </a:extLst>
                  </p:cNvPr>
                  <p:cNvSpPr/>
                  <p:nvPr/>
                </p:nvSpPr>
                <p:spPr>
                  <a:xfrm>
                    <a:off x="3601272" y="3280006"/>
                    <a:ext cx="1185317" cy="1021743"/>
                  </a:xfrm>
                  <a:prstGeom prst="hexagon">
                    <a:avLst>
                      <a:gd name="adj" fmla="val 29067"/>
                      <a:gd name="vf" fmla="val 115470"/>
                    </a:avLst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dirty="0"/>
                  </a:p>
                </p:txBody>
              </p:sp>
              <p:sp>
                <p:nvSpPr>
                  <p:cNvPr id="56" name="六邊形 55">
                    <a:extLst>
                      <a:ext uri="{FF2B5EF4-FFF2-40B4-BE49-F238E27FC236}">
                        <a16:creationId xmlns:a16="http://schemas.microsoft.com/office/drawing/2014/main" id="{D1B36AA0-350A-473F-A160-772D540BEC42}"/>
                      </a:ext>
                    </a:extLst>
                  </p:cNvPr>
                  <p:cNvSpPr/>
                  <p:nvPr/>
                </p:nvSpPr>
                <p:spPr>
                  <a:xfrm>
                    <a:off x="4489718" y="3791076"/>
                    <a:ext cx="1185317" cy="1021743"/>
                  </a:xfrm>
                  <a:prstGeom prst="hexagon">
                    <a:avLst>
                      <a:gd name="adj" fmla="val 29067"/>
                      <a:gd name="vf" fmla="val 115470"/>
                    </a:avLst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dirty="0"/>
                  </a:p>
                </p:txBody>
              </p:sp>
              <p:sp>
                <p:nvSpPr>
                  <p:cNvPr id="57" name="六邊形 56">
                    <a:extLst>
                      <a:ext uri="{FF2B5EF4-FFF2-40B4-BE49-F238E27FC236}">
                        <a16:creationId xmlns:a16="http://schemas.microsoft.com/office/drawing/2014/main" id="{2F56D49E-B511-47BE-8594-D9BAC24DA09F}"/>
                      </a:ext>
                    </a:extLst>
                  </p:cNvPr>
                  <p:cNvSpPr/>
                  <p:nvPr/>
                </p:nvSpPr>
                <p:spPr>
                  <a:xfrm>
                    <a:off x="3601272" y="4302146"/>
                    <a:ext cx="1185317" cy="1021743"/>
                  </a:xfrm>
                  <a:prstGeom prst="hexagon">
                    <a:avLst>
                      <a:gd name="adj" fmla="val 29067"/>
                      <a:gd name="vf" fmla="val 115470"/>
                    </a:avLst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dirty="0"/>
                  </a:p>
                </p:txBody>
              </p:sp>
            </p:grpSp>
            <p:sp>
              <p:nvSpPr>
                <p:cNvPr id="27" name="橢圓 26">
                  <a:extLst>
                    <a:ext uri="{FF2B5EF4-FFF2-40B4-BE49-F238E27FC236}">
                      <a16:creationId xmlns:a16="http://schemas.microsoft.com/office/drawing/2014/main" id="{C115545A-F9D3-4747-BA29-6463324574CA}"/>
                    </a:ext>
                  </a:extLst>
                </p:cNvPr>
                <p:cNvSpPr/>
                <p:nvPr/>
              </p:nvSpPr>
              <p:spPr>
                <a:xfrm>
                  <a:off x="1711957" y="4452132"/>
                  <a:ext cx="111919" cy="111919"/>
                </a:xfrm>
                <a:prstGeom prst="ellipse">
                  <a:avLst/>
                </a:prstGeom>
                <a:solidFill>
                  <a:srgbClr val="AAEEFF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28" name="橢圓 27">
                  <a:extLst>
                    <a:ext uri="{FF2B5EF4-FFF2-40B4-BE49-F238E27FC236}">
                      <a16:creationId xmlns:a16="http://schemas.microsoft.com/office/drawing/2014/main" id="{4D8B5383-036B-4CFE-9D8F-55C4F5A1EA95}"/>
                    </a:ext>
                  </a:extLst>
                </p:cNvPr>
                <p:cNvSpPr/>
                <p:nvPr/>
              </p:nvSpPr>
              <p:spPr>
                <a:xfrm>
                  <a:off x="2310046" y="4452132"/>
                  <a:ext cx="111919" cy="111919"/>
                </a:xfrm>
                <a:prstGeom prst="ellipse">
                  <a:avLst/>
                </a:prstGeom>
                <a:solidFill>
                  <a:srgbClr val="AAEEFF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29" name="橢圓 28">
                  <a:extLst>
                    <a:ext uri="{FF2B5EF4-FFF2-40B4-BE49-F238E27FC236}">
                      <a16:creationId xmlns:a16="http://schemas.microsoft.com/office/drawing/2014/main" id="{E715E3A6-9F76-4BB3-B10B-26A28A9CCD4E}"/>
                    </a:ext>
                  </a:extLst>
                </p:cNvPr>
                <p:cNvSpPr/>
                <p:nvPr/>
              </p:nvSpPr>
              <p:spPr>
                <a:xfrm>
                  <a:off x="2607306" y="4953582"/>
                  <a:ext cx="111919" cy="111919"/>
                </a:xfrm>
                <a:prstGeom prst="ellipse">
                  <a:avLst/>
                </a:prstGeom>
                <a:solidFill>
                  <a:srgbClr val="AAEEFF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0" name="橢圓 29">
                  <a:extLst>
                    <a:ext uri="{FF2B5EF4-FFF2-40B4-BE49-F238E27FC236}">
                      <a16:creationId xmlns:a16="http://schemas.microsoft.com/office/drawing/2014/main" id="{CEF6BA0B-14AA-43D9-8CC4-E9CC7B4E969B}"/>
                    </a:ext>
                  </a:extLst>
                </p:cNvPr>
                <p:cNvSpPr/>
                <p:nvPr/>
              </p:nvSpPr>
              <p:spPr>
                <a:xfrm>
                  <a:off x="3183569" y="4953582"/>
                  <a:ext cx="111919" cy="111919"/>
                </a:xfrm>
                <a:prstGeom prst="ellipse">
                  <a:avLst/>
                </a:prstGeom>
                <a:solidFill>
                  <a:srgbClr val="AAEEFF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1" name="橢圓 30">
                  <a:extLst>
                    <a:ext uri="{FF2B5EF4-FFF2-40B4-BE49-F238E27FC236}">
                      <a16:creationId xmlns:a16="http://schemas.microsoft.com/office/drawing/2014/main" id="{CD99AFF6-BD4D-40C4-A616-EC80502A8AD2}"/>
                    </a:ext>
                  </a:extLst>
                </p:cNvPr>
                <p:cNvSpPr/>
                <p:nvPr/>
              </p:nvSpPr>
              <p:spPr>
                <a:xfrm>
                  <a:off x="1711957" y="5467933"/>
                  <a:ext cx="111919" cy="111919"/>
                </a:xfrm>
                <a:prstGeom prst="ellipse">
                  <a:avLst/>
                </a:prstGeom>
                <a:solidFill>
                  <a:srgbClr val="AAEEFF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2" name="橢圓 31">
                  <a:extLst>
                    <a:ext uri="{FF2B5EF4-FFF2-40B4-BE49-F238E27FC236}">
                      <a16:creationId xmlns:a16="http://schemas.microsoft.com/office/drawing/2014/main" id="{5AB7177C-6D75-4E1A-B12D-7745D2626170}"/>
                    </a:ext>
                  </a:extLst>
                </p:cNvPr>
                <p:cNvSpPr/>
                <p:nvPr/>
              </p:nvSpPr>
              <p:spPr>
                <a:xfrm>
                  <a:off x="2310046" y="5467932"/>
                  <a:ext cx="111919" cy="111919"/>
                </a:xfrm>
                <a:prstGeom prst="ellipse">
                  <a:avLst/>
                </a:prstGeom>
                <a:solidFill>
                  <a:srgbClr val="AAEEFF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3" name="橢圓 32">
                  <a:extLst>
                    <a:ext uri="{FF2B5EF4-FFF2-40B4-BE49-F238E27FC236}">
                      <a16:creationId xmlns:a16="http://schemas.microsoft.com/office/drawing/2014/main" id="{6B41D1A1-D0AD-4B54-B152-981351CF73A6}"/>
                    </a:ext>
                  </a:extLst>
                </p:cNvPr>
                <p:cNvSpPr/>
                <p:nvPr/>
              </p:nvSpPr>
              <p:spPr>
                <a:xfrm>
                  <a:off x="2607306" y="3937582"/>
                  <a:ext cx="111919" cy="111919"/>
                </a:xfrm>
                <a:prstGeom prst="ellipse">
                  <a:avLst/>
                </a:prstGeom>
                <a:solidFill>
                  <a:srgbClr val="AAEEFF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4" name="橢圓 33">
                  <a:extLst>
                    <a:ext uri="{FF2B5EF4-FFF2-40B4-BE49-F238E27FC236}">
                      <a16:creationId xmlns:a16="http://schemas.microsoft.com/office/drawing/2014/main" id="{E7013537-FCE5-401A-B52E-7B660398856C}"/>
                    </a:ext>
                  </a:extLst>
                </p:cNvPr>
                <p:cNvSpPr/>
                <p:nvPr/>
              </p:nvSpPr>
              <p:spPr>
                <a:xfrm>
                  <a:off x="3183569" y="3937582"/>
                  <a:ext cx="111919" cy="111919"/>
                </a:xfrm>
                <a:prstGeom prst="ellipse">
                  <a:avLst/>
                </a:prstGeom>
                <a:solidFill>
                  <a:srgbClr val="AAEEFF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5" name="橢圓 34">
                  <a:extLst>
                    <a:ext uri="{FF2B5EF4-FFF2-40B4-BE49-F238E27FC236}">
                      <a16:creationId xmlns:a16="http://schemas.microsoft.com/office/drawing/2014/main" id="{EBC6182C-FC83-493E-81B6-2774E485FF99}"/>
                    </a:ext>
                  </a:extLst>
                </p:cNvPr>
                <p:cNvSpPr/>
                <p:nvPr/>
              </p:nvSpPr>
              <p:spPr>
                <a:xfrm>
                  <a:off x="3478050" y="4452132"/>
                  <a:ext cx="111919" cy="111919"/>
                </a:xfrm>
                <a:prstGeom prst="ellipse">
                  <a:avLst/>
                </a:prstGeom>
                <a:solidFill>
                  <a:srgbClr val="AAEEFF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6" name="橢圓 35">
                  <a:extLst>
                    <a:ext uri="{FF2B5EF4-FFF2-40B4-BE49-F238E27FC236}">
                      <a16:creationId xmlns:a16="http://schemas.microsoft.com/office/drawing/2014/main" id="{2CC4F3E8-53C4-4230-B272-4DB7958F876C}"/>
                    </a:ext>
                  </a:extLst>
                </p:cNvPr>
                <p:cNvSpPr/>
                <p:nvPr/>
              </p:nvSpPr>
              <p:spPr>
                <a:xfrm>
                  <a:off x="1711957" y="3435140"/>
                  <a:ext cx="111919" cy="111919"/>
                </a:xfrm>
                <a:prstGeom prst="ellipse">
                  <a:avLst/>
                </a:prstGeom>
                <a:solidFill>
                  <a:srgbClr val="AAEEFF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7" name="橢圓 36">
                  <a:extLst>
                    <a:ext uri="{FF2B5EF4-FFF2-40B4-BE49-F238E27FC236}">
                      <a16:creationId xmlns:a16="http://schemas.microsoft.com/office/drawing/2014/main" id="{0B3C3CDB-5670-4A36-9891-FD214807962B}"/>
                    </a:ext>
                  </a:extLst>
                </p:cNvPr>
                <p:cNvSpPr/>
                <p:nvPr/>
              </p:nvSpPr>
              <p:spPr>
                <a:xfrm>
                  <a:off x="2310046" y="3435140"/>
                  <a:ext cx="111919" cy="111919"/>
                </a:xfrm>
                <a:prstGeom prst="ellipse">
                  <a:avLst/>
                </a:prstGeom>
                <a:solidFill>
                  <a:srgbClr val="AAEEFF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8" name="橢圓 37">
                  <a:extLst>
                    <a:ext uri="{FF2B5EF4-FFF2-40B4-BE49-F238E27FC236}">
                      <a16:creationId xmlns:a16="http://schemas.microsoft.com/office/drawing/2014/main" id="{B372456A-B971-410E-BC7E-C8F944C864B4}"/>
                    </a:ext>
                  </a:extLst>
                </p:cNvPr>
                <p:cNvSpPr/>
                <p:nvPr/>
              </p:nvSpPr>
              <p:spPr>
                <a:xfrm>
                  <a:off x="1427656" y="4953582"/>
                  <a:ext cx="111919" cy="111919"/>
                </a:xfrm>
                <a:prstGeom prst="ellipse">
                  <a:avLst/>
                </a:prstGeom>
                <a:solidFill>
                  <a:srgbClr val="AAEEFF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9" name="橢圓 38">
                  <a:extLst>
                    <a:ext uri="{FF2B5EF4-FFF2-40B4-BE49-F238E27FC236}">
                      <a16:creationId xmlns:a16="http://schemas.microsoft.com/office/drawing/2014/main" id="{14BDC1FE-33D1-409F-A7F7-53A15FF88408}"/>
                    </a:ext>
                  </a:extLst>
                </p:cNvPr>
                <p:cNvSpPr/>
                <p:nvPr/>
              </p:nvSpPr>
              <p:spPr>
                <a:xfrm>
                  <a:off x="1427656" y="3937582"/>
                  <a:ext cx="111919" cy="111919"/>
                </a:xfrm>
                <a:prstGeom prst="ellipse">
                  <a:avLst/>
                </a:prstGeom>
                <a:solidFill>
                  <a:srgbClr val="AAEEFF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  <p:grpSp>
            <p:nvGrpSpPr>
              <p:cNvPr id="69" name="群組 68">
                <a:extLst>
                  <a:ext uri="{FF2B5EF4-FFF2-40B4-BE49-F238E27FC236}">
                    <a16:creationId xmlns:a16="http://schemas.microsoft.com/office/drawing/2014/main" id="{AFBA2F0F-10E0-4507-9BD8-988F9615A4C5}"/>
                  </a:ext>
                </a:extLst>
              </p:cNvPr>
              <p:cNvGrpSpPr/>
              <p:nvPr/>
            </p:nvGrpSpPr>
            <p:grpSpPr>
              <a:xfrm>
                <a:off x="3837461" y="3771900"/>
                <a:ext cx="1280160" cy="1501140"/>
                <a:chOff x="3642360" y="3665220"/>
                <a:chExt cx="1280160" cy="1501140"/>
              </a:xfrm>
            </p:grpSpPr>
            <p:sp>
              <p:nvSpPr>
                <p:cNvPr id="59" name="六邊形 58">
                  <a:extLst>
                    <a:ext uri="{FF2B5EF4-FFF2-40B4-BE49-F238E27FC236}">
                      <a16:creationId xmlns:a16="http://schemas.microsoft.com/office/drawing/2014/main" id="{806291C1-D940-402B-A9AD-604948C09184}"/>
                    </a:ext>
                  </a:extLst>
                </p:cNvPr>
                <p:cNvSpPr/>
                <p:nvPr/>
              </p:nvSpPr>
              <p:spPr>
                <a:xfrm rot="1800000">
                  <a:off x="3661308" y="3901632"/>
                  <a:ext cx="1185317" cy="1021743"/>
                </a:xfrm>
                <a:prstGeom prst="hexagon">
                  <a:avLst>
                    <a:gd name="adj" fmla="val 29067"/>
                    <a:gd name="vf" fmla="val 115470"/>
                  </a:avLst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/>
                </a:p>
              </p:txBody>
            </p:sp>
            <p:cxnSp>
              <p:nvCxnSpPr>
                <p:cNvPr id="61" name="直線單箭頭接點 60">
                  <a:extLst>
                    <a:ext uri="{FF2B5EF4-FFF2-40B4-BE49-F238E27FC236}">
                      <a16:creationId xmlns:a16="http://schemas.microsoft.com/office/drawing/2014/main" id="{3FC5589A-7F58-4664-87C8-7DF085BD8A1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642360" y="4412503"/>
                  <a:ext cx="1280160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直線單箭頭接點 61">
                  <a:extLst>
                    <a:ext uri="{FF2B5EF4-FFF2-40B4-BE49-F238E27FC236}">
                      <a16:creationId xmlns:a16="http://schemas.microsoft.com/office/drawing/2014/main" id="{677EA71E-ECA5-42BB-B925-08C44CDA8C9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253966" y="3665220"/>
                  <a:ext cx="0" cy="150114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0" name="文字方塊 69">
                    <a:extLst>
                      <a:ext uri="{FF2B5EF4-FFF2-40B4-BE49-F238E27FC236}">
                        <a16:creationId xmlns:a16="http://schemas.microsoft.com/office/drawing/2014/main" id="{A4BF1712-B1EA-4FEA-8348-4D6964E5D2ED}"/>
                      </a:ext>
                    </a:extLst>
                  </p:cNvPr>
                  <p:cNvSpPr txBox="1"/>
                  <p:nvPr/>
                </p:nvSpPr>
                <p:spPr>
                  <a:xfrm>
                    <a:off x="5102381" y="4320540"/>
                    <a:ext cx="399933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dirty="0"/>
                  </a:p>
                </p:txBody>
              </p:sp>
            </mc:Choice>
            <mc:Fallback xmlns="">
              <p:sp>
                <p:nvSpPr>
                  <p:cNvPr id="70" name="文字方塊 69">
                    <a:extLst>
                      <a:ext uri="{FF2B5EF4-FFF2-40B4-BE49-F238E27FC236}">
                        <a16:creationId xmlns:a16="http://schemas.microsoft.com/office/drawing/2014/main" id="{A4BF1712-B1EA-4FEA-8348-4D6964E5D2E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02381" y="4320540"/>
                    <a:ext cx="399933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1" name="文字方塊 70">
                    <a:extLst>
                      <a:ext uri="{FF2B5EF4-FFF2-40B4-BE49-F238E27FC236}">
                        <a16:creationId xmlns:a16="http://schemas.microsoft.com/office/drawing/2014/main" id="{A838130C-CD5F-4C32-A710-B09F3C1DA029}"/>
                      </a:ext>
                    </a:extLst>
                  </p:cNvPr>
                  <p:cNvSpPr txBox="1"/>
                  <p:nvPr/>
                </p:nvSpPr>
                <p:spPr>
                  <a:xfrm>
                    <a:off x="4271801" y="3421380"/>
                    <a:ext cx="399933" cy="39126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dirty="0"/>
                  </a:p>
                </p:txBody>
              </p:sp>
            </mc:Choice>
            <mc:Fallback xmlns="">
              <p:sp>
                <p:nvSpPr>
                  <p:cNvPr id="71" name="文字方塊 70">
                    <a:extLst>
                      <a:ext uri="{FF2B5EF4-FFF2-40B4-BE49-F238E27FC236}">
                        <a16:creationId xmlns:a16="http://schemas.microsoft.com/office/drawing/2014/main" id="{A838130C-CD5F-4C32-A710-B09F3C1DA02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71801" y="3421380"/>
                    <a:ext cx="399933" cy="391261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4688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75" name="文字方塊 74">
              <a:extLst>
                <a:ext uri="{FF2B5EF4-FFF2-40B4-BE49-F238E27FC236}">
                  <a16:creationId xmlns:a16="http://schemas.microsoft.com/office/drawing/2014/main" id="{6157DD69-6D3D-485C-AFD0-B1D40966D4CA}"/>
                </a:ext>
              </a:extLst>
            </p:cNvPr>
            <p:cNvSpPr txBox="1"/>
            <p:nvPr/>
          </p:nvSpPr>
          <p:spPr>
            <a:xfrm>
              <a:off x="1066375" y="3023768"/>
              <a:ext cx="3775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(a)</a:t>
              </a:r>
              <a:endParaRPr lang="zh-TW" altLang="en-US" dirty="0"/>
            </a:p>
          </p:txBody>
        </p:sp>
        <p:sp>
          <p:nvSpPr>
            <p:cNvPr id="76" name="文字方塊 75">
              <a:extLst>
                <a:ext uri="{FF2B5EF4-FFF2-40B4-BE49-F238E27FC236}">
                  <a16:creationId xmlns:a16="http://schemas.microsoft.com/office/drawing/2014/main" id="{756495BA-8157-4EEB-AE92-23D40066A301}"/>
                </a:ext>
              </a:extLst>
            </p:cNvPr>
            <p:cNvSpPr txBox="1"/>
            <p:nvPr/>
          </p:nvSpPr>
          <p:spPr>
            <a:xfrm>
              <a:off x="5722266" y="3023768"/>
              <a:ext cx="3775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(b)</a:t>
              </a:r>
              <a:endParaRPr lang="zh-TW" altLang="en-US" dirty="0"/>
            </a:p>
          </p:txBody>
        </p:sp>
      </p:grpSp>
      <p:pic>
        <p:nvPicPr>
          <p:cNvPr id="2" name="圖片 1">
            <a:extLst>
              <a:ext uri="{FF2B5EF4-FFF2-40B4-BE49-F238E27FC236}">
                <a16:creationId xmlns:a16="http://schemas.microsoft.com/office/drawing/2014/main" id="{8AE73618-69FA-417E-921A-B76058437F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4120" y="3314700"/>
            <a:ext cx="3343741" cy="308653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43CCD06A-1CA1-4692-BC51-A7D2236D11E9}"/>
              </a:ext>
            </a:extLst>
          </p:cNvPr>
          <p:cNvSpPr/>
          <p:nvPr/>
        </p:nvSpPr>
        <p:spPr>
          <a:xfrm>
            <a:off x="6284337" y="2352803"/>
            <a:ext cx="51136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altLang="zh-TW" dirty="0">
                <a:hlinkClick r:id="rId6"/>
              </a:rPr>
              <a:t>Quasiparticle dynamics in graphene | Nature Physics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91742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6978F47-CECB-480D-ACCF-0777461EFA87}"/>
              </a:ext>
            </a:extLst>
          </p:cNvPr>
          <p:cNvSpPr/>
          <p:nvPr/>
        </p:nvSpPr>
        <p:spPr>
          <a:xfrm>
            <a:off x="1115323" y="276045"/>
            <a:ext cx="10506973" cy="63921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" name="Picture 2" descr="Fig. 1: Strain impact on the band structure.">
            <a:extLst>
              <a:ext uri="{FF2B5EF4-FFF2-40B4-BE49-F238E27FC236}">
                <a16:creationId xmlns:a16="http://schemas.microsoft.com/office/drawing/2014/main" id="{89E8B629-EAB1-453A-B11A-7BF85637AF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68" t="1626" b="76758"/>
          <a:stretch/>
        </p:blipFill>
        <p:spPr bwMode="auto">
          <a:xfrm>
            <a:off x="1240896" y="641209"/>
            <a:ext cx="4952244" cy="2147288"/>
          </a:xfrm>
          <a:prstGeom prst="rect">
            <a:avLst/>
          </a:prstGeom>
          <a:solidFill>
            <a:schemeClr val="bg1"/>
          </a:solidFill>
          <a:extLst/>
        </p:spPr>
      </p:pic>
      <p:pic>
        <p:nvPicPr>
          <p:cNvPr id="4" name="Picture 2" descr="Fig. 1: Strain impact on the band structure.">
            <a:extLst>
              <a:ext uri="{FF2B5EF4-FFF2-40B4-BE49-F238E27FC236}">
                <a16:creationId xmlns:a16="http://schemas.microsoft.com/office/drawing/2014/main" id="{44D139E6-728A-4D81-AFB5-EFD4AB0D01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22" t="25667" r="25465" b="39450"/>
          <a:stretch/>
        </p:blipFill>
        <p:spPr bwMode="auto">
          <a:xfrm>
            <a:off x="2035101" y="3631693"/>
            <a:ext cx="2944237" cy="3023586"/>
          </a:xfrm>
          <a:prstGeom prst="rect">
            <a:avLst/>
          </a:prstGeom>
          <a:solidFill>
            <a:schemeClr val="bg1"/>
          </a:solidFill>
          <a:extLst/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ACC082BF-5EB1-422D-ABE3-276283DC13C3}"/>
              </a:ext>
            </a:extLst>
          </p:cNvPr>
          <p:cNvSpPr txBox="1"/>
          <p:nvPr/>
        </p:nvSpPr>
        <p:spPr>
          <a:xfrm>
            <a:off x="850909" y="202721"/>
            <a:ext cx="472614" cy="46238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TW" dirty="0"/>
              <a:t>(a)</a:t>
            </a:r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2607E1D-58DF-47C2-928C-004560B835BC}"/>
              </a:ext>
            </a:extLst>
          </p:cNvPr>
          <p:cNvSpPr txBox="1"/>
          <p:nvPr/>
        </p:nvSpPr>
        <p:spPr>
          <a:xfrm>
            <a:off x="800914" y="3315080"/>
            <a:ext cx="472614" cy="46238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TW" dirty="0"/>
              <a:t>(b)</a:t>
            </a:r>
            <a:endParaRPr lang="zh-TW" altLang="en-US" dirty="0"/>
          </a:p>
        </p:txBody>
      </p: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8B6EF3B2-4585-4A48-B535-0A7275EB17E1}"/>
              </a:ext>
            </a:extLst>
          </p:cNvPr>
          <p:cNvGrpSpPr/>
          <p:nvPr/>
        </p:nvGrpSpPr>
        <p:grpSpPr>
          <a:xfrm>
            <a:off x="6612420" y="726962"/>
            <a:ext cx="2038229" cy="2008861"/>
            <a:chOff x="3601272" y="3280006"/>
            <a:chExt cx="2073763" cy="2043883"/>
          </a:xfrm>
          <a:solidFill>
            <a:schemeClr val="bg1"/>
          </a:solidFill>
        </p:grpSpPr>
        <p:sp>
          <p:nvSpPr>
            <p:cNvPr id="33" name="六邊形 32">
              <a:extLst>
                <a:ext uri="{FF2B5EF4-FFF2-40B4-BE49-F238E27FC236}">
                  <a16:creationId xmlns:a16="http://schemas.microsoft.com/office/drawing/2014/main" id="{08A0A4BF-C844-44F2-8A8E-3119E5ABACFE}"/>
                </a:ext>
              </a:extLst>
            </p:cNvPr>
            <p:cNvSpPr/>
            <p:nvPr/>
          </p:nvSpPr>
          <p:spPr>
            <a:xfrm>
              <a:off x="3601272" y="3280006"/>
              <a:ext cx="1185317" cy="1021743"/>
            </a:xfrm>
            <a:prstGeom prst="hexagon">
              <a:avLst>
                <a:gd name="adj" fmla="val 29067"/>
                <a:gd name="vf" fmla="val 115470"/>
              </a:avLst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34" name="六邊形 33">
              <a:extLst>
                <a:ext uri="{FF2B5EF4-FFF2-40B4-BE49-F238E27FC236}">
                  <a16:creationId xmlns:a16="http://schemas.microsoft.com/office/drawing/2014/main" id="{C8BB11C7-0650-47C9-91BB-5D8347953840}"/>
                </a:ext>
              </a:extLst>
            </p:cNvPr>
            <p:cNvSpPr/>
            <p:nvPr/>
          </p:nvSpPr>
          <p:spPr>
            <a:xfrm>
              <a:off x="4489718" y="3791076"/>
              <a:ext cx="1185317" cy="1021743"/>
            </a:xfrm>
            <a:prstGeom prst="hexagon">
              <a:avLst>
                <a:gd name="adj" fmla="val 29067"/>
                <a:gd name="vf" fmla="val 115470"/>
              </a:avLst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35" name="六邊形 34">
              <a:extLst>
                <a:ext uri="{FF2B5EF4-FFF2-40B4-BE49-F238E27FC236}">
                  <a16:creationId xmlns:a16="http://schemas.microsoft.com/office/drawing/2014/main" id="{6E7512DF-B285-43AD-944F-FF01D93F114B}"/>
                </a:ext>
              </a:extLst>
            </p:cNvPr>
            <p:cNvSpPr/>
            <p:nvPr/>
          </p:nvSpPr>
          <p:spPr>
            <a:xfrm>
              <a:off x="3601272" y="4302146"/>
              <a:ext cx="1185317" cy="1021743"/>
            </a:xfrm>
            <a:prstGeom prst="hexagon">
              <a:avLst>
                <a:gd name="adj" fmla="val 29067"/>
                <a:gd name="vf" fmla="val 115470"/>
              </a:avLst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sp>
        <p:nvSpPr>
          <p:cNvPr id="20" name="橢圓 19">
            <a:extLst>
              <a:ext uri="{FF2B5EF4-FFF2-40B4-BE49-F238E27FC236}">
                <a16:creationId xmlns:a16="http://schemas.microsoft.com/office/drawing/2014/main" id="{E12CB9F5-BD5A-4E6D-A341-F21A6C1148B2}"/>
              </a:ext>
            </a:extLst>
          </p:cNvPr>
          <p:cNvSpPr/>
          <p:nvPr/>
        </p:nvSpPr>
        <p:spPr>
          <a:xfrm>
            <a:off x="6817153" y="1644560"/>
            <a:ext cx="173669" cy="173664"/>
          </a:xfrm>
          <a:prstGeom prst="ellipse">
            <a:avLst/>
          </a:prstGeom>
          <a:solidFill>
            <a:srgbClr val="AAEEFF"/>
          </a:solidFill>
          <a:ln w="6350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64519D7C-B262-47AF-AB3A-84DEE55D681F}"/>
              </a:ext>
            </a:extLst>
          </p:cNvPr>
          <p:cNvSpPr/>
          <p:nvPr/>
        </p:nvSpPr>
        <p:spPr>
          <a:xfrm>
            <a:off x="7404993" y="1644560"/>
            <a:ext cx="173669" cy="173664"/>
          </a:xfrm>
          <a:prstGeom prst="ellipse">
            <a:avLst/>
          </a:prstGeom>
          <a:solidFill>
            <a:srgbClr val="AAEEFF"/>
          </a:solidFill>
          <a:ln w="6350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12B6EB9D-844C-45FE-B4A4-CAB355838C20}"/>
              </a:ext>
            </a:extLst>
          </p:cNvPr>
          <p:cNvSpPr/>
          <p:nvPr/>
        </p:nvSpPr>
        <p:spPr>
          <a:xfrm>
            <a:off x="7697160" y="2137418"/>
            <a:ext cx="173669" cy="173664"/>
          </a:xfrm>
          <a:prstGeom prst="ellipse">
            <a:avLst/>
          </a:prstGeom>
          <a:solidFill>
            <a:srgbClr val="AAEEFF"/>
          </a:solidFill>
          <a:ln w="6350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EE106ADB-6579-498F-8EC8-A6BAC8638684}"/>
              </a:ext>
            </a:extLst>
          </p:cNvPr>
          <p:cNvSpPr/>
          <p:nvPr/>
        </p:nvSpPr>
        <p:spPr>
          <a:xfrm>
            <a:off x="8263549" y="2137418"/>
            <a:ext cx="173669" cy="173664"/>
          </a:xfrm>
          <a:prstGeom prst="ellipse">
            <a:avLst/>
          </a:prstGeom>
          <a:solidFill>
            <a:srgbClr val="AAEEFF"/>
          </a:solidFill>
          <a:ln w="6350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8171FD58-75EF-4568-9740-D2EA00541817}"/>
              </a:ext>
            </a:extLst>
          </p:cNvPr>
          <p:cNvSpPr/>
          <p:nvPr/>
        </p:nvSpPr>
        <p:spPr>
          <a:xfrm>
            <a:off x="6817153" y="2642955"/>
            <a:ext cx="173669" cy="173664"/>
          </a:xfrm>
          <a:prstGeom prst="ellipse">
            <a:avLst/>
          </a:prstGeom>
          <a:solidFill>
            <a:srgbClr val="AAEEFF"/>
          </a:solidFill>
          <a:ln w="6350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D619EBBE-5DE8-4D68-8DD2-B2B113818756}"/>
              </a:ext>
            </a:extLst>
          </p:cNvPr>
          <p:cNvSpPr/>
          <p:nvPr/>
        </p:nvSpPr>
        <p:spPr>
          <a:xfrm>
            <a:off x="7404993" y="2642955"/>
            <a:ext cx="173669" cy="173664"/>
          </a:xfrm>
          <a:prstGeom prst="ellipse">
            <a:avLst/>
          </a:prstGeom>
          <a:solidFill>
            <a:srgbClr val="AAEEFF"/>
          </a:solidFill>
          <a:ln w="6350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DFE5A13F-8DE8-4952-A495-5BE2D171C6EF}"/>
              </a:ext>
            </a:extLst>
          </p:cNvPr>
          <p:cNvSpPr/>
          <p:nvPr/>
        </p:nvSpPr>
        <p:spPr>
          <a:xfrm>
            <a:off x="7697160" y="1138827"/>
            <a:ext cx="173669" cy="173664"/>
          </a:xfrm>
          <a:prstGeom prst="ellipse">
            <a:avLst/>
          </a:prstGeom>
          <a:solidFill>
            <a:srgbClr val="AAEEFF"/>
          </a:solidFill>
          <a:ln w="6350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F247B4BA-93BB-4874-8D9C-078F61DCF66D}"/>
              </a:ext>
            </a:extLst>
          </p:cNvPr>
          <p:cNvSpPr/>
          <p:nvPr/>
        </p:nvSpPr>
        <p:spPr>
          <a:xfrm>
            <a:off x="8263549" y="1138827"/>
            <a:ext cx="173669" cy="173664"/>
          </a:xfrm>
          <a:prstGeom prst="ellipse">
            <a:avLst/>
          </a:prstGeom>
          <a:solidFill>
            <a:srgbClr val="AAEEFF"/>
          </a:solidFill>
          <a:ln w="6350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1B6190AB-051F-4F48-8761-E18EBC54ACB1}"/>
              </a:ext>
            </a:extLst>
          </p:cNvPr>
          <p:cNvSpPr/>
          <p:nvPr/>
        </p:nvSpPr>
        <p:spPr>
          <a:xfrm>
            <a:off x="8552983" y="1644560"/>
            <a:ext cx="173669" cy="173664"/>
          </a:xfrm>
          <a:prstGeom prst="ellipse">
            <a:avLst/>
          </a:prstGeom>
          <a:solidFill>
            <a:srgbClr val="AAEEFF"/>
          </a:solidFill>
          <a:ln w="6350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橢圓 28">
            <a:extLst>
              <a:ext uri="{FF2B5EF4-FFF2-40B4-BE49-F238E27FC236}">
                <a16:creationId xmlns:a16="http://schemas.microsoft.com/office/drawing/2014/main" id="{EA8A417B-375B-4A2F-A59B-2FBEE43962C1}"/>
              </a:ext>
            </a:extLst>
          </p:cNvPr>
          <p:cNvSpPr/>
          <p:nvPr/>
        </p:nvSpPr>
        <p:spPr>
          <a:xfrm>
            <a:off x="6817153" y="644994"/>
            <a:ext cx="173669" cy="173664"/>
          </a:xfrm>
          <a:prstGeom prst="ellipse">
            <a:avLst/>
          </a:prstGeom>
          <a:solidFill>
            <a:srgbClr val="AAEEFF"/>
          </a:solidFill>
          <a:ln w="6350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橢圓 29">
            <a:extLst>
              <a:ext uri="{FF2B5EF4-FFF2-40B4-BE49-F238E27FC236}">
                <a16:creationId xmlns:a16="http://schemas.microsoft.com/office/drawing/2014/main" id="{4ECA625E-33D8-4015-96EF-1CE4CDC096B3}"/>
              </a:ext>
            </a:extLst>
          </p:cNvPr>
          <p:cNvSpPr/>
          <p:nvPr/>
        </p:nvSpPr>
        <p:spPr>
          <a:xfrm>
            <a:off x="7404993" y="644994"/>
            <a:ext cx="173669" cy="173664"/>
          </a:xfrm>
          <a:prstGeom prst="ellipse">
            <a:avLst/>
          </a:prstGeom>
          <a:solidFill>
            <a:srgbClr val="AAEEFF"/>
          </a:solidFill>
          <a:ln w="6350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5BCA3EA5-51EA-41DA-92C9-8A0931B4D48D}"/>
              </a:ext>
            </a:extLst>
          </p:cNvPr>
          <p:cNvSpPr/>
          <p:nvPr/>
        </p:nvSpPr>
        <p:spPr>
          <a:xfrm>
            <a:off x="6537723" y="2137418"/>
            <a:ext cx="173669" cy="173664"/>
          </a:xfrm>
          <a:prstGeom prst="ellipse">
            <a:avLst/>
          </a:prstGeom>
          <a:solidFill>
            <a:srgbClr val="AAEEFF"/>
          </a:solidFill>
          <a:ln w="6350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橢圓 31">
            <a:extLst>
              <a:ext uri="{FF2B5EF4-FFF2-40B4-BE49-F238E27FC236}">
                <a16:creationId xmlns:a16="http://schemas.microsoft.com/office/drawing/2014/main" id="{CCD120D3-65A9-46E9-AEB4-97286592E209}"/>
              </a:ext>
            </a:extLst>
          </p:cNvPr>
          <p:cNvSpPr/>
          <p:nvPr/>
        </p:nvSpPr>
        <p:spPr>
          <a:xfrm>
            <a:off x="6537723" y="1138827"/>
            <a:ext cx="173669" cy="173664"/>
          </a:xfrm>
          <a:prstGeom prst="ellipse">
            <a:avLst/>
          </a:prstGeom>
          <a:solidFill>
            <a:srgbClr val="AAEEFF"/>
          </a:solidFill>
          <a:ln w="6350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六邊形 15">
            <a:extLst>
              <a:ext uri="{FF2B5EF4-FFF2-40B4-BE49-F238E27FC236}">
                <a16:creationId xmlns:a16="http://schemas.microsoft.com/office/drawing/2014/main" id="{0A40C1E8-DC9A-419F-AD3D-45C2294D9BB1}"/>
              </a:ext>
            </a:extLst>
          </p:cNvPr>
          <p:cNvSpPr/>
          <p:nvPr/>
        </p:nvSpPr>
        <p:spPr>
          <a:xfrm rot="1800000">
            <a:off x="9112672" y="1090531"/>
            <a:ext cx="1483948" cy="1279163"/>
          </a:xfrm>
          <a:prstGeom prst="hexagon">
            <a:avLst>
              <a:gd name="adj" fmla="val 29067"/>
              <a:gd name="vf" fmla="val 11547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E4CBEF06-A237-42F4-AD45-CDA3D24F9149}"/>
              </a:ext>
            </a:extLst>
          </p:cNvPr>
          <p:cNvCxnSpPr>
            <a:cxnSpLocks/>
          </p:cNvCxnSpPr>
          <p:nvPr/>
        </p:nvCxnSpPr>
        <p:spPr>
          <a:xfrm>
            <a:off x="9744568" y="1730112"/>
            <a:ext cx="468000" cy="0"/>
          </a:xfrm>
          <a:prstGeom prst="straightConnector1">
            <a:avLst/>
          </a:prstGeom>
          <a:solidFill>
            <a:schemeClr val="bg1"/>
          </a:solidFill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5F6D1846-0138-4BAD-930E-83CDBC515EE7}"/>
              </a:ext>
            </a:extLst>
          </p:cNvPr>
          <p:cNvCxnSpPr>
            <a:cxnSpLocks/>
          </p:cNvCxnSpPr>
          <p:nvPr/>
        </p:nvCxnSpPr>
        <p:spPr>
          <a:xfrm flipV="1">
            <a:off x="9854646" y="1380856"/>
            <a:ext cx="0" cy="468000"/>
          </a:xfrm>
          <a:prstGeom prst="straightConnector1">
            <a:avLst/>
          </a:prstGeom>
          <a:solidFill>
            <a:schemeClr val="bg1"/>
          </a:solidFill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24881DEE-6CE7-4CE6-BD26-BA2D1F5F5087}"/>
                  </a:ext>
                </a:extLst>
              </p:cNvPr>
              <p:cNvSpPr txBox="1"/>
              <p:nvPr/>
            </p:nvSpPr>
            <p:spPr>
              <a:xfrm>
                <a:off x="10093919" y="1540411"/>
                <a:ext cx="500693" cy="4623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24881DEE-6CE7-4CE6-BD26-BA2D1F5F50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3919" y="1540411"/>
                <a:ext cx="500693" cy="46238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1B07889F-0CF2-4623-B113-F4E0CA26EBA2}"/>
                  </a:ext>
                </a:extLst>
              </p:cNvPr>
              <p:cNvSpPr txBox="1"/>
              <p:nvPr/>
            </p:nvSpPr>
            <p:spPr>
              <a:xfrm>
                <a:off x="9653978" y="1034133"/>
                <a:ext cx="500693" cy="4898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1B07889F-0CF2-4623-B113-F4E0CA26EB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3978" y="1034133"/>
                <a:ext cx="500693" cy="4898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字方塊 8">
            <a:extLst>
              <a:ext uri="{FF2B5EF4-FFF2-40B4-BE49-F238E27FC236}">
                <a16:creationId xmlns:a16="http://schemas.microsoft.com/office/drawing/2014/main" id="{B0F1BF08-50B6-456D-AD43-4D20172C09AB}"/>
              </a:ext>
            </a:extLst>
          </p:cNvPr>
          <p:cNvSpPr txBox="1"/>
          <p:nvPr/>
        </p:nvSpPr>
        <p:spPr>
          <a:xfrm>
            <a:off x="6131598" y="202721"/>
            <a:ext cx="472614" cy="46238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TW" dirty="0"/>
              <a:t>(c)</a:t>
            </a:r>
            <a:endParaRPr lang="zh-TW" alt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37346B7-D3B8-4123-BE3E-B36E4536CF9F}"/>
              </a:ext>
            </a:extLst>
          </p:cNvPr>
          <p:cNvSpPr txBox="1"/>
          <p:nvPr/>
        </p:nvSpPr>
        <p:spPr>
          <a:xfrm>
            <a:off x="6131598" y="3315080"/>
            <a:ext cx="472614" cy="46238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TW" dirty="0"/>
              <a:t>(d)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473B1D4D-197E-454B-873E-F620A370BF47}"/>
                  </a:ext>
                </a:extLst>
              </p:cNvPr>
              <p:cNvSpPr txBox="1"/>
              <p:nvPr/>
            </p:nvSpPr>
            <p:spPr>
              <a:xfrm>
                <a:off x="10369630" y="1096406"/>
                <a:ext cx="5006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473B1D4D-197E-454B-873E-F620A370BF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9630" y="1096406"/>
                <a:ext cx="500693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E1EC01B3-2778-468E-99C2-C4F554E7F092}"/>
                  </a:ext>
                </a:extLst>
              </p:cNvPr>
              <p:cNvSpPr txBox="1"/>
              <p:nvPr/>
            </p:nvSpPr>
            <p:spPr>
              <a:xfrm>
                <a:off x="9600010" y="630505"/>
                <a:ext cx="5006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’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E1EC01B3-2778-468E-99C2-C4F554E7F0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0010" y="630505"/>
                <a:ext cx="50069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直線單箭頭接點 43">
            <a:extLst>
              <a:ext uri="{FF2B5EF4-FFF2-40B4-BE49-F238E27FC236}">
                <a16:creationId xmlns:a16="http://schemas.microsoft.com/office/drawing/2014/main" id="{30658E3C-68AF-4AFA-9D8F-878046A3CB8D}"/>
              </a:ext>
            </a:extLst>
          </p:cNvPr>
          <p:cNvCxnSpPr>
            <a:cxnSpLocks/>
          </p:cNvCxnSpPr>
          <p:nvPr/>
        </p:nvCxnSpPr>
        <p:spPr>
          <a:xfrm>
            <a:off x="6796929" y="1730112"/>
            <a:ext cx="468000" cy="0"/>
          </a:xfrm>
          <a:prstGeom prst="straightConnector1">
            <a:avLst/>
          </a:prstGeom>
          <a:solidFill>
            <a:schemeClr val="bg1"/>
          </a:solidFill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直線單箭頭接點 44">
            <a:extLst>
              <a:ext uri="{FF2B5EF4-FFF2-40B4-BE49-F238E27FC236}">
                <a16:creationId xmlns:a16="http://schemas.microsoft.com/office/drawing/2014/main" id="{F88649E5-D138-4A41-8B32-5CB2ABEC4B4E}"/>
              </a:ext>
            </a:extLst>
          </p:cNvPr>
          <p:cNvCxnSpPr>
            <a:cxnSpLocks/>
          </p:cNvCxnSpPr>
          <p:nvPr/>
        </p:nvCxnSpPr>
        <p:spPr>
          <a:xfrm flipV="1">
            <a:off x="6907006" y="1380856"/>
            <a:ext cx="0" cy="468000"/>
          </a:xfrm>
          <a:prstGeom prst="straightConnector1">
            <a:avLst/>
          </a:prstGeom>
          <a:solidFill>
            <a:schemeClr val="bg1"/>
          </a:solidFill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21849427-CF26-4D15-B1C2-84C965BF4CD0}"/>
                  </a:ext>
                </a:extLst>
              </p:cNvPr>
              <p:cNvSpPr txBox="1"/>
              <p:nvPr/>
            </p:nvSpPr>
            <p:spPr>
              <a:xfrm>
                <a:off x="7029599" y="1621373"/>
                <a:ext cx="5006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21849427-CF26-4D15-B1C2-84C965BF4C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9599" y="1621373"/>
                <a:ext cx="500693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57A3108B-ED1D-4240-86D1-F021FAA47CA8}"/>
                  </a:ext>
                </a:extLst>
              </p:cNvPr>
              <p:cNvSpPr txBox="1"/>
              <p:nvPr/>
            </p:nvSpPr>
            <p:spPr>
              <a:xfrm>
                <a:off x="6784920" y="1150814"/>
                <a:ext cx="5006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57A3108B-ED1D-4240-86D1-F021FAA47C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4920" y="1150814"/>
                <a:ext cx="500693" cy="369332"/>
              </a:xfrm>
              <a:prstGeom prst="rect">
                <a:avLst/>
              </a:prstGeom>
              <a:blipFill>
                <a:blip r:embed="rId8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2A110D24-D0A2-4A43-876E-C8B4C8362CF7}"/>
                  </a:ext>
                </a:extLst>
              </p:cNvPr>
              <p:cNvSpPr txBox="1"/>
              <p:nvPr/>
            </p:nvSpPr>
            <p:spPr>
              <a:xfrm>
                <a:off x="10003870" y="821005"/>
                <a:ext cx="5006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2A110D24-D0A2-4A43-876E-C8B4C8362C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3870" y="821005"/>
                <a:ext cx="500693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橢圓 48">
            <a:extLst>
              <a:ext uri="{FF2B5EF4-FFF2-40B4-BE49-F238E27FC236}">
                <a16:creationId xmlns:a16="http://schemas.microsoft.com/office/drawing/2014/main" id="{19C60B06-0306-4F94-BFF0-66DFCB42995C}"/>
              </a:ext>
            </a:extLst>
          </p:cNvPr>
          <p:cNvSpPr/>
          <p:nvPr/>
        </p:nvSpPr>
        <p:spPr>
          <a:xfrm>
            <a:off x="9808765" y="953698"/>
            <a:ext cx="72000" cy="7200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0" name="橢圓 49">
            <a:extLst>
              <a:ext uri="{FF2B5EF4-FFF2-40B4-BE49-F238E27FC236}">
                <a16:creationId xmlns:a16="http://schemas.microsoft.com/office/drawing/2014/main" id="{4B560E75-401F-4BB6-BF64-7E4B3433D8CE}"/>
              </a:ext>
            </a:extLst>
          </p:cNvPr>
          <p:cNvSpPr/>
          <p:nvPr/>
        </p:nvSpPr>
        <p:spPr>
          <a:xfrm>
            <a:off x="10456465" y="1318029"/>
            <a:ext cx="72000" cy="7200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1" name="文字方塊 50">
                <a:extLst>
                  <a:ext uri="{FF2B5EF4-FFF2-40B4-BE49-F238E27FC236}">
                    <a16:creationId xmlns:a16="http://schemas.microsoft.com/office/drawing/2014/main" id="{0B148C38-F219-42E5-933C-185C3D6FA5AC}"/>
                  </a:ext>
                </a:extLst>
              </p:cNvPr>
              <p:cNvSpPr txBox="1"/>
              <p:nvPr/>
            </p:nvSpPr>
            <p:spPr>
              <a:xfrm>
                <a:off x="9484758" y="1697305"/>
                <a:ext cx="5006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b="0" i="0" smtClean="0">
                          <a:latin typeface="Cambria Math" panose="02040503050406030204" pitchFamily="18" charset="0"/>
                        </a:rPr>
                        <m:t>Γ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51" name="文字方塊 50">
                <a:extLst>
                  <a:ext uri="{FF2B5EF4-FFF2-40B4-BE49-F238E27FC236}">
                    <a16:creationId xmlns:a16="http://schemas.microsoft.com/office/drawing/2014/main" id="{0B148C38-F219-42E5-933C-185C3D6FA5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4758" y="1697305"/>
                <a:ext cx="500693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橢圓 51">
            <a:extLst>
              <a:ext uri="{FF2B5EF4-FFF2-40B4-BE49-F238E27FC236}">
                <a16:creationId xmlns:a16="http://schemas.microsoft.com/office/drawing/2014/main" id="{10D67287-F92B-4F97-B84E-5D50B63BF77E}"/>
              </a:ext>
            </a:extLst>
          </p:cNvPr>
          <p:cNvSpPr/>
          <p:nvPr/>
        </p:nvSpPr>
        <p:spPr>
          <a:xfrm>
            <a:off x="10132615" y="1135863"/>
            <a:ext cx="72000" cy="7200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3" name="橢圓 52">
            <a:extLst>
              <a:ext uri="{FF2B5EF4-FFF2-40B4-BE49-F238E27FC236}">
                <a16:creationId xmlns:a16="http://schemas.microsoft.com/office/drawing/2014/main" id="{ABE37A37-748C-4DA8-BBEF-9530FFFE017B}"/>
              </a:ext>
            </a:extLst>
          </p:cNvPr>
          <p:cNvSpPr/>
          <p:nvPr/>
        </p:nvSpPr>
        <p:spPr>
          <a:xfrm>
            <a:off x="9818646" y="1694112"/>
            <a:ext cx="72000" cy="7200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54" name="圖片 53">
            <a:extLst>
              <a:ext uri="{FF2B5EF4-FFF2-40B4-BE49-F238E27FC236}">
                <a16:creationId xmlns:a16="http://schemas.microsoft.com/office/drawing/2014/main" id="{F0F74467-ECA4-4115-A98D-39278A7F3F7F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8603"/>
          <a:stretch/>
        </p:blipFill>
        <p:spPr>
          <a:xfrm>
            <a:off x="7148529" y="3600450"/>
            <a:ext cx="3056086" cy="308653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6" name="文字方塊 55">
                <a:extLst>
                  <a:ext uri="{FF2B5EF4-FFF2-40B4-BE49-F238E27FC236}">
                    <a16:creationId xmlns:a16="http://schemas.microsoft.com/office/drawing/2014/main" id="{792D315E-1AB0-4FD5-AC71-56B13006FDF1}"/>
                  </a:ext>
                </a:extLst>
              </p:cNvPr>
              <p:cNvSpPr txBox="1"/>
              <p:nvPr/>
            </p:nvSpPr>
            <p:spPr>
              <a:xfrm>
                <a:off x="6744669" y="4907280"/>
                <a:ext cx="5638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i="0" dirty="0" smtClean="0">
                          <a:latin typeface="Cambria Math" panose="02040503050406030204" pitchFamily="18" charset="0"/>
                        </a:rPr>
                        <m:t>eV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56" name="文字方塊 55">
                <a:extLst>
                  <a:ext uri="{FF2B5EF4-FFF2-40B4-BE49-F238E27FC236}">
                    <a16:creationId xmlns:a16="http://schemas.microsoft.com/office/drawing/2014/main" id="{792D315E-1AB0-4FD5-AC71-56B13006FD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4669" y="4907280"/>
                <a:ext cx="563880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75840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</TotalTime>
  <Words>58</Words>
  <Application>Microsoft Office PowerPoint</Application>
  <PresentationFormat>寬螢幕</PresentationFormat>
  <Paragraphs>21</Paragraphs>
  <Slides>3</Slides>
  <Notes>0</Notes>
  <HiddenSlides>2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9" baseType="lpstr">
      <vt:lpstr>新細明體</vt:lpstr>
      <vt:lpstr>Arial</vt:lpstr>
      <vt:lpstr>Calibri</vt:lpstr>
      <vt:lpstr>Calibri Light</vt:lpstr>
      <vt:lpstr>Cambria Math</vt:lpstr>
      <vt:lpstr>Office 佈景主題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26</cp:revision>
  <dcterms:created xsi:type="dcterms:W3CDTF">2026-03-17T04:50:34Z</dcterms:created>
  <dcterms:modified xsi:type="dcterms:W3CDTF">2026-03-31T09:43:52Z</dcterms:modified>
</cp:coreProperties>
</file>